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9" r:id="rId2"/>
    <p:sldId id="260" r:id="rId3"/>
    <p:sldId id="275" r:id="rId4"/>
    <p:sldId id="274" r:id="rId5"/>
    <p:sldId id="270" r:id="rId6"/>
    <p:sldId id="317" r:id="rId7"/>
    <p:sldId id="424" r:id="rId8"/>
    <p:sldId id="318" r:id="rId9"/>
    <p:sldId id="325" r:id="rId10"/>
    <p:sldId id="340" r:id="rId11"/>
    <p:sldId id="343" r:id="rId12"/>
    <p:sldId id="425" r:id="rId13"/>
    <p:sldId id="427" r:id="rId14"/>
    <p:sldId id="382" r:id="rId15"/>
    <p:sldId id="383" r:id="rId16"/>
    <p:sldId id="384" r:id="rId17"/>
    <p:sldId id="385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428" r:id="rId26"/>
    <p:sldId id="393" r:id="rId27"/>
    <p:sldId id="394" r:id="rId28"/>
    <p:sldId id="395" r:id="rId29"/>
    <p:sldId id="396" r:id="rId30"/>
    <p:sldId id="397" r:id="rId31"/>
    <p:sldId id="398" r:id="rId32"/>
    <p:sldId id="399" r:id="rId33"/>
    <p:sldId id="400" r:id="rId34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742106-C517-476E-A2E8-8F81CE82DFEE}" v="7" dt="2026-03-02T12:02:58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1404" autoAdjust="0"/>
  </p:normalViewPr>
  <p:slideViewPr>
    <p:cSldViewPr snapToGrid="0">
      <p:cViewPr varScale="1">
        <p:scale>
          <a:sx n="93" d="100"/>
          <a:sy n="93" d="100"/>
        </p:scale>
        <p:origin x="115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custSel addSld delSld modSld sldOrd">
      <pc:chgData name="Žydrūnė Kelpšaitė" userId="e943768126acec1d" providerId="LiveId" clId="{31712FD7-FA85-48BA-9D35-5382388CFC74}" dt="2026-03-02T11:15:32.303" v="85" actId="1076"/>
      <pc:docMkLst>
        <pc:docMk/>
      </pc:docMkLst>
      <pc:sldChg chg="modSp mod">
        <pc:chgData name="Žydrūnė Kelpšaitė" userId="e943768126acec1d" providerId="LiveId" clId="{31712FD7-FA85-48BA-9D35-5382388CFC74}" dt="2026-03-02T11:15:32.303" v="85" actId="1076"/>
        <pc:sldMkLst>
          <pc:docMk/>
          <pc:sldMk cId="598965176" sldId="260"/>
        </pc:sldMkLst>
        <pc:picChg chg="mod">
          <ac:chgData name="Žydrūnė Kelpšaitė" userId="e943768126acec1d" providerId="LiveId" clId="{31712FD7-FA85-48BA-9D35-5382388CFC74}" dt="2026-03-02T11:15:32.303" v="85" actId="1076"/>
          <ac:picMkLst>
            <pc:docMk/>
            <pc:sldMk cId="598965176" sldId="260"/>
            <ac:picMk id="5" creationId="{9F18F9B9-A022-36B8-0535-B789C0870AF4}"/>
          </ac:picMkLst>
        </pc:picChg>
      </pc:sldChg>
      <pc:sldChg chg="addSp delSp modSp mod">
        <pc:chgData name="Žydrūnė Kelpšaitė" userId="e943768126acec1d" providerId="LiveId" clId="{31712FD7-FA85-48BA-9D35-5382388CFC74}" dt="2026-02-04T17:10:30.959" v="4" actId="1076"/>
        <pc:sldMkLst>
          <pc:docMk/>
          <pc:sldMk cId="469815673" sldId="279"/>
        </pc:sldMkLst>
        <pc:picChg chg="add mod">
          <ac:chgData name="Žydrūnė Kelpšaitė" userId="e943768126acec1d" providerId="LiveId" clId="{31712FD7-FA85-48BA-9D35-5382388CFC74}" dt="2026-02-04T17:10:30.959" v="4" actId="1076"/>
          <ac:picMkLst>
            <pc:docMk/>
            <pc:sldMk cId="469815673" sldId="279"/>
            <ac:picMk id="7" creationId="{0B50167F-1A10-49ED-F764-D1A39A77E84D}"/>
          </ac:picMkLst>
        </pc:picChg>
      </pc:sldChg>
      <pc:sldChg chg="ord">
        <pc:chgData name="Žydrūnė Kelpšaitė" userId="e943768126acec1d" providerId="LiveId" clId="{31712FD7-FA85-48BA-9D35-5382388CFC74}" dt="2026-02-04T17:11:02.244" v="7"/>
        <pc:sldMkLst>
          <pc:docMk/>
          <pc:sldMk cId="2145415747" sldId="317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796734748" sldId="382"/>
        </pc:sldMkLst>
      </pc:sldChg>
      <pc:sldChg chg="add modNotesTx">
        <pc:chgData name="Žydrūnė Kelpšaitė" userId="e943768126acec1d" providerId="LiveId" clId="{31712FD7-FA85-48BA-9D35-5382388CFC74}" dt="2026-03-02T09:45:54.551" v="63" actId="20577"/>
        <pc:sldMkLst>
          <pc:docMk/>
          <pc:sldMk cId="136480228" sldId="383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1323003571" sldId="384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4173872261" sldId="385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3781729913" sldId="386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1029456865" sldId="387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1097757143" sldId="388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1933566979" sldId="389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3772549194" sldId="390"/>
        </pc:sldMkLst>
      </pc:sldChg>
      <pc:sldChg chg="add modNotesTx">
        <pc:chgData name="Žydrūnė Kelpšaitė" userId="e943768126acec1d" providerId="LiveId" clId="{31712FD7-FA85-48BA-9D35-5382388CFC74}" dt="2026-03-02T10:29:08.717" v="83" actId="20577"/>
        <pc:sldMkLst>
          <pc:docMk/>
          <pc:sldMk cId="3363924769" sldId="391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3424849463" sldId="392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2443017501" sldId="393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1347134121" sldId="394"/>
        </pc:sldMkLst>
      </pc:sldChg>
      <pc:sldChg chg="modSp add mod">
        <pc:chgData name="Žydrūnė Kelpšaitė" userId="e943768126acec1d" providerId="LiveId" clId="{31712FD7-FA85-48BA-9D35-5382388CFC74}" dt="2026-02-05T06:58:27.114" v="39" actId="20577"/>
        <pc:sldMkLst>
          <pc:docMk/>
          <pc:sldMk cId="884261461" sldId="395"/>
        </pc:sldMkLst>
        <pc:spChg chg="mod">
          <ac:chgData name="Žydrūnė Kelpšaitė" userId="e943768126acec1d" providerId="LiveId" clId="{31712FD7-FA85-48BA-9D35-5382388CFC74}" dt="2026-02-05T06:58:27.114" v="39" actId="20577"/>
          <ac:spMkLst>
            <pc:docMk/>
            <pc:sldMk cId="884261461" sldId="395"/>
            <ac:spMk id="2" creationId="{6090D915-6FF3-DAF9-2638-DA4E816B55BD}"/>
          </ac:spMkLst>
        </pc:spChg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853892105" sldId="396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2723646956" sldId="397"/>
        </pc:sldMkLst>
      </pc:sldChg>
      <pc:sldChg chg="add modNotesTx">
        <pc:chgData name="Žydrūnė Kelpšaitė" userId="e943768126acec1d" providerId="LiveId" clId="{31712FD7-FA85-48BA-9D35-5382388CFC74}" dt="2026-03-02T10:32:00.934" v="84" actId="20577"/>
        <pc:sldMkLst>
          <pc:docMk/>
          <pc:sldMk cId="1980136996" sldId="398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3849713585" sldId="399"/>
        </pc:sldMkLst>
      </pc:sldChg>
      <pc:sldChg chg="add">
        <pc:chgData name="Žydrūnė Kelpšaitė" userId="e943768126acec1d" providerId="LiveId" clId="{31712FD7-FA85-48BA-9D35-5382388CFC74}" dt="2026-02-04T17:12:40.826" v="15"/>
        <pc:sldMkLst>
          <pc:docMk/>
          <pc:sldMk cId="676701706" sldId="400"/>
        </pc:sldMkLst>
      </pc:sldChg>
      <pc:sldChg chg="addSp modSp new mod">
        <pc:chgData name="Žydrūnė Kelpšaitė" userId="e943768126acec1d" providerId="LiveId" clId="{31712FD7-FA85-48BA-9D35-5382388CFC74}" dt="2026-02-04T17:11:39.373" v="12" actId="962"/>
        <pc:sldMkLst>
          <pc:docMk/>
          <pc:sldMk cId="1219088356" sldId="427"/>
        </pc:sldMkLst>
        <pc:spChg chg="mod">
          <ac:chgData name="Žydrūnė Kelpšaitė" userId="e943768126acec1d" providerId="LiveId" clId="{31712FD7-FA85-48BA-9D35-5382388CFC74}" dt="2026-02-04T17:11:27.398" v="9"/>
          <ac:spMkLst>
            <pc:docMk/>
            <pc:sldMk cId="1219088356" sldId="427"/>
            <ac:spMk id="2" creationId="{222444F2-A8A9-DD37-1FC6-135A04CC451A}"/>
          </ac:spMkLst>
        </pc:spChg>
        <pc:picChg chg="add mod">
          <ac:chgData name="Žydrūnė Kelpšaitė" userId="e943768126acec1d" providerId="LiveId" clId="{31712FD7-FA85-48BA-9D35-5382388CFC74}" dt="2026-02-04T17:11:39.373" v="12" actId="962"/>
          <ac:picMkLst>
            <pc:docMk/>
            <pc:sldMk cId="1219088356" sldId="427"/>
            <ac:picMk id="4" creationId="{4470CDE9-54B9-2735-A4EC-CC4D1780CE96}"/>
          </ac:picMkLst>
        </pc:picChg>
      </pc:sldChg>
      <pc:sldChg chg="addSp modSp new mod">
        <pc:chgData name="Žydrūnė Kelpšaitė" userId="e943768126acec1d" providerId="LiveId" clId="{31712FD7-FA85-48BA-9D35-5382388CFC74}" dt="2026-02-05T06:56:15.685" v="30" actId="1076"/>
        <pc:sldMkLst>
          <pc:docMk/>
          <pc:sldMk cId="4121090350" sldId="428"/>
        </pc:sldMkLst>
        <pc:spChg chg="mod">
          <ac:chgData name="Žydrūnė Kelpšaitė" userId="e943768126acec1d" providerId="LiveId" clId="{31712FD7-FA85-48BA-9D35-5382388CFC74}" dt="2026-02-05T06:55:32.341" v="18"/>
          <ac:spMkLst>
            <pc:docMk/>
            <pc:sldMk cId="4121090350" sldId="428"/>
            <ac:spMk id="2" creationId="{D62F3E10-2D86-414B-E09F-ADA38809FD31}"/>
          </ac:spMkLst>
        </pc:spChg>
        <pc:spChg chg="add mod">
          <ac:chgData name="Žydrūnė Kelpšaitė" userId="e943768126acec1d" providerId="LiveId" clId="{31712FD7-FA85-48BA-9D35-5382388CFC74}" dt="2026-02-05T06:55:56.657" v="25" actId="20577"/>
          <ac:spMkLst>
            <pc:docMk/>
            <pc:sldMk cId="4121090350" sldId="428"/>
            <ac:spMk id="4" creationId="{6F39D76A-CBF5-53F3-13D5-85EC89386991}"/>
          </ac:spMkLst>
        </pc:spChg>
        <pc:picChg chg="add mod">
          <ac:chgData name="Žydrūnė Kelpšaitė" userId="e943768126acec1d" providerId="LiveId" clId="{31712FD7-FA85-48BA-9D35-5382388CFC74}" dt="2026-02-05T06:56:15.685" v="30" actId="1076"/>
          <ac:picMkLst>
            <pc:docMk/>
            <pc:sldMk cId="4121090350" sldId="428"/>
            <ac:picMk id="6" creationId="{AB800E2B-A0F1-8273-CE3D-D949B93616C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raštės vietos rezervavimo ženkla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os vietos rezervavimo ženkla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A7EA0-0E4B-466A-915E-9CA503184FEF}" type="datetimeFigureOut">
              <a:rPr lang="lt-LT" smtClean="0"/>
              <a:t>2026-03-02</a:t>
            </a:fld>
            <a:endParaRPr lang="lt-LT"/>
          </a:p>
        </p:txBody>
      </p:sp>
      <p:sp>
        <p:nvSpPr>
          <p:cNvPr id="4" name="Skaidrės vaizdo vietos rezervavimo ženkla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Pastabų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B439F-9674-45B5-8C96-D557AAA858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03172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SSE</a:t>
            </a:r>
            <a:r>
              <a:rPr lang="en-US" dirty="0"/>
              <a:t> (</a:t>
            </a:r>
            <a:r>
              <a:rPr lang="lt-LT" dirty="0"/>
              <a:t>Kvadratinių paklaidų suma</a:t>
            </a:r>
            <a:r>
              <a:rPr lang="en-US" dirty="0"/>
              <a:t>)</a:t>
            </a:r>
            <a:r>
              <a:rPr lang="lt-LT" dirty="0"/>
              <a:t> parodo, kiek modelis bendrai „suklydo“, </a:t>
            </a:r>
            <a:r>
              <a:rPr lang="en-US" dirty="0" err="1"/>
              <a:t>keliant</a:t>
            </a:r>
            <a:r>
              <a:rPr lang="lt-LT" dirty="0"/>
              <a:t> </a:t>
            </a:r>
            <a:r>
              <a:rPr lang="en-US" dirty="0"/>
              <a:t>k</a:t>
            </a:r>
            <a:r>
              <a:rPr lang="lt-LT" dirty="0"/>
              <a:t>laidas</a:t>
            </a:r>
            <a:r>
              <a:rPr lang="en-US" dirty="0"/>
              <a:t> </a:t>
            </a:r>
            <a:r>
              <a:rPr lang="en-US" dirty="0" err="1"/>
              <a:t>kvadratu</a:t>
            </a:r>
            <a:r>
              <a:rPr lang="lt-LT" dirty="0"/>
              <a:t>, kad didesnės paklaidos būtų labiau baudžiamos</a:t>
            </a:r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B439F-9674-45B5-8C96-D557AAA85883}" type="slidenum">
              <a:rPr lang="lt-LT" smtClean="0"/>
              <a:t>15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877504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SSE</a:t>
            </a:r>
            <a:r>
              <a:rPr lang="en-US" dirty="0"/>
              <a:t> (</a:t>
            </a:r>
            <a:r>
              <a:rPr lang="lt-LT" dirty="0"/>
              <a:t>Kvadratinių paklaidų suma</a:t>
            </a:r>
            <a:r>
              <a:rPr lang="en-US" dirty="0"/>
              <a:t>)</a:t>
            </a:r>
            <a:r>
              <a:rPr lang="lt-LT" dirty="0"/>
              <a:t> </a:t>
            </a:r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B439F-9674-45B5-8C96-D557AAA85883}" type="slidenum">
              <a:rPr lang="lt-LT" smtClean="0"/>
              <a:t>17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13482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Standartizavimas nėra papildomas žingsnis – jis </a:t>
            </a:r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privalomas</a:t>
            </a: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B439F-9674-45B5-8C96-D557AAA85883}" type="slidenum">
              <a:rPr lang="lt-LT" smtClean="0"/>
              <a:t>19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366265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 err="1"/>
              <a:t>np.linspace</a:t>
            </a:r>
            <a:r>
              <a:rPr lang="lt-LT" dirty="0"/>
              <a:t>(</a:t>
            </a:r>
            <a:r>
              <a:rPr lang="lt-LT" dirty="0" err="1"/>
              <a:t>start</a:t>
            </a:r>
            <a:r>
              <a:rPr lang="lt-LT" dirty="0"/>
              <a:t>, stop, n)</a:t>
            </a:r>
          </a:p>
          <a:p>
            <a:endParaRPr lang="lt-LT" dirty="0"/>
          </a:p>
          <a:p>
            <a:r>
              <a:rPr lang="lt-LT" dirty="0"/>
              <a:t>Sukuria n tolygiai pasiskirsčiusių skaičių tarp </a:t>
            </a:r>
            <a:r>
              <a:rPr lang="lt-LT" dirty="0" err="1"/>
              <a:t>start</a:t>
            </a:r>
            <a:r>
              <a:rPr lang="lt-LT" dirty="0"/>
              <a:t> ir stop.</a:t>
            </a:r>
          </a:p>
          <a:p>
            <a:endParaRPr lang="lt-LT" dirty="0"/>
          </a:p>
          <a:p>
            <a:r>
              <a:rPr lang="lt-LT" dirty="0"/>
              <a:t>Pavyzdys:</a:t>
            </a:r>
          </a:p>
          <a:p>
            <a:r>
              <a:rPr lang="lt-LT" dirty="0" err="1"/>
              <a:t>np.linspace</a:t>
            </a:r>
            <a:r>
              <a:rPr lang="lt-LT" dirty="0"/>
              <a:t>(0, 10, 5)</a:t>
            </a:r>
          </a:p>
          <a:p>
            <a:endParaRPr lang="lt-LT" dirty="0"/>
          </a:p>
          <a:p>
            <a:r>
              <a:rPr lang="lt-LT" dirty="0"/>
              <a:t>Rezultatas:</a:t>
            </a:r>
          </a:p>
          <a:p>
            <a:r>
              <a:rPr lang="lt-LT" dirty="0"/>
              <a:t>[0, 2.5, 5, 7.5, 10]</a:t>
            </a:r>
          </a:p>
          <a:p>
            <a:endParaRPr lang="lt-LT" dirty="0"/>
          </a:p>
          <a:p>
            <a:r>
              <a:rPr lang="lt-LT" dirty="0"/>
              <a:t>Tai reiškia:</a:t>
            </a:r>
          </a:p>
          <a:p>
            <a:r>
              <a:rPr lang="lt-LT" dirty="0"/>
              <a:t>nuo 0 iki 10 padalinta į 5 vienodais intervalais išdėstytus taškus.</a:t>
            </a:r>
          </a:p>
          <a:p>
            <a:endParaRPr lang="lt-LT" dirty="0"/>
          </a:p>
          <a:p>
            <a:r>
              <a:rPr lang="lt-LT" dirty="0"/>
              <a:t>Naudojama tada, kai reikia tolygaus skaičių intervalo, pvz., testuojant skirtingas </a:t>
            </a:r>
            <a:r>
              <a:rPr lang="lt-LT" dirty="0" err="1"/>
              <a:t>hiperparametrų</a:t>
            </a:r>
            <a:r>
              <a:rPr lang="lt-LT" dirty="0"/>
              <a:t> reikšmes.</a:t>
            </a:r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B439F-9674-45B5-8C96-D557AAA85883}" type="slidenum">
              <a:rPr lang="lt-LT" smtClean="0"/>
              <a:t>22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220360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 err="1"/>
              <a:t>n_alphas</a:t>
            </a:r>
            <a:r>
              <a:rPr lang="lt-LT" dirty="0"/>
              <a:t> = 200  </a:t>
            </a:r>
          </a:p>
          <a:p>
            <a:r>
              <a:rPr lang="lt-LT" dirty="0" err="1"/>
              <a:t>alphas</a:t>
            </a:r>
            <a:r>
              <a:rPr lang="lt-LT" dirty="0"/>
              <a:t> = 10 ** </a:t>
            </a:r>
            <a:r>
              <a:rPr lang="lt-LT" dirty="0" err="1"/>
              <a:t>np.linspace</a:t>
            </a:r>
            <a:r>
              <a:rPr lang="lt-LT" dirty="0"/>
              <a:t>(-3, 3, </a:t>
            </a:r>
            <a:r>
              <a:rPr lang="lt-LT" dirty="0" err="1"/>
              <a:t>n_alphas</a:t>
            </a:r>
            <a:r>
              <a:rPr lang="lt-LT" dirty="0"/>
              <a:t>)</a:t>
            </a:r>
          </a:p>
          <a:p>
            <a:endParaRPr lang="lt-LT" dirty="0"/>
          </a:p>
          <a:p>
            <a:r>
              <a:rPr lang="lt-LT" dirty="0"/>
              <a:t>Čia sukuriamas 200 skirtingų </a:t>
            </a:r>
            <a:r>
              <a:rPr lang="lt-LT" dirty="0" err="1"/>
              <a:t>alpha</a:t>
            </a:r>
            <a:r>
              <a:rPr lang="lt-LT" dirty="0"/>
              <a:t> reikšmių sąrašas.</a:t>
            </a:r>
          </a:p>
          <a:p>
            <a:endParaRPr lang="lt-LT" dirty="0"/>
          </a:p>
          <a:p>
            <a:r>
              <a:rPr lang="lt-LT" dirty="0" err="1"/>
              <a:t>np.linspace</a:t>
            </a:r>
            <a:r>
              <a:rPr lang="lt-LT" dirty="0"/>
              <a:t>(-3, 3, 200) sukuria 200 skaičių nuo -3 iki 3.</a:t>
            </a:r>
          </a:p>
          <a:p>
            <a:endParaRPr lang="lt-LT" dirty="0"/>
          </a:p>
          <a:p>
            <a:r>
              <a:rPr lang="lt-LT" dirty="0"/>
              <a:t>Tada 10 ** pakelia 10 laipsniu iš tų skaičių.</a:t>
            </a:r>
          </a:p>
          <a:p>
            <a:endParaRPr lang="lt-LT" dirty="0"/>
          </a:p>
          <a:p>
            <a:r>
              <a:rPr lang="lt-LT" dirty="0"/>
              <a:t>Tai reiškia, kad </a:t>
            </a:r>
            <a:r>
              <a:rPr lang="lt-LT" dirty="0" err="1"/>
              <a:t>alpha</a:t>
            </a:r>
            <a:r>
              <a:rPr lang="lt-LT" dirty="0"/>
              <a:t> reikšmės bus:</a:t>
            </a:r>
          </a:p>
          <a:p>
            <a:endParaRPr lang="lt-LT" dirty="0"/>
          </a:p>
          <a:p>
            <a:r>
              <a:rPr lang="lt-LT" dirty="0"/>
              <a:t>nuo 10⁻³ (0.001)  </a:t>
            </a:r>
          </a:p>
          <a:p>
            <a:r>
              <a:rPr lang="lt-LT" dirty="0"/>
              <a:t>iki 10³ (1000)</a:t>
            </a:r>
          </a:p>
          <a:p>
            <a:endParaRPr lang="lt-LT" dirty="0"/>
          </a:p>
          <a:p>
            <a:r>
              <a:rPr lang="lt-LT" dirty="0"/>
              <a:t>Kodėl taip daroma?</a:t>
            </a:r>
          </a:p>
          <a:p>
            <a:endParaRPr lang="lt-LT" dirty="0"/>
          </a:p>
          <a:p>
            <a:r>
              <a:rPr lang="lt-LT" dirty="0" err="1"/>
              <a:t>Alpha</a:t>
            </a:r>
            <a:r>
              <a:rPr lang="lt-LT" dirty="0"/>
              <a:t> gali labai skirtis masteliu.  </a:t>
            </a:r>
          </a:p>
          <a:p>
            <a:r>
              <a:rPr lang="lt-LT" dirty="0"/>
              <a:t>Jei naudotume paprastą intervalą (pvz., 0–1000), daug mažų reikšmių net nebūtų patikrinta.</a:t>
            </a:r>
          </a:p>
          <a:p>
            <a:endParaRPr lang="lt-LT" dirty="0"/>
          </a:p>
          <a:p>
            <a:r>
              <a:rPr lang="lt-LT" dirty="0"/>
              <a:t>Naudojant 10 laipsnius:</a:t>
            </a:r>
          </a:p>
          <a:p>
            <a:r>
              <a:rPr lang="lt-LT" dirty="0"/>
              <a:t>tikriname labai mažas, vidutines ir labai dideles </a:t>
            </a:r>
            <a:r>
              <a:rPr lang="lt-LT" dirty="0" err="1"/>
              <a:t>regularizacijos</a:t>
            </a:r>
            <a:r>
              <a:rPr lang="lt-LT" dirty="0"/>
              <a:t> reikšmes.</a:t>
            </a:r>
            <a:r>
              <a:rPr lang="en-US" dirty="0"/>
              <a:t> Taip </a:t>
            </a:r>
            <a:r>
              <a:rPr lang="en-US" dirty="0" err="1"/>
              <a:t>galime</a:t>
            </a:r>
            <a:r>
              <a:rPr lang="en-US" dirty="0"/>
              <a:t> </a:t>
            </a:r>
            <a:r>
              <a:rPr lang="en-US" dirty="0" err="1"/>
              <a:t>leisti</a:t>
            </a:r>
            <a:r>
              <a:rPr lang="en-US" dirty="0"/>
              <a:t> </a:t>
            </a:r>
            <a:r>
              <a:rPr lang="lt-LT" dirty="0"/>
              <a:t>modeliui išbandyti labai platų </a:t>
            </a:r>
            <a:r>
              <a:rPr lang="lt-LT" dirty="0" err="1"/>
              <a:t>regularizacijos</a:t>
            </a:r>
            <a:r>
              <a:rPr lang="lt-LT" dirty="0"/>
              <a:t> stiprumų spektrą – nuo labai silpnos iki labai stiprios.</a:t>
            </a:r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B439F-9674-45B5-8C96-D557AAA85883}" type="slidenum">
              <a:rPr lang="lt-LT" smtClean="0"/>
              <a:t>23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032973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kodas ieško, kuris L1 ir L2 derinys (per l1_ratio) duoda geriausią validacijos rezultatą.</a:t>
            </a:r>
            <a:br>
              <a:rPr lang="lt-LT" dirty="0"/>
            </a:br>
            <a:r>
              <a:rPr lang="lt-LT" dirty="0"/>
              <a:t>Tai </a:t>
            </a:r>
            <a:r>
              <a:rPr lang="lt-LT" dirty="0" err="1"/>
              <a:t>hiperparametro</a:t>
            </a:r>
            <a:r>
              <a:rPr lang="lt-LT" dirty="0"/>
              <a:t> paieška rankiniu būdu.</a:t>
            </a:r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B439F-9674-45B5-8C96-D557AAA85883}" type="slidenum">
              <a:rPr lang="lt-LT" smtClean="0"/>
              <a:t>31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838303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186BD0A-411D-AD1D-438A-7299041C9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1A5C54BB-223F-0EBC-9322-EEE091C3F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AC1C8A8C-4A2E-E244-9A2E-8B455F9B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2026-03-02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BE9722F3-19FC-7BA5-3F9A-BDCC884A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7DAC41C7-ABB6-756A-839E-B9444F96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533522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D2C4F1F-53AA-C224-D249-1757A32A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FE26CBD1-CCF5-1522-C598-D897F5FF4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F7936920-7C1F-C393-79FF-B13157B0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2026-03-02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310E2695-170F-B8E8-237E-C0C93518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B8F95F60-DC19-0869-F9D1-7577F8FA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80886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E938056-BC7B-86A3-8268-CDC293DD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48E7D24E-3F2E-8141-49C9-01152811D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E25D64EF-B2B5-262B-ED84-1777C128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2026-03-02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07C6EB76-7ED6-981B-75BA-9E817626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2C477AFB-6204-940D-56F3-155C048AA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12140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A908604-323F-BD84-9888-6D55FAEF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BA2F68FD-9967-3DED-6C46-6A9306756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E321983F-C309-5657-4A0A-D8AB62BCF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EB703BDE-835E-B15A-B369-256C11FE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2026-03-02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840BB2C4-806B-3FA8-AB91-DEE93905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AA59D770-BFE1-5172-A411-1902C36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28242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CFABC92-31D7-959D-6114-6E02CDB8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1FF4F41B-6B00-5D3C-5920-60B0547B8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07F9AC37-0FAC-9411-6561-A02BFF556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Teksto vietos rezervavimo ženklas 4">
            <a:extLst>
              <a:ext uri="{FF2B5EF4-FFF2-40B4-BE49-F238E27FC236}">
                <a16:creationId xmlns:a16="http://schemas.microsoft.com/office/drawing/2014/main" id="{E335304E-D8EA-21E5-BFE9-AD376A482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>
            <a:extLst>
              <a:ext uri="{FF2B5EF4-FFF2-40B4-BE49-F238E27FC236}">
                <a16:creationId xmlns:a16="http://schemas.microsoft.com/office/drawing/2014/main" id="{5414D5F8-7A67-C36F-8D03-44694D8EC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7" name="Datos vietos rezervavimo ženklas 6">
            <a:extLst>
              <a:ext uri="{FF2B5EF4-FFF2-40B4-BE49-F238E27FC236}">
                <a16:creationId xmlns:a16="http://schemas.microsoft.com/office/drawing/2014/main" id="{395F54C8-7B14-AEAD-FBBC-B2099BCBB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2026-03-02</a:t>
            </a:fld>
            <a:endParaRPr lang="lt-LT"/>
          </a:p>
        </p:txBody>
      </p:sp>
      <p:sp>
        <p:nvSpPr>
          <p:cNvPr id="8" name="Poraštės vietos rezervavimo ženklas 7">
            <a:extLst>
              <a:ext uri="{FF2B5EF4-FFF2-40B4-BE49-F238E27FC236}">
                <a16:creationId xmlns:a16="http://schemas.microsoft.com/office/drawing/2014/main" id="{024279C0-BB92-7051-8327-500F795E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>
            <a:extLst>
              <a:ext uri="{FF2B5EF4-FFF2-40B4-BE49-F238E27FC236}">
                <a16:creationId xmlns:a16="http://schemas.microsoft.com/office/drawing/2014/main" id="{20FA149D-955C-A699-B169-201E6CE9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17766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FAB11B4-6854-3A93-F5BF-16A38854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Datos vietos rezervavimo ženklas 2">
            <a:extLst>
              <a:ext uri="{FF2B5EF4-FFF2-40B4-BE49-F238E27FC236}">
                <a16:creationId xmlns:a16="http://schemas.microsoft.com/office/drawing/2014/main" id="{FFD6B17D-7465-82F7-4CA5-B92C2340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2026-03-02</a:t>
            </a:fld>
            <a:endParaRPr lang="lt-LT"/>
          </a:p>
        </p:txBody>
      </p:sp>
      <p:sp>
        <p:nvSpPr>
          <p:cNvPr id="4" name="Poraštės vietos rezervavimo ženklas 3">
            <a:extLst>
              <a:ext uri="{FF2B5EF4-FFF2-40B4-BE49-F238E27FC236}">
                <a16:creationId xmlns:a16="http://schemas.microsoft.com/office/drawing/2014/main" id="{36A3DD48-2698-34C4-9190-B00A75B7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C7A0DB22-D455-9667-1765-436D76C5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8965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>
            <a:extLst>
              <a:ext uri="{FF2B5EF4-FFF2-40B4-BE49-F238E27FC236}">
                <a16:creationId xmlns:a16="http://schemas.microsoft.com/office/drawing/2014/main" id="{308AF72A-122A-6D10-5B09-A706E56D4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2026-03-02</a:t>
            </a:fld>
            <a:endParaRPr lang="lt-LT"/>
          </a:p>
        </p:txBody>
      </p:sp>
      <p:sp>
        <p:nvSpPr>
          <p:cNvPr id="3" name="Poraštės vietos rezervavimo ženklas 2">
            <a:extLst>
              <a:ext uri="{FF2B5EF4-FFF2-40B4-BE49-F238E27FC236}">
                <a16:creationId xmlns:a16="http://schemas.microsoft.com/office/drawing/2014/main" id="{5D8FCFDF-9B82-1748-66C1-6AE02FB6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C3F73403-7770-6087-2CC9-D0698C91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7213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149C66A-F251-C209-ACAF-443E6B63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04E297DE-1926-E699-123A-244C12EEA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D36AD1CE-6D20-FDAF-FC49-0B30ED908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33840543-475C-2DB2-1AB6-DC21FA81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2026-03-02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D25481C2-75F0-9EB2-129F-B3246F30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8EEF98B5-ED5D-B2A1-CD72-AEACCD63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173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15C211F-BF8D-D62E-F454-0F1EC6966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Paveikslėlio vietos rezervavimo ženklas 2">
            <a:extLst>
              <a:ext uri="{FF2B5EF4-FFF2-40B4-BE49-F238E27FC236}">
                <a16:creationId xmlns:a16="http://schemas.microsoft.com/office/drawing/2014/main" id="{82795E7E-A36F-25A4-10D1-5B2E7D88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17BE690F-C859-7881-0008-DCD657902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42ADAE4F-B218-72E1-886F-843138518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2026-03-02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7FFCD34F-73DC-51CC-902C-4C5A9539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EACED031-B09B-A2F5-8A6A-666283C4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2155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6719EE8-3BDD-C44F-C339-A00087A4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E2826984-928F-C265-4F97-95E3EFE36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BF37253-2BF2-21DB-3A23-F85D5A7E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2026-03-02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2F7FA9E5-8591-9032-1F94-AF378697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82C6D7C8-6F3F-8C71-26DA-E825C105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0622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>
            <a:extLst>
              <a:ext uri="{FF2B5EF4-FFF2-40B4-BE49-F238E27FC236}">
                <a16:creationId xmlns:a16="http://schemas.microsoft.com/office/drawing/2014/main" id="{2CE37003-8AFE-6C00-EF6F-EB1ABE109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6AE554C9-FB8A-FAF3-C218-7E4BDC5BD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CE3E9ABF-9976-BBA2-5CD5-0B2847E43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2026-03-02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DA7DAD85-B4CC-2B77-988E-799BDFDD4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5486825F-C2C6-DB22-62C0-65B6F9ED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848084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Text"/>
          <p:cNvSpPr txBox="1">
            <a:spLocks noGrp="1"/>
          </p:cNvSpPr>
          <p:nvPr>
            <p:ph type="title"/>
          </p:nvPr>
        </p:nvSpPr>
        <p:spPr>
          <a:xfrm>
            <a:off x="3273287" y="2618264"/>
            <a:ext cx="7050156" cy="2387601"/>
          </a:xfrm>
          <a:prstGeom prst="rect">
            <a:avLst/>
          </a:prstGeo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73287" y="5930348"/>
            <a:ext cx="7050155" cy="927653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r>
              <a:t>CLICK TO EDIT MASTER SUBTITLE STYLE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474662" y="2619023"/>
            <a:ext cx="2334168" cy="2387601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r>
              <a:t>Mokytojo
Vardas Pavardė</a:t>
            </a:r>
          </a:p>
        </p:txBody>
      </p:sp>
      <p:sp>
        <p:nvSpPr>
          <p:cNvPr id="20" name="Picture Placeholder 12"/>
          <p:cNvSpPr>
            <a:spLocks noGrp="1"/>
          </p:cNvSpPr>
          <p:nvPr>
            <p:ph type="pic" sz="quarter" idx="22"/>
          </p:nvPr>
        </p:nvSpPr>
        <p:spPr>
          <a:xfrm>
            <a:off x="10323513" y="458787"/>
            <a:ext cx="1377951" cy="13779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58367390"/>
      </p:ext>
    </p:extLst>
  </p:cSld>
  <p:clrMapOvr>
    <a:masterClrMapping/>
  </p:clrMapOvr>
  <p:transition spd="med"/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>
            <a:extLst>
              <a:ext uri="{FF2B5EF4-FFF2-40B4-BE49-F238E27FC236}">
                <a16:creationId xmlns:a16="http://schemas.microsoft.com/office/drawing/2014/main" id="{613EBE01-E7FA-A88E-BF9C-40B72319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43A0ABE3-3241-8546-4BFC-9F0A4A0D3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5E86ABD-77B4-52BE-BF22-37F3CD995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36C6D-7C55-439E-985F-D159F347BD46}" type="datetimeFigureOut">
              <a:rPr lang="lt-LT" smtClean="0"/>
              <a:t>2026-03-02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36F866A4-2DDF-1C10-C45C-B7AC46C7B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A270FAF5-18C9-1CB1-97DB-650DAA399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42714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2BDC-5084-498D-BB0E-694C51A9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230" y="897619"/>
            <a:ext cx="8291303" cy="3217181"/>
          </a:xfrm>
        </p:spPr>
        <p:txBody>
          <a:bodyPr lIns="45719" tIns="45720" rIns="45719" bIns="45720" anchor="t">
            <a:normAutofit/>
          </a:bodyPr>
          <a:lstStyle/>
          <a:p>
            <a:br>
              <a:rPr lang="en-US" sz="5500" dirty="0"/>
            </a:br>
            <a:br>
              <a:rPr lang="en-US" sz="5500" dirty="0"/>
            </a:br>
            <a:r>
              <a:rPr lang="en-US" sz="5500" dirty="0"/>
              <a:t>Python: </a:t>
            </a:r>
            <a:r>
              <a:rPr lang="lt-LT" sz="5500" dirty="0" err="1"/>
              <a:t>Multiple</a:t>
            </a:r>
            <a:r>
              <a:rPr lang="lt-LT" sz="5500" dirty="0"/>
              <a:t>  </a:t>
            </a:r>
            <a:r>
              <a:rPr lang="en-US" sz="5500" dirty="0"/>
              <a:t>Regression</a:t>
            </a:r>
            <a:br>
              <a:rPr lang="en-US" sz="5500" dirty="0"/>
            </a:br>
            <a:endParaRPr lang="lt-LT" sz="5500" dirty="0"/>
          </a:p>
        </p:txBody>
      </p:sp>
      <p:sp>
        <p:nvSpPr>
          <p:cNvPr id="6" name="Google Shape;102;p1">
            <a:extLst>
              <a:ext uri="{FF2B5EF4-FFF2-40B4-BE49-F238E27FC236}">
                <a16:creationId xmlns:a16="http://schemas.microsoft.com/office/drawing/2014/main" id="{B077506A-6721-4858-9864-AF9A81768959}"/>
              </a:ext>
            </a:extLst>
          </p:cNvPr>
          <p:cNvSpPr txBox="1">
            <a:spLocks/>
          </p:cNvSpPr>
          <p:nvPr/>
        </p:nvSpPr>
        <p:spPr>
          <a:xfrm>
            <a:off x="504322" y="5930349"/>
            <a:ext cx="2358936" cy="92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lt-LT" sz="1600" b="1" dirty="0"/>
              <a:t>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0B682-3A69-7D7F-6C30-04096BD72FF1}"/>
              </a:ext>
            </a:extLst>
          </p:cNvPr>
          <p:cNvSpPr txBox="1"/>
          <p:nvPr/>
        </p:nvSpPr>
        <p:spPr>
          <a:xfrm>
            <a:off x="3048000" y="447497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000" dirty="0"/>
              <a:t>Žydrūnė Kelpšaitė</a:t>
            </a:r>
          </a:p>
          <a:p>
            <a:r>
              <a:rPr lang="lt-LT" sz="4000" dirty="0"/>
              <a:t>Data </a:t>
            </a:r>
            <a:r>
              <a:rPr lang="lt-LT" sz="4000" dirty="0" err="1"/>
              <a:t>Analyst</a:t>
            </a:r>
            <a:endParaRPr lang="lt-LT" sz="4000" dirty="0"/>
          </a:p>
        </p:txBody>
      </p:sp>
      <p:pic>
        <p:nvPicPr>
          <p:cNvPr id="7" name="Paveikslėlis 6" descr="Paveikslėlis, kuriame yra Šriftas, ekrano kopija, Grafika, tekstas&#10;&#10;Dirbtinio intelekto sugeneruotas turinys gali būti neteisingas.">
            <a:extLst>
              <a:ext uri="{FF2B5EF4-FFF2-40B4-BE49-F238E27FC236}">
                <a16:creationId xmlns:a16="http://schemas.microsoft.com/office/drawing/2014/main" id="{0B50167F-1A10-49ED-F764-D1A39A77E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22" y="381046"/>
            <a:ext cx="11488753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1567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3456049-2DB5-56FD-AB5C-85BE50B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COMMON ALGORITHMS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9F18F9B9-A022-36B8-0535-B789C0870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019" y="1561890"/>
            <a:ext cx="7630590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6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68AEEC6-9F65-2541-C6F8-9D7416CD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75044-076F-6F8C-B042-A13A3DD9BA90}"/>
              </a:ext>
            </a:extLst>
          </p:cNvPr>
          <p:cNvSpPr txBox="1"/>
          <p:nvPr/>
        </p:nvSpPr>
        <p:spPr>
          <a:xfrm>
            <a:off x="838199" y="1436810"/>
            <a:ext cx="7892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some of the major types of regression modeling techniques</a:t>
            </a:r>
            <a:endParaRPr lang="lt-LT" dirty="0"/>
          </a:p>
        </p:txBody>
      </p:sp>
      <p:pic>
        <p:nvPicPr>
          <p:cNvPr id="6" name="Paveikslėlis 5" descr="Paveikslėlis, kuriame yra tekstas, diagrama, linij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FB671915-6360-C85D-3A73-8D9AA4A81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13" y="1806142"/>
            <a:ext cx="10772374" cy="3726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48E160-CD4E-A4E5-9B20-7C8323DE7036}"/>
              </a:ext>
            </a:extLst>
          </p:cNvPr>
          <p:cNvSpPr txBox="1"/>
          <p:nvPr/>
        </p:nvSpPr>
        <p:spPr>
          <a:xfrm>
            <a:off x="2005780" y="5647835"/>
            <a:ext cx="9055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 though logistic regression (which you may have heard of) has “regression” in its name, it’s actually a classification modeling technique!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07341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1EFFA21-BC91-C2F1-8E21-3577AB15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GOALS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4CA5B-09BE-74B9-4E8C-7A0D407B61C6}"/>
              </a:ext>
            </a:extLst>
          </p:cNvPr>
          <p:cNvSpPr txBox="1"/>
          <p:nvPr/>
        </p:nvSpPr>
        <p:spPr>
          <a:xfrm>
            <a:off x="1120877" y="1395785"/>
            <a:ext cx="9960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 models are used for two primary goals: </a:t>
            </a:r>
            <a:r>
              <a:rPr lang="en-US" b="1" dirty="0"/>
              <a:t>prediction</a:t>
            </a:r>
            <a:r>
              <a:rPr lang="en-US" dirty="0"/>
              <a:t> and </a:t>
            </a:r>
            <a:r>
              <a:rPr lang="en-US" b="1" dirty="0"/>
              <a:t>inference</a:t>
            </a:r>
            <a:endParaRPr lang="lt-LT" b="1" dirty="0"/>
          </a:p>
          <a:p>
            <a:r>
              <a:rPr lang="en-US" dirty="0"/>
              <a:t> • The goal shapes the modeling approach, including the regression algorithm used, the complexity of the model, and more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A6BFB78B-55E5-E444-5D0B-D2F36707F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0209"/>
            <a:ext cx="10431331" cy="3296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B20524-A006-B196-8ADE-DA21B5E89A9F}"/>
              </a:ext>
            </a:extLst>
          </p:cNvPr>
          <p:cNvSpPr txBox="1"/>
          <p:nvPr/>
        </p:nvSpPr>
        <p:spPr>
          <a:xfrm>
            <a:off x="648927" y="5797413"/>
            <a:ext cx="110809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often need to strike a </a:t>
            </a:r>
            <a:r>
              <a:rPr lang="en-US" b="1" dirty="0"/>
              <a:t>balance between these goals </a:t>
            </a:r>
            <a:r>
              <a:rPr lang="en-US" dirty="0"/>
              <a:t>– a model that is very inaccurate won’t be too trustworthy for inference, and understanding the impact that variables have on predictions can help make them more accurate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62514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6036233-77C8-7B5E-74F0-7A198468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1475A-6B39-C8E3-3519-A075B146E79C}"/>
              </a:ext>
            </a:extLst>
          </p:cNvPr>
          <p:cNvSpPr txBox="1"/>
          <p:nvPr/>
        </p:nvSpPr>
        <p:spPr>
          <a:xfrm>
            <a:off x="1081547" y="1612490"/>
            <a:ext cx="10933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Regression analysis </a:t>
            </a:r>
            <a:r>
              <a:rPr lang="en-US" dirty="0"/>
              <a:t>is supervised learning technique used to predict a numeric variable (</a:t>
            </a:r>
            <a:r>
              <a:rPr lang="en-US" i="1" dirty="0"/>
              <a:t>target</a:t>
            </a:r>
            <a:r>
              <a:rPr lang="en-US" dirty="0"/>
              <a:t>) by modeling its relationship with a set of other variables (</a:t>
            </a:r>
            <a:r>
              <a:rPr lang="en-US" i="1" dirty="0"/>
              <a:t>features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6" name="Paveikslėlis 5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BE2399D6-5AD9-8F06-8FFE-050B80BA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2258821"/>
            <a:ext cx="9652240" cy="442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8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530F40C-C6F9-3BE3-2A70-4D88E9D1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MULTIPLE LINEAR REGRESSION MO</a:t>
            </a:r>
            <a:r>
              <a:rPr lang="en-US" dirty="0"/>
              <a:t>DEL</a:t>
            </a:r>
            <a:endParaRPr lang="lt-LT" dirty="0"/>
          </a:p>
        </p:txBody>
      </p:sp>
      <p:pic>
        <p:nvPicPr>
          <p:cNvPr id="4" name="Paveikslėlis 3" descr="Paveikslėlis, kuriame yra diagrama, tekstas, ekrano kopija, origamis&#10;&#10;Dirbtinio intelekto sugeneruotas turinys gali būti neteisingas.">
            <a:extLst>
              <a:ext uri="{FF2B5EF4-FFF2-40B4-BE49-F238E27FC236}">
                <a16:creationId xmlns:a16="http://schemas.microsoft.com/office/drawing/2014/main" id="{28DA9A4C-D0A4-B838-1CC1-C5451D5A5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839" y="1350397"/>
            <a:ext cx="9395161" cy="4798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689809-9FFB-1929-E3C4-7CDB07C7605D}"/>
              </a:ext>
            </a:extLst>
          </p:cNvPr>
          <p:cNvSpPr txBox="1"/>
          <p:nvPr/>
        </p:nvSpPr>
        <p:spPr>
          <a:xfrm>
            <a:off x="275304" y="2282384"/>
            <a:ext cx="17698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Multiple regression can scale well beyond 2 variables, but this is where visual analysis breaks down – and one reason why we need </a:t>
            </a:r>
            <a:r>
              <a:rPr lang="en-US" dirty="0">
                <a:highlight>
                  <a:srgbClr val="FFFF00"/>
                </a:highlight>
              </a:rPr>
              <a:t>machine learning</a:t>
            </a:r>
            <a:r>
              <a:rPr lang="en-US" dirty="0"/>
              <a:t>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145415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2B78-D4DE-EAA3-B133-AC829ECE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D8E2F69-BE21-AC87-2978-90EEB6D2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MULTIPLE LINEAR REGRESSIO</a:t>
            </a:r>
            <a:r>
              <a:rPr lang="en-US" dirty="0"/>
              <a:t>N</a:t>
            </a:r>
            <a:endParaRPr lang="lt-LT" dirty="0"/>
          </a:p>
        </p:txBody>
      </p:sp>
      <p:pic>
        <p:nvPicPr>
          <p:cNvPr id="4" name="Paveikslėlis 3" descr="Paveikslėlis, kuriame yra tekstas, Šrift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BD3715B8-FB42-53B7-D0B2-204DD2EA5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7142"/>
            <a:ext cx="10092113" cy="475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CE231BD-25E5-FDD9-4AB7-F019BAB56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A MULTIPLE REGRESSION</a:t>
            </a:r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C525139F-D573-3E46-57B1-3B70EDB39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07" y="1326043"/>
            <a:ext cx="9262184" cy="507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5BA3-2D50-A291-7B9D-213D34AA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163FC7A-6818-8424-7B16-7D1AECE1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ASSUMPTIONS OF LINEAR REGRESSION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CC2ED07F-4642-963D-0530-64C8F15D3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18" y="1710655"/>
            <a:ext cx="10515600" cy="478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87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CB104E1-DC95-B136-9627-48FE4AD31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t-LT"/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A543E107-C7C0-89EC-9863-190E5851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819"/>
            <a:ext cx="12192000" cy="59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31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E11A562-E2A1-6429-5137-A72B85925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MODEL TESTING &amp; VALIDATION</a:t>
            </a:r>
          </a:p>
        </p:txBody>
      </p:sp>
      <p:pic>
        <p:nvPicPr>
          <p:cNvPr id="4" name="Paveikslėlis 3" descr="Paveikslėlis, kuriame yra tekstas, ekrano kopija, Šriftas, Stačiakampis&#10;&#10;Dirbtinio intelekto sugeneruotas turinys gali būti neteisingas.">
            <a:extLst>
              <a:ext uri="{FF2B5EF4-FFF2-40B4-BE49-F238E27FC236}">
                <a16:creationId xmlns:a16="http://schemas.microsoft.com/office/drawing/2014/main" id="{0EB57BF4-359C-1D6F-CBED-74B95405E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69" y="1852392"/>
            <a:ext cx="6716062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91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11B7B43-9EBF-D040-2AF2-43FFC53F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t-LT" dirty="0"/>
              <a:t>FEATURE ENGINEERING</a:t>
            </a:r>
          </a:p>
        </p:txBody>
      </p:sp>
      <p:pic>
        <p:nvPicPr>
          <p:cNvPr id="4" name="Paveikslėlis 3" descr="Paveikslėlis, kuriame yra tekstas, ekrano kopija, Šriftas, vizitinė kortelė&#10;&#10;Dirbtinio intelekto sugeneruotas turinys gali būti neteisingas.">
            <a:extLst>
              <a:ext uri="{FF2B5EF4-FFF2-40B4-BE49-F238E27FC236}">
                <a16:creationId xmlns:a16="http://schemas.microsoft.com/office/drawing/2014/main" id="{DD302AAF-5D82-882D-D794-60E953AC6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311" y="2233445"/>
            <a:ext cx="6649378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68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22444F2-A8A9-DD37-1FC6-135A04CC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REGULARIZED REGRESSION </a:t>
            </a:r>
          </a:p>
        </p:txBody>
      </p:sp>
      <p:pic>
        <p:nvPicPr>
          <p:cNvPr id="4" name="Paveikslėlis 3" descr="Paveikslėlis, kuriame yra tekstas, ekrano kopija, Šriftas, vizitinė kortelė&#10;&#10;Dirbtinio intelekto sugeneruotas turinys gali būti neteisingas.">
            <a:extLst>
              <a:ext uri="{FF2B5EF4-FFF2-40B4-BE49-F238E27FC236}">
                <a16:creationId xmlns:a16="http://schemas.microsoft.com/office/drawing/2014/main" id="{4470CDE9-54B9-2735-A4EC-CC4D1780C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206" y="2262024"/>
            <a:ext cx="6363588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88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D2B5-2C13-1A57-E169-CE50677C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2641230-7050-762B-1D99-0DF2C25B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REGULARIZED REGRESSION</a:t>
            </a:r>
          </a:p>
        </p:txBody>
      </p:sp>
      <p:pic>
        <p:nvPicPr>
          <p:cNvPr id="4" name="Paveikslėlis 3" descr="Paveikslėlis, kuriame yra tekstas, ekrano kopija, diagrama, linija&#10;&#10;Dirbtinio intelekto sugeneruotas turinys gali būti neteisingas.">
            <a:extLst>
              <a:ext uri="{FF2B5EF4-FFF2-40B4-BE49-F238E27FC236}">
                <a16:creationId xmlns:a16="http://schemas.microsoft.com/office/drawing/2014/main" id="{EF4C860E-38AF-C451-C827-69D6A80A5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29" y="1425160"/>
            <a:ext cx="9454851" cy="514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34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6F4B176-8121-F58B-3558-869A89C5A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THE COST FUNCTION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ACC8626-8C38-F4B1-D09E-AEC41176B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11131"/>
            <a:ext cx="9183483" cy="508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0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603FE39-45F9-E307-2599-56DBB9A2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REGULARIZED REGRESSION</a:t>
            </a:r>
          </a:p>
        </p:txBody>
      </p:sp>
      <p:pic>
        <p:nvPicPr>
          <p:cNvPr id="4" name="Paveikslėlis 3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51FCBF8A-3EE5-C22D-8C22-A844B0F93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637950" cy="487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003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6EC41B3-DA50-095A-1569-443BC6218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RIDGE REGRESSION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7DF9CA79-B791-EC7A-77BE-65699783B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45013"/>
            <a:ext cx="8103944" cy="47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72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DA52A6C-F916-1FE0-F4ED-653993636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RIDGE REGRESSION WORKFLOW</a:t>
            </a:r>
          </a:p>
        </p:txBody>
      </p:sp>
      <p:pic>
        <p:nvPicPr>
          <p:cNvPr id="4" name="Paveikslėlis 3" descr="Paveikslėlis, kuriame yra tekstas, ekrano kopija, Šriftas, dokumentas&#10;&#10;Dirbtinio intelekto sugeneruotas turinys gali būti neteisingas.">
            <a:extLst>
              <a:ext uri="{FF2B5EF4-FFF2-40B4-BE49-F238E27FC236}">
                <a16:creationId xmlns:a16="http://schemas.microsoft.com/office/drawing/2014/main" id="{BAAE4335-2C64-312F-6D3E-7ECFD92C2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715337" cy="453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29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3AE6B0E-2BB4-02CE-EE74-23CBC51E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STANDARDIZATION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840FB1E5-102B-DD49-595F-5305A2505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15153"/>
            <a:ext cx="8938289" cy="483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56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82A95-41DC-DB7E-75E1-B00904F3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F69E955-3166-A0FF-175E-A44A63A6F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STANDARDIZATION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BAFD2E70-EB72-2487-06AD-9F4869CE7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409804" cy="47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757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34588FE-B50F-0FFC-7103-7E0D4085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A RIDGE REGRESSION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847B80F-49DD-13C7-428A-4B641B237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0636"/>
            <a:ext cx="9705684" cy="505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566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263E59C-00D9-447C-F349-18F349F9C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TUNING ALPHA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D7A54F04-54C4-5DB9-AA7C-BB5158F1F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24365"/>
            <a:ext cx="9503664" cy="539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49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1DA88-47E3-1C44-3F3E-60AF9B926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4A2ACC5-97CA-4573-3F21-F9203F18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TUNING ALPHA</a:t>
            </a:r>
          </a:p>
        </p:txBody>
      </p:sp>
      <p:pic>
        <p:nvPicPr>
          <p:cNvPr id="5" name="Paveikslėlis 4" descr="Paveikslėlis, kuriame yra tekstas, ekrano kopija, diagrama, linija&#10;&#10;Dirbtinio intelekto sugeneruotas turinys gali būti neteisingas.">
            <a:extLst>
              <a:ext uri="{FF2B5EF4-FFF2-40B4-BE49-F238E27FC236}">
                <a16:creationId xmlns:a16="http://schemas.microsoft.com/office/drawing/2014/main" id="{F6656EB9-2556-F337-476F-647E21F34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24220"/>
            <a:ext cx="9458216" cy="496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924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57572A5-9A8A-748D-D242-D2E15F712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RIDGECV</a:t>
            </a:r>
          </a:p>
        </p:txBody>
      </p:sp>
      <p:pic>
        <p:nvPicPr>
          <p:cNvPr id="4" name="Paveikslėlis 3" descr="Paveikslėlis, kuriame yra tekstas, elektronika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FAF736FD-63CC-B1E4-78F2-2FC0CC372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4" y="1510030"/>
            <a:ext cx="8720317" cy="487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49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62F3E10-2D86-414B-E09F-ADA38809F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PRO TIP: RIDGECV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9D76A-CBF5-53F3-13D5-85EC89386991}"/>
              </a:ext>
            </a:extLst>
          </p:cNvPr>
          <p:cNvSpPr txBox="1"/>
          <p:nvPr/>
        </p:nvSpPr>
        <p:spPr>
          <a:xfrm>
            <a:off x="1002889" y="1335943"/>
            <a:ext cx="93898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RidgeCV</a:t>
            </a:r>
            <a:r>
              <a:rPr lang="en-US" dirty="0"/>
              <a:t>() function performs a cross validation loop that returns the best performing value for alpha (instead of writing a loop from scratch) </a:t>
            </a:r>
            <a:endParaRPr lang="lt-LT" dirty="0"/>
          </a:p>
          <a:p>
            <a:r>
              <a:rPr lang="lt-LT" dirty="0"/>
              <a:t>	</a:t>
            </a:r>
            <a:r>
              <a:rPr lang="en-US" dirty="0"/>
              <a:t>• </a:t>
            </a:r>
            <a:r>
              <a:rPr lang="en-US" dirty="0" err="1"/>
              <a:t>RidgeCV</a:t>
            </a:r>
            <a:r>
              <a:rPr lang="en-US" dirty="0"/>
              <a:t>(alphas=</a:t>
            </a:r>
            <a:r>
              <a:rPr lang="en-US" dirty="0" err="1"/>
              <a:t>list_of_alphas</a:t>
            </a:r>
            <a:r>
              <a:rPr lang="en-US" dirty="0"/>
              <a:t>, cv=5_or_10) </a:t>
            </a:r>
            <a:endParaRPr lang="lt-LT" dirty="0"/>
          </a:p>
          <a:p>
            <a:r>
              <a:rPr lang="lt-LT" dirty="0"/>
              <a:t>	</a:t>
            </a:r>
            <a:r>
              <a:rPr lang="en-US" dirty="0"/>
              <a:t>• Use .alpha_ to return the best-performing value for alpha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AB800E2B-A0F1-8273-CE3D-D949B9361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58" y="2668441"/>
            <a:ext cx="9282460" cy="382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90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00DF97F-E005-8A90-85F0-1AAEE2DE4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LASSO REGRESSION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07860180-3071-A03E-A89B-F2FECE595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5" y="1456993"/>
            <a:ext cx="8889913" cy="495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17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29B7B25-2747-2DC6-B04F-C361EB050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A LASSO REGRESSION</a:t>
            </a:r>
          </a:p>
        </p:txBody>
      </p:sp>
      <p:pic>
        <p:nvPicPr>
          <p:cNvPr id="4" name="Paveikslėlis 3" descr="Paveikslėlis, kuriame yra tekstas, ekrano kopija, diagrama, linija&#10;&#10;Dirbtinio intelekto sugeneruotas turinys gali būti neteisingas.">
            <a:extLst>
              <a:ext uri="{FF2B5EF4-FFF2-40B4-BE49-F238E27FC236}">
                <a16:creationId xmlns:a16="http://schemas.microsoft.com/office/drawing/2014/main" id="{23669FEC-8599-968C-EF71-A2402B2A1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5808"/>
            <a:ext cx="9406434" cy="529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34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090D915-6FF3-DAF9-2638-DA4E816B5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PRO TIP: LASSOCV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75F546D1-F39D-1462-4567-D8DE1C44A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2" y="1541011"/>
            <a:ext cx="8454323" cy="510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61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21DC2C9-3DF8-4193-B0F0-06728939C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ELASTIC NET REGRESSION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4C42C143-9707-4DF2-F9E1-A480CE733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4" y="1609314"/>
            <a:ext cx="9462542" cy="481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8921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7EC5ACB-0532-A0C5-863D-28FDD4F4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AN ELASTIC NET REGRESSION</a:t>
            </a:r>
            <a:endParaRPr lang="lt-LT" dirty="0"/>
          </a:p>
        </p:txBody>
      </p:sp>
      <p:pic>
        <p:nvPicPr>
          <p:cNvPr id="4" name="Paveikslėlis 3" descr="Paveikslėlis, kuriame yra tekstas, ekrano kopija, Šriftas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9BE92B6B-B855-F2FC-CCF3-FA158D073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3042"/>
            <a:ext cx="8724906" cy="529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46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379AB77-9B18-C6BB-B90A-BBB58EB6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TUNING LAMBDA</a:t>
            </a:r>
          </a:p>
        </p:txBody>
      </p:sp>
      <p:pic>
        <p:nvPicPr>
          <p:cNvPr id="4" name="Paveikslėlis 3" descr="Paveikslėlis, kuriame yra tekstas, ekrano kopija, programinė įrang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8044BB75-906C-53B0-A0BC-A522B8EFD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56990"/>
            <a:ext cx="9295657" cy="493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36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8178DB6-320E-D41C-0167-F5CC3657A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ELASTICNETCV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A92C625F-EF43-B439-53C5-02312CB38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90" y="1434944"/>
            <a:ext cx="9594776" cy="519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13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DADAD6C-599A-9A0D-F1A2-49392D794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REGULARIZED REGRESSION MODELS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86E9F4DF-CA24-3B1D-9BB3-33A8104B9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537"/>
            <a:ext cx="12192000" cy="468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701706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C0C4FC32-BFA9-4382-9C8D-73C91D08FF9F}"/>
</file>

<file path=customXml/itemProps2.xml><?xml version="1.0" encoding="utf-8"?>
<ds:datastoreItem xmlns:ds="http://schemas.openxmlformats.org/officeDocument/2006/customXml" ds:itemID="{69810CAD-DD48-4875-B9AE-525C83F88D72}"/>
</file>

<file path=customXml/itemProps3.xml><?xml version="1.0" encoding="utf-8"?>
<ds:datastoreItem xmlns:ds="http://schemas.openxmlformats.org/officeDocument/2006/customXml" ds:itemID="{84BE4133-1529-4880-9736-46E7071CF64E}"/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610</Words>
  <Application>Microsoft Office PowerPoint</Application>
  <PresentationFormat>Plačiaekranė</PresentationFormat>
  <Paragraphs>90</Paragraphs>
  <Slides>33</Slides>
  <Notes>6</Notes>
  <HiddenSlides>0</HiddenSlides>
  <MMClips>0</MMClips>
  <ScaleCrop>false</ScaleCrop>
  <HeadingPairs>
    <vt:vector size="6" baseType="variant">
      <vt:variant>
        <vt:lpstr>Naudojami šriftai</vt:lpstr>
      </vt:variant>
      <vt:variant>
        <vt:i4>3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„Office“ tema</vt:lpstr>
      <vt:lpstr>  Python: Multiple  Regression </vt:lpstr>
      <vt:lpstr>COMMON ALGORITHMS</vt:lpstr>
      <vt:lpstr>TYPES OF REGRESSION</vt:lpstr>
      <vt:lpstr>GOALS OF REGRESSION</vt:lpstr>
      <vt:lpstr>REGRESSION 101</vt:lpstr>
      <vt:lpstr>MULTIPLE LINEAR REGRESSION MODEL</vt:lpstr>
      <vt:lpstr>MULTIPLE LINEAR REGRESSION</vt:lpstr>
      <vt:lpstr>FITTING A MULTIPLE REGRESSION</vt:lpstr>
      <vt:lpstr>ASSUMPTIONS OF LINEAR REGRESSION</vt:lpstr>
      <vt:lpstr>„PowerPoint“ pateiktis</vt:lpstr>
      <vt:lpstr>MODEL TESTING &amp; VALIDATION</vt:lpstr>
      <vt:lpstr>FEATURE ENGINEERING</vt:lpstr>
      <vt:lpstr>REGULARIZED REGRESSION </vt:lpstr>
      <vt:lpstr>REGULARIZED REGRESSION</vt:lpstr>
      <vt:lpstr>THE COST FUNCTION</vt:lpstr>
      <vt:lpstr>TYPES OF REGULARIZED REGRESSION</vt:lpstr>
      <vt:lpstr>RIDGE REGRESSION</vt:lpstr>
      <vt:lpstr>RIDGE REGRESSION WORKFLOW</vt:lpstr>
      <vt:lpstr>STANDARDIZATION</vt:lpstr>
      <vt:lpstr>STANDARDIZATION</vt:lpstr>
      <vt:lpstr>FITTING A RIDGE REGRESSION</vt:lpstr>
      <vt:lpstr>TUNING ALPHA</vt:lpstr>
      <vt:lpstr>TUNING ALPHA</vt:lpstr>
      <vt:lpstr>RIDGECV</vt:lpstr>
      <vt:lpstr>PRO TIP: RIDGECV</vt:lpstr>
      <vt:lpstr>LASSO REGRESSION</vt:lpstr>
      <vt:lpstr>FITTING A LASSO REGRESSION</vt:lpstr>
      <vt:lpstr>PRO TIP: LASSOCV</vt:lpstr>
      <vt:lpstr>ELASTIC NET REGRESSION</vt:lpstr>
      <vt:lpstr>FITTING AN ELASTIC NET REGRESSION</vt:lpstr>
      <vt:lpstr>TUNING LAMBDA</vt:lpstr>
      <vt:lpstr>ELASTICNETCV</vt:lpstr>
      <vt:lpstr>REGULARIZED REGRESSION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Žydrūnė Kelpšaitė</dc:creator>
  <cp:lastModifiedBy>Žydrūnė Kelpšaitė</cp:lastModifiedBy>
  <cp:revision>5</cp:revision>
  <dcterms:created xsi:type="dcterms:W3CDTF">2026-02-01T16:05:21Z</dcterms:created>
  <dcterms:modified xsi:type="dcterms:W3CDTF">2026-03-02T12:04:12Z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0x010100753C69E30CD2E346B0231A1827D4E953</vt:lpwstr>
  </property>
</Properties>
</file>