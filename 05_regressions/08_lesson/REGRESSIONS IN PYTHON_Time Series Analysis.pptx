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79" r:id="rId2"/>
    <p:sldId id="260" r:id="rId3"/>
    <p:sldId id="275" r:id="rId4"/>
    <p:sldId id="274" r:id="rId5"/>
    <p:sldId id="270" r:id="rId6"/>
    <p:sldId id="317" r:id="rId7"/>
    <p:sldId id="424" r:id="rId8"/>
    <p:sldId id="318" r:id="rId9"/>
    <p:sldId id="325" r:id="rId10"/>
    <p:sldId id="340" r:id="rId11"/>
    <p:sldId id="343" r:id="rId12"/>
    <p:sldId id="425" r:id="rId13"/>
    <p:sldId id="427" r:id="rId14"/>
    <p:sldId id="382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416" r:id="rId32"/>
    <p:sldId id="417" r:id="rId33"/>
    <p:sldId id="418" r:id="rId34"/>
    <p:sldId id="419" r:id="rId35"/>
    <p:sldId id="420" r:id="rId36"/>
    <p:sldId id="421" r:id="rId37"/>
    <p:sldId id="428" r:id="rId38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99E257-CD70-4536-A8A4-3E6389F3BAEB}" v="3" dt="2026-03-02T17:01:58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010" autoAdjust="0"/>
  </p:normalViewPr>
  <p:slideViewPr>
    <p:cSldViewPr snapToGrid="0">
      <p:cViewPr>
        <p:scale>
          <a:sx n="100" d="100"/>
          <a:sy n="100" d="100"/>
        </p:scale>
        <p:origin x="8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undo custSel addSld delSld modSld">
      <pc:chgData name="Žydrūnė Kelpšaitė" userId="e943768126acec1d" providerId="LiveId" clId="{31712FD7-FA85-48BA-9D35-5382388CFC74}" dt="2026-03-03T13:26:18.977" v="45" actId="14100"/>
      <pc:docMkLst>
        <pc:docMk/>
      </pc:docMkLst>
      <pc:sldChg chg="addSp delSp modSp mod">
        <pc:chgData name="Žydrūnė Kelpšaitė" userId="e943768126acec1d" providerId="LiveId" clId="{31712FD7-FA85-48BA-9D35-5382388CFC74}" dt="2026-02-08T19:24:29.272" v="31" actId="1076"/>
        <pc:sldMkLst>
          <pc:docMk/>
          <pc:sldMk cId="469815673" sldId="279"/>
        </pc:sldMkLst>
        <pc:picChg chg="add mod">
          <ac:chgData name="Žydrūnė Kelpšaitė" userId="e943768126acec1d" providerId="LiveId" clId="{31712FD7-FA85-48BA-9D35-5382388CFC74}" dt="2026-02-08T19:24:29.272" v="31" actId="1076"/>
          <ac:picMkLst>
            <pc:docMk/>
            <pc:sldMk cId="469815673" sldId="279"/>
            <ac:picMk id="5" creationId="{87873D31-1C41-34E6-2BBA-7453C3D55F7C}"/>
          </ac:picMkLst>
        </pc:picChg>
      </pc:sldChg>
      <pc:sldChg chg="add del">
        <pc:chgData name="Žydrūnė Kelpšaitė" userId="e943768126acec1d" providerId="LiveId" clId="{31712FD7-FA85-48BA-9D35-5382388CFC74}" dt="2026-02-08T14:45:58.096" v="1" actId="47"/>
        <pc:sldMkLst>
          <pc:docMk/>
          <pc:sldMk cId="796734748" sldId="382"/>
        </pc:sldMkLst>
      </pc:sldChg>
      <pc:sldChg chg="add del">
        <pc:chgData name="Žydrūnė Kelpšaitė" userId="e943768126acec1d" providerId="LiveId" clId="{31712FD7-FA85-48BA-9D35-5382388CFC74}" dt="2026-02-08T14:45:58.096" v="1" actId="47"/>
        <pc:sldMkLst>
          <pc:docMk/>
          <pc:sldMk cId="676701706" sldId="400"/>
        </pc:sldMkLst>
      </pc:sldChg>
      <pc:sldChg chg="addSp modSp add mod">
        <pc:chgData name="Žydrūnė Kelpšaitė" userId="e943768126acec1d" providerId="LiveId" clId="{31712FD7-FA85-48BA-9D35-5382388CFC74}" dt="2026-02-08T14:46:41.293" v="6" actId="962"/>
        <pc:sldMkLst>
          <pc:docMk/>
          <pc:sldMk cId="2572333575" sldId="401"/>
        </pc:sldMkLst>
        <pc:picChg chg="add mod">
          <ac:chgData name="Žydrūnė Kelpšaitė" userId="e943768126acec1d" providerId="LiveId" clId="{31712FD7-FA85-48BA-9D35-5382388CFC74}" dt="2026-02-08T14:46:41.293" v="6" actId="962"/>
          <ac:picMkLst>
            <pc:docMk/>
            <pc:sldMk cId="2572333575" sldId="401"/>
            <ac:picMk id="4" creationId="{BE01CAF5-C71A-1CF0-2A2C-26E52C825849}"/>
          </ac:picMkLst>
        </pc:picChg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343186881" sldId="402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2082364873" sldId="403"/>
        </pc:sldMkLst>
      </pc:sldChg>
      <pc:sldChg chg="modSp add mod">
        <pc:chgData name="Žydrūnė Kelpšaitė" userId="e943768126acec1d" providerId="LiveId" clId="{31712FD7-FA85-48BA-9D35-5382388CFC74}" dt="2026-02-09T08:02:54.495" v="32" actId="1076"/>
        <pc:sldMkLst>
          <pc:docMk/>
          <pc:sldMk cId="70687509" sldId="404"/>
        </pc:sldMkLst>
        <pc:picChg chg="mod">
          <ac:chgData name="Žydrūnė Kelpšaitė" userId="e943768126acec1d" providerId="LiveId" clId="{31712FD7-FA85-48BA-9D35-5382388CFC74}" dt="2026-02-09T08:02:54.495" v="32" actId="1076"/>
          <ac:picMkLst>
            <pc:docMk/>
            <pc:sldMk cId="70687509" sldId="404"/>
            <ac:picMk id="4" creationId="{74BC65DA-CD9B-AA8B-00E5-992FD1FD7FDA}"/>
          </ac:picMkLst>
        </pc:picChg>
      </pc:sldChg>
      <pc:sldChg chg="modSp add mod">
        <pc:chgData name="Žydrūnė Kelpšaitė" userId="e943768126acec1d" providerId="LiveId" clId="{31712FD7-FA85-48BA-9D35-5382388CFC74}" dt="2026-02-09T08:05:29.395" v="35" actId="1076"/>
        <pc:sldMkLst>
          <pc:docMk/>
          <pc:sldMk cId="3757807048" sldId="405"/>
        </pc:sldMkLst>
        <pc:spChg chg="mod">
          <ac:chgData name="Žydrūnė Kelpšaitė" userId="e943768126acec1d" providerId="LiveId" clId="{31712FD7-FA85-48BA-9D35-5382388CFC74}" dt="2026-02-09T08:04:55.065" v="33" actId="14100"/>
          <ac:spMkLst>
            <pc:docMk/>
            <pc:sldMk cId="3757807048" sldId="405"/>
            <ac:spMk id="2" creationId="{48C4E6E3-88AE-E111-7C47-41DAE42103C8}"/>
          </ac:spMkLst>
        </pc:spChg>
        <pc:spChg chg="mod">
          <ac:chgData name="Žydrūnė Kelpšaitė" userId="e943768126acec1d" providerId="LiveId" clId="{31712FD7-FA85-48BA-9D35-5382388CFC74}" dt="2026-02-09T08:05:29.395" v="35" actId="1076"/>
          <ac:spMkLst>
            <pc:docMk/>
            <pc:sldMk cId="3757807048" sldId="405"/>
            <ac:spMk id="6" creationId="{7AD6B41E-A9B6-E17E-A58D-9DBE411FA686}"/>
          </ac:spMkLst>
        </pc:spChg>
        <pc:picChg chg="mod">
          <ac:chgData name="Žydrūnė Kelpšaitė" userId="e943768126acec1d" providerId="LiveId" clId="{31712FD7-FA85-48BA-9D35-5382388CFC74}" dt="2026-02-09T08:05:25.655" v="34" actId="14100"/>
          <ac:picMkLst>
            <pc:docMk/>
            <pc:sldMk cId="3757807048" sldId="405"/>
            <ac:picMk id="4" creationId="{81DE537D-DC4E-0057-ECD2-72E93CFE4C12}"/>
          </ac:picMkLst>
        </pc:picChg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1018199436" sldId="406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1436278798" sldId="407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1749332020" sldId="408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472242908" sldId="409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3001731153" sldId="410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2568169693" sldId="411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1005206488" sldId="412"/>
        </pc:sldMkLst>
      </pc:sldChg>
      <pc:sldChg chg="add modNotesTx">
        <pc:chgData name="Žydrūnė Kelpšaitė" userId="e943768126acec1d" providerId="LiveId" clId="{31712FD7-FA85-48BA-9D35-5382388CFC74}" dt="2026-03-02T17:01:58.669" v="44" actId="20577"/>
        <pc:sldMkLst>
          <pc:docMk/>
          <pc:sldMk cId="2814561789" sldId="413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3808659521" sldId="414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1346538825" sldId="415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1094796177" sldId="416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216853688" sldId="417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339674363" sldId="418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1757134667" sldId="419"/>
        </pc:sldMkLst>
      </pc:sldChg>
      <pc:sldChg chg="add">
        <pc:chgData name="Žydrūnė Kelpšaitė" userId="e943768126acec1d" providerId="LiveId" clId="{31712FD7-FA85-48BA-9D35-5382388CFC74}" dt="2026-02-08T14:46:28.284" v="3"/>
        <pc:sldMkLst>
          <pc:docMk/>
          <pc:sldMk cId="1794852479" sldId="420"/>
        </pc:sldMkLst>
      </pc:sldChg>
      <pc:sldChg chg="modSp add mod">
        <pc:chgData name="Žydrūnė Kelpšaitė" userId="e943768126acec1d" providerId="LiveId" clId="{31712FD7-FA85-48BA-9D35-5382388CFC74}" dt="2026-02-08T19:16:43.619" v="8" actId="1076"/>
        <pc:sldMkLst>
          <pc:docMk/>
          <pc:sldMk cId="3426421090" sldId="421"/>
        </pc:sldMkLst>
        <pc:picChg chg="mod">
          <ac:chgData name="Žydrūnė Kelpšaitė" userId="e943768126acec1d" providerId="LiveId" clId="{31712FD7-FA85-48BA-9D35-5382388CFC74}" dt="2026-02-08T19:16:43.619" v="8" actId="1076"/>
          <ac:picMkLst>
            <pc:docMk/>
            <pc:sldMk cId="3426421090" sldId="421"/>
            <ac:picMk id="4" creationId="{35130EA4-4B3C-B90A-405A-761E4EBD86C0}"/>
          </ac:picMkLst>
        </pc:picChg>
      </pc:sldChg>
      <pc:sldChg chg="addSp modSp new mod">
        <pc:chgData name="Žydrūnė Kelpšaitė" userId="e943768126acec1d" providerId="LiveId" clId="{31712FD7-FA85-48BA-9D35-5382388CFC74}" dt="2026-03-03T13:26:18.977" v="45" actId="14100"/>
        <pc:sldMkLst>
          <pc:docMk/>
          <pc:sldMk cId="2411352466" sldId="428"/>
        </pc:sldMkLst>
        <pc:spChg chg="mod">
          <ac:chgData name="Žydrūnė Kelpšaitė" userId="e943768126acec1d" providerId="LiveId" clId="{31712FD7-FA85-48BA-9D35-5382388CFC74}" dt="2026-02-09T09:33:56.711" v="37" actId="14100"/>
          <ac:spMkLst>
            <pc:docMk/>
            <pc:sldMk cId="2411352466" sldId="428"/>
            <ac:spMk id="2" creationId="{027E0290-8DDE-6C2C-16A6-AD3E67152893}"/>
          </ac:spMkLst>
        </pc:spChg>
        <pc:picChg chg="add mod">
          <ac:chgData name="Žydrūnė Kelpšaitė" userId="e943768126acec1d" providerId="LiveId" clId="{31712FD7-FA85-48BA-9D35-5382388CFC74}" dt="2026-03-03T13:26:18.977" v="45" actId="14100"/>
          <ac:picMkLst>
            <pc:docMk/>
            <pc:sldMk cId="2411352466" sldId="428"/>
            <ac:picMk id="4" creationId="{20A5B950-0397-C9FE-68A1-2E4AD088CD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A7EA0-0E4B-466A-915E-9CA503184FEF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B439F-9674-45B5-8C96-D557AAA858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03172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lt-L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</a:t>
            </a:r>
            <a:r>
              <a:rPr lang="lt-L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lt-LT" dirty="0"/>
              <a:t> apskaičiuoja skirtumą tarp dabartinės ir ankstesnės reikšmės</a:t>
            </a:r>
            <a:r>
              <a:rPr lang="en-US" dirty="0"/>
              <a:t> - </a:t>
            </a:r>
            <a:r>
              <a:rPr lang="lt-LT" dirty="0"/>
              <a:t>pašalina bendrą augimo kryptį ir palieka tik pokyčius.</a:t>
            </a:r>
            <a:endParaRPr lang="en-US" dirty="0"/>
          </a:p>
          <a:p>
            <a:endParaRPr lang="en-US" dirty="0"/>
          </a:p>
          <a:p>
            <a:r>
              <a:rPr lang="lt-LT" dirty="0"/>
              <a:t>Formulė paprastai:</a:t>
            </a:r>
          </a:p>
          <a:p>
            <a:r>
              <a:rPr lang="lt-LT" dirty="0"/>
              <a:t>Nauja reikšmė = Y(t) − Y(t−1)</a:t>
            </a:r>
          </a:p>
          <a:p>
            <a:r>
              <a:rPr lang="lt-LT" dirty="0"/>
              <a:t>Pvz.:</a:t>
            </a:r>
          </a:p>
          <a:p>
            <a:r>
              <a:rPr lang="lt-LT" dirty="0"/>
              <a:t>Pardavimai:</a:t>
            </a:r>
            <a:br>
              <a:rPr lang="lt-LT" dirty="0"/>
            </a:br>
            <a:r>
              <a:rPr lang="lt-LT" dirty="0"/>
              <a:t>100, 110, 125, 140</a:t>
            </a:r>
          </a:p>
          <a:p>
            <a:r>
              <a:rPr lang="lt-LT" dirty="0"/>
              <a:t>Po </a:t>
            </a:r>
            <a:r>
              <a:rPr lang="lt-L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lt-L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</a:t>
            </a:r>
            <a:r>
              <a:rPr lang="lt-L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lt-LT" dirty="0"/>
              <a:t> gauname:</a:t>
            </a:r>
            <a:br>
              <a:rPr lang="lt-LT" dirty="0"/>
            </a:br>
            <a:r>
              <a:rPr lang="lt-LT" dirty="0" err="1"/>
              <a:t>NaN</a:t>
            </a:r>
            <a:r>
              <a:rPr lang="lt-LT" dirty="0"/>
              <a:t>, 10, 15, 15</a:t>
            </a:r>
          </a:p>
          <a:p>
            <a:r>
              <a:rPr lang="lt-LT" dirty="0"/>
              <a:t>Tai reiškia: kiek padidėjo ar sumažėjo reikšmė lyginant su ankstesniu laikotarpiu.</a:t>
            </a:r>
          </a:p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B439F-9674-45B5-8C96-D557AAA85883}" type="slidenum">
              <a:rPr lang="lt-LT" smtClean="0"/>
              <a:t>28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745361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186BD0A-411D-AD1D-438A-7299041C9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1A5C54BB-223F-0EBC-9322-EEE091C3F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AC1C8A8C-4A2E-E244-9A2E-8B455F9B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BE9722F3-19FC-7BA5-3F9A-BDCC884A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7DAC41C7-ABB6-756A-839E-B9444F96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533522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D2C4F1F-53AA-C224-D249-1757A32A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FE26CBD1-CCF5-1522-C598-D897F5FF4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F7936920-7C1F-C393-79FF-B13157B0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10E2695-170F-B8E8-237E-C0C93518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B8F95F60-DC19-0869-F9D1-7577F8FA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80886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E938056-BC7B-86A3-8268-CDC293DD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48E7D24E-3F2E-8141-49C9-01152811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E25D64EF-B2B5-262B-ED84-1777C128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07C6EB76-7ED6-981B-75BA-9E817626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C477AFB-6204-940D-56F3-155C048AA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1214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A908604-323F-BD84-9888-6D55FAEF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BA2F68FD-9967-3DED-6C46-6A9306756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E321983F-C309-5657-4A0A-D8AB62BCF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EB703BDE-835E-B15A-B369-256C11FE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840BB2C4-806B-3FA8-AB91-DEE93905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AA59D770-BFE1-5172-A411-1902C36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28242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CFABC92-31D7-959D-6114-6E02CDB8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1FF4F41B-6B00-5D3C-5920-60B0547B8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07F9AC37-0FAC-9411-6561-A02BFF556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E335304E-D8EA-21E5-BFE9-AD376A482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5414D5F8-7A67-C36F-8D03-44694D8EC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395F54C8-7B14-AEAD-FBBC-B2099BCBB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024279C0-BB92-7051-8327-500F795E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20FA149D-955C-A699-B169-201E6CE9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17766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FAB11B4-6854-3A93-F5BF-16A38854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FFD6B17D-7465-82F7-4CA5-B92C2340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36A3DD48-2698-34C4-9190-B00A75B7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C7A0DB22-D455-9667-1765-436D76C5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8965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308AF72A-122A-6D10-5B09-A706E56D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5D8FCFDF-9B82-1748-66C1-6AE02FB6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C3F73403-7770-6087-2CC9-D0698C91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7213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149C66A-F251-C209-ACAF-443E6B63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04E297DE-1926-E699-123A-244C12EEA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D36AD1CE-6D20-FDAF-FC49-0B30ED908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33840543-475C-2DB2-1AB6-DC21FA81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D25481C2-75F0-9EB2-129F-B3246F30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8EEF98B5-ED5D-B2A1-CD72-AEACCD63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173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15C211F-BF8D-D62E-F454-0F1EC696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82795E7E-A36F-25A4-10D1-5B2E7D88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17BE690F-C859-7881-0008-DCD657902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42ADAE4F-B218-72E1-886F-843138518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7FFCD34F-73DC-51CC-902C-4C5A9539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EACED031-B09B-A2F5-8A6A-666283C4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2155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6719EE8-3BDD-C44F-C339-A00087A4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E2826984-928F-C265-4F97-95E3EFE36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BF37253-2BF2-21DB-3A23-F85D5A7E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2F7FA9E5-8591-9032-1F94-AF378697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82C6D7C8-6F3F-8C71-26DA-E825C105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0622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2CE37003-8AFE-6C00-EF6F-EB1ABE109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6AE554C9-FB8A-FAF3-C218-7E4BDC5BD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CE3E9ABF-9976-BBA2-5CD5-0B2847E43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DA7DAD85-B4CC-2B77-988E-799BDFDD4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5486825F-C2C6-DB22-62C0-65B6F9ED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48084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3273287" y="2618264"/>
            <a:ext cx="7050156" cy="2387601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73287" y="5930348"/>
            <a:ext cx="7050155" cy="927653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r>
              <a:t>CLICK TO EDIT MASTER SUBTITLE STYLE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74662" y="2619023"/>
            <a:ext cx="2334168" cy="2387601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r>
              <a:t>Mokytojo
Vardas Pavardė</a:t>
            </a:r>
          </a:p>
        </p:txBody>
      </p:sp>
      <p:sp>
        <p:nvSpPr>
          <p:cNvPr id="20" name="Picture Placeholder 12"/>
          <p:cNvSpPr>
            <a:spLocks noGrp="1"/>
          </p:cNvSpPr>
          <p:nvPr>
            <p:ph type="pic" sz="quarter" idx="22"/>
          </p:nvPr>
        </p:nvSpPr>
        <p:spPr>
          <a:xfrm>
            <a:off x="10323513" y="458787"/>
            <a:ext cx="1377951" cy="13779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58367390"/>
      </p:ext>
    </p:extLst>
  </p:cSld>
  <p:clrMapOvr>
    <a:masterClrMapping/>
  </p:clrMapOvr>
  <p:transition spd="med"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613EBE01-E7FA-A88E-BF9C-40B72319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43A0ABE3-3241-8546-4BFC-9F0A4A0D3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5E86ABD-77B4-52BE-BF22-37F3CD995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36C6D-7C55-439E-985F-D159F347BD46}" type="datetimeFigureOut">
              <a:rPr lang="lt-LT" smtClean="0"/>
              <a:t>2026-03-03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6F866A4-2DDF-1C10-C45C-B7AC46C7B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A270FAF5-18C9-1CB1-97DB-650DAA399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2714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2BDC-5084-498D-BB0E-694C51A9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230" y="897619"/>
            <a:ext cx="8291303" cy="3217181"/>
          </a:xfrm>
        </p:spPr>
        <p:txBody>
          <a:bodyPr lIns="45719" tIns="45720" rIns="45719" bIns="45720" anchor="t">
            <a:normAutofit/>
          </a:bodyPr>
          <a:lstStyle/>
          <a:p>
            <a:br>
              <a:rPr lang="en-US" sz="5500" dirty="0"/>
            </a:br>
            <a:br>
              <a:rPr lang="en-US" sz="5500" dirty="0"/>
            </a:br>
            <a:r>
              <a:rPr lang="en-US" sz="5500" dirty="0"/>
              <a:t>Python: </a:t>
            </a:r>
            <a:r>
              <a:rPr lang="lt-LT" sz="5500" dirty="0" err="1"/>
              <a:t>Multiple</a:t>
            </a:r>
            <a:r>
              <a:rPr lang="lt-LT" sz="5500" dirty="0"/>
              <a:t>  </a:t>
            </a:r>
            <a:r>
              <a:rPr lang="en-US" sz="5500" dirty="0"/>
              <a:t>Regression</a:t>
            </a:r>
            <a:br>
              <a:rPr lang="en-US" sz="5500" dirty="0"/>
            </a:br>
            <a:endParaRPr lang="lt-LT" sz="5500" dirty="0"/>
          </a:p>
        </p:txBody>
      </p:sp>
      <p:sp>
        <p:nvSpPr>
          <p:cNvPr id="6" name="Google Shape;102;p1">
            <a:extLst>
              <a:ext uri="{FF2B5EF4-FFF2-40B4-BE49-F238E27FC236}">
                <a16:creationId xmlns:a16="http://schemas.microsoft.com/office/drawing/2014/main" id="{B077506A-6721-4858-9864-AF9A81768959}"/>
              </a:ext>
            </a:extLst>
          </p:cNvPr>
          <p:cNvSpPr txBox="1">
            <a:spLocks/>
          </p:cNvSpPr>
          <p:nvPr/>
        </p:nvSpPr>
        <p:spPr>
          <a:xfrm>
            <a:off x="504322" y="5930349"/>
            <a:ext cx="2358936" cy="92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lt-LT" sz="1600" b="1" dirty="0"/>
              <a:t>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0B682-3A69-7D7F-6C30-04096BD72FF1}"/>
              </a:ext>
            </a:extLst>
          </p:cNvPr>
          <p:cNvSpPr txBox="1"/>
          <p:nvPr/>
        </p:nvSpPr>
        <p:spPr>
          <a:xfrm>
            <a:off x="3048000" y="447497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dirty="0"/>
              <a:t>Žydrūnė Kelpšaitė</a:t>
            </a:r>
          </a:p>
          <a:p>
            <a:r>
              <a:rPr lang="lt-LT" sz="4000" dirty="0"/>
              <a:t>Data </a:t>
            </a:r>
            <a:r>
              <a:rPr lang="lt-LT" sz="4000" dirty="0" err="1"/>
              <a:t>Analyst</a:t>
            </a:r>
            <a:endParaRPr lang="lt-LT" sz="4000" dirty="0"/>
          </a:p>
        </p:txBody>
      </p:sp>
      <p:pic>
        <p:nvPicPr>
          <p:cNvPr id="5" name="Paveikslėlis 4" descr="Paveikslėlis, kuriame yra Šriftas, Grafika, ekrano kopija, grafinis dizainas&#10;&#10;Dirbtinio intelekto sugeneruotas turinys gali būti neteisingas.">
            <a:extLst>
              <a:ext uri="{FF2B5EF4-FFF2-40B4-BE49-F238E27FC236}">
                <a16:creationId xmlns:a16="http://schemas.microsoft.com/office/drawing/2014/main" id="{87873D31-1C41-34E6-2BBA-7453C3D55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230" y="98838"/>
            <a:ext cx="9059539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1567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3456049-2DB5-56FD-AB5C-85BE50B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COMMON ALGORITHMS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9F18F9B9-A022-36B8-0535-B789C0870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66" y="1500245"/>
            <a:ext cx="7630590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6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68AEEC6-9F65-2541-C6F8-9D7416CD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75044-076F-6F8C-B042-A13A3DD9BA90}"/>
              </a:ext>
            </a:extLst>
          </p:cNvPr>
          <p:cNvSpPr txBox="1"/>
          <p:nvPr/>
        </p:nvSpPr>
        <p:spPr>
          <a:xfrm>
            <a:off x="838199" y="1436810"/>
            <a:ext cx="7892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some of the major types of regression modeling techniques</a:t>
            </a:r>
            <a:endParaRPr lang="lt-LT" dirty="0"/>
          </a:p>
        </p:txBody>
      </p:sp>
      <p:pic>
        <p:nvPicPr>
          <p:cNvPr id="6" name="Paveikslėlis 5" descr="Paveikslėlis, kuriame yra tekstas, diagrama, linij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FB671915-6360-C85D-3A73-8D9AA4A81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13" y="1806142"/>
            <a:ext cx="10772374" cy="3726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48E160-CD4E-A4E5-9B20-7C8323DE7036}"/>
              </a:ext>
            </a:extLst>
          </p:cNvPr>
          <p:cNvSpPr txBox="1"/>
          <p:nvPr/>
        </p:nvSpPr>
        <p:spPr>
          <a:xfrm>
            <a:off x="2005780" y="5647835"/>
            <a:ext cx="9055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 though logistic regression (which you may have heard of) has “regression” in its name, it’s actually a classification modeling technique!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07341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1EFFA21-BC91-C2F1-8E21-3577AB15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GOALS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4CA5B-09BE-74B9-4E8C-7A0D407B61C6}"/>
              </a:ext>
            </a:extLst>
          </p:cNvPr>
          <p:cNvSpPr txBox="1"/>
          <p:nvPr/>
        </p:nvSpPr>
        <p:spPr>
          <a:xfrm>
            <a:off x="1120877" y="1395785"/>
            <a:ext cx="9960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 models are used for two primary goals: </a:t>
            </a:r>
            <a:r>
              <a:rPr lang="en-US" b="1" dirty="0"/>
              <a:t>prediction</a:t>
            </a:r>
            <a:r>
              <a:rPr lang="en-US" dirty="0"/>
              <a:t> and </a:t>
            </a:r>
            <a:r>
              <a:rPr lang="en-US" b="1" dirty="0"/>
              <a:t>inference</a:t>
            </a:r>
            <a:endParaRPr lang="lt-LT" b="1" dirty="0"/>
          </a:p>
          <a:p>
            <a:r>
              <a:rPr lang="en-US" dirty="0"/>
              <a:t> • The goal shapes the modeling approach, including the regression algorithm used, the complexity of the model, and more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A6BFB78B-55E5-E444-5D0B-D2F36707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0209"/>
            <a:ext cx="10431331" cy="3296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20524-A006-B196-8ADE-DA21B5E89A9F}"/>
              </a:ext>
            </a:extLst>
          </p:cNvPr>
          <p:cNvSpPr txBox="1"/>
          <p:nvPr/>
        </p:nvSpPr>
        <p:spPr>
          <a:xfrm>
            <a:off x="648927" y="5797413"/>
            <a:ext cx="110809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often need to strike a </a:t>
            </a:r>
            <a:r>
              <a:rPr lang="en-US" b="1" dirty="0"/>
              <a:t>balance between these goals </a:t>
            </a:r>
            <a:r>
              <a:rPr lang="en-US" dirty="0"/>
              <a:t>– a model that is very inaccurate won’t be too trustworthy for inference, and understanding the impact that variables have on predictions can help make them more accurate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62514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036233-77C8-7B5E-74F0-7A198468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1475A-6B39-C8E3-3519-A075B146E79C}"/>
              </a:ext>
            </a:extLst>
          </p:cNvPr>
          <p:cNvSpPr txBox="1"/>
          <p:nvPr/>
        </p:nvSpPr>
        <p:spPr>
          <a:xfrm>
            <a:off x="1081547" y="1612490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numeric variable (</a:t>
            </a:r>
            <a:r>
              <a:rPr lang="en-US" i="1" dirty="0"/>
              <a:t>target</a:t>
            </a:r>
            <a:r>
              <a:rPr lang="en-US" dirty="0"/>
              <a:t>) 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BE2399D6-5AD9-8F06-8FFE-050B80BA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2258821"/>
            <a:ext cx="9652240" cy="442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8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530F40C-C6F9-3BE3-2A70-4D88E9D1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REGRESSION MO</a:t>
            </a:r>
            <a:r>
              <a:rPr lang="en-US" dirty="0"/>
              <a:t>DEL</a:t>
            </a:r>
            <a:endParaRPr lang="lt-LT" dirty="0"/>
          </a:p>
        </p:txBody>
      </p:sp>
      <p:pic>
        <p:nvPicPr>
          <p:cNvPr id="4" name="Paveikslėlis 3" descr="Paveikslėlis, kuriame yra diagrama, tekstas, ekrano kopija, origamis&#10;&#10;Dirbtinio intelekto sugeneruotas turinys gali būti neteisingas.">
            <a:extLst>
              <a:ext uri="{FF2B5EF4-FFF2-40B4-BE49-F238E27FC236}">
                <a16:creationId xmlns:a16="http://schemas.microsoft.com/office/drawing/2014/main" id="{28DA9A4C-D0A4-B838-1CC1-C5451D5A5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839" y="1350397"/>
            <a:ext cx="9395161" cy="4798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89809-9FFB-1929-E3C4-7CDB07C7605D}"/>
              </a:ext>
            </a:extLst>
          </p:cNvPr>
          <p:cNvSpPr txBox="1"/>
          <p:nvPr/>
        </p:nvSpPr>
        <p:spPr>
          <a:xfrm>
            <a:off x="275304" y="2282384"/>
            <a:ext cx="17698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Multiple regression can scale well beyond 2 variables, but this is where visual analysis breaks down – and one reason why we need </a:t>
            </a:r>
            <a:r>
              <a:rPr lang="en-US" dirty="0">
                <a:highlight>
                  <a:srgbClr val="FFFF00"/>
                </a:highlight>
              </a:rPr>
              <a:t>machine learning</a:t>
            </a:r>
            <a:r>
              <a:rPr lang="en-US" dirty="0"/>
              <a:t>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14541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2B78-D4DE-EAA3-B133-AC829ECE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D8E2F69-BE21-AC87-2978-90EEB6D2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</a:t>
            </a:r>
            <a:r>
              <a:rPr lang="en-US" dirty="0"/>
              <a:t>N</a:t>
            </a:r>
            <a:endParaRPr lang="lt-LT" dirty="0"/>
          </a:p>
        </p:txBody>
      </p:sp>
      <p:pic>
        <p:nvPicPr>
          <p:cNvPr id="4" name="Paveikslėlis 3" descr="Paveikslėlis, kuriame yra tekstas, Šrif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BD3715B8-FB42-53B7-D0B2-204DD2EA5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7142"/>
            <a:ext cx="10092113" cy="475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CE231BD-25E5-FDD9-4AB7-F019BAB5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MULTIPLE REGRESSION</a:t>
            </a:r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C525139F-D573-3E46-57B1-3B70EDB39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07" y="1326043"/>
            <a:ext cx="9262184" cy="507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5BA3-2D50-A291-7B9D-213D34AA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163FC7A-6818-8424-7B16-7D1AECE1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ASSUMPTIONS OF LINEAR REGRESSION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CC2ED07F-4642-963D-0530-64C8F15D3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18" y="1710655"/>
            <a:ext cx="10515600" cy="478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8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CB104E1-DC95-B136-9627-48FE4AD31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t-LT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A543E107-C7C0-89EC-9863-190E5851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819"/>
            <a:ext cx="12192000" cy="59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31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E11A562-E2A1-6429-5137-A72B8592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TESTING &amp; VALIDATION</a:t>
            </a:r>
          </a:p>
        </p:txBody>
      </p:sp>
      <p:pic>
        <p:nvPicPr>
          <p:cNvPr id="4" name="Paveikslėlis 3" descr="Paveikslėlis, kuriame yra tekstas, ekrano kopija, Šriftas, Stačiakampis&#10;&#10;Dirbtinio intelekto sugeneruotas turinys gali būti neteisingas.">
            <a:extLst>
              <a:ext uri="{FF2B5EF4-FFF2-40B4-BE49-F238E27FC236}">
                <a16:creationId xmlns:a16="http://schemas.microsoft.com/office/drawing/2014/main" id="{0EB57BF4-359C-1D6F-CBED-74B95405E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69" y="1852392"/>
            <a:ext cx="671606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91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11B7B43-9EBF-D040-2AF2-43FFC53F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t-LT" dirty="0"/>
              <a:t>FEATURE ENGINEERING</a:t>
            </a:r>
          </a:p>
        </p:txBody>
      </p:sp>
      <p:pic>
        <p:nvPicPr>
          <p:cNvPr id="4" name="Paveikslėlis 3" descr="Paveikslėlis, kuriame yra tekstas, ekrano kopija, Šriftas, vizitinė kortelė&#10;&#10;Dirbtinio intelekto sugeneruotas turinys gali būti neteisingas.">
            <a:extLst>
              <a:ext uri="{FF2B5EF4-FFF2-40B4-BE49-F238E27FC236}">
                <a16:creationId xmlns:a16="http://schemas.microsoft.com/office/drawing/2014/main" id="{DD302AAF-5D82-882D-D794-60E953AC6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11" y="2233445"/>
            <a:ext cx="6649378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68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22444F2-A8A9-DD37-1FC6-135A04CC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REGULARIZED REGRESSION </a:t>
            </a:r>
          </a:p>
        </p:txBody>
      </p:sp>
      <p:pic>
        <p:nvPicPr>
          <p:cNvPr id="4" name="Paveikslėlis 3" descr="Paveikslėlis, kuriame yra tekstas, ekrano kopija, Šriftas, vizitinė kortelė&#10;&#10;Dirbtinio intelekto sugeneruotas turinys gali būti neteisingas.">
            <a:extLst>
              <a:ext uri="{FF2B5EF4-FFF2-40B4-BE49-F238E27FC236}">
                <a16:creationId xmlns:a16="http://schemas.microsoft.com/office/drawing/2014/main" id="{4470CDE9-54B9-2735-A4EC-CC4D1780C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206" y="2262024"/>
            <a:ext cx="6363588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88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D2B5-2C13-1A57-E169-CE50677C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2641230-7050-762B-1D99-0DF2C25B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REGULARIZED REGRESSION</a:t>
            </a:r>
          </a:p>
        </p:txBody>
      </p:sp>
      <p:pic>
        <p:nvPicPr>
          <p:cNvPr id="4" name="Paveikslėlis 3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EF4C860E-38AF-C451-C827-69D6A80A5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29" y="1425160"/>
            <a:ext cx="9454851" cy="514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34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DADAD6C-599A-9A0D-F1A2-49392D794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REGULARIZED REGRESSION MODELS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86E9F4DF-CA24-3B1D-9BB3-33A8104B9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537"/>
            <a:ext cx="12192000" cy="468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701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533AD06-E976-73D7-DEA6-559990FD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TIME SERIES ANALYSIS</a:t>
            </a:r>
          </a:p>
        </p:txBody>
      </p:sp>
      <p:pic>
        <p:nvPicPr>
          <p:cNvPr id="4" name="Paveikslėlis 3" descr="Paveikslėlis, kuriame yra tekstas, ekrano kopija, Šriftas, logotipas&#10;&#10;Dirbtinio intelekto sugeneruotas turinys gali būti neteisingas.">
            <a:extLst>
              <a:ext uri="{FF2B5EF4-FFF2-40B4-BE49-F238E27FC236}">
                <a16:creationId xmlns:a16="http://schemas.microsoft.com/office/drawing/2014/main" id="{BE01CAF5-C71A-1CF0-2A2C-26E52C825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2" y="2242972"/>
            <a:ext cx="6554115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33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ECE03-AA37-A4C8-DB71-AD93DE76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C19F64B-9566-81C3-0BB6-AC51217C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TIME SERIES DATA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96EB6D8-D8C2-C920-6115-C0F6BB25E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5099"/>
            <a:ext cx="9441348" cy="504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6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F15BDB7-0298-310B-C19C-BE9A3150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TIME SERIES DATA</a:t>
            </a:r>
          </a:p>
        </p:txBody>
      </p:sp>
      <p:pic>
        <p:nvPicPr>
          <p:cNvPr id="4" name="Paveikslėlis 3" descr="Paveikslėlis, kuriame yra tekstas, ekrano kopija, Šriftas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A26AB233-CF25-99C6-F899-B5C222151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0" y="1804006"/>
            <a:ext cx="9041111" cy="476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64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68F7CE6-A03A-3E44-F277-3FAD4F97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TIME SERIES ANALYSIS</a:t>
            </a:r>
            <a:endParaRPr lang="lt-LT" dirty="0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4BC65DA-CD9B-AA8B-00E5-992FD1FD7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8342"/>
            <a:ext cx="8210047" cy="487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7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8C4E6E3-88AE-E111-7C47-41DAE4210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2499"/>
          </a:xfrm>
        </p:spPr>
        <p:txBody>
          <a:bodyPr/>
          <a:lstStyle/>
          <a:p>
            <a:r>
              <a:rPr lang="lt-LT" dirty="0"/>
              <a:t>MOVING AVERAGE</a:t>
            </a:r>
          </a:p>
        </p:txBody>
      </p:sp>
      <p:pic>
        <p:nvPicPr>
          <p:cNvPr id="4" name="Paveikslėlis 3" descr="Paveikslėlis, kuriame yra tekstas, Šriftas, rankrašti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81DE537D-DC4E-0057-ECD2-72E93CFE4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5214"/>
            <a:ext cx="8266043" cy="38922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D6B41E-A9B6-E17E-A58D-9DBE411FA686}"/>
              </a:ext>
            </a:extLst>
          </p:cNvPr>
          <p:cNvSpPr txBox="1"/>
          <p:nvPr/>
        </p:nvSpPr>
        <p:spPr>
          <a:xfrm>
            <a:off x="1793233" y="54951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Align your windows with intuitive seasons: with monthly data, look at quarters or years, with daily data look at weekly or monthly, etc.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757807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1E90C31-BA0C-09B4-29AF-74CBD9AE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MOVING AVERAGE</a:t>
            </a:r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9E4BF6F-14BA-8793-8229-89D56A3E7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480519"/>
            <a:ext cx="9137118" cy="51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199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32077-6B12-E7D1-0753-AB7F04568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053F259-8E24-F1D5-F27D-ABD3E8F6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EXPONENTIAL SMOOTHING</a:t>
            </a:r>
          </a:p>
        </p:txBody>
      </p:sp>
      <p:pic>
        <p:nvPicPr>
          <p:cNvPr id="5" name="Paveikslėlis 4" descr="Paveikslėlis, kuriame yra tekstas, ekrano kopija, Šriftas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FCDAED23-F1CA-EAC7-1AF6-C6C005F13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913172" cy="476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78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5E89DD8-7182-770D-7D0D-33792403B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DECOMPOSITION</a:t>
            </a:r>
          </a:p>
        </p:txBody>
      </p:sp>
      <p:pic>
        <p:nvPicPr>
          <p:cNvPr id="4" name="Paveikslėlis 3" descr="Paveikslėlis, kuriame yra tekstas, Šriftas, rankrašti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0FA15950-7FBE-D6D7-0F98-B000AED65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1449308"/>
            <a:ext cx="8943357" cy="526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32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08AEA-BEF6-0CED-1E54-BC0C28402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E5A8DE9-8205-42BB-0CF5-024755D2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DECOMPOSITION</a:t>
            </a:r>
          </a:p>
        </p:txBody>
      </p:sp>
      <p:pic>
        <p:nvPicPr>
          <p:cNvPr id="7" name="Paveikslėlis 6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02CB976E-342F-F3E7-ACF2-A0F8DAE18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798495" cy="487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42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CA4D48C-59B6-A43F-6214-790E2972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DECOMPOSITION</a:t>
            </a:r>
          </a:p>
        </p:txBody>
      </p:sp>
      <p:pic>
        <p:nvPicPr>
          <p:cNvPr id="4" name="Paveikslėlis 3" descr="Paveikslėlis, kuriame yra tekstas, ekrano kopija, linija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58498322-50B3-8515-B166-9C6C8F7E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8792"/>
            <a:ext cx="8453405" cy="530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31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43BF4-3ED0-282D-D168-22388819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07CCA98-5775-2ED8-F595-C8774276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DECOMPOSITION</a:t>
            </a:r>
          </a:p>
        </p:txBody>
      </p:sp>
      <p:pic>
        <p:nvPicPr>
          <p:cNvPr id="5" name="Paveikslėlis 4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75A39D6F-B3AC-A400-8D5A-AF8E92245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9765"/>
            <a:ext cx="8740900" cy="504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69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151D112-691C-928F-163D-3569EA74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AUTOCORRELATION CHART</a:t>
            </a:r>
          </a:p>
        </p:txBody>
      </p:sp>
      <p:pic>
        <p:nvPicPr>
          <p:cNvPr id="6" name="Paveikslėlis 5" descr="Paveikslėlis, kuriame yra tekstas, diagrama, lin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0496854C-83FD-EEAB-83F8-D1FA932C5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4411"/>
            <a:ext cx="8591886" cy="485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206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F29C1-85CE-2772-B67F-F82084CF7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6D233B0-F6A4-9D35-E99F-62B1E0BF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AUTOCORRELATION CHART</a:t>
            </a:r>
          </a:p>
        </p:txBody>
      </p:sp>
      <p:pic>
        <p:nvPicPr>
          <p:cNvPr id="4" name="Paveikslėlis 3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80446E86-4E61-F444-64F0-5D0BB4D10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8" y="1360583"/>
            <a:ext cx="9088742" cy="513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61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6B52776-14EE-637A-9366-504B43276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FORECASTING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F5254758-AC49-405D-030E-D13291F73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6537"/>
            <a:ext cx="8900969" cy="479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659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0F8CE6F-2E4E-AF46-1FC4-6BFF78FEF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DATA SPLITTING</a:t>
            </a:r>
          </a:p>
        </p:txBody>
      </p:sp>
      <p:pic>
        <p:nvPicPr>
          <p:cNvPr id="4" name="Paveikslėlis 3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BABB9E0E-8859-F1F2-1003-7A84BCF49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1579846"/>
            <a:ext cx="8748721" cy="503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38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86F880E-8376-4161-C1F4-38635327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WITH TREND &amp; SEASON</a:t>
            </a:r>
            <a:endParaRPr lang="lt-LT" dirty="0"/>
          </a:p>
        </p:txBody>
      </p:sp>
      <p:pic>
        <p:nvPicPr>
          <p:cNvPr id="4" name="Paveikslėlis 3" descr="Paveikslėlis, kuriame yra tekstas, ekrano kopija, skaičius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D94E834A-EC37-1C53-0A4D-03493CEB6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1690688"/>
            <a:ext cx="9430861" cy="466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961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215DCFE-BC98-C717-5076-9AA39F6FB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THE MODEL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D5F28E36-73DE-2ED7-F94F-2DB28B60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334688" cy="515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3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FD6E71A-1CBE-4DC1-B280-ED827E61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SCORING THE MODEL</a:t>
            </a:r>
          </a:p>
        </p:txBody>
      </p:sp>
      <p:pic>
        <p:nvPicPr>
          <p:cNvPr id="4" name="Paveikslėlis 3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68F3B3FA-D3CE-EBF5-CCAB-2EAB147F9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4" y="1214761"/>
            <a:ext cx="9852293" cy="537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743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7E6C463-D961-87BE-CC12-8AAE3376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FACEBOOK PROPHET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D9170853-85A2-6B72-3938-02C0E01C2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0141"/>
            <a:ext cx="9675138" cy="493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34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1EA6138-3D09-5402-DB9C-3D83DC6AA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FACEBOOK PROPHET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8CC7A62B-513C-44BD-9061-B31C2FF76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1" y="1221845"/>
            <a:ext cx="8927713" cy="527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52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E6C38D8-CD32-1C13-7E8F-17012352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LINEAR REGRESSION VS. PROPHET</a:t>
            </a:r>
          </a:p>
        </p:txBody>
      </p:sp>
      <p:pic>
        <p:nvPicPr>
          <p:cNvPr id="4" name="Paveikslėlis 3" descr="Paveikslėlis, kuriame yra tekstas, ekrano kopija, Šriftas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35130EA4-4B3C-B90A-405A-761E4EBD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9448"/>
            <a:ext cx="9494961" cy="514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21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27E0290-8DDE-6C2C-16A6-AD3E67152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74" y="365125"/>
            <a:ext cx="10598426" cy="982753"/>
          </a:xfrm>
        </p:spPr>
        <p:txBody>
          <a:bodyPr/>
          <a:lstStyle/>
          <a:p>
            <a:r>
              <a:rPr lang="en-US" dirty="0"/>
              <a:t>Key Takeaways</a:t>
            </a:r>
            <a:endParaRPr lang="lt-LT" dirty="0"/>
          </a:p>
        </p:txBody>
      </p:sp>
      <p:pic>
        <p:nvPicPr>
          <p:cNvPr id="4" name="Paveikslėlis 3" descr="Paveikslėlis, kuriame yra tekstas, ekrano kopija, Šriftas, dokumentas&#10;&#10;Dirbtinio intelekto sugeneruotas turinys gali būti neteisingas.">
            <a:extLst>
              <a:ext uri="{FF2B5EF4-FFF2-40B4-BE49-F238E27FC236}">
                <a16:creationId xmlns:a16="http://schemas.microsoft.com/office/drawing/2014/main" id="{20A5B950-0397-C9FE-68A1-2E4AD088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51" y="1266825"/>
            <a:ext cx="11645014" cy="547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52466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3971EDE6-97DD-4B93-BC70-55BE51E7BEA3}"/>
</file>

<file path=customXml/itemProps2.xml><?xml version="1.0" encoding="utf-8"?>
<ds:datastoreItem xmlns:ds="http://schemas.openxmlformats.org/officeDocument/2006/customXml" ds:itemID="{769C6D7E-40D8-4612-AC2D-1DCD41D6EEE0}"/>
</file>

<file path=customXml/itemProps3.xml><?xml version="1.0" encoding="utf-8"?>
<ds:datastoreItem xmlns:ds="http://schemas.openxmlformats.org/officeDocument/2006/customXml" ds:itemID="{74A0A796-7A9A-4E4C-8D4A-7ACAF1E2C2CE}"/>
</file>

<file path=docProps/app.xml><?xml version="1.0" encoding="utf-8"?>
<Properties xmlns="http://schemas.openxmlformats.org/officeDocument/2006/extended-properties" xmlns:vt="http://schemas.openxmlformats.org/officeDocument/2006/docPropsVTypes">
  <TotalTime>1463</TotalTime>
  <Words>382</Words>
  <Application>Microsoft Office PowerPoint</Application>
  <PresentationFormat>Plačiaekranė</PresentationFormat>
  <Paragraphs>56</Paragraphs>
  <Slides>37</Slides>
  <Notes>1</Notes>
  <HiddenSlides>0</HiddenSlides>
  <MMClips>0</MMClips>
  <ScaleCrop>false</ScaleCrop>
  <HeadingPairs>
    <vt:vector size="6" baseType="variant">
      <vt:variant>
        <vt:lpstr>Naudojami šriftai</vt:lpstr>
      </vt:variant>
      <vt:variant>
        <vt:i4>3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„Office“ tema</vt:lpstr>
      <vt:lpstr>  Python: Multiple  Regression </vt:lpstr>
      <vt:lpstr>COMMON ALGORITHMS</vt:lpstr>
      <vt:lpstr>TYPES OF REGRESSION</vt:lpstr>
      <vt:lpstr>GOALS OF REGRESSION</vt:lpstr>
      <vt:lpstr>REGRESSION 101</vt:lpstr>
      <vt:lpstr>MULTIPLE LINEAR REGRESSION MODEL</vt:lpstr>
      <vt:lpstr>MULTIPLE LINEAR REGRESSION</vt:lpstr>
      <vt:lpstr>FITTING A MULTIPLE REGRESSION</vt:lpstr>
      <vt:lpstr>ASSUMPTIONS OF LINEAR REGRESSION</vt:lpstr>
      <vt:lpstr>„PowerPoint“ pateiktis</vt:lpstr>
      <vt:lpstr>MODEL TESTING &amp; VALIDATION</vt:lpstr>
      <vt:lpstr>FEATURE ENGINEERING</vt:lpstr>
      <vt:lpstr>REGULARIZED REGRESSION </vt:lpstr>
      <vt:lpstr>REGULARIZED REGRESSION</vt:lpstr>
      <vt:lpstr>REGULARIZED REGRESSION MODELS</vt:lpstr>
      <vt:lpstr>TIME SERIES ANALYSIS</vt:lpstr>
      <vt:lpstr>TIME SERIES DATA</vt:lpstr>
      <vt:lpstr>TIME SERIES DATA</vt:lpstr>
      <vt:lpstr>TYPES OF TIME SERIES ANALYSIS</vt:lpstr>
      <vt:lpstr>MOVING AVERAGE</vt:lpstr>
      <vt:lpstr>MOVING AVERAGE</vt:lpstr>
      <vt:lpstr>EXPONENTIAL SMOOTHING</vt:lpstr>
      <vt:lpstr>DECOMPOSITION</vt:lpstr>
      <vt:lpstr>DECOMPOSITION</vt:lpstr>
      <vt:lpstr>TYPES OF DECOMPOSITION</vt:lpstr>
      <vt:lpstr>TYPES OF DECOMPOSITION</vt:lpstr>
      <vt:lpstr>AUTOCORRELATION CHART</vt:lpstr>
      <vt:lpstr>AUTOCORRELATION CHART</vt:lpstr>
      <vt:lpstr>FORECASTING</vt:lpstr>
      <vt:lpstr>DATA SPLITTING</vt:lpstr>
      <vt:lpstr>LINEAR REGRESSION WITH TREND &amp; SEASON</vt:lpstr>
      <vt:lpstr>FITTING THE MODEL</vt:lpstr>
      <vt:lpstr>SCORING THE MODEL</vt:lpstr>
      <vt:lpstr>FACEBOOK PROPHET</vt:lpstr>
      <vt:lpstr>FACEBOOK PROPHET</vt:lpstr>
      <vt:lpstr>LINEAR REGRESSION VS. PROPHET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Žydrūnė Kelpšaitė</dc:creator>
  <cp:lastModifiedBy>Žydrūnė Kelpšaitė</cp:lastModifiedBy>
  <cp:revision>6</cp:revision>
  <dcterms:created xsi:type="dcterms:W3CDTF">2026-02-01T16:05:21Z</dcterms:created>
  <dcterms:modified xsi:type="dcterms:W3CDTF">2026-03-03T13:26:21Z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