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319" r:id="rId5"/>
    <p:sldId id="265" r:id="rId6"/>
    <p:sldId id="266" r:id="rId7"/>
    <p:sldId id="268" r:id="rId8"/>
    <p:sldId id="267" r:id="rId9"/>
    <p:sldId id="293" r:id="rId10"/>
    <p:sldId id="294" r:id="rId11"/>
    <p:sldId id="295" r:id="rId12"/>
    <p:sldId id="297" r:id="rId13"/>
    <p:sldId id="320" r:id="rId14"/>
    <p:sldId id="300" r:id="rId15"/>
    <p:sldId id="301" r:id="rId16"/>
    <p:sldId id="303" r:id="rId17"/>
    <p:sldId id="304" r:id="rId18"/>
    <p:sldId id="305" r:id="rId19"/>
    <p:sldId id="306" r:id="rId20"/>
    <p:sldId id="299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21" r:id="rId34"/>
    <p:sldId id="322" r:id="rId35"/>
    <p:sldId id="328" r:id="rId36"/>
    <p:sldId id="323" r:id="rId37"/>
    <p:sldId id="324" r:id="rId38"/>
    <p:sldId id="325" r:id="rId39"/>
    <p:sldId id="326" r:id="rId40"/>
    <p:sldId id="327" r:id="rId41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262EEA-8706-4DDC-ACF1-70E8A539F1A0}" v="2" dt="2026-03-03T17:43:40.0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07" autoAdjust="0"/>
    <p:restoredTop sz="96247" autoAdjust="0"/>
  </p:normalViewPr>
  <p:slideViewPr>
    <p:cSldViewPr snapToGrid="0">
      <p:cViewPr varScale="1">
        <p:scale>
          <a:sx n="98" d="100"/>
          <a:sy n="98" d="100"/>
        </p:scale>
        <p:origin x="9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50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undo custSel addSld delSld modSld sldOrd">
      <pc:chgData name="Žydrūnė Kelpšaitė" userId="e943768126acec1d" providerId="LiveId" clId="{31712FD7-FA85-48BA-9D35-5382388CFC74}" dt="2026-03-04T12:49:25.959" v="65" actId="113"/>
      <pc:docMkLst>
        <pc:docMk/>
      </pc:docMkLst>
      <pc:sldChg chg="modSp mod">
        <pc:chgData name="Žydrūnė Kelpšaitė" userId="e943768126acec1d" providerId="LiveId" clId="{31712FD7-FA85-48BA-9D35-5382388CFC74}" dt="2026-02-10T06:39:51.863" v="31" actId="20577"/>
        <pc:sldMkLst>
          <pc:docMk/>
          <pc:sldMk cId="4182519725" sldId="256"/>
        </pc:sldMkLst>
        <pc:spChg chg="mod">
          <ac:chgData name="Žydrūnė Kelpšaitė" userId="e943768126acec1d" providerId="LiveId" clId="{31712FD7-FA85-48BA-9D35-5382388CFC74}" dt="2026-02-10T06:39:51.863" v="31" actId="20577"/>
          <ac:spMkLst>
            <pc:docMk/>
            <pc:sldMk cId="4182519725" sldId="256"/>
            <ac:spMk id="2" creationId="{551DE627-F873-EE20-9A3B-D8D2E34FDCCE}"/>
          </ac:spMkLst>
        </pc:spChg>
      </pc:sldChg>
      <pc:sldChg chg="ord">
        <pc:chgData name="Žydrūnė Kelpšaitė" userId="e943768126acec1d" providerId="LiveId" clId="{31712FD7-FA85-48BA-9D35-5382388CFC74}" dt="2026-03-03T16:53:52.283" v="35"/>
        <pc:sldMkLst>
          <pc:docMk/>
          <pc:sldMk cId="1440274048" sldId="268"/>
        </pc:sldMkLst>
      </pc:sldChg>
      <pc:sldChg chg="addSp modSp mod">
        <pc:chgData name="Žydrūnė Kelpšaitė" userId="e943768126acec1d" providerId="LiveId" clId="{31712FD7-FA85-48BA-9D35-5382388CFC74}" dt="2026-02-09T18:24:50.490" v="7" actId="962"/>
        <pc:sldMkLst>
          <pc:docMk/>
          <pc:sldMk cId="654233325" sldId="293"/>
        </pc:sldMkLst>
        <pc:picChg chg="add mod">
          <ac:chgData name="Žydrūnė Kelpšaitė" userId="e943768126acec1d" providerId="LiveId" clId="{31712FD7-FA85-48BA-9D35-5382388CFC74}" dt="2026-02-09T18:24:50.490" v="7" actId="962"/>
          <ac:picMkLst>
            <pc:docMk/>
            <pc:sldMk cId="654233325" sldId="293"/>
            <ac:picMk id="4" creationId="{064E833E-F4F2-89CB-228A-47D3D5261D29}"/>
          </ac:picMkLst>
        </pc:picChg>
      </pc:sldChg>
      <pc:sldChg chg="modSp mod">
        <pc:chgData name="Žydrūnė Kelpšaitė" userId="e943768126acec1d" providerId="LiveId" clId="{31712FD7-FA85-48BA-9D35-5382388CFC74}" dt="2026-03-03T16:59:52.928" v="36" actId="13926"/>
        <pc:sldMkLst>
          <pc:docMk/>
          <pc:sldMk cId="3084376267" sldId="294"/>
        </pc:sldMkLst>
        <pc:spChg chg="mod">
          <ac:chgData name="Žydrūnė Kelpšaitė" userId="e943768126acec1d" providerId="LiveId" clId="{31712FD7-FA85-48BA-9D35-5382388CFC74}" dt="2026-03-03T16:59:52.928" v="36" actId="13926"/>
          <ac:spMkLst>
            <pc:docMk/>
            <pc:sldMk cId="3084376267" sldId="294"/>
            <ac:spMk id="4" creationId="{534E520F-0275-2CA6-85A0-AAD3A1895D90}"/>
          </ac:spMkLst>
        </pc:spChg>
      </pc:sldChg>
      <pc:sldChg chg="modSp mod">
        <pc:chgData name="Žydrūnė Kelpšaitė" userId="e943768126acec1d" providerId="LiveId" clId="{31712FD7-FA85-48BA-9D35-5382388CFC74}" dt="2026-03-03T17:33:07.603" v="37" actId="113"/>
        <pc:sldMkLst>
          <pc:docMk/>
          <pc:sldMk cId="2509449771" sldId="299"/>
        </pc:sldMkLst>
        <pc:spChg chg="mod">
          <ac:chgData name="Žydrūnė Kelpšaitė" userId="e943768126acec1d" providerId="LiveId" clId="{31712FD7-FA85-48BA-9D35-5382388CFC74}" dt="2026-03-03T17:33:07.603" v="37" actId="113"/>
          <ac:spMkLst>
            <pc:docMk/>
            <pc:sldMk cId="2509449771" sldId="299"/>
            <ac:spMk id="4" creationId="{A10DE5A2-2786-D366-7D68-311E4FD62CE6}"/>
          </ac:spMkLst>
        </pc:spChg>
      </pc:sldChg>
      <pc:sldChg chg="modSp mod">
        <pc:chgData name="Žydrūnė Kelpšaitė" userId="e943768126acec1d" providerId="LiveId" clId="{31712FD7-FA85-48BA-9D35-5382388CFC74}" dt="2026-03-04T12:46:33.069" v="63" actId="13926"/>
        <pc:sldMkLst>
          <pc:docMk/>
          <pc:sldMk cId="3390445637" sldId="306"/>
        </pc:sldMkLst>
        <pc:spChg chg="mod">
          <ac:chgData name="Žydrūnė Kelpšaitė" userId="e943768126acec1d" providerId="LiveId" clId="{31712FD7-FA85-48BA-9D35-5382388CFC74}" dt="2026-03-04T12:46:33.069" v="63" actId="13926"/>
          <ac:spMkLst>
            <pc:docMk/>
            <pc:sldMk cId="3390445637" sldId="306"/>
            <ac:spMk id="5" creationId="{156CC726-020D-741A-83C2-96D2C2D606A7}"/>
          </ac:spMkLst>
        </pc:spChg>
      </pc:sldChg>
      <pc:sldChg chg="modSp mod">
        <pc:chgData name="Žydrūnė Kelpšaitė" userId="e943768126acec1d" providerId="LiveId" clId="{31712FD7-FA85-48BA-9D35-5382388CFC74}" dt="2026-03-04T12:48:02.696" v="64" actId="113"/>
        <pc:sldMkLst>
          <pc:docMk/>
          <pc:sldMk cId="1051675160" sldId="307"/>
        </pc:sldMkLst>
        <pc:spChg chg="mod">
          <ac:chgData name="Žydrūnė Kelpšaitė" userId="e943768126acec1d" providerId="LiveId" clId="{31712FD7-FA85-48BA-9D35-5382388CFC74}" dt="2026-03-04T12:48:02.696" v="64" actId="113"/>
          <ac:spMkLst>
            <pc:docMk/>
            <pc:sldMk cId="1051675160" sldId="307"/>
            <ac:spMk id="4" creationId="{8A5C5FA1-BA2C-F8AC-DFE1-4A4CCBD71153}"/>
          </ac:spMkLst>
        </pc:spChg>
      </pc:sldChg>
      <pc:sldChg chg="modSp mod">
        <pc:chgData name="Žydrūnė Kelpšaitė" userId="e943768126acec1d" providerId="LiveId" clId="{31712FD7-FA85-48BA-9D35-5382388CFC74}" dt="2026-03-03T17:37:32.744" v="38" actId="13926"/>
        <pc:sldMkLst>
          <pc:docMk/>
          <pc:sldMk cId="783424704" sldId="308"/>
        </pc:sldMkLst>
        <pc:spChg chg="mod">
          <ac:chgData name="Žydrūnė Kelpšaitė" userId="e943768126acec1d" providerId="LiveId" clId="{31712FD7-FA85-48BA-9D35-5382388CFC74}" dt="2026-03-03T17:37:32.744" v="38" actId="13926"/>
          <ac:spMkLst>
            <pc:docMk/>
            <pc:sldMk cId="783424704" sldId="308"/>
            <ac:spMk id="4" creationId="{386B9466-0259-047C-2A05-B7C1C92A567B}"/>
          </ac:spMkLst>
        </pc:spChg>
      </pc:sldChg>
      <pc:sldChg chg="modSp mod">
        <pc:chgData name="Žydrūnė Kelpšaitė" userId="e943768126acec1d" providerId="LiveId" clId="{31712FD7-FA85-48BA-9D35-5382388CFC74}" dt="2026-03-04T12:49:25.959" v="65" actId="113"/>
        <pc:sldMkLst>
          <pc:docMk/>
          <pc:sldMk cId="212736529" sldId="309"/>
        </pc:sldMkLst>
        <pc:spChg chg="mod">
          <ac:chgData name="Žydrūnė Kelpšaitė" userId="e943768126acec1d" providerId="LiveId" clId="{31712FD7-FA85-48BA-9D35-5382388CFC74}" dt="2026-03-04T12:49:25.959" v="65" actId="113"/>
          <ac:spMkLst>
            <pc:docMk/>
            <pc:sldMk cId="212736529" sldId="309"/>
            <ac:spMk id="4" creationId="{57D2925C-E667-A3C3-ECBB-9EE0B192EFD4}"/>
          </ac:spMkLst>
        </pc:spChg>
        <pc:spChg chg="mod">
          <ac:chgData name="Žydrūnė Kelpšaitė" userId="e943768126acec1d" providerId="LiveId" clId="{31712FD7-FA85-48BA-9D35-5382388CFC74}" dt="2026-03-03T17:40:43.176" v="39" actId="13926"/>
          <ac:spMkLst>
            <pc:docMk/>
            <pc:sldMk cId="212736529" sldId="309"/>
            <ac:spMk id="6" creationId="{EC96D77A-E8DE-194F-016D-3563003B7A57}"/>
          </ac:spMkLst>
        </pc:spChg>
      </pc:sldChg>
      <pc:sldChg chg="modNotesTx">
        <pc:chgData name="Žydrūnė Kelpšaitė" userId="e943768126acec1d" providerId="LiveId" clId="{31712FD7-FA85-48BA-9D35-5382388CFC74}" dt="2026-03-03T17:44:06.114" v="59" actId="6549"/>
        <pc:sldMkLst>
          <pc:docMk/>
          <pc:sldMk cId="3259307002" sldId="311"/>
        </pc:sldMkLst>
      </pc:sldChg>
      <pc:sldChg chg="add del">
        <pc:chgData name="Žydrūnė Kelpšaitė" userId="e943768126acec1d" providerId="LiveId" clId="{31712FD7-FA85-48BA-9D35-5382388CFC74}" dt="2026-02-09T19:35:06.510" v="12" actId="47"/>
        <pc:sldMkLst>
          <pc:docMk/>
          <pc:sldMk cId="2173197200" sldId="313"/>
        </pc:sldMkLst>
      </pc:sldChg>
      <pc:sldChg chg="add del">
        <pc:chgData name="Žydrūnė Kelpšaitė" userId="e943768126acec1d" providerId="LiveId" clId="{31712FD7-FA85-48BA-9D35-5382388CFC74}" dt="2026-02-09T19:35:06.510" v="12" actId="47"/>
        <pc:sldMkLst>
          <pc:docMk/>
          <pc:sldMk cId="3858423767" sldId="314"/>
        </pc:sldMkLst>
      </pc:sldChg>
      <pc:sldChg chg="add del">
        <pc:chgData name="Žydrūnė Kelpšaitė" userId="e943768126acec1d" providerId="LiveId" clId="{31712FD7-FA85-48BA-9D35-5382388CFC74}" dt="2026-02-09T19:35:06.510" v="12" actId="47"/>
        <pc:sldMkLst>
          <pc:docMk/>
          <pc:sldMk cId="1409564075" sldId="315"/>
        </pc:sldMkLst>
      </pc:sldChg>
      <pc:sldChg chg="add del">
        <pc:chgData name="Žydrūnė Kelpšaitė" userId="e943768126acec1d" providerId="LiveId" clId="{31712FD7-FA85-48BA-9D35-5382388CFC74}" dt="2026-02-09T19:35:06.510" v="12" actId="47"/>
        <pc:sldMkLst>
          <pc:docMk/>
          <pc:sldMk cId="227598317" sldId="316"/>
        </pc:sldMkLst>
      </pc:sldChg>
      <pc:sldChg chg="modSp add del mod">
        <pc:chgData name="Žydrūnė Kelpšaitė" userId="e943768126acec1d" providerId="LiveId" clId="{31712FD7-FA85-48BA-9D35-5382388CFC74}" dt="2026-02-10T09:12:51.473" v="32" actId="13926"/>
        <pc:sldMkLst>
          <pc:docMk/>
          <pc:sldMk cId="40000267" sldId="317"/>
        </pc:sldMkLst>
        <pc:spChg chg="mod">
          <ac:chgData name="Žydrūnė Kelpšaitė" userId="e943768126acec1d" providerId="LiveId" clId="{31712FD7-FA85-48BA-9D35-5382388CFC74}" dt="2026-02-10T09:12:51.473" v="32" actId="13926"/>
          <ac:spMkLst>
            <pc:docMk/>
            <pc:sldMk cId="40000267" sldId="317"/>
            <ac:spMk id="8" creationId="{CC72482C-D679-DB93-0DD0-5096C90E94DB}"/>
          </ac:spMkLst>
        </pc:spChg>
      </pc:sldChg>
      <pc:sldChg chg="add del">
        <pc:chgData name="Žydrūnė Kelpšaitė" userId="e943768126acec1d" providerId="LiveId" clId="{31712FD7-FA85-48BA-9D35-5382388CFC74}" dt="2026-02-09T19:35:06.510" v="12" actId="47"/>
        <pc:sldMkLst>
          <pc:docMk/>
          <pc:sldMk cId="3318128170" sldId="318"/>
        </pc:sldMkLst>
      </pc:sldChg>
      <pc:sldChg chg="modSp add del mod">
        <pc:chgData name="Žydrūnė Kelpšaitė" userId="e943768126acec1d" providerId="LiveId" clId="{31712FD7-FA85-48BA-9D35-5382388CFC74}" dt="2026-02-10T09:15:22.123" v="33" actId="13926"/>
        <pc:sldMkLst>
          <pc:docMk/>
          <pc:sldMk cId="3717109247" sldId="321"/>
        </pc:sldMkLst>
        <pc:spChg chg="mod">
          <ac:chgData name="Žydrūnė Kelpšaitė" userId="e943768126acec1d" providerId="LiveId" clId="{31712FD7-FA85-48BA-9D35-5382388CFC74}" dt="2026-02-10T09:15:22.123" v="33" actId="13926"/>
          <ac:spMkLst>
            <pc:docMk/>
            <pc:sldMk cId="3717109247" sldId="321"/>
            <ac:spMk id="4" creationId="{F78425A3-E474-8FE3-9E49-2CA8E0B8D4EC}"/>
          </ac:spMkLst>
        </pc:spChg>
      </pc:sldChg>
      <pc:sldChg chg="modSp add del mod">
        <pc:chgData name="Žydrūnė Kelpšaitė" userId="e943768126acec1d" providerId="LiveId" clId="{31712FD7-FA85-48BA-9D35-5382388CFC74}" dt="2026-02-09T20:18:39.504" v="14" actId="14100"/>
        <pc:sldMkLst>
          <pc:docMk/>
          <pc:sldMk cId="2085312220" sldId="322"/>
        </pc:sldMkLst>
        <pc:spChg chg="mod">
          <ac:chgData name="Žydrūnė Kelpšaitė" userId="e943768126acec1d" providerId="LiveId" clId="{31712FD7-FA85-48BA-9D35-5382388CFC74}" dt="2026-02-09T20:18:39.504" v="14" actId="14100"/>
          <ac:spMkLst>
            <pc:docMk/>
            <pc:sldMk cId="2085312220" sldId="322"/>
            <ac:spMk id="4" creationId="{BE7D0AC9-F092-D0C7-7737-09AB95EA3EF2}"/>
          </ac:spMkLst>
        </pc:spChg>
      </pc:sldChg>
      <pc:sldChg chg="modSp add del mod">
        <pc:chgData name="Žydrūnė Kelpšaitė" userId="e943768126acec1d" providerId="LiveId" clId="{31712FD7-FA85-48BA-9D35-5382388CFC74}" dt="2026-03-03T18:00:26.213" v="61" actId="1076"/>
        <pc:sldMkLst>
          <pc:docMk/>
          <pc:sldMk cId="1923273895" sldId="323"/>
        </pc:sldMkLst>
        <pc:picChg chg="mod">
          <ac:chgData name="Žydrūnė Kelpšaitė" userId="e943768126acec1d" providerId="LiveId" clId="{31712FD7-FA85-48BA-9D35-5382388CFC74}" dt="2026-03-03T18:00:26.213" v="61" actId="1076"/>
          <ac:picMkLst>
            <pc:docMk/>
            <pc:sldMk cId="1923273895" sldId="323"/>
            <ac:picMk id="6" creationId="{6CDD8E45-65E0-15F1-5A98-DC1E5FEF5749}"/>
          </ac:picMkLst>
        </pc:picChg>
      </pc:sldChg>
      <pc:sldChg chg="add del">
        <pc:chgData name="Žydrūnė Kelpšaitė" userId="e943768126acec1d" providerId="LiveId" clId="{31712FD7-FA85-48BA-9D35-5382388CFC74}" dt="2026-02-09T19:35:06.510" v="12" actId="47"/>
        <pc:sldMkLst>
          <pc:docMk/>
          <pc:sldMk cId="3585639211" sldId="324"/>
        </pc:sldMkLst>
      </pc:sldChg>
      <pc:sldChg chg="add del">
        <pc:chgData name="Žydrūnė Kelpšaitė" userId="e943768126acec1d" providerId="LiveId" clId="{31712FD7-FA85-48BA-9D35-5382388CFC74}" dt="2026-02-09T19:35:06.510" v="12" actId="47"/>
        <pc:sldMkLst>
          <pc:docMk/>
          <pc:sldMk cId="2362681494" sldId="325"/>
        </pc:sldMkLst>
      </pc:sldChg>
      <pc:sldChg chg="add del">
        <pc:chgData name="Žydrūnė Kelpšaitė" userId="e943768126acec1d" providerId="LiveId" clId="{31712FD7-FA85-48BA-9D35-5382388CFC74}" dt="2026-02-09T19:35:06.510" v="12" actId="47"/>
        <pc:sldMkLst>
          <pc:docMk/>
          <pc:sldMk cId="2153796380" sldId="326"/>
        </pc:sldMkLst>
      </pc:sldChg>
      <pc:sldChg chg="add del">
        <pc:chgData name="Žydrūnė Kelpšaitė" userId="e943768126acec1d" providerId="LiveId" clId="{31712FD7-FA85-48BA-9D35-5382388CFC74}" dt="2026-02-09T19:35:06.510" v="12" actId="47"/>
        <pc:sldMkLst>
          <pc:docMk/>
          <pc:sldMk cId="2901616297" sldId="327"/>
        </pc:sldMkLst>
      </pc:sldChg>
      <pc:sldChg chg="addSp delSp modSp new mod">
        <pc:chgData name="Žydrūnė Kelpšaitė" userId="e943768126acec1d" providerId="LiveId" clId="{31712FD7-FA85-48BA-9D35-5382388CFC74}" dt="2026-03-03T17:58:34.202" v="60" actId="1076"/>
        <pc:sldMkLst>
          <pc:docMk/>
          <pc:sldMk cId="1546865273" sldId="328"/>
        </pc:sldMkLst>
        <pc:spChg chg="add mod">
          <ac:chgData name="Žydrūnė Kelpšaitė" userId="e943768126acec1d" providerId="LiveId" clId="{31712FD7-FA85-48BA-9D35-5382388CFC74}" dt="2026-02-09T20:33:47.912" v="26" actId="14100"/>
          <ac:spMkLst>
            <pc:docMk/>
            <pc:sldMk cId="1546865273" sldId="328"/>
            <ac:spMk id="6" creationId="{BD883AB1-5A96-27BA-14CA-667289A95D6D}"/>
          </ac:spMkLst>
        </pc:spChg>
        <pc:picChg chg="add mod">
          <ac:chgData name="Žydrūnė Kelpšaitė" userId="e943768126acec1d" providerId="LiveId" clId="{31712FD7-FA85-48BA-9D35-5382388CFC74}" dt="2026-03-03T17:58:34.202" v="60" actId="1076"/>
          <ac:picMkLst>
            <pc:docMk/>
            <pc:sldMk cId="1546865273" sldId="328"/>
            <ac:picMk id="4" creationId="{BA01FD5E-0E19-2CAC-E065-600CBF838AE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raštės vietos rezervavimo ženkla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os vietos rezervavimo ženkla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528D9-4E2F-45A2-A9DC-E2A7D9DBAD60}" type="datetimeFigureOut">
              <a:rPr lang="lt-LT" smtClean="0"/>
              <a:t>2026-03-04</a:t>
            </a:fld>
            <a:endParaRPr lang="lt-LT"/>
          </a:p>
        </p:txBody>
      </p:sp>
      <p:sp>
        <p:nvSpPr>
          <p:cNvPr id="4" name="Skaidrės vaizdo vietos rezervavimo ženkla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Pastabų vietos rezervavimo ženkl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6" name="Poraštės vietos rezervavimo ženkla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kaidrės numerio vietos rezervavimo ženkla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059B1D-3BA5-47CD-9F71-7381D32A33C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800692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Skai</a:t>
            </a:r>
            <a:r>
              <a:rPr lang="lt-L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čiavimai</a:t>
            </a:r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lt-L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</a:t>
            </a:r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(TP + TN) / (TP + TN + FP + FN)</a:t>
            </a:r>
          </a:p>
          <a:p>
            <a:endParaRPr lang="lt-LT" dirty="0"/>
          </a:p>
          <a:p>
            <a:r>
              <a:rPr lang="lt-LT" dirty="0" err="1"/>
              <a:t>Precision</a:t>
            </a:r>
            <a:r>
              <a:rPr lang="lt-LT" dirty="0"/>
              <a:t> = TP / (TP + FP)</a:t>
            </a:r>
          </a:p>
          <a:p>
            <a:endParaRPr lang="lt-LT" dirty="0"/>
          </a:p>
          <a:p>
            <a:r>
              <a:rPr lang="lt-LT" dirty="0" err="1"/>
              <a:t>Recall</a:t>
            </a:r>
            <a:r>
              <a:rPr lang="lt-LT" dirty="0"/>
              <a:t> = TP / (TP + FN)</a:t>
            </a:r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059B1D-3BA5-47CD-9F71-7381D32A33CD}" type="slidenum">
              <a:rPr lang="lt-LT" smtClean="0"/>
              <a:t>25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491757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059B1D-3BA5-47CD-9F71-7381D32A33CD}" type="slidenum">
              <a:rPr lang="lt-LT" smtClean="0"/>
              <a:t>35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122079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FF23B2B-6DF0-175D-6F6E-CE8F2CE9D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C75A578B-F822-121B-70DE-26A285B38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t-LT"/>
              <a:t>Spustelėkite norėdami redaguoti šablono paantraštės stilių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9798A619-D9CD-8486-1DC0-79713FFE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2026-03-04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66049E90-79EE-7ACA-0605-40F877213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B4DF3385-9C80-DE8D-BE89-0A8081174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140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00DA10F-7DE5-8E08-D2DF-569F9733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22ACF2B9-7FD9-3715-E634-C4247F953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8940070A-7201-ADA4-2E46-40D45C1E5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2026-03-04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61392D72-6405-3B12-7EE4-70A999A5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8818D59A-34AB-A34D-CD51-8FE8D8D2C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725789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050FADE-5EF0-36BC-C3EA-7F86A899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9F741CF4-BBD5-1985-15AD-2BAEC6B5C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C78235FD-80C3-ACCC-16CA-8E70FC8B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2026-03-04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BE900B73-AFB8-B971-5294-D1F2FD674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2189D49C-A340-BE8F-4EB5-B101EEB39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413041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0777C39-3AD9-649B-3BD3-F28FA01E1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1462FCAC-6E24-EC66-2CD0-773345DFCA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10C02487-C43C-FC2A-F5A6-B65C88F9D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BF069540-A376-A842-1AD6-5167E658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2026-03-04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0B2B084F-5195-DD8D-BD70-C4EE3F598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F0DA0A15-7B7C-C71D-FF66-074AC361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3304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39C4366-1858-A9F4-A10A-D88481890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CA90D789-1FE7-D7A4-05B8-F056B4698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37F8B964-F0A8-9701-7719-DF154857F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Teksto vietos rezervavimo ženklas 4">
            <a:extLst>
              <a:ext uri="{FF2B5EF4-FFF2-40B4-BE49-F238E27FC236}">
                <a16:creationId xmlns:a16="http://schemas.microsoft.com/office/drawing/2014/main" id="{E5B193D5-9106-3337-97DF-F9D75052E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6" name="Turinio vietos rezervavimo ženklas 5">
            <a:extLst>
              <a:ext uri="{FF2B5EF4-FFF2-40B4-BE49-F238E27FC236}">
                <a16:creationId xmlns:a16="http://schemas.microsoft.com/office/drawing/2014/main" id="{BCA516B4-5CFB-2F5A-CDA8-8842992A08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7" name="Datos vietos rezervavimo ženklas 6">
            <a:extLst>
              <a:ext uri="{FF2B5EF4-FFF2-40B4-BE49-F238E27FC236}">
                <a16:creationId xmlns:a16="http://schemas.microsoft.com/office/drawing/2014/main" id="{40DE2203-0ABA-7C0D-5290-65701035F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2026-03-04</a:t>
            </a:fld>
            <a:endParaRPr lang="lt-LT"/>
          </a:p>
        </p:txBody>
      </p:sp>
      <p:sp>
        <p:nvSpPr>
          <p:cNvPr id="8" name="Poraštės vietos rezervavimo ženklas 7">
            <a:extLst>
              <a:ext uri="{FF2B5EF4-FFF2-40B4-BE49-F238E27FC236}">
                <a16:creationId xmlns:a16="http://schemas.microsoft.com/office/drawing/2014/main" id="{F5E4E0A0-0F8B-D0E2-4A30-3CFDDAAC1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kaidrės numerio vietos rezervavimo ženklas 8">
            <a:extLst>
              <a:ext uri="{FF2B5EF4-FFF2-40B4-BE49-F238E27FC236}">
                <a16:creationId xmlns:a16="http://schemas.microsoft.com/office/drawing/2014/main" id="{0BDA7F05-D49D-3718-F9C6-F6C71BBD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061953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B2AA7C0-5FC7-A453-FB73-56671A068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Datos vietos rezervavimo ženklas 2">
            <a:extLst>
              <a:ext uri="{FF2B5EF4-FFF2-40B4-BE49-F238E27FC236}">
                <a16:creationId xmlns:a16="http://schemas.microsoft.com/office/drawing/2014/main" id="{58A32CF7-85D3-D965-BCCF-67BA5BF9D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2026-03-04</a:t>
            </a:fld>
            <a:endParaRPr lang="lt-LT"/>
          </a:p>
        </p:txBody>
      </p:sp>
      <p:sp>
        <p:nvSpPr>
          <p:cNvPr id="4" name="Poraštės vietos rezervavimo ženklas 3">
            <a:extLst>
              <a:ext uri="{FF2B5EF4-FFF2-40B4-BE49-F238E27FC236}">
                <a16:creationId xmlns:a16="http://schemas.microsoft.com/office/drawing/2014/main" id="{CF2C3D1A-943A-E6D9-CD04-3A79B881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1F1F76B4-F2F3-D9C1-D8F9-3BBD6CD0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811751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os vietos rezervavimo ženklas 1">
            <a:extLst>
              <a:ext uri="{FF2B5EF4-FFF2-40B4-BE49-F238E27FC236}">
                <a16:creationId xmlns:a16="http://schemas.microsoft.com/office/drawing/2014/main" id="{D783999A-9246-2411-6587-EE4F6C90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2026-03-04</a:t>
            </a:fld>
            <a:endParaRPr lang="lt-LT"/>
          </a:p>
        </p:txBody>
      </p:sp>
      <p:sp>
        <p:nvSpPr>
          <p:cNvPr id="3" name="Poraštės vietos rezervavimo ženklas 2">
            <a:extLst>
              <a:ext uri="{FF2B5EF4-FFF2-40B4-BE49-F238E27FC236}">
                <a16:creationId xmlns:a16="http://schemas.microsoft.com/office/drawing/2014/main" id="{13EA9F26-13B4-BBC8-195E-4AB54EB04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45C5C349-5250-7091-A06F-4AEAC0286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810039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CB23AA8-C804-B3C2-2490-A2D737B9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5AE34D72-2FF6-C20E-C3FC-3BBE7E9A6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DF5CA703-3860-0159-E180-30BE05C8C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7EED5426-2ADD-4E29-C2C9-7EC436ED7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2026-03-04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0E538187-9957-56D4-611D-4E09B9935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BDB356E4-A00E-1D4C-BF2B-A7086646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87849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10F380E-1DB8-492B-C418-1D8FCCF0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Paveikslėlio vietos rezervavimo ženklas 2">
            <a:extLst>
              <a:ext uri="{FF2B5EF4-FFF2-40B4-BE49-F238E27FC236}">
                <a16:creationId xmlns:a16="http://schemas.microsoft.com/office/drawing/2014/main" id="{468F16F3-1DB1-C3E8-D41A-5C134F80E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F2D24081-1A7A-1755-AF94-AD1935E4A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4366CCFD-1C41-8B32-4E18-922AA0E3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2026-03-04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F8829BBD-7A0C-3A8A-6E73-87E9A5603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1452F694-ADC4-BD77-8C6C-0FDF3C69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63131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B7C4613-D8CE-D01C-CD29-79CF1DFF5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4B836B87-E486-833A-0C52-F7A4C9C1D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A102C01B-698D-E13F-4BAB-ADE838EB7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2026-03-04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CD3C4F44-20F5-426B-D2A1-80FC22A0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D6102B95-CB11-37E8-07B4-99932A9F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941882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us pavadinimas 1">
            <a:extLst>
              <a:ext uri="{FF2B5EF4-FFF2-40B4-BE49-F238E27FC236}">
                <a16:creationId xmlns:a16="http://schemas.microsoft.com/office/drawing/2014/main" id="{9E5BF722-BC1F-DD1B-FA56-BD293B775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1BCA8742-C01C-6A2B-6A42-898E5FB00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5F5B6D0E-BF40-62B0-94D2-8DEC7D24E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2026-03-04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410BC458-E30B-A687-AE1E-4CBAEBA80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0D628726-4ECB-2BC4-1C4E-71D264BA1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54937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o vietos rezervavimo ženklas 1">
            <a:extLst>
              <a:ext uri="{FF2B5EF4-FFF2-40B4-BE49-F238E27FC236}">
                <a16:creationId xmlns:a16="http://schemas.microsoft.com/office/drawing/2014/main" id="{D830CC69-8704-A741-0A56-13DE30CE2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BF147A68-0A73-8E5B-48C8-00CB25E62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6172387A-EF59-6D90-DE3B-A0D6815ED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02CE24-FAE1-4818-8ED4-B2CFCD047904}" type="datetimeFigureOut">
              <a:rPr lang="lt-LT" smtClean="0"/>
              <a:t>2026-03-04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C420A185-1A5A-B7DA-0F28-147161077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093544D2-EBF7-1807-A47D-2AB218DF4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8615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51DE627-F873-EE20-9A3B-D8D2E34FD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Machine Learning:</a:t>
            </a:r>
            <a:br>
              <a:rPr lang="en-US" dirty="0"/>
            </a:br>
            <a:r>
              <a:rPr lang="en-US" dirty="0"/>
              <a:t>KNN</a:t>
            </a:r>
            <a:endParaRPr lang="lt-LT" dirty="0"/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DF5DE917-4BE6-0DC6-27ED-48EBAD175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lt-LT" dirty="0"/>
              <a:t>Žydrūnė Kelpšaitė</a:t>
            </a:r>
          </a:p>
          <a:p>
            <a:r>
              <a:rPr lang="lt-LT" dirty="0"/>
              <a:t>Data </a:t>
            </a:r>
            <a:r>
              <a:rPr lang="lt-LT" dirty="0" err="1"/>
              <a:t>Analyst</a:t>
            </a:r>
            <a:endParaRPr lang="lt-LT" dirty="0"/>
          </a:p>
        </p:txBody>
      </p:sp>
      <p:pic>
        <p:nvPicPr>
          <p:cNvPr id="5" name="Paveikslėlis 4" descr="Paveikslėlis, kuriame yra Šriftas, Grafika, grafinis dizaina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6961366D-A4D5-43D9-484D-FBBDF4A09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955" y="467698"/>
            <a:ext cx="6746089" cy="96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519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236BC7F-33D0-0B12-7202-12ECC509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WHAT IS DATA SCIENCE?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8392A17A-B0D7-1D08-E520-1955E4FEE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303" y="1547241"/>
            <a:ext cx="8886025" cy="48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16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DABA132-3969-2C1F-649A-A733DE7D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lt-LT" dirty="0" err="1"/>
              <a:t>ommon</a:t>
            </a:r>
            <a:r>
              <a:rPr lang="lt-LT" dirty="0"/>
              <a:t> </a:t>
            </a:r>
            <a:r>
              <a:rPr lang="lt-LT" dirty="0" err="1"/>
              <a:t>machine</a:t>
            </a:r>
            <a:r>
              <a:rPr lang="lt-LT" dirty="0"/>
              <a:t> </a:t>
            </a:r>
            <a:r>
              <a:rPr lang="lt-LT" dirty="0" err="1"/>
              <a:t>learning</a:t>
            </a:r>
            <a:r>
              <a:rPr lang="lt-LT" dirty="0"/>
              <a:t> </a:t>
            </a:r>
            <a:r>
              <a:rPr lang="lt-LT" dirty="0" err="1"/>
              <a:t>algorithms</a:t>
            </a:r>
            <a:endParaRPr lang="lt-LT" dirty="0"/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5DD8A479-8FC6-C9BE-EF4C-F964D5FA4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087" y="1690688"/>
            <a:ext cx="7487695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68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45AE56A-A039-9FEA-7A66-84ACD32B1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CLASSIFICATION 101</a:t>
            </a:r>
          </a:p>
        </p:txBody>
      </p:sp>
      <p:pic>
        <p:nvPicPr>
          <p:cNvPr id="4" name="Paveikslėlis 3" descr="Paveikslėlis, kuriame yra tekstas, ekrano kopija, Šriftas, „flash“ atmintis&#10;&#10;Dirbtinio intelekto sugeneruotas turinys gali būti neteisingas.">
            <a:extLst>
              <a:ext uri="{FF2B5EF4-FFF2-40B4-BE49-F238E27FC236}">
                <a16:creationId xmlns:a16="http://schemas.microsoft.com/office/drawing/2014/main" id="{513056E6-347D-180C-9B11-077B6081D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653" y="2138182"/>
            <a:ext cx="6944694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A909FBD-9E33-EC2F-F802-A6C3AC53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GOALS OF CLASSIFICATION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3E9AEB4A-3E45-29A2-C8FD-DBC9D8EBC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8" y="1445808"/>
            <a:ext cx="9314403" cy="3966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FD2334-7B13-5FD1-6F4D-ABAB381839ED}"/>
              </a:ext>
            </a:extLst>
          </p:cNvPr>
          <p:cNvSpPr txBox="1"/>
          <p:nvPr/>
        </p:nvSpPr>
        <p:spPr>
          <a:xfrm>
            <a:off x="1337187" y="5657997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often need to strike a balance between these goals – a model that is very inaccurate won’t be too trustworthy for inference, and understanding the impact that variables have on predictions can help make them more accurate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80017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62E8BD6-D48B-FB80-1352-DCAB90D88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TYPES OF CLASSIFICATION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2CE08-343A-5F68-0102-81761BC7500B}"/>
              </a:ext>
            </a:extLst>
          </p:cNvPr>
          <p:cNvSpPr txBox="1"/>
          <p:nvPr/>
        </p:nvSpPr>
        <p:spPr>
          <a:xfrm>
            <a:off x="838199" y="1367522"/>
            <a:ext cx="8954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some of the most common types of classification modeling techniques:</a:t>
            </a:r>
            <a:endParaRPr lang="lt-LT" dirty="0"/>
          </a:p>
        </p:txBody>
      </p:sp>
      <p:pic>
        <p:nvPicPr>
          <p:cNvPr id="6" name="Paveikslėlis 5" descr="Paveikslėlis, kuriame yra tekstas, ekrano kopija, diagram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C47C26F0-5627-0974-6193-CA5381BE4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49" y="2108774"/>
            <a:ext cx="11469701" cy="35056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AE1349-787D-BF0E-21E5-D5EC4FD987A2}"/>
              </a:ext>
            </a:extLst>
          </p:cNvPr>
          <p:cNvSpPr txBox="1"/>
          <p:nvPr/>
        </p:nvSpPr>
        <p:spPr>
          <a:xfrm>
            <a:off x="3047999" y="58478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All models are wrong, but some are useful</a:t>
            </a:r>
          </a:p>
          <a:p>
            <a:r>
              <a:rPr lang="lt-LT" dirty="0"/>
              <a:t>George </a:t>
            </a:r>
            <a:r>
              <a:rPr lang="lt-LT" dirty="0" err="1"/>
              <a:t>Box</a:t>
            </a:r>
            <a:endParaRPr lang="lt-LT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627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2DA4BA8-721E-4448-2176-B30FA8535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KEY TAKEAWAYS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F818AFA9-5DCE-6270-1284-5496D83B7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128" y="1690688"/>
            <a:ext cx="9942478" cy="449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74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845D11B-20C4-BB10-70C7-079C8110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CLASSIFICATION MODELING WORKFLOW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52E1401B-9B90-F8A8-41C6-13480464D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348" y="1561169"/>
            <a:ext cx="9048801" cy="493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19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8F64BCB-9AFA-34CD-8832-F334C19B6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K-NEAREST NEIGHBORS</a:t>
            </a:r>
          </a:p>
        </p:txBody>
      </p:sp>
      <p:pic>
        <p:nvPicPr>
          <p:cNvPr id="4" name="Paveikslėlis 3" descr="Paveikslėlis, kuriame yra tekstas, ekrano kopija, Šriftas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064E833E-F4F2-89CB-228A-47D3D5261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706" y="1599944"/>
            <a:ext cx="6544588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33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A36C90B-8A89-A90D-6443-FE75C24B4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K-NEAREST NEIGHBORS (KNN)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E520F-0275-2CA6-85A0-AAD3A1895D90}"/>
              </a:ext>
            </a:extLst>
          </p:cNvPr>
          <p:cNvSpPr txBox="1"/>
          <p:nvPr/>
        </p:nvSpPr>
        <p:spPr>
          <a:xfrm>
            <a:off x="838200" y="2295265"/>
            <a:ext cx="9220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K-Nearest Neighbors (KNN) </a:t>
            </a:r>
            <a:r>
              <a:rPr lang="en-US" sz="2800" dirty="0"/>
              <a:t>is a classification technique designed to predict outcomes based on similar observed values </a:t>
            </a:r>
          </a:p>
          <a:p>
            <a:r>
              <a:rPr lang="en-US" dirty="0"/>
              <a:t>	• In its simplest form, </a:t>
            </a:r>
            <a:r>
              <a:rPr lang="en-US" dirty="0">
                <a:highlight>
                  <a:srgbClr val="00FFFF"/>
                </a:highlight>
              </a:rPr>
              <a:t>KNN creates a scatter plot with training data</a:t>
            </a:r>
            <a:r>
              <a:rPr lang="en-US" dirty="0"/>
              <a:t>, plots a new unobserved value, and assigns a target class based on the classes of nearby points </a:t>
            </a:r>
          </a:p>
          <a:p>
            <a:r>
              <a:rPr lang="en-US" dirty="0"/>
              <a:t>	• </a:t>
            </a:r>
            <a:r>
              <a:rPr lang="en-US" sz="2400" b="1" dirty="0"/>
              <a:t>K </a:t>
            </a:r>
            <a:r>
              <a:rPr lang="en-US" dirty="0"/>
              <a:t>represents the number of nearby points (or “neighbors”) the model will consider when making a prediction </a:t>
            </a:r>
          </a:p>
          <a:p>
            <a:endParaRPr lang="en-US" b="1" dirty="0"/>
          </a:p>
          <a:p>
            <a:r>
              <a:rPr lang="en-US" b="1" dirty="0"/>
              <a:t>Example use cases: </a:t>
            </a:r>
          </a:p>
          <a:p>
            <a:r>
              <a:rPr lang="en-US" dirty="0"/>
              <a:t>	• Predicting which customers will purchase a product based on demographics </a:t>
            </a:r>
          </a:p>
          <a:p>
            <a:r>
              <a:rPr lang="en-US" dirty="0"/>
              <a:t>	• Classifying customers into pre-existing clusters or segments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084376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6BA26-95DE-8C0B-B34B-5DE163116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2ABE339-2A96-1E2D-DFFB-54310AB27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K-NEAREST NEIGHBORS</a:t>
            </a:r>
            <a:r>
              <a:rPr lang="en-US" dirty="0"/>
              <a:t> </a:t>
            </a:r>
            <a:r>
              <a:rPr lang="lt-LT" dirty="0"/>
              <a:t>(KNN)</a:t>
            </a:r>
          </a:p>
        </p:txBody>
      </p:sp>
      <p:pic>
        <p:nvPicPr>
          <p:cNvPr id="4" name="Paveikslėlis 3" descr="Paveikslėlis, kuriame yra tekstas, ekrano kopija, diagram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B5D17730-219E-5470-22B9-7EA46E42E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206" y="1347761"/>
            <a:ext cx="8077047" cy="514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712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36A61-EEAC-D289-AD9B-598F5D6CF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9C59890-9E9A-34BD-0E52-397EED30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K-NEAREST NEIGHBORS</a:t>
            </a:r>
            <a:r>
              <a:rPr lang="en-US" dirty="0"/>
              <a:t> </a:t>
            </a:r>
            <a:r>
              <a:rPr lang="lt-LT" dirty="0"/>
              <a:t>(KNN)</a:t>
            </a:r>
          </a:p>
        </p:txBody>
      </p:sp>
      <p:pic>
        <p:nvPicPr>
          <p:cNvPr id="4" name="Paveikslėlis 3" descr="Paveikslėlis, kuriame yra tekstas, ekrano kopija, diagram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0C7E476C-EA0C-E6EB-D558-1881449B3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1271"/>
            <a:ext cx="7237222" cy="508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13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57AF396-F757-103C-2071-A68A65EC3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K-NEAREST NEIGHBORS (KNN)</a:t>
            </a:r>
          </a:p>
        </p:txBody>
      </p:sp>
      <p:pic>
        <p:nvPicPr>
          <p:cNvPr id="4" name="Paveikslėlis 3" descr="Paveikslėlis, kuriame yra tekstas, ekrano kopija, diagram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B95CB571-BC01-682E-C11B-ED141340E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038" y="1690688"/>
            <a:ext cx="7255183" cy="499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662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DB38E-49CB-FDEA-ADDA-34FCEC41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283C695-CC65-2C41-3AF2-191445D80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K-NEAREST NEIGHBORS</a:t>
            </a:r>
            <a:r>
              <a:rPr lang="en-US" dirty="0"/>
              <a:t> </a:t>
            </a:r>
            <a:r>
              <a:rPr lang="lt-LT" dirty="0"/>
              <a:t>(KNN)</a:t>
            </a:r>
          </a:p>
        </p:txBody>
      </p:sp>
      <p:pic>
        <p:nvPicPr>
          <p:cNvPr id="4" name="Paveikslėlis 3" descr="Paveikslėlis, kuriame yra tekstas, ekrano kopija, diagram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E79B690A-FE51-AE00-8EDB-4DD60FF8A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61562"/>
            <a:ext cx="7724072" cy="536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92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90094-520C-4675-9EB6-256316555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0FD6BE2-3C48-F2EF-CE6A-E5502B832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K-NEAREST NEIGHBORS</a:t>
            </a:r>
            <a:r>
              <a:rPr lang="en-US" dirty="0"/>
              <a:t> </a:t>
            </a:r>
            <a:r>
              <a:rPr lang="lt-LT" dirty="0"/>
              <a:t>(KNN)</a:t>
            </a:r>
          </a:p>
        </p:txBody>
      </p:sp>
      <p:pic>
        <p:nvPicPr>
          <p:cNvPr id="5" name="Paveikslėlis 4" descr="Paveikslėlis, kuriame yra tekstas, ekrano kopija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0003ED8D-C58E-7285-6B47-BD5DB4432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37187"/>
            <a:ext cx="7372024" cy="530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85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C54F0-038D-BA6E-DAAE-8A5ED7ED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7460F61-9E37-16B8-6933-D6F73E1FE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K-NEAREST NEIGHBORS</a:t>
            </a:r>
            <a:r>
              <a:rPr lang="en-US" dirty="0"/>
              <a:t> </a:t>
            </a:r>
            <a:r>
              <a:rPr lang="lt-LT" dirty="0"/>
              <a:t>(KNN)</a:t>
            </a:r>
          </a:p>
        </p:txBody>
      </p:sp>
      <p:pic>
        <p:nvPicPr>
          <p:cNvPr id="5" name="Paveikslėlis 4" descr="Paveikslėlis, kuriame yra tekstas, ekrano kopija, diagram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9CDD3848-8C8D-0E47-BBF9-560CC3F63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84" y="1520288"/>
            <a:ext cx="7108722" cy="509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939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E5943-A166-934B-933F-6468C82B6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BF82A72-141C-360F-5B97-20B3D270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K-NEAREST NEIGHBORS</a:t>
            </a:r>
            <a:r>
              <a:rPr lang="en-US" dirty="0"/>
              <a:t> </a:t>
            </a:r>
            <a:r>
              <a:rPr lang="lt-LT" dirty="0"/>
              <a:t>(KNN)</a:t>
            </a:r>
          </a:p>
        </p:txBody>
      </p:sp>
      <p:pic>
        <p:nvPicPr>
          <p:cNvPr id="4" name="Paveikslėlis 3" descr="Paveikslėlis, kuriame yra tekstas, ekrano kopija, diagram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3CC9007A-A5DE-9C8B-EB5E-3B0B84E60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4839"/>
            <a:ext cx="7572277" cy="528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216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F4F09-25D4-506F-0DB2-11BEB6D05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51DF8E3-60B4-4790-3935-35773C9A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K-NEAREST NEIGHBORS</a:t>
            </a:r>
            <a:r>
              <a:rPr lang="en-US" dirty="0"/>
              <a:t> </a:t>
            </a:r>
            <a:r>
              <a:rPr lang="lt-LT" dirty="0"/>
              <a:t>(KNN)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45BC3-EB06-BF39-2D2B-FDF035B2BD1A}"/>
              </a:ext>
            </a:extLst>
          </p:cNvPr>
          <p:cNvSpPr txBox="1"/>
          <p:nvPr/>
        </p:nvSpPr>
        <p:spPr>
          <a:xfrm>
            <a:off x="1189702" y="1406464"/>
            <a:ext cx="89080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if there’s a tie? </a:t>
            </a:r>
          </a:p>
          <a:p>
            <a:r>
              <a:rPr lang="en-US" dirty="0"/>
              <a:t>• In practice, KNN also factors distance between neighbors; if there are multiple modes, the class with the </a:t>
            </a:r>
            <a:r>
              <a:rPr lang="en-US" b="1" dirty="0"/>
              <a:t>shortest total distance </a:t>
            </a:r>
            <a:r>
              <a:rPr lang="en-US" dirty="0"/>
              <a:t>to the observation wins</a:t>
            </a:r>
            <a:endParaRPr lang="lt-LT" dirty="0"/>
          </a:p>
        </p:txBody>
      </p:sp>
      <p:pic>
        <p:nvPicPr>
          <p:cNvPr id="7" name="Paveikslėlis 6" descr="Paveikslėlis, kuriame yra tekstas, ekrano kopija, diagram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14870862-EEAC-320E-B392-75EA5FD5C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759" y="2504339"/>
            <a:ext cx="8908027" cy="404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32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054A5-1482-7740-F835-08F6C35E0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2AEB1E4-E47F-AFE6-1FD1-D411B3F7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K-NEAREST NEIGHBORS</a:t>
            </a:r>
            <a:r>
              <a:rPr lang="en-US" dirty="0"/>
              <a:t> </a:t>
            </a:r>
            <a:r>
              <a:rPr lang="lt-LT" dirty="0"/>
              <a:t>(KNN)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6CC726-020D-741A-83C2-96D2C2D606A7}"/>
              </a:ext>
            </a:extLst>
          </p:cNvPr>
          <p:cNvSpPr txBox="1"/>
          <p:nvPr/>
        </p:nvSpPr>
        <p:spPr>
          <a:xfrm>
            <a:off x="1189702" y="1406464"/>
            <a:ext cx="8908027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What if there’s a tie? </a:t>
            </a:r>
          </a:p>
          <a:p>
            <a:r>
              <a:rPr lang="en-US" dirty="0"/>
              <a:t>	• In practice, KNN also factors distance between neighbors; if there are multiple modes, the class with the </a:t>
            </a:r>
            <a:r>
              <a:rPr lang="en-US" b="1" dirty="0">
                <a:highlight>
                  <a:srgbClr val="FFFF00"/>
                </a:highlight>
              </a:rPr>
              <a:t>shortest total distance </a:t>
            </a:r>
            <a:r>
              <a:rPr lang="en-US" dirty="0">
                <a:highlight>
                  <a:srgbClr val="FFFF00"/>
                </a:highlight>
              </a:rPr>
              <a:t>to the observation wins </a:t>
            </a:r>
          </a:p>
          <a:p>
            <a:endParaRPr lang="en-US" dirty="0"/>
          </a:p>
          <a:p>
            <a:r>
              <a:rPr lang="en-US" sz="2800" dirty="0"/>
              <a:t>How do we figure out the “right” value for K? </a:t>
            </a:r>
          </a:p>
          <a:p>
            <a:r>
              <a:rPr lang="en-US" dirty="0"/>
              <a:t>	• This is where </a:t>
            </a:r>
            <a:r>
              <a:rPr lang="en-US" b="1" dirty="0"/>
              <a:t>model validation </a:t>
            </a:r>
            <a:r>
              <a:rPr lang="en-US" dirty="0"/>
              <a:t>comes in! We will train our model on multiple K values to see which one is most accurate when applied to your validation data </a:t>
            </a:r>
          </a:p>
          <a:p>
            <a:endParaRPr lang="en-US" dirty="0"/>
          </a:p>
          <a:p>
            <a:r>
              <a:rPr lang="en-US" sz="2600" dirty="0"/>
              <a:t>What if we have more than 2 features? </a:t>
            </a:r>
          </a:p>
          <a:p>
            <a:r>
              <a:rPr lang="en-US" dirty="0"/>
              <a:t>	• Scatter plots are great for demonstrating how KNN works for 2 features, but humans can’t visualize beyond 3 or 4 dimensions 	</a:t>
            </a:r>
          </a:p>
          <a:p>
            <a:r>
              <a:rPr lang="en-US" dirty="0"/>
              <a:t>	</a:t>
            </a:r>
            <a:r>
              <a:rPr lang="en-US" dirty="0">
                <a:highlight>
                  <a:srgbClr val="FFFF00"/>
                </a:highlight>
              </a:rPr>
              <a:t>• ML algorithms can easily apply the same underlying logic and calculations to many features. </a:t>
            </a:r>
            <a:endParaRPr lang="lt-LT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90445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1CD70DA-5CF1-366B-BB30-82B51B155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KNN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0DE5A2-2786-D366-7D68-311E4FD62CE6}"/>
              </a:ext>
            </a:extLst>
          </p:cNvPr>
          <p:cNvSpPr txBox="1"/>
          <p:nvPr/>
        </p:nvSpPr>
        <p:spPr>
          <a:xfrm>
            <a:off x="1012723" y="2219150"/>
            <a:ext cx="913416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Follow the </a:t>
            </a:r>
            <a:r>
              <a:rPr lang="en-US" sz="2400" b="1" dirty="0"/>
              <a:t>KNN workflow </a:t>
            </a:r>
            <a:r>
              <a:rPr lang="en-US" sz="2400" dirty="0"/>
              <a:t>below to ensure that you fit an accurate model: </a:t>
            </a:r>
          </a:p>
          <a:p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Split</a:t>
            </a:r>
            <a:r>
              <a:rPr lang="en-US" sz="2400" dirty="0"/>
              <a:t> training and test datasets to accurately assess model performance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Scale</a:t>
            </a:r>
            <a:r>
              <a:rPr lang="en-US" sz="2400" dirty="0"/>
              <a:t> or </a:t>
            </a:r>
            <a:r>
              <a:rPr lang="en-US" sz="2400" b="1" dirty="0"/>
              <a:t>standardize</a:t>
            </a:r>
            <a:r>
              <a:rPr lang="en-US" sz="2400" dirty="0"/>
              <a:t> the data to make sure all features are weighted equally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Fit &amp; Tune </a:t>
            </a:r>
            <a:r>
              <a:rPr lang="en-US" sz="2400" dirty="0"/>
              <a:t>the model by adding or removing features and adjusting k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Score</a:t>
            </a:r>
            <a:r>
              <a:rPr lang="en-US" sz="2400" dirty="0"/>
              <a:t> the model on the test data after fitting your final model on the combined training &amp; validation sets</a:t>
            </a:r>
            <a:endParaRPr lang="lt-LT" sz="2400" dirty="0"/>
          </a:p>
        </p:txBody>
      </p:sp>
    </p:spTree>
    <p:extLst>
      <p:ext uri="{BB962C8B-B14F-4D97-AF65-F5344CB8AC3E}">
        <p14:creationId xmlns:p14="http://schemas.microsoft.com/office/powerpoint/2010/main" val="2509449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D8BD6A0-7598-C967-2CA2-5DCF1C1C4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DATA SPLITTING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5C5FA1-BA2C-F8AC-DFE1-4A4CCBD71153}"/>
              </a:ext>
            </a:extLst>
          </p:cNvPr>
          <p:cNvSpPr txBox="1"/>
          <p:nvPr/>
        </p:nvSpPr>
        <p:spPr>
          <a:xfrm>
            <a:off x="943897" y="1612942"/>
            <a:ext cx="87015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Before fitting any model, it’s important to </a:t>
            </a:r>
            <a:r>
              <a:rPr lang="en-US" sz="2400" b="1" dirty="0"/>
              <a:t>split off a test data set </a:t>
            </a:r>
          </a:p>
          <a:p>
            <a:r>
              <a:rPr lang="en-US" dirty="0"/>
              <a:t>	• </a:t>
            </a:r>
            <a:r>
              <a:rPr lang="en-US" b="1" dirty="0" err="1"/>
              <a:t>sklearn.model_selection.train_test_split</a:t>
            </a:r>
            <a:r>
              <a:rPr lang="en-US" dirty="0"/>
              <a:t>(X, y, </a:t>
            </a:r>
            <a:r>
              <a:rPr lang="en-US" dirty="0" err="1"/>
              <a:t>test_size</a:t>
            </a:r>
            <a:r>
              <a:rPr lang="en-US" dirty="0"/>
              <a:t>, </a:t>
            </a:r>
            <a:r>
              <a:rPr lang="en-US" dirty="0" err="1"/>
              <a:t>random_state</a:t>
            </a:r>
            <a:r>
              <a:rPr lang="en-US" dirty="0"/>
              <a:t>)</a:t>
            </a:r>
            <a:endParaRPr lang="lt-LT" dirty="0"/>
          </a:p>
        </p:txBody>
      </p:sp>
      <p:pic>
        <p:nvPicPr>
          <p:cNvPr id="6" name="Paveikslėlis 5" descr="Paveikslėlis, kuriame yra tekstas, Šriftas, linija, baltas&#10;&#10;Dirbtinio intelekto sugeneruotas turinys gali būti neteisingas.">
            <a:extLst>
              <a:ext uri="{FF2B5EF4-FFF2-40B4-BE49-F238E27FC236}">
                <a16:creationId xmlns:a16="http://schemas.microsoft.com/office/drawing/2014/main" id="{EF1A902D-4008-C62E-FDA6-F4B4DC58B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51237"/>
            <a:ext cx="11060068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75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73364E7-3BA0-FD63-4DEE-8DEDF8791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DATA SCALING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B9466-0259-047C-2A05-B7C1C92A567B}"/>
              </a:ext>
            </a:extLst>
          </p:cNvPr>
          <p:cNvSpPr txBox="1"/>
          <p:nvPr/>
        </p:nvSpPr>
        <p:spPr>
          <a:xfrm>
            <a:off x="838200" y="1690688"/>
            <a:ext cx="88367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Scaling or standardizing </a:t>
            </a:r>
            <a:r>
              <a:rPr lang="en-US" sz="2400" dirty="0"/>
              <a:t>your data is necessary for </a:t>
            </a:r>
            <a:r>
              <a:rPr lang="en-US" sz="2400" dirty="0" err="1"/>
              <a:t>kNN</a:t>
            </a:r>
            <a:r>
              <a:rPr lang="en-US" sz="2400" dirty="0"/>
              <a:t> to ensure that features have an equal unit scale (</a:t>
            </a:r>
            <a:r>
              <a:rPr lang="en-US" sz="2400" b="1" dirty="0">
                <a:highlight>
                  <a:srgbClr val="00FFFF"/>
                </a:highlight>
              </a:rPr>
              <a:t>this is critical for distance-based models!) </a:t>
            </a:r>
          </a:p>
          <a:p>
            <a:r>
              <a:rPr lang="en-US" dirty="0"/>
              <a:t>	• </a:t>
            </a:r>
            <a:r>
              <a:rPr lang="en-US" dirty="0" err="1"/>
              <a:t>sklearn.preprocessing.StandardScaler</a:t>
            </a:r>
            <a:r>
              <a:rPr lang="en-US" dirty="0"/>
              <a:t>()</a:t>
            </a:r>
            <a:endParaRPr lang="lt-LT" dirty="0"/>
          </a:p>
        </p:txBody>
      </p:sp>
      <p:pic>
        <p:nvPicPr>
          <p:cNvPr id="6" name="Paveikslėlis 5" descr="Paveikslėlis, kuriame yra tekstas, Šriftas, ekrano kopija, algebra&#10;&#10;Dirbtinio intelekto sugeneruotas turinys gali būti neteisingas.">
            <a:extLst>
              <a:ext uri="{FF2B5EF4-FFF2-40B4-BE49-F238E27FC236}">
                <a16:creationId xmlns:a16="http://schemas.microsoft.com/office/drawing/2014/main" id="{27BEDC70-2E46-E2BB-A5A3-D95F7D8A2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44692"/>
            <a:ext cx="11021963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424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FDBEB76-C6F2-2118-57A5-257DEB13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FITTING A KNN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D2925C-E667-A3C3-ECBB-9EE0B192EFD4}"/>
              </a:ext>
            </a:extLst>
          </p:cNvPr>
          <p:cNvSpPr txBox="1"/>
          <p:nvPr/>
        </p:nvSpPr>
        <p:spPr>
          <a:xfrm>
            <a:off x="924232" y="1542420"/>
            <a:ext cx="102943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 Python, you can </a:t>
            </a:r>
            <a:r>
              <a:rPr lang="en-US" sz="2000" b="1" dirty="0"/>
              <a:t>fit a </a:t>
            </a:r>
            <a:r>
              <a:rPr lang="en-US" sz="2000" b="1" dirty="0" err="1"/>
              <a:t>kNN</a:t>
            </a:r>
            <a:r>
              <a:rPr lang="en-US" sz="2000" b="1" dirty="0"/>
              <a:t> model </a:t>
            </a:r>
            <a:r>
              <a:rPr lang="en-US" sz="2000" dirty="0"/>
              <a:t>using the</a:t>
            </a:r>
            <a:r>
              <a:rPr lang="en-US" sz="2000" b="1" dirty="0"/>
              <a:t> scikit-learn </a:t>
            </a:r>
            <a:r>
              <a:rPr lang="en-US" sz="2000" dirty="0"/>
              <a:t>library </a:t>
            </a:r>
          </a:p>
          <a:p>
            <a:r>
              <a:rPr lang="en-US" dirty="0"/>
              <a:t>	• Remember, data must be split and scaled prior to modeling! </a:t>
            </a:r>
          </a:p>
          <a:p>
            <a:r>
              <a:rPr lang="en-US" dirty="0"/>
              <a:t>	• </a:t>
            </a:r>
            <a:r>
              <a:rPr lang="en-US" b="1" dirty="0" err="1"/>
              <a:t>sklearn.neighbors.KNeighborsClassifier</a:t>
            </a:r>
            <a:r>
              <a:rPr lang="en-US" b="1" dirty="0"/>
              <a:t>(</a:t>
            </a:r>
            <a:r>
              <a:rPr lang="en-US" b="1" dirty="0" err="1"/>
              <a:t>n_neighbors</a:t>
            </a:r>
            <a:r>
              <a:rPr lang="en-US" b="1" dirty="0"/>
              <a:t>=k).fit(X, y)</a:t>
            </a:r>
            <a:endParaRPr lang="lt-LT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6D77A-E8DE-194F-016D-3563003B7A57}"/>
              </a:ext>
            </a:extLst>
          </p:cNvPr>
          <p:cNvSpPr txBox="1"/>
          <p:nvPr/>
        </p:nvSpPr>
        <p:spPr>
          <a:xfrm>
            <a:off x="1710813" y="56548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While </a:t>
            </a:r>
            <a:r>
              <a:rPr lang="en-US" dirty="0">
                <a:highlight>
                  <a:srgbClr val="00FFFF"/>
                </a:highlight>
              </a:rPr>
              <a:t>we’re manually specifying k here</a:t>
            </a:r>
            <a:r>
              <a:rPr lang="en-US" dirty="0"/>
              <a:t>, in practice you’ll use cross-validation to determine the optimal value of k</a:t>
            </a:r>
            <a:endParaRPr lang="lt-LT" dirty="0"/>
          </a:p>
        </p:txBody>
      </p:sp>
      <p:pic>
        <p:nvPicPr>
          <p:cNvPr id="8" name="Paveikslėlis 7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0EDC7DB7-5F87-9753-CC6C-A03447105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439" y="2837264"/>
            <a:ext cx="6782747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36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21F32D4-338D-22B0-82EB-A303C0E15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MODEL ACCURACY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05307-2E0F-413B-E367-3A73A981C4C2}"/>
              </a:ext>
            </a:extLst>
          </p:cNvPr>
          <p:cNvSpPr txBox="1"/>
          <p:nvPr/>
        </p:nvSpPr>
        <p:spPr>
          <a:xfrm>
            <a:off x="963561" y="1503939"/>
            <a:ext cx="99109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Accuracy</a:t>
            </a:r>
            <a:r>
              <a:rPr lang="en-US" sz="2400" dirty="0"/>
              <a:t> represents the number of observations predicted correctly divided the total number of observations </a:t>
            </a:r>
          </a:p>
          <a:p>
            <a:r>
              <a:rPr lang="en-US" dirty="0"/>
              <a:t>	• Fitted </a:t>
            </a:r>
            <a:r>
              <a:rPr lang="en-US" dirty="0" err="1"/>
              <a:t>sklearn</a:t>
            </a:r>
            <a:r>
              <a:rPr lang="en-US" dirty="0"/>
              <a:t> models have a </a:t>
            </a:r>
            <a:r>
              <a:rPr lang="en-US" b="1" dirty="0"/>
              <a:t>.score() </a:t>
            </a:r>
            <a:r>
              <a:rPr lang="en-US" dirty="0"/>
              <a:t>method (</a:t>
            </a:r>
            <a:r>
              <a:rPr lang="en-US" dirty="0" err="1"/>
              <a:t>model.score</a:t>
            </a:r>
            <a:r>
              <a:rPr lang="en-US" dirty="0"/>
              <a:t>(X, y) which returns the accuracy score for any feature/target pair</a:t>
            </a:r>
            <a:endParaRPr lang="lt-L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81A686-A23D-38CC-E232-B23BE8654EB1}"/>
              </a:ext>
            </a:extLst>
          </p:cNvPr>
          <p:cNvSpPr txBox="1"/>
          <p:nvPr/>
        </p:nvSpPr>
        <p:spPr>
          <a:xfrm>
            <a:off x="1140542" y="5743338"/>
            <a:ext cx="7541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Accuracy isn’t always a useful metric, depending on project goals. </a:t>
            </a:r>
            <a:endParaRPr lang="lt-LT" dirty="0"/>
          </a:p>
        </p:txBody>
      </p:sp>
      <p:pic>
        <p:nvPicPr>
          <p:cNvPr id="8" name="Paveikslėlis 7" descr="Paveikslėlis, kuriame yra tekstas, Šriftas, skaičius, linija&#10;&#10;Dirbtinio intelekto sugeneruotas turinys gali būti neteisingas.">
            <a:extLst>
              <a:ext uri="{FF2B5EF4-FFF2-40B4-BE49-F238E27FC236}">
                <a16:creationId xmlns:a16="http://schemas.microsoft.com/office/drawing/2014/main" id="{1C4F2D27-37D1-D8C4-E0E7-FC251B436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52" y="2888934"/>
            <a:ext cx="11164858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74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25A8B9D-43B6-BA7A-83DD-75E30EA08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THE CONFUSION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597CB-5450-DDD9-BCFD-C08E0EF66084}"/>
              </a:ext>
            </a:extLst>
          </p:cNvPr>
          <p:cNvSpPr txBox="1"/>
          <p:nvPr/>
        </p:nvSpPr>
        <p:spPr>
          <a:xfrm>
            <a:off x="838199" y="1444097"/>
            <a:ext cx="100166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confusion matrix </a:t>
            </a:r>
            <a:r>
              <a:rPr lang="en-US" sz="2400" dirty="0"/>
              <a:t>summarizes predicted vs. actual classes, and can be used for summarizing model performance and diagnosing inaccurate predictions </a:t>
            </a:r>
          </a:p>
          <a:p>
            <a:r>
              <a:rPr lang="en-US" dirty="0"/>
              <a:t>	• Metrics like accuracy, precision and recall (more later!) can all be derived from this matrix</a:t>
            </a:r>
            <a:endParaRPr lang="lt-LT" dirty="0"/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39D154B8-D8F2-757D-A87E-482D7DF33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260" y="3306781"/>
            <a:ext cx="5953956" cy="34104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7F8B3F-C92C-8775-4EE1-BA11B933E925}"/>
              </a:ext>
            </a:extLst>
          </p:cNvPr>
          <p:cNvSpPr txBox="1"/>
          <p:nvPr/>
        </p:nvSpPr>
        <p:spPr>
          <a:xfrm>
            <a:off x="7167716" y="4667865"/>
            <a:ext cx="30185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Accuracy can be calculated by summing the values in the diagonal (green) divided by the total of all squares</a:t>
            </a:r>
            <a:endParaRPr lang="lt-LT" sz="1600" dirty="0"/>
          </a:p>
        </p:txBody>
      </p:sp>
    </p:spTree>
    <p:extLst>
      <p:ext uri="{BB962C8B-B14F-4D97-AF65-F5344CB8AC3E}">
        <p14:creationId xmlns:p14="http://schemas.microsoft.com/office/powerpoint/2010/main" val="32593070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1D81E-132C-50A2-309E-E58B48CB5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5B412E0-6235-52A8-41FA-7898A6E3B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THE CONFUSION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B841E-436A-8422-40BD-F19EA969C0DF}"/>
              </a:ext>
            </a:extLst>
          </p:cNvPr>
          <p:cNvSpPr txBox="1"/>
          <p:nvPr/>
        </p:nvSpPr>
        <p:spPr>
          <a:xfrm>
            <a:off x="838199" y="1444097"/>
            <a:ext cx="100166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confusion matrix </a:t>
            </a:r>
            <a:r>
              <a:rPr lang="en-US" sz="2400" dirty="0"/>
              <a:t>summarizes predicted vs. actual classes, and can be used for summarizing model performance and diagnosing inaccurate predictions </a:t>
            </a:r>
          </a:p>
          <a:p>
            <a:r>
              <a:rPr lang="en-US" dirty="0"/>
              <a:t>	• </a:t>
            </a:r>
            <a:r>
              <a:rPr lang="en-US" dirty="0" err="1"/>
              <a:t>model.predict</a:t>
            </a:r>
            <a:r>
              <a:rPr lang="en-US" dirty="0"/>
              <a:t>(X) returns class predictions from a given feature dataset </a:t>
            </a:r>
          </a:p>
          <a:p>
            <a:r>
              <a:rPr lang="en-US" dirty="0"/>
              <a:t>	• </a:t>
            </a:r>
            <a:r>
              <a:rPr lang="en-US" dirty="0" err="1"/>
              <a:t>Sklearn.metrics.confusion_matrix</a:t>
            </a:r>
            <a:r>
              <a:rPr lang="en-US" dirty="0"/>
              <a:t>(</a:t>
            </a:r>
            <a:r>
              <a:rPr lang="en-US" dirty="0" err="1"/>
              <a:t>actual_y</a:t>
            </a:r>
            <a:r>
              <a:rPr lang="en-US" dirty="0"/>
              <a:t>, </a:t>
            </a:r>
            <a:r>
              <a:rPr lang="en-US" dirty="0" err="1"/>
              <a:t>predicted_y</a:t>
            </a:r>
            <a:r>
              <a:rPr lang="en-US" dirty="0"/>
              <a:t>)</a:t>
            </a:r>
            <a:endParaRPr lang="lt-LT" dirty="0"/>
          </a:p>
        </p:txBody>
      </p:sp>
      <p:pic>
        <p:nvPicPr>
          <p:cNvPr id="5" name="Paveikslėlis 4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E61A8C5F-D3B8-CA7F-A140-557028401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65" y="3511134"/>
            <a:ext cx="7916380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591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7B24DCD-E34A-64E3-BB59-0C7660FFA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PRO TIP: CONFUSION MATRIX HEATMAP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43F5C-AD82-784E-73A8-5525BB514590}"/>
              </a:ext>
            </a:extLst>
          </p:cNvPr>
          <p:cNvSpPr txBox="1"/>
          <p:nvPr/>
        </p:nvSpPr>
        <p:spPr>
          <a:xfrm>
            <a:off x="924231" y="1563780"/>
            <a:ext cx="8396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Seaborn’s </a:t>
            </a:r>
            <a:r>
              <a:rPr lang="en-US" b="1" dirty="0"/>
              <a:t>heatmap</a:t>
            </a:r>
            <a:r>
              <a:rPr lang="en-US" dirty="0"/>
              <a:t> function can be used to make a visual confusion matrix </a:t>
            </a:r>
          </a:p>
          <a:p>
            <a:r>
              <a:rPr lang="en-US" dirty="0"/>
              <a:t>	• </a:t>
            </a:r>
            <a:r>
              <a:rPr lang="en-US" dirty="0" err="1"/>
              <a:t>sns.heatmap</a:t>
            </a:r>
            <a:r>
              <a:rPr lang="en-US" dirty="0"/>
              <a:t>(</a:t>
            </a:r>
            <a:r>
              <a:rPr lang="en-US" dirty="0" err="1"/>
              <a:t>confusion_matrix</a:t>
            </a:r>
            <a:r>
              <a:rPr lang="en-US" dirty="0"/>
              <a:t>(actual, predicted))</a:t>
            </a:r>
            <a:endParaRPr lang="lt-LT" dirty="0"/>
          </a:p>
        </p:txBody>
      </p:sp>
      <p:pic>
        <p:nvPicPr>
          <p:cNvPr id="6" name="Paveikslėlis 5" descr="Paveikslėlis, kuriame yra tekstas, programinė įranga, diagram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4BC7BF3B-F0F8-4F16-B244-7EEF8D8D6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31" y="2644389"/>
            <a:ext cx="11174384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197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E3C1228-9668-F662-E593-865C26EF0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HYPERPARAMETER TUNING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95ABAB-4384-D2C2-15AC-3DD0C183F969}"/>
              </a:ext>
            </a:extLst>
          </p:cNvPr>
          <p:cNvSpPr txBox="1"/>
          <p:nvPr/>
        </p:nvSpPr>
        <p:spPr>
          <a:xfrm>
            <a:off x="838199" y="1385103"/>
            <a:ext cx="103115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Hyperparameters are settings that affect how well a model fits the data </a:t>
            </a:r>
          </a:p>
          <a:p>
            <a:r>
              <a:rPr lang="en-US" dirty="0"/>
              <a:t>	• Unlike model parameters (like regression coefficients) these are not learned from the data </a:t>
            </a:r>
          </a:p>
          <a:p>
            <a:r>
              <a:rPr lang="en-US" dirty="0"/>
              <a:t>	• Parameters are set before the model is fit and optimized based on validation performance</a:t>
            </a:r>
            <a:endParaRPr lang="lt-LT" dirty="0"/>
          </a:p>
        </p:txBody>
      </p:sp>
      <p:pic>
        <p:nvPicPr>
          <p:cNvPr id="6" name="Paveikslėlis 5" descr="Paveikslėlis, kuriame yra tekstas, ekrano kopija, Šriftas, apskritimas&#10;&#10;Dirbtinio intelekto sugeneruotas turinys gali būti neteisingas.">
            <a:extLst>
              <a:ext uri="{FF2B5EF4-FFF2-40B4-BE49-F238E27FC236}">
                <a16:creationId xmlns:a16="http://schemas.microsoft.com/office/drawing/2014/main" id="{DF282D10-4842-2863-7208-EF80BC316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493" y="2918069"/>
            <a:ext cx="8784992" cy="32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23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1D537C8-2E13-3EFC-E46C-F1DE7DB0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OPTIMIZING 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A9351-3551-0308-DD2C-88DA68A5C6C5}"/>
              </a:ext>
            </a:extLst>
          </p:cNvPr>
          <p:cNvSpPr txBox="1"/>
          <p:nvPr/>
        </p:nvSpPr>
        <p:spPr>
          <a:xfrm>
            <a:off x="1012722" y="1435114"/>
            <a:ext cx="941930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optimal value of k </a:t>
            </a:r>
            <a:r>
              <a:rPr lang="en-US" sz="2000" dirty="0"/>
              <a:t>can be determined via model validation </a:t>
            </a:r>
          </a:p>
          <a:p>
            <a:r>
              <a:rPr lang="en-US" dirty="0"/>
              <a:t>	• k is bounded between 1 and n, where n is the number of rows in a dataset </a:t>
            </a:r>
          </a:p>
          <a:p>
            <a:r>
              <a:rPr lang="en-US" dirty="0"/>
              <a:t>	• High values of k will tend to underfit, and low values of k tend to overfit</a:t>
            </a:r>
            <a:endParaRPr lang="lt-LT" dirty="0"/>
          </a:p>
        </p:txBody>
      </p:sp>
      <p:pic>
        <p:nvPicPr>
          <p:cNvPr id="6" name="Paveikslėlis 5" descr="Paveikslėlis, kuriame yra tekstas, Šriftas, diagrama, linija&#10;&#10;Dirbtinio intelekto sugeneruotas turinys gali būti neteisingas.">
            <a:extLst>
              <a:ext uri="{FF2B5EF4-FFF2-40B4-BE49-F238E27FC236}">
                <a16:creationId xmlns:a16="http://schemas.microsoft.com/office/drawing/2014/main" id="{5D543CD3-F460-E85F-9D31-081C26766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86" y="2389221"/>
            <a:ext cx="11841227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564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C27B51E-96BE-8844-2418-C253246F6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7988"/>
            <a:ext cx="10515600" cy="1325563"/>
          </a:xfrm>
        </p:spPr>
        <p:txBody>
          <a:bodyPr/>
          <a:lstStyle/>
          <a:p>
            <a:r>
              <a:rPr lang="lt-LT" dirty="0"/>
              <a:t>OVERFITTING &amp; UNDERFITTING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ABFA35-A621-27D8-39F9-024F84643690}"/>
              </a:ext>
            </a:extLst>
          </p:cNvPr>
          <p:cNvSpPr txBox="1"/>
          <p:nvPr/>
        </p:nvSpPr>
        <p:spPr>
          <a:xfrm>
            <a:off x="1022555" y="1207575"/>
            <a:ext cx="9901084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Data splitting is primarily used to avoid </a:t>
            </a:r>
            <a:r>
              <a:rPr lang="en-US" sz="2000" b="1" dirty="0"/>
              <a:t>overfitting</a:t>
            </a:r>
            <a:r>
              <a:rPr lang="en-US" sz="2000" dirty="0"/>
              <a:t>, which is when a model predicts known (Training) data very well but unknown (Test) data poorly </a:t>
            </a:r>
          </a:p>
          <a:p>
            <a:r>
              <a:rPr lang="en-US" dirty="0"/>
              <a:t>	</a:t>
            </a:r>
          </a:p>
          <a:p>
            <a:pPr lvl="1"/>
            <a:r>
              <a:rPr lang="en-US" dirty="0"/>
              <a:t>• Overfitting is like memorizing test answers instead of learning the material; you’ll ace the test, but lack the ability to </a:t>
            </a:r>
            <a:r>
              <a:rPr lang="en-US" b="1" dirty="0"/>
              <a:t>generalize</a:t>
            </a:r>
            <a:r>
              <a:rPr lang="en-US" dirty="0"/>
              <a:t> and apply your knowledge to unfamiliar questions</a:t>
            </a:r>
            <a:endParaRPr lang="lt-LT" dirty="0"/>
          </a:p>
        </p:txBody>
      </p:sp>
      <p:pic>
        <p:nvPicPr>
          <p:cNvPr id="10" name="Paveikslėlis 9" descr="Paveikslėlis, kuriame yra tekstas, diagrama, linij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78D1530F-2D9B-264E-4B02-F7FAA5990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55" y="2954568"/>
            <a:ext cx="9901084" cy="373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83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9D3E1-E4DA-4201-745E-4623C2CDB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E1A987E-79B6-9573-D02C-29FE1E849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7988"/>
            <a:ext cx="10515600" cy="1325563"/>
          </a:xfrm>
        </p:spPr>
        <p:txBody>
          <a:bodyPr/>
          <a:lstStyle/>
          <a:p>
            <a:r>
              <a:rPr lang="lt-LT" dirty="0"/>
              <a:t>OVERFITTING &amp; UNDERFITTING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72482C-D679-DB93-0DD0-5096C90E94DB}"/>
              </a:ext>
            </a:extLst>
          </p:cNvPr>
          <p:cNvSpPr txBox="1"/>
          <p:nvPr/>
        </p:nvSpPr>
        <p:spPr>
          <a:xfrm>
            <a:off x="1022555" y="1207575"/>
            <a:ext cx="990108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You can diagnose overfit &amp; underfit models by </a:t>
            </a:r>
            <a:r>
              <a:rPr lang="en-US" sz="2000" b="1" dirty="0"/>
              <a:t>comparing evaluation metrics </a:t>
            </a:r>
            <a:r>
              <a:rPr lang="en-US" sz="2000" dirty="0"/>
              <a:t>like </a:t>
            </a:r>
            <a:r>
              <a:rPr lang="en-US" sz="2000" dirty="0">
                <a:highlight>
                  <a:srgbClr val="FFFF00"/>
                </a:highlight>
              </a:rPr>
              <a:t>Accuracy, Precision, and Recall </a:t>
            </a:r>
            <a:r>
              <a:rPr lang="en-US" sz="2000" dirty="0"/>
              <a:t>between the train and test data sets</a:t>
            </a:r>
          </a:p>
          <a:p>
            <a:pPr lvl="1"/>
            <a:r>
              <a:rPr lang="en-US" sz="2000" dirty="0"/>
              <a:t> </a:t>
            </a:r>
            <a:r>
              <a:rPr lang="en-US" dirty="0"/>
              <a:t>• Large gaps between train &amp; test scores indicate that a model is </a:t>
            </a:r>
            <a:r>
              <a:rPr lang="en-US" b="1" dirty="0"/>
              <a:t>overfitting</a:t>
            </a:r>
            <a:r>
              <a:rPr lang="en-US" dirty="0"/>
              <a:t> the data</a:t>
            </a:r>
          </a:p>
          <a:p>
            <a:pPr lvl="1"/>
            <a:r>
              <a:rPr lang="en-US" dirty="0"/>
              <a:t> • Poor results across both train &amp; test scores indicate that a model is </a:t>
            </a:r>
            <a:r>
              <a:rPr lang="en-US" b="1" dirty="0"/>
              <a:t>underfitting</a:t>
            </a:r>
            <a:r>
              <a:rPr lang="en-US" dirty="0"/>
              <a:t> the data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1AA6A-0A50-4A55-4C8E-2E1AEAF1C001}"/>
              </a:ext>
            </a:extLst>
          </p:cNvPr>
          <p:cNvSpPr txBox="1"/>
          <p:nvPr/>
        </p:nvSpPr>
        <p:spPr>
          <a:xfrm>
            <a:off x="1632154" y="3429000"/>
            <a:ext cx="33134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You can fix </a:t>
            </a:r>
            <a:r>
              <a:rPr lang="en-US" b="1"/>
              <a:t>overfit</a:t>
            </a:r>
            <a:r>
              <a:rPr lang="en-US"/>
              <a:t> models by:</a:t>
            </a:r>
          </a:p>
          <a:p>
            <a:r>
              <a:rPr lang="en-US"/>
              <a:t> • Simplifying the model </a:t>
            </a:r>
          </a:p>
          <a:p>
            <a:r>
              <a:rPr lang="en-US"/>
              <a:t>• Removing features </a:t>
            </a:r>
          </a:p>
          <a:p>
            <a:r>
              <a:rPr lang="en-US"/>
              <a:t>• Regularization (more later!)</a:t>
            </a:r>
            <a:endParaRPr lang="lt-L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A22D86-6EAD-61AB-8272-D3058A3E195F}"/>
              </a:ext>
            </a:extLst>
          </p:cNvPr>
          <p:cNvSpPr txBox="1"/>
          <p:nvPr/>
        </p:nvSpPr>
        <p:spPr>
          <a:xfrm>
            <a:off x="5761702" y="3429000"/>
            <a:ext cx="43556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fix </a:t>
            </a:r>
            <a:r>
              <a:rPr lang="en-US" b="1" dirty="0"/>
              <a:t>underfit</a:t>
            </a:r>
            <a:r>
              <a:rPr lang="en-US" dirty="0"/>
              <a:t> models by: </a:t>
            </a:r>
          </a:p>
          <a:p>
            <a:r>
              <a:rPr lang="en-US" dirty="0"/>
              <a:t>• Making the model more complex</a:t>
            </a:r>
          </a:p>
          <a:p>
            <a:r>
              <a:rPr lang="en-US" dirty="0"/>
              <a:t> • Adding new features </a:t>
            </a:r>
          </a:p>
          <a:p>
            <a:r>
              <a:rPr lang="en-US" dirty="0"/>
              <a:t>• Feature engineering</a:t>
            </a:r>
            <a:endParaRPr lang="lt-L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6F5A8-780A-0091-CDA5-28715A2C53A8}"/>
              </a:ext>
            </a:extLst>
          </p:cNvPr>
          <p:cNvSpPr txBox="1"/>
          <p:nvPr/>
        </p:nvSpPr>
        <p:spPr>
          <a:xfrm>
            <a:off x="2477729" y="538852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Models will usually have </a:t>
            </a:r>
            <a:r>
              <a:rPr lang="en-US" dirty="0">
                <a:highlight>
                  <a:srgbClr val="FFFF00"/>
                </a:highlight>
              </a:rPr>
              <a:t>lower performance on test data </a:t>
            </a:r>
            <a:r>
              <a:rPr lang="en-US" dirty="0"/>
              <a:t>compared to the performance on training data, so small gaps are expected – remember that no model is perfect!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400002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6BF7B85-C06E-7206-21AB-FC1FFBF59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VALIDATION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FD62E-6820-ADDF-7A36-58C26E87D100}"/>
              </a:ext>
            </a:extLst>
          </p:cNvPr>
          <p:cNvSpPr txBox="1"/>
          <p:nvPr/>
        </p:nvSpPr>
        <p:spPr>
          <a:xfrm>
            <a:off x="995515" y="1415385"/>
            <a:ext cx="83058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Validation data </a:t>
            </a:r>
            <a:r>
              <a:rPr lang="en-US" sz="2200" dirty="0"/>
              <a:t>is a subset of the training data set that is used to assess model fit and provide feedback to the modeling process </a:t>
            </a:r>
          </a:p>
          <a:p>
            <a:r>
              <a:rPr lang="en-US" dirty="0"/>
              <a:t>	• This is an extension of a simple train-test split of the data</a:t>
            </a:r>
            <a:endParaRPr lang="lt-LT" dirty="0"/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2D85FC37-5264-D1D9-1242-8D4F97487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8" y="2874888"/>
            <a:ext cx="9566240" cy="367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1281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062019D-F83E-E098-7D6D-1C0E0366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CROSS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425A3-E474-8FE3-9E49-2CA8E0B8D4EC}"/>
              </a:ext>
            </a:extLst>
          </p:cNvPr>
          <p:cNvSpPr txBox="1"/>
          <p:nvPr/>
        </p:nvSpPr>
        <p:spPr>
          <a:xfrm>
            <a:off x="648928" y="1492412"/>
            <a:ext cx="107048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Cross validation is another validation method that splits, or “folds”, the training data into k parts, and treats each part as the validation data across iterations </a:t>
            </a:r>
          </a:p>
          <a:p>
            <a:r>
              <a:rPr lang="en-US" dirty="0"/>
              <a:t>• You fit the model k times on the training folds, while validating on a different fold each time </a:t>
            </a:r>
          </a:p>
          <a:p>
            <a:r>
              <a:rPr lang="en-US" dirty="0"/>
              <a:t>• </a:t>
            </a:r>
            <a:r>
              <a:rPr lang="en-US" dirty="0">
                <a:highlight>
                  <a:srgbClr val="FFFF00"/>
                </a:highlight>
              </a:rPr>
              <a:t>This is the preferred method for tuning hyperparameters in scikit-learn</a:t>
            </a:r>
            <a:endParaRPr lang="lt-LT" dirty="0">
              <a:highlight>
                <a:srgbClr val="FFFF00"/>
              </a:highlight>
            </a:endParaRPr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3E404B14-246B-185A-AE5C-33AB8227C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7" y="2961254"/>
            <a:ext cx="11355385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1092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E8BB783-DB25-FE8F-E46A-A9A51B59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CROSS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D0AC9-F092-D0C7-7737-09AB95EA3EF2}"/>
              </a:ext>
            </a:extLst>
          </p:cNvPr>
          <p:cNvSpPr txBox="1"/>
          <p:nvPr/>
        </p:nvSpPr>
        <p:spPr>
          <a:xfrm>
            <a:off x="983225" y="1435960"/>
            <a:ext cx="9887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Cross validation tends to yield the best out of sample performance </a:t>
            </a:r>
          </a:p>
          <a:p>
            <a:r>
              <a:rPr lang="en-US" dirty="0"/>
              <a:t>• </a:t>
            </a:r>
            <a:r>
              <a:rPr lang="en-US" dirty="0" err="1"/>
              <a:t>GridSearchCV</a:t>
            </a:r>
            <a:r>
              <a:rPr lang="en-US" dirty="0"/>
              <a:t>(model, parameters) can be used for tuning model hyperparameters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D024DA5D-B408-E561-F5D0-1E364AB70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30" y="2389548"/>
            <a:ext cx="10221461" cy="410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12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BA01FD5E-0E19-2CAC-E065-600CBF838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34" y="418680"/>
            <a:ext cx="6820852" cy="60206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883AB1-5A96-27BA-14CA-667289A95D6D}"/>
              </a:ext>
            </a:extLst>
          </p:cNvPr>
          <p:cNvSpPr txBox="1"/>
          <p:nvPr/>
        </p:nvSpPr>
        <p:spPr>
          <a:xfrm>
            <a:off x="7933427" y="608461"/>
            <a:ext cx="3746739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1000" b="1" dirty="0" err="1"/>
              <a:t>metric</a:t>
            </a:r>
            <a:r>
              <a:rPr lang="lt-LT" sz="1000" dirty="0"/>
              <a:t> nurodo, </a:t>
            </a:r>
            <a:r>
              <a:rPr lang="lt-LT" sz="1000" b="1" dirty="0"/>
              <a:t>kaip skaičiuojamas atstumas</a:t>
            </a:r>
            <a:r>
              <a:rPr lang="lt-LT" sz="1000" dirty="0"/>
              <a:t> tarp objektų, o tai tiesiogiai lemia, </a:t>
            </a:r>
            <a:r>
              <a:rPr lang="lt-LT" sz="1000" b="1" dirty="0"/>
              <a:t>kurie kaimynai laikomi „artimiausiais“</a:t>
            </a:r>
            <a:r>
              <a:rPr lang="lt-LT" sz="1000" dirty="0"/>
              <a:t>.</a:t>
            </a:r>
          </a:p>
          <a:p>
            <a:br>
              <a:rPr lang="lt-LT" sz="1000" dirty="0"/>
            </a:br>
            <a:endParaRPr lang="lt-LT" sz="1000" dirty="0"/>
          </a:p>
          <a:p>
            <a:r>
              <a:rPr lang="lt-LT" sz="1000" b="1" dirty="0" err="1"/>
              <a:t>Minkowski</a:t>
            </a:r>
            <a:br>
              <a:rPr lang="lt-LT" sz="1000" dirty="0"/>
            </a:br>
            <a:r>
              <a:rPr lang="lt-LT" sz="1000" dirty="0"/>
              <a:t>Bendra atstumo formulė, kuri apjungia kelias metrikas.</a:t>
            </a:r>
            <a:br>
              <a:rPr lang="lt-LT" sz="1000" dirty="0"/>
            </a:br>
            <a:r>
              <a:rPr lang="lt-LT" sz="1000" dirty="0"/>
              <a:t>Priklausomai nuo parametro </a:t>
            </a:r>
            <a:r>
              <a:rPr lang="lt-LT" sz="1000" i="1" dirty="0"/>
              <a:t>p</a:t>
            </a:r>
            <a:r>
              <a:rPr lang="lt-LT" sz="1000" dirty="0"/>
              <a:t>, ji tampa:</a:t>
            </a:r>
          </a:p>
          <a:p>
            <a:r>
              <a:rPr lang="lt-LT" sz="1000" dirty="0"/>
              <a:t>p = 2 → </a:t>
            </a:r>
            <a:r>
              <a:rPr lang="lt-LT" sz="1000" dirty="0" err="1"/>
              <a:t>Euklido</a:t>
            </a:r>
            <a:r>
              <a:rPr lang="lt-LT" sz="1000" dirty="0"/>
              <a:t> atstumas</a:t>
            </a:r>
          </a:p>
          <a:p>
            <a:r>
              <a:rPr lang="lt-LT" sz="1000" dirty="0"/>
              <a:t>p = 1 → </a:t>
            </a:r>
            <a:r>
              <a:rPr lang="lt-LT" sz="1000" dirty="0" err="1"/>
              <a:t>Manhattan</a:t>
            </a:r>
            <a:r>
              <a:rPr lang="lt-LT" sz="1000" dirty="0"/>
              <a:t> atstumas</a:t>
            </a:r>
          </a:p>
          <a:p>
            <a:r>
              <a:rPr lang="lt-LT" sz="1000" dirty="0"/>
              <a:t>Verslo prasmė:</a:t>
            </a:r>
            <a:br>
              <a:rPr lang="lt-LT" sz="1000" dirty="0"/>
            </a:br>
            <a:r>
              <a:rPr lang="lt-LT" sz="1000" dirty="0"/>
              <a:t>Tai </a:t>
            </a:r>
            <a:r>
              <a:rPr lang="lt-LT" sz="1000" b="1" dirty="0"/>
              <a:t>lanksti, universali metrika</a:t>
            </a:r>
            <a:r>
              <a:rPr lang="lt-LT" sz="1000" dirty="0"/>
              <a:t>, tinkanti daugeliui situacijų, kai požymiai yra tolygūs ir gerai </a:t>
            </a:r>
            <a:r>
              <a:rPr lang="lt-LT" sz="1000" dirty="0" err="1"/>
              <a:t>išskalinti</a:t>
            </a:r>
            <a:r>
              <a:rPr lang="lt-LT" sz="1000" dirty="0"/>
              <a:t>.</a:t>
            </a:r>
          </a:p>
          <a:p>
            <a:br>
              <a:rPr lang="lt-LT" sz="1000" dirty="0"/>
            </a:br>
            <a:endParaRPr lang="lt-LT" sz="1000" dirty="0"/>
          </a:p>
          <a:p>
            <a:r>
              <a:rPr lang="lt-LT" sz="1000" b="1" dirty="0" err="1"/>
              <a:t>Manhattan</a:t>
            </a:r>
            <a:br>
              <a:rPr lang="lt-LT" sz="1000" dirty="0"/>
            </a:br>
            <a:r>
              <a:rPr lang="lt-LT" sz="1000" dirty="0"/>
              <a:t>Atstumas skaičiuojamas kaip </a:t>
            </a:r>
            <a:r>
              <a:rPr lang="lt-LT" sz="1000" b="1" dirty="0"/>
              <a:t>absoliučių skirtumų suma</a:t>
            </a:r>
            <a:r>
              <a:rPr lang="lt-LT" sz="1000" dirty="0"/>
              <a:t> kiekviename požymyje.</a:t>
            </a:r>
          </a:p>
          <a:p>
            <a:r>
              <a:rPr lang="lt-LT" sz="1000" dirty="0"/>
              <a:t>Intuicija:</a:t>
            </a:r>
            <a:br>
              <a:rPr lang="lt-LT" sz="1000" dirty="0"/>
            </a:br>
            <a:r>
              <a:rPr lang="lt-LT" sz="1000" dirty="0"/>
              <a:t>Judama „žingsniais per ašis“, o ne tiesiai.</a:t>
            </a:r>
          </a:p>
          <a:p>
            <a:r>
              <a:rPr lang="lt-LT" sz="1000" dirty="0"/>
              <a:t>Verslo pavyzdys:</a:t>
            </a:r>
            <a:br>
              <a:rPr lang="lt-LT" sz="1000" dirty="0"/>
            </a:br>
            <a:r>
              <a:rPr lang="lt-LT" sz="1000" dirty="0"/>
              <a:t>Klientų palyginimas pagal amžiaus, pajamų ir aktyvumo </a:t>
            </a:r>
            <a:r>
              <a:rPr lang="lt-LT" sz="1000" b="1" dirty="0"/>
              <a:t>bendrą skirtumą</a:t>
            </a:r>
            <a:r>
              <a:rPr lang="lt-LT" sz="1000" dirty="0"/>
              <a:t>, o ne „tiesią liniją“.</a:t>
            </a:r>
          </a:p>
          <a:p>
            <a:br>
              <a:rPr lang="lt-LT" sz="1000" dirty="0"/>
            </a:br>
            <a:endParaRPr lang="lt-LT" sz="1000" dirty="0"/>
          </a:p>
          <a:p>
            <a:r>
              <a:rPr lang="lt-LT" sz="1000" b="1" dirty="0"/>
              <a:t>Kodėl verta testuoti abi</a:t>
            </a:r>
            <a:br>
              <a:rPr lang="lt-LT" sz="1000" dirty="0"/>
            </a:br>
            <a:r>
              <a:rPr lang="lt-LT" sz="1000" dirty="0"/>
              <a:t>Skirtingos metrikos gali duoti </a:t>
            </a:r>
            <a:r>
              <a:rPr lang="lt-LT" sz="1000" b="1" dirty="0"/>
              <a:t>skirtingus kaimynus</a:t>
            </a:r>
            <a:r>
              <a:rPr lang="lt-LT" sz="1000" dirty="0"/>
              <a:t>, net su tais pačiais duomenimis.</a:t>
            </a:r>
          </a:p>
          <a:p>
            <a:r>
              <a:rPr lang="lt-LT" sz="1000" dirty="0"/>
              <a:t>Verslo prasmė:</a:t>
            </a:r>
            <a:br>
              <a:rPr lang="lt-LT" sz="1000" dirty="0"/>
            </a:br>
            <a:r>
              <a:rPr lang="lt-LT" sz="1000" dirty="0"/>
              <a:t>Pasirenkama ta atstumo logika, kuri </a:t>
            </a:r>
            <a:r>
              <a:rPr lang="lt-LT" sz="1000" b="1" dirty="0"/>
              <a:t>geriausiai atspindi realų panašumą</a:t>
            </a:r>
            <a:r>
              <a:rPr lang="lt-LT" sz="1000" dirty="0"/>
              <a:t> tarp klientų, o ne matematiškai „gražiausią“ variantą.</a:t>
            </a:r>
          </a:p>
          <a:p>
            <a:endParaRPr lang="lt-LT" sz="1000" dirty="0"/>
          </a:p>
        </p:txBody>
      </p:sp>
    </p:spTree>
    <p:extLst>
      <p:ext uri="{BB962C8B-B14F-4D97-AF65-F5344CB8AC3E}">
        <p14:creationId xmlns:p14="http://schemas.microsoft.com/office/powerpoint/2010/main" val="15468652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2C37872-96E2-233F-2966-D0BCB6E45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“HARD” VS. “SOFT” CLASSIFICATION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1F5856-A41C-5F74-549E-6E0B5315FC96}"/>
              </a:ext>
            </a:extLst>
          </p:cNvPr>
          <p:cNvSpPr txBox="1"/>
          <p:nvPr/>
        </p:nvSpPr>
        <p:spPr>
          <a:xfrm>
            <a:off x="1042219" y="1356455"/>
            <a:ext cx="89178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Classification models can produce both “hard” and “soft” classification scores </a:t>
            </a:r>
          </a:p>
          <a:p>
            <a:r>
              <a:rPr lang="en-US" dirty="0"/>
              <a:t>• “Hard” classification produces the predicted class (e.g. Class A or Class B) </a:t>
            </a:r>
          </a:p>
          <a:p>
            <a:r>
              <a:rPr lang="en-US" dirty="0"/>
              <a:t>• “Soft” classification produces probabilities of being a given class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6CDD8E45-65E0-15F1-5A98-DC1E5FEF5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39" y="2306186"/>
            <a:ext cx="11260121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738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0712B52-6626-78A1-E420-C6901DA07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“HARD” VS. “SOFT” CLASSIFICATION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1B08E-C102-C455-94D5-F8996BFAB874}"/>
              </a:ext>
            </a:extLst>
          </p:cNvPr>
          <p:cNvSpPr txBox="1"/>
          <p:nvPr/>
        </p:nvSpPr>
        <p:spPr>
          <a:xfrm>
            <a:off x="953729" y="1601413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Classification models can produce both “hard” and “soft” classification scores </a:t>
            </a:r>
          </a:p>
          <a:p>
            <a:r>
              <a:rPr lang="en-US" dirty="0"/>
              <a:t>	• </a:t>
            </a:r>
            <a:r>
              <a:rPr lang="en-US" dirty="0" err="1"/>
              <a:t>model.predict</a:t>
            </a:r>
            <a:r>
              <a:rPr lang="en-US" dirty="0"/>
              <a:t>(data) produces hard classifications for a feature dataset </a:t>
            </a:r>
          </a:p>
          <a:p>
            <a:r>
              <a:rPr lang="en-US" dirty="0"/>
              <a:t>	• </a:t>
            </a:r>
            <a:r>
              <a:rPr lang="en-US" dirty="0" err="1"/>
              <a:t>model.predict_proba</a:t>
            </a:r>
            <a:r>
              <a:rPr lang="en-US" dirty="0"/>
              <a:t>(data) produces soft classification scores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DDE0FCBF-92AE-C1DF-1C90-0D48D0DA2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22" y="2438571"/>
            <a:ext cx="10593278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6392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D50D528-2ECD-AC14-FF9F-A885F95DE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PROBABILITY VS. EVENT 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35066D-049C-A74D-DE4C-66FBDE05D476}"/>
              </a:ext>
            </a:extLst>
          </p:cNvPr>
          <p:cNvSpPr txBox="1"/>
          <p:nvPr/>
        </p:nvSpPr>
        <p:spPr>
          <a:xfrm>
            <a:off x="838200" y="1385104"/>
            <a:ext cx="103607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Plotting predicted probabilities vs. observed event rates give us a visual estimation of “soft” classification performance </a:t>
            </a:r>
          </a:p>
          <a:p>
            <a:r>
              <a:rPr lang="en-US" dirty="0"/>
              <a:t>• We plot the predicted probability vs. average the positive class occurs in each bin </a:t>
            </a:r>
          </a:p>
          <a:p>
            <a:r>
              <a:rPr lang="en-US" dirty="0"/>
              <a:t>• Ideally our predicted probabilities align closely with our event rate</a:t>
            </a:r>
            <a:endParaRPr lang="lt-LT" dirty="0"/>
          </a:p>
        </p:txBody>
      </p:sp>
      <p:pic>
        <p:nvPicPr>
          <p:cNvPr id="6" name="Paveikslėlis 5" descr="Paveikslėlis, kuriame yra tekstas, ekrano kopija, diagrama, linija&#10;&#10;Dirbtinio intelekto sugeneruotas turinys gali būti neteisingas.">
            <a:extLst>
              <a:ext uri="{FF2B5EF4-FFF2-40B4-BE49-F238E27FC236}">
                <a16:creationId xmlns:a16="http://schemas.microsoft.com/office/drawing/2014/main" id="{2773904E-CB10-DCB8-34C9-0F1718771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53" y="2485415"/>
            <a:ext cx="10726647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814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9E9A4EB-8356-36BC-0CFC-E646D5F45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PROS &amp; CONS OF KNN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3EDDC-DB31-39FF-7D34-F3E41C1F7BFC}"/>
              </a:ext>
            </a:extLst>
          </p:cNvPr>
          <p:cNvSpPr txBox="1"/>
          <p:nvPr/>
        </p:nvSpPr>
        <p:spPr>
          <a:xfrm>
            <a:off x="1042220" y="1296613"/>
            <a:ext cx="93308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KNN has some pros and cons that data scientists should be aware of when deciding whether it is the best model for the task at hand </a:t>
            </a:r>
          </a:p>
          <a:p>
            <a:r>
              <a:rPr lang="en-US" dirty="0"/>
              <a:t>	• In general, KNN is a great choice for smaller datasets, but faces severe performance drawbacks when working with larger, more complex data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28C06C22-9F2D-1258-D9A2-8D910F566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2496942"/>
            <a:ext cx="10698068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963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62242CC-3317-3EB3-0647-A37097128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KEY TAKEAWAYS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148AF7-A535-54C0-E3D5-71418A61D37E}"/>
              </a:ext>
            </a:extLst>
          </p:cNvPr>
          <p:cNvSpPr txBox="1"/>
          <p:nvPr/>
        </p:nvSpPr>
        <p:spPr>
          <a:xfrm>
            <a:off x="560439" y="1665153"/>
            <a:ext cx="85835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 KNN is a distance-based algorithm that classifies points based on the classes of nearby data points</a:t>
            </a:r>
          </a:p>
          <a:p>
            <a:r>
              <a:rPr lang="en-US" dirty="0"/>
              <a:t>	 • Euclidean distance is used to calculate the distance between points </a:t>
            </a:r>
          </a:p>
          <a:p>
            <a:r>
              <a:rPr lang="en-US" dirty="0"/>
              <a:t>* The hyperparameter “k” specifies how many neighbors get a vote </a:t>
            </a:r>
          </a:p>
          <a:p>
            <a:r>
              <a:rPr lang="en-US" dirty="0"/>
              <a:t>	• The value of k can be tuned via cross-validation techniques </a:t>
            </a:r>
          </a:p>
          <a:p>
            <a:r>
              <a:rPr lang="en-US" dirty="0"/>
              <a:t>* Accuracy measures how many points were classified correctly </a:t>
            </a:r>
          </a:p>
          <a:p>
            <a:r>
              <a:rPr lang="en-US" dirty="0"/>
              <a:t>	• The confusion matrix gives us more detail about what our model got right, and where it misclassified data</a:t>
            </a:r>
          </a:p>
          <a:p>
            <a:endParaRPr lang="en-US" dirty="0"/>
          </a:p>
          <a:p>
            <a:r>
              <a:rPr lang="en-US" dirty="0"/>
              <a:t>* KNN (like all models) has pros and cons that should be considered </a:t>
            </a:r>
          </a:p>
          <a:p>
            <a:r>
              <a:rPr lang="en-US" dirty="0"/>
              <a:t>	• KNN is great for prototypes and small datasets, but struggles with larger, more complex data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901616297"/>
      </p:ext>
    </p:extLst>
  </p:cSld>
  <p:clrMapOvr>
    <a:masterClrMapping/>
  </p:clrMapOvr>
</p:sld>
</file>

<file path=ppt/theme/theme1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TaxCatchAll xmlns="eb74e56a-683e-4ac4-9917-2810b22b5cab" xsi:nil="true"/>
    <AppVersion xmlns="662e3587-765d-4918-9d92-5b93275042d2" xsi:nil="true"/>
    <Self_Registration_Enabled xmlns="662e3587-765d-4918-9d92-5b93275042d2" xsi:nil="true"/>
    <Has_Teacher_Only_SectionGroup xmlns="662e3587-765d-4918-9d92-5b93275042d2" xsi:nil="true"/>
    <lcf76f155ced4ddcb4097134ff3c332f xmlns="662e3587-765d-4918-9d92-5b93275042d2">
      <Terms xmlns="http://schemas.microsoft.com/office/infopath/2007/PartnerControls"/>
    </lcf76f155ced4ddcb4097134ff3c332f>
    <Students xmlns="662e3587-765d-4918-9d92-5b93275042d2">
      <UserInfo>
        <DisplayName/>
        <AccountId xsi:nil="true"/>
        <AccountType/>
      </UserInfo>
    </Students>
  </documentManagement>
</p:properties>
</file>

<file path=customXml/itemProps1.xml><?xml version="1.0" encoding="utf-8"?>
<ds:datastoreItem xmlns:ds="http://schemas.openxmlformats.org/officeDocument/2006/customXml" ds:itemID="{F0F7F8A6-62F4-4F48-95BD-70EE02AE9627}"/>
</file>

<file path=customXml/itemProps2.xml><?xml version="1.0" encoding="utf-8"?>
<ds:datastoreItem xmlns:ds="http://schemas.openxmlformats.org/officeDocument/2006/customXml" ds:itemID="{9F3B7C9C-AA50-410F-92C8-7A2B63252CB9}"/>
</file>

<file path=customXml/itemProps3.xml><?xml version="1.0" encoding="utf-8"?>
<ds:datastoreItem xmlns:ds="http://schemas.openxmlformats.org/officeDocument/2006/customXml" ds:itemID="{1831CD2D-955E-4903-AE46-2711C15F2DFD}"/>
</file>

<file path=docProps/app.xml><?xml version="1.0" encoding="utf-8"?>
<Properties xmlns="http://schemas.openxmlformats.org/officeDocument/2006/extended-properties" xmlns:vt="http://schemas.openxmlformats.org/officeDocument/2006/docPropsVTypes">
  <TotalTime>960</TotalTime>
  <Words>1818</Words>
  <Application>Microsoft Office PowerPoint</Application>
  <PresentationFormat>Plačiaekranė</PresentationFormat>
  <Paragraphs>157</Paragraphs>
  <Slides>40</Slides>
  <Notes>2</Notes>
  <HiddenSlides>0</HiddenSlides>
  <MMClips>0</MMClips>
  <ScaleCrop>false</ScaleCrop>
  <HeadingPairs>
    <vt:vector size="6" baseType="variant">
      <vt:variant>
        <vt:lpstr>Naudojami šriftai</vt:lpstr>
      </vt:variant>
      <vt:variant>
        <vt:i4>3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40</vt:i4>
      </vt:variant>
    </vt:vector>
  </HeadingPairs>
  <TitlesOfParts>
    <vt:vector size="44" baseType="lpstr">
      <vt:lpstr>Aptos</vt:lpstr>
      <vt:lpstr>Aptos Display</vt:lpstr>
      <vt:lpstr>Arial</vt:lpstr>
      <vt:lpstr>„Office“ tema</vt:lpstr>
      <vt:lpstr>Python Machine Learning: KNN</vt:lpstr>
      <vt:lpstr>WHAT IS DATA SCIENCE?</vt:lpstr>
      <vt:lpstr>Common machine learning algorithms</vt:lpstr>
      <vt:lpstr>CLASSIFICATION 101</vt:lpstr>
      <vt:lpstr>GOALS OF CLASSIFICATION</vt:lpstr>
      <vt:lpstr>TYPES OF CLASSIFICATION</vt:lpstr>
      <vt:lpstr>KEY TAKEAWAYS</vt:lpstr>
      <vt:lpstr>CLASSIFICATION MODELING WORKFLOW</vt:lpstr>
      <vt:lpstr>K-NEAREST NEIGHBORS</vt:lpstr>
      <vt:lpstr>K-NEAREST NEIGHBORS (KNN)</vt:lpstr>
      <vt:lpstr>K-NEAREST NEIGHBORS (KNN)</vt:lpstr>
      <vt:lpstr>K-NEAREST NEIGHBORS (KNN)</vt:lpstr>
      <vt:lpstr>K-NEAREST NEIGHBORS (KNN)</vt:lpstr>
      <vt:lpstr>K-NEAREST NEIGHBORS (KNN)</vt:lpstr>
      <vt:lpstr>K-NEAREST NEIGHBORS (KNN)</vt:lpstr>
      <vt:lpstr>K-NEAREST NEIGHBORS (KNN)</vt:lpstr>
      <vt:lpstr>K-NEAREST NEIGHBORS (KNN)</vt:lpstr>
      <vt:lpstr>K-NEAREST NEIGHBORS (KNN)</vt:lpstr>
      <vt:lpstr>K-NEAREST NEIGHBORS (KNN)</vt:lpstr>
      <vt:lpstr>KNN WORKFLOW</vt:lpstr>
      <vt:lpstr>DATA SPLITTING</vt:lpstr>
      <vt:lpstr>DATA SCALING</vt:lpstr>
      <vt:lpstr>FITTING A KNN MODEL</vt:lpstr>
      <vt:lpstr>MODEL ACCURACY</vt:lpstr>
      <vt:lpstr>THE CONFUSION MATRIX</vt:lpstr>
      <vt:lpstr>THE CONFUSION MATRIX</vt:lpstr>
      <vt:lpstr>PRO TIP: CONFUSION MATRIX HEATMAP</vt:lpstr>
      <vt:lpstr>HYPERPARAMETER TUNING</vt:lpstr>
      <vt:lpstr>OPTIMIZING K</vt:lpstr>
      <vt:lpstr>OVERFITTING &amp; UNDERFITTING</vt:lpstr>
      <vt:lpstr>OVERFITTING &amp; UNDERFITTING</vt:lpstr>
      <vt:lpstr>VALIDATION DATA</vt:lpstr>
      <vt:lpstr>CROSS VALIDATION</vt:lpstr>
      <vt:lpstr>CROSS VALIDATION</vt:lpstr>
      <vt:lpstr>„PowerPoint“ pateiktis</vt:lpstr>
      <vt:lpstr>“HARD” VS. “SOFT” CLASSIFICATION</vt:lpstr>
      <vt:lpstr>“HARD” VS. “SOFT” CLASSIFICATION</vt:lpstr>
      <vt:lpstr>PROBABILITY VS. EVENT RATE</vt:lpstr>
      <vt:lpstr>PROS &amp; CONS OF KNN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Žydrūnė Kelpšaitė</dc:creator>
  <cp:lastModifiedBy>Žydrūnė Kelpšaitė</cp:lastModifiedBy>
  <cp:revision>2</cp:revision>
  <dcterms:created xsi:type="dcterms:W3CDTF">2026-01-30T17:15:02Z</dcterms:created>
  <dcterms:modified xsi:type="dcterms:W3CDTF">2026-03-04T12:49:36Z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0x010100753C69E30CD2E346B0231A1827D4E953</vt:lpwstr>
  </property>
</Properties>
</file>