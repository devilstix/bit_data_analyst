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62" r:id="rId5"/>
    <p:sldId id="265" r:id="rId6"/>
    <p:sldId id="266" r:id="rId7"/>
    <p:sldId id="267" r:id="rId8"/>
    <p:sldId id="268" r:id="rId9"/>
    <p:sldId id="294" r:id="rId10"/>
    <p:sldId id="329" r:id="rId11"/>
    <p:sldId id="408" r:id="rId12"/>
    <p:sldId id="363" r:id="rId13"/>
    <p:sldId id="431" r:id="rId14"/>
    <p:sldId id="433" r:id="rId15"/>
    <p:sldId id="432" r:id="rId16"/>
    <p:sldId id="434" r:id="rId17"/>
    <p:sldId id="436" r:id="rId18"/>
    <p:sldId id="435" r:id="rId19"/>
    <p:sldId id="437" r:id="rId20"/>
    <p:sldId id="438" r:id="rId21"/>
    <p:sldId id="439" r:id="rId22"/>
    <p:sldId id="441" r:id="rId23"/>
    <p:sldId id="442" r:id="rId24"/>
    <p:sldId id="443" r:id="rId25"/>
    <p:sldId id="440" r:id="rId26"/>
    <p:sldId id="444" r:id="rId27"/>
    <p:sldId id="445" r:id="rId28"/>
    <p:sldId id="446" r:id="rId29"/>
    <p:sldId id="447" r:id="rId30"/>
    <p:sldId id="449" r:id="rId31"/>
    <p:sldId id="448" r:id="rId32"/>
    <p:sldId id="450" r:id="rId33"/>
    <p:sldId id="451" r:id="rId34"/>
    <p:sldId id="452" r:id="rId35"/>
    <p:sldId id="453" r:id="rId36"/>
    <p:sldId id="454" r:id="rId37"/>
    <p:sldId id="455" r:id="rId38"/>
    <p:sldId id="456" r:id="rId39"/>
    <p:sldId id="457" r:id="rId40"/>
    <p:sldId id="458" r:id="rId41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 autoAdjust="0"/>
    <p:restoredTop sz="94660"/>
  </p:normalViewPr>
  <p:slideViewPr>
    <p:cSldViewPr snapToGrid="0">
      <p:cViewPr varScale="1">
        <p:scale>
          <a:sx n="97" d="100"/>
          <a:sy n="97" d="100"/>
        </p:scale>
        <p:origin x="73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custSel addSld delSld modSld sldOrd">
      <pc:chgData name="Žydrūnė Kelpšaitė" userId="e943768126acec1d" providerId="LiveId" clId="{31712FD7-FA85-48BA-9D35-5382388CFC74}" dt="2026-03-10T12:59:47.769" v="57" actId="13926"/>
      <pc:docMkLst>
        <pc:docMk/>
      </pc:docMkLst>
      <pc:sldChg chg="addSp delSp modSp mod">
        <pc:chgData name="Žydrūnė Kelpšaitė" userId="e943768126acec1d" providerId="LiveId" clId="{31712FD7-FA85-48BA-9D35-5382388CFC74}" dt="2026-02-15T16:01:20.904" v="9"/>
        <pc:sldMkLst>
          <pc:docMk/>
          <pc:sldMk cId="4182519725" sldId="256"/>
        </pc:sldMkLst>
        <pc:spChg chg="mod">
          <ac:chgData name="Žydrūnė Kelpšaitė" userId="e943768126acec1d" providerId="LiveId" clId="{31712FD7-FA85-48BA-9D35-5382388CFC74}" dt="2026-02-15T16:01:20.904" v="9"/>
          <ac:spMkLst>
            <pc:docMk/>
            <pc:sldMk cId="4182519725" sldId="256"/>
            <ac:spMk id="2" creationId="{551DE627-F873-EE20-9A3B-D8D2E34FDCCE}"/>
          </ac:spMkLst>
        </pc:spChg>
        <pc:picChg chg="add mod">
          <ac:chgData name="Žydrūnė Kelpšaitė" userId="e943768126acec1d" providerId="LiveId" clId="{31712FD7-FA85-48BA-9D35-5382388CFC74}" dt="2026-02-15T16:01:05.774" v="8" actId="1076"/>
          <ac:picMkLst>
            <pc:docMk/>
            <pc:sldMk cId="4182519725" sldId="256"/>
            <ac:picMk id="6" creationId="{F961AEC2-639D-C9D7-F748-F31C4C289F1C}"/>
          </ac:picMkLst>
        </pc:picChg>
      </pc:sldChg>
      <pc:sldChg chg="modSp mod">
        <pc:chgData name="Žydrūnė Kelpšaitė" userId="e943768126acec1d" providerId="LiveId" clId="{31712FD7-FA85-48BA-9D35-5382388CFC74}" dt="2026-02-17T07:50:33.396" v="24" actId="13926"/>
        <pc:sldMkLst>
          <pc:docMk/>
          <pc:sldMk cId="3026772491" sldId="329"/>
        </pc:sldMkLst>
        <pc:spChg chg="mod">
          <ac:chgData name="Žydrūnė Kelpšaitė" userId="e943768126acec1d" providerId="LiveId" clId="{31712FD7-FA85-48BA-9D35-5382388CFC74}" dt="2026-02-17T07:50:33.396" v="24" actId="13926"/>
          <ac:spMkLst>
            <pc:docMk/>
            <pc:sldMk cId="3026772491" sldId="329"/>
            <ac:spMk id="4" creationId="{FA23A86E-9B19-2EC3-3673-5E51E22DDB80}"/>
          </ac:spMkLst>
        </pc:spChg>
      </pc:sldChg>
      <pc:sldChg chg="ord">
        <pc:chgData name="Žydrūnė Kelpšaitė" userId="e943768126acec1d" providerId="LiveId" clId="{31712FD7-FA85-48BA-9D35-5382388CFC74}" dt="2026-02-17T06:42:31.977" v="20"/>
        <pc:sldMkLst>
          <pc:docMk/>
          <pc:sldMk cId="3367358231" sldId="363"/>
        </pc:sldMkLst>
      </pc:sldChg>
      <pc:sldChg chg="add">
        <pc:chgData name="Žydrūnė Kelpšaitė" userId="e943768126acec1d" providerId="LiveId" clId="{31712FD7-FA85-48BA-9D35-5382388CFC74}" dt="2026-02-17T06:42:57.926" v="21"/>
        <pc:sldMkLst>
          <pc:docMk/>
          <pc:sldMk cId="3640119024" sldId="408"/>
        </pc:sldMkLst>
      </pc:sldChg>
      <pc:sldChg chg="add">
        <pc:chgData name="Žydrūnė Kelpšaitė" userId="e943768126acec1d" providerId="LiveId" clId="{31712FD7-FA85-48BA-9D35-5382388CFC74}" dt="2026-02-15T16:02:08.359" v="10"/>
        <pc:sldMkLst>
          <pc:docMk/>
          <pc:sldMk cId="1188026394" sldId="431"/>
        </pc:sldMkLst>
      </pc:sldChg>
      <pc:sldChg chg="modSp add mod">
        <pc:chgData name="Žydrūnė Kelpšaitė" userId="e943768126acec1d" providerId="LiveId" clId="{31712FD7-FA85-48BA-9D35-5382388CFC74}" dt="2026-02-17T07:59:34.810" v="26" actId="13926"/>
        <pc:sldMkLst>
          <pc:docMk/>
          <pc:sldMk cId="3105733681" sldId="432"/>
        </pc:sldMkLst>
        <pc:spChg chg="mod">
          <ac:chgData name="Žydrūnė Kelpšaitė" userId="e943768126acec1d" providerId="LiveId" clId="{31712FD7-FA85-48BA-9D35-5382388CFC74}" dt="2026-02-17T07:59:34.810" v="26" actId="13926"/>
          <ac:spMkLst>
            <pc:docMk/>
            <pc:sldMk cId="3105733681" sldId="432"/>
            <ac:spMk id="4" creationId="{79EE3C96-2736-ACDE-6C61-1ADBA21C204A}"/>
          </ac:spMkLst>
        </pc:spChg>
        <pc:spChg chg="mod">
          <ac:chgData name="Žydrūnė Kelpšaitė" userId="e943768126acec1d" providerId="LiveId" clId="{31712FD7-FA85-48BA-9D35-5382388CFC74}" dt="2026-02-17T06:49:31.628" v="23" actId="113"/>
          <ac:spMkLst>
            <pc:docMk/>
            <pc:sldMk cId="3105733681" sldId="432"/>
            <ac:spMk id="8" creationId="{E5DA090D-3F90-076B-C4CE-B3679B24400E}"/>
          </ac:spMkLst>
        </pc:spChg>
      </pc:sldChg>
      <pc:sldChg chg="modSp add mod">
        <pc:chgData name="Žydrūnė Kelpšaitė" userId="e943768126acec1d" providerId="LiveId" clId="{31712FD7-FA85-48BA-9D35-5382388CFC74}" dt="2026-02-17T07:55:24.510" v="25" actId="13926"/>
        <pc:sldMkLst>
          <pc:docMk/>
          <pc:sldMk cId="730969250" sldId="433"/>
        </pc:sldMkLst>
        <pc:spChg chg="mod">
          <ac:chgData name="Žydrūnė Kelpšaitė" userId="e943768126acec1d" providerId="LiveId" clId="{31712FD7-FA85-48BA-9D35-5382388CFC74}" dt="2026-02-17T07:55:24.510" v="25" actId="13926"/>
          <ac:spMkLst>
            <pc:docMk/>
            <pc:sldMk cId="730969250" sldId="433"/>
            <ac:spMk id="5" creationId="{468892CC-5296-7319-2961-26E17963B1EC}"/>
          </ac:spMkLst>
        </pc:spChg>
      </pc:sldChg>
      <pc:sldChg chg="modSp add mod">
        <pc:chgData name="Žydrūnė Kelpšaitė" userId="e943768126acec1d" providerId="LiveId" clId="{31712FD7-FA85-48BA-9D35-5382388CFC74}" dt="2026-03-10T11:31:36.574" v="50" actId="13926"/>
        <pc:sldMkLst>
          <pc:docMk/>
          <pc:sldMk cId="1991028854" sldId="434"/>
        </pc:sldMkLst>
        <pc:spChg chg="mod">
          <ac:chgData name="Žydrūnė Kelpšaitė" userId="e943768126acec1d" providerId="LiveId" clId="{31712FD7-FA85-48BA-9D35-5382388CFC74}" dt="2026-02-17T08:02:15.185" v="27" actId="113"/>
          <ac:spMkLst>
            <pc:docMk/>
            <pc:sldMk cId="1991028854" sldId="434"/>
            <ac:spMk id="4" creationId="{406FDD9D-AC8C-6B53-5664-EFDAF78A21DA}"/>
          </ac:spMkLst>
        </pc:spChg>
        <pc:spChg chg="mod">
          <ac:chgData name="Žydrūnė Kelpšaitė" userId="e943768126acec1d" providerId="LiveId" clId="{31712FD7-FA85-48BA-9D35-5382388CFC74}" dt="2026-03-10T11:31:36.574" v="50" actId="13926"/>
          <ac:spMkLst>
            <pc:docMk/>
            <pc:sldMk cId="1991028854" sldId="434"/>
            <ac:spMk id="10" creationId="{B85C4433-2F04-C4D4-EAB6-FA60475BDBEB}"/>
          </ac:spMkLst>
        </pc:spChg>
      </pc:sldChg>
      <pc:sldChg chg="modSp add mod">
        <pc:chgData name="Žydrūnė Kelpšaitė" userId="e943768126acec1d" providerId="LiveId" clId="{31712FD7-FA85-48BA-9D35-5382388CFC74}" dt="2026-02-17T08:17:56.358" v="32" actId="13926"/>
        <pc:sldMkLst>
          <pc:docMk/>
          <pc:sldMk cId="2495043182" sldId="435"/>
        </pc:sldMkLst>
        <pc:spChg chg="mod">
          <ac:chgData name="Žydrūnė Kelpšaitė" userId="e943768126acec1d" providerId="LiveId" clId="{31712FD7-FA85-48BA-9D35-5382388CFC74}" dt="2026-02-17T08:17:56.358" v="32" actId="13926"/>
          <ac:spMkLst>
            <pc:docMk/>
            <pc:sldMk cId="2495043182" sldId="435"/>
            <ac:spMk id="4" creationId="{349CC093-AF5B-E84C-DA10-C91ADB1FD13B}"/>
          </ac:spMkLst>
        </pc:spChg>
        <pc:picChg chg="mod">
          <ac:chgData name="Žydrūnė Kelpšaitė" userId="e943768126acec1d" providerId="LiveId" clId="{31712FD7-FA85-48BA-9D35-5382388CFC74}" dt="2026-02-15T17:19:13.692" v="18" actId="1076"/>
          <ac:picMkLst>
            <pc:docMk/>
            <pc:sldMk cId="2495043182" sldId="435"/>
            <ac:picMk id="6" creationId="{78975A3F-F71F-32AC-F7AE-6323A495033C}"/>
          </ac:picMkLst>
        </pc:picChg>
      </pc:sldChg>
      <pc:sldChg chg="modSp add mod">
        <pc:chgData name="Žydrūnė Kelpšaitė" userId="e943768126acec1d" providerId="LiveId" clId="{31712FD7-FA85-48BA-9D35-5382388CFC74}" dt="2026-02-17T08:06:50.967" v="30" actId="13926"/>
        <pc:sldMkLst>
          <pc:docMk/>
          <pc:sldMk cId="946846582" sldId="436"/>
        </pc:sldMkLst>
        <pc:spChg chg="mod">
          <ac:chgData name="Žydrūnė Kelpšaitė" userId="e943768126acec1d" providerId="LiveId" clId="{31712FD7-FA85-48BA-9D35-5382388CFC74}" dt="2026-02-17T08:06:43.062" v="29" actId="113"/>
          <ac:spMkLst>
            <pc:docMk/>
            <pc:sldMk cId="946846582" sldId="436"/>
            <ac:spMk id="4" creationId="{EC96B46E-DFD4-A715-F90F-85B6924C22F1}"/>
          </ac:spMkLst>
        </pc:spChg>
        <pc:spChg chg="mod">
          <ac:chgData name="Žydrūnė Kelpšaitė" userId="e943768126acec1d" providerId="LiveId" clId="{31712FD7-FA85-48BA-9D35-5382388CFC74}" dt="2026-02-17T08:06:50.967" v="30" actId="13926"/>
          <ac:spMkLst>
            <pc:docMk/>
            <pc:sldMk cId="946846582" sldId="436"/>
            <ac:spMk id="10" creationId="{4C3AD840-CA42-F8D9-E138-E856BECC155A}"/>
          </ac:spMkLst>
        </pc:spChg>
      </pc:sldChg>
      <pc:sldChg chg="modSp add mod">
        <pc:chgData name="Žydrūnė Kelpšaitė" userId="e943768126acec1d" providerId="LiveId" clId="{31712FD7-FA85-48BA-9D35-5382388CFC74}" dt="2026-02-17T08:18:02.433" v="33" actId="13926"/>
        <pc:sldMkLst>
          <pc:docMk/>
          <pc:sldMk cId="743504" sldId="437"/>
        </pc:sldMkLst>
        <pc:spChg chg="mod">
          <ac:chgData name="Žydrūnė Kelpšaitė" userId="e943768126acec1d" providerId="LiveId" clId="{31712FD7-FA85-48BA-9D35-5382388CFC74}" dt="2026-02-17T08:18:02.433" v="33" actId="13926"/>
          <ac:spMkLst>
            <pc:docMk/>
            <pc:sldMk cId="743504" sldId="437"/>
            <ac:spMk id="4" creationId="{1B3A8EC2-D1F6-02DF-67E3-087CB72F4B70}"/>
          </ac:spMkLst>
        </pc:spChg>
      </pc:sldChg>
      <pc:sldChg chg="add">
        <pc:chgData name="Žydrūnė Kelpšaitė" userId="e943768126acec1d" providerId="LiveId" clId="{31712FD7-FA85-48BA-9D35-5382388CFC74}" dt="2026-02-15T16:02:08.359" v="10"/>
        <pc:sldMkLst>
          <pc:docMk/>
          <pc:sldMk cId="678734432" sldId="438"/>
        </pc:sldMkLst>
      </pc:sldChg>
      <pc:sldChg chg="modSp add mod">
        <pc:chgData name="Žydrūnė Kelpšaitė" userId="e943768126acec1d" providerId="LiveId" clId="{31712FD7-FA85-48BA-9D35-5382388CFC74}" dt="2026-02-17T08:25:04.994" v="35" actId="13926"/>
        <pc:sldMkLst>
          <pc:docMk/>
          <pc:sldMk cId="2698898532" sldId="439"/>
        </pc:sldMkLst>
        <pc:spChg chg="mod">
          <ac:chgData name="Žydrūnė Kelpšaitė" userId="e943768126acec1d" providerId="LiveId" clId="{31712FD7-FA85-48BA-9D35-5382388CFC74}" dt="2026-02-17T08:25:04.994" v="35" actId="13926"/>
          <ac:spMkLst>
            <pc:docMk/>
            <pc:sldMk cId="2698898532" sldId="439"/>
            <ac:spMk id="4" creationId="{24B1C202-DFAD-E4AC-8AE2-E523E136A436}"/>
          </ac:spMkLst>
        </pc:spChg>
      </pc:sldChg>
      <pc:sldChg chg="modSp add mod">
        <pc:chgData name="Žydrūnė Kelpšaitė" userId="e943768126acec1d" providerId="LiveId" clId="{31712FD7-FA85-48BA-9D35-5382388CFC74}" dt="2026-02-17T08:56:23.747" v="38" actId="13926"/>
        <pc:sldMkLst>
          <pc:docMk/>
          <pc:sldMk cId="464349096" sldId="440"/>
        </pc:sldMkLst>
        <pc:spChg chg="mod">
          <ac:chgData name="Žydrūnė Kelpšaitė" userId="e943768126acec1d" providerId="LiveId" clId="{31712FD7-FA85-48BA-9D35-5382388CFC74}" dt="2026-02-17T08:56:23.747" v="38" actId="13926"/>
          <ac:spMkLst>
            <pc:docMk/>
            <pc:sldMk cId="464349096" sldId="440"/>
            <ac:spMk id="4" creationId="{757963F0-3BE8-FD46-F60D-FFB165988AE9}"/>
          </ac:spMkLst>
        </pc:spChg>
      </pc:sldChg>
      <pc:sldChg chg="modSp add mod">
        <pc:chgData name="Žydrūnė Kelpšaitė" userId="e943768126acec1d" providerId="LiveId" clId="{31712FD7-FA85-48BA-9D35-5382388CFC74}" dt="2026-03-10T11:40:59.236" v="51" actId="13926"/>
        <pc:sldMkLst>
          <pc:docMk/>
          <pc:sldMk cId="1105828841" sldId="441"/>
        </pc:sldMkLst>
        <pc:spChg chg="mod">
          <ac:chgData name="Žydrūnė Kelpšaitė" userId="e943768126acec1d" providerId="LiveId" clId="{31712FD7-FA85-48BA-9D35-5382388CFC74}" dt="2026-03-10T11:40:59.236" v="51" actId="13926"/>
          <ac:spMkLst>
            <pc:docMk/>
            <pc:sldMk cId="1105828841" sldId="441"/>
            <ac:spMk id="4" creationId="{DF998679-06C3-79BE-1AF5-E8AEE52897C3}"/>
          </ac:spMkLst>
        </pc:spChg>
      </pc:sldChg>
      <pc:sldChg chg="add">
        <pc:chgData name="Žydrūnė Kelpšaitė" userId="e943768126acec1d" providerId="LiveId" clId="{31712FD7-FA85-48BA-9D35-5382388CFC74}" dt="2026-02-15T16:02:08.359" v="10"/>
        <pc:sldMkLst>
          <pc:docMk/>
          <pc:sldMk cId="3583331530" sldId="442"/>
        </pc:sldMkLst>
      </pc:sldChg>
      <pc:sldChg chg="add">
        <pc:chgData name="Žydrūnė Kelpšaitė" userId="e943768126acec1d" providerId="LiveId" clId="{31712FD7-FA85-48BA-9D35-5382388CFC74}" dt="2026-02-15T16:02:08.359" v="10"/>
        <pc:sldMkLst>
          <pc:docMk/>
          <pc:sldMk cId="3043968677" sldId="443"/>
        </pc:sldMkLst>
      </pc:sldChg>
      <pc:sldChg chg="add">
        <pc:chgData name="Žydrūnė Kelpšaitė" userId="e943768126acec1d" providerId="LiveId" clId="{31712FD7-FA85-48BA-9D35-5382388CFC74}" dt="2026-02-15T16:02:08.359" v="10"/>
        <pc:sldMkLst>
          <pc:docMk/>
          <pc:sldMk cId="2660478725" sldId="444"/>
        </pc:sldMkLst>
      </pc:sldChg>
      <pc:sldChg chg="modSp add mod">
        <pc:chgData name="Žydrūnė Kelpšaitė" userId="e943768126acec1d" providerId="LiveId" clId="{31712FD7-FA85-48BA-9D35-5382388CFC74}" dt="2026-02-17T09:03:12.520" v="40" actId="13926"/>
        <pc:sldMkLst>
          <pc:docMk/>
          <pc:sldMk cId="70126722" sldId="445"/>
        </pc:sldMkLst>
        <pc:spChg chg="mod">
          <ac:chgData name="Žydrūnė Kelpšaitė" userId="e943768126acec1d" providerId="LiveId" clId="{31712FD7-FA85-48BA-9D35-5382388CFC74}" dt="2026-02-17T09:03:12.520" v="40" actId="13926"/>
          <ac:spMkLst>
            <pc:docMk/>
            <pc:sldMk cId="70126722" sldId="445"/>
            <ac:spMk id="4" creationId="{D095E258-00DD-1089-229E-52044C8F9DAE}"/>
          </ac:spMkLst>
        </pc:spChg>
      </pc:sldChg>
      <pc:sldChg chg="modSp add mod">
        <pc:chgData name="Žydrūnė Kelpšaitė" userId="e943768126acec1d" providerId="LiveId" clId="{31712FD7-FA85-48BA-9D35-5382388CFC74}" dt="2026-03-10T11:55:22.989" v="52" actId="113"/>
        <pc:sldMkLst>
          <pc:docMk/>
          <pc:sldMk cId="1816212724" sldId="446"/>
        </pc:sldMkLst>
        <pc:spChg chg="mod">
          <ac:chgData name="Žydrūnė Kelpšaitė" userId="e943768126acec1d" providerId="LiveId" clId="{31712FD7-FA85-48BA-9D35-5382388CFC74}" dt="2026-03-10T11:55:22.989" v="52" actId="113"/>
          <ac:spMkLst>
            <pc:docMk/>
            <pc:sldMk cId="1816212724" sldId="446"/>
            <ac:spMk id="4" creationId="{02461A77-41A6-E85C-9FC0-397C655926E9}"/>
          </ac:spMkLst>
        </pc:spChg>
      </pc:sldChg>
      <pc:sldChg chg="modSp add mod">
        <pc:chgData name="Žydrūnė Kelpšaitė" userId="e943768126acec1d" providerId="LiveId" clId="{31712FD7-FA85-48BA-9D35-5382388CFC74}" dt="2026-02-17T09:08:02.624" v="43" actId="13926"/>
        <pc:sldMkLst>
          <pc:docMk/>
          <pc:sldMk cId="2694901597" sldId="447"/>
        </pc:sldMkLst>
        <pc:spChg chg="mod">
          <ac:chgData name="Žydrūnė Kelpšaitė" userId="e943768126acec1d" providerId="LiveId" clId="{31712FD7-FA85-48BA-9D35-5382388CFC74}" dt="2026-02-17T09:08:02.624" v="43" actId="13926"/>
          <ac:spMkLst>
            <pc:docMk/>
            <pc:sldMk cId="2694901597" sldId="447"/>
            <ac:spMk id="4" creationId="{6A50F64C-FFD8-3067-7E2D-C7E6D6CB9343}"/>
          </ac:spMkLst>
        </pc:spChg>
      </pc:sldChg>
      <pc:sldChg chg="modSp add mod">
        <pc:chgData name="Žydrūnė Kelpšaitė" userId="e943768126acec1d" providerId="LiveId" clId="{31712FD7-FA85-48BA-9D35-5382388CFC74}" dt="2026-02-17T09:16:08.498" v="48" actId="113"/>
        <pc:sldMkLst>
          <pc:docMk/>
          <pc:sldMk cId="1214732609" sldId="448"/>
        </pc:sldMkLst>
        <pc:spChg chg="mod">
          <ac:chgData name="Žydrūnė Kelpšaitė" userId="e943768126acec1d" providerId="LiveId" clId="{31712FD7-FA85-48BA-9D35-5382388CFC74}" dt="2026-02-17T09:16:08.498" v="48" actId="113"/>
          <ac:spMkLst>
            <pc:docMk/>
            <pc:sldMk cId="1214732609" sldId="448"/>
            <ac:spMk id="4" creationId="{85A6CC10-3DC2-F593-3F80-37749795F654}"/>
          </ac:spMkLst>
        </pc:spChg>
      </pc:sldChg>
      <pc:sldChg chg="modSp add mod">
        <pc:chgData name="Žydrūnė Kelpšaitė" userId="e943768126acec1d" providerId="LiveId" clId="{31712FD7-FA85-48BA-9D35-5382388CFC74}" dt="2026-03-10T12:35:52.008" v="53" actId="13926"/>
        <pc:sldMkLst>
          <pc:docMk/>
          <pc:sldMk cId="1255851159" sldId="449"/>
        </pc:sldMkLst>
        <pc:spChg chg="mod">
          <ac:chgData name="Žydrūnė Kelpšaitė" userId="e943768126acec1d" providerId="LiveId" clId="{31712FD7-FA85-48BA-9D35-5382388CFC74}" dt="2026-03-10T12:35:52.008" v="53" actId="13926"/>
          <ac:spMkLst>
            <pc:docMk/>
            <pc:sldMk cId="1255851159" sldId="449"/>
            <ac:spMk id="4" creationId="{3B82006B-F455-8306-A1D5-19E02955983E}"/>
          </ac:spMkLst>
        </pc:spChg>
        <pc:spChg chg="mod">
          <ac:chgData name="Žydrūnė Kelpšaitė" userId="e943768126acec1d" providerId="LiveId" clId="{31712FD7-FA85-48BA-9D35-5382388CFC74}" dt="2026-02-17T09:14:06.158" v="47" actId="113"/>
          <ac:spMkLst>
            <pc:docMk/>
            <pc:sldMk cId="1255851159" sldId="449"/>
            <ac:spMk id="5" creationId="{CAF7F9CB-C722-7E99-E609-F3262B75B192}"/>
          </ac:spMkLst>
        </pc:spChg>
      </pc:sldChg>
      <pc:sldChg chg="add">
        <pc:chgData name="Žydrūnė Kelpšaitė" userId="e943768126acec1d" providerId="LiveId" clId="{31712FD7-FA85-48BA-9D35-5382388CFC74}" dt="2026-02-15T16:02:08.359" v="10"/>
        <pc:sldMkLst>
          <pc:docMk/>
          <pc:sldMk cId="2404212240" sldId="450"/>
        </pc:sldMkLst>
      </pc:sldChg>
      <pc:sldChg chg="add">
        <pc:chgData name="Žydrūnė Kelpšaitė" userId="e943768126acec1d" providerId="LiveId" clId="{31712FD7-FA85-48BA-9D35-5382388CFC74}" dt="2026-02-15T16:02:08.359" v="10"/>
        <pc:sldMkLst>
          <pc:docMk/>
          <pc:sldMk cId="2851614765" sldId="451"/>
        </pc:sldMkLst>
      </pc:sldChg>
      <pc:sldChg chg="modSp add mod">
        <pc:chgData name="Žydrūnė Kelpšaitė" userId="e943768126acec1d" providerId="LiveId" clId="{31712FD7-FA85-48BA-9D35-5382388CFC74}" dt="2026-03-10T12:47:25.121" v="56" actId="207"/>
        <pc:sldMkLst>
          <pc:docMk/>
          <pc:sldMk cId="2774062903" sldId="452"/>
        </pc:sldMkLst>
        <pc:spChg chg="mod">
          <ac:chgData name="Žydrūnė Kelpšaitė" userId="e943768126acec1d" providerId="LiveId" clId="{31712FD7-FA85-48BA-9D35-5382388CFC74}" dt="2026-03-10T12:47:25.121" v="56" actId="207"/>
          <ac:spMkLst>
            <pc:docMk/>
            <pc:sldMk cId="2774062903" sldId="452"/>
            <ac:spMk id="4" creationId="{A90145B0-E743-B7C2-DBEB-883B3632CE53}"/>
          </ac:spMkLst>
        </pc:spChg>
      </pc:sldChg>
      <pc:sldChg chg="modSp add mod">
        <pc:chgData name="Žydrūnė Kelpšaitė" userId="e943768126acec1d" providerId="LiveId" clId="{31712FD7-FA85-48BA-9D35-5382388CFC74}" dt="2026-02-17T09:26:18.426" v="49" actId="207"/>
        <pc:sldMkLst>
          <pc:docMk/>
          <pc:sldMk cId="1920197357" sldId="453"/>
        </pc:sldMkLst>
        <pc:spChg chg="mod">
          <ac:chgData name="Žydrūnė Kelpšaitė" userId="e943768126acec1d" providerId="LiveId" clId="{31712FD7-FA85-48BA-9D35-5382388CFC74}" dt="2026-02-17T09:26:18.426" v="49" actId="207"/>
          <ac:spMkLst>
            <pc:docMk/>
            <pc:sldMk cId="1920197357" sldId="453"/>
            <ac:spMk id="4" creationId="{9413F4CE-976E-6D63-E939-AC2FAE00ACDA}"/>
          </ac:spMkLst>
        </pc:spChg>
      </pc:sldChg>
      <pc:sldChg chg="add">
        <pc:chgData name="Žydrūnė Kelpšaitė" userId="e943768126acec1d" providerId="LiveId" clId="{31712FD7-FA85-48BA-9D35-5382388CFC74}" dt="2026-02-15T16:02:08.359" v="10"/>
        <pc:sldMkLst>
          <pc:docMk/>
          <pc:sldMk cId="1033208135" sldId="454"/>
        </pc:sldMkLst>
      </pc:sldChg>
      <pc:sldChg chg="modSp add mod">
        <pc:chgData name="Žydrūnė Kelpšaitė" userId="e943768126acec1d" providerId="LiveId" clId="{31712FD7-FA85-48BA-9D35-5382388CFC74}" dt="2026-03-10T12:59:47.769" v="57" actId="13926"/>
        <pc:sldMkLst>
          <pc:docMk/>
          <pc:sldMk cId="1012529232" sldId="455"/>
        </pc:sldMkLst>
        <pc:spChg chg="mod">
          <ac:chgData name="Žydrūnė Kelpšaitė" userId="e943768126acec1d" providerId="LiveId" clId="{31712FD7-FA85-48BA-9D35-5382388CFC74}" dt="2026-03-10T12:59:47.769" v="57" actId="13926"/>
          <ac:spMkLst>
            <pc:docMk/>
            <pc:sldMk cId="1012529232" sldId="455"/>
            <ac:spMk id="8" creationId="{4996871A-13B5-C4EB-1F86-B4C70E90C6F3}"/>
          </ac:spMkLst>
        </pc:spChg>
      </pc:sldChg>
      <pc:sldChg chg="add">
        <pc:chgData name="Žydrūnė Kelpšaitė" userId="e943768126acec1d" providerId="LiveId" clId="{31712FD7-FA85-48BA-9D35-5382388CFC74}" dt="2026-02-15T16:02:08.359" v="10"/>
        <pc:sldMkLst>
          <pc:docMk/>
          <pc:sldMk cId="1478171388" sldId="456"/>
        </pc:sldMkLst>
      </pc:sldChg>
      <pc:sldChg chg="add">
        <pc:chgData name="Žydrūnė Kelpšaitė" userId="e943768126acec1d" providerId="LiveId" clId="{31712FD7-FA85-48BA-9D35-5382388CFC74}" dt="2026-02-15T16:02:08.359" v="10"/>
        <pc:sldMkLst>
          <pc:docMk/>
          <pc:sldMk cId="1443951413" sldId="457"/>
        </pc:sldMkLst>
      </pc:sldChg>
      <pc:sldChg chg="add">
        <pc:chgData name="Žydrūnė Kelpšaitė" userId="e943768126acec1d" providerId="LiveId" clId="{31712FD7-FA85-48BA-9D35-5382388CFC74}" dt="2026-02-15T16:02:08.359" v="10"/>
        <pc:sldMkLst>
          <pc:docMk/>
          <pc:sldMk cId="237345700" sldId="4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raštės vietos rezervavimo ženkla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os vietos rezervavimo ženkla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54E5B-9F97-465B-AFA0-0E9D3A125CD1}" type="datetimeFigureOut">
              <a:rPr lang="lt-LT" smtClean="0"/>
              <a:t>2026-03-10</a:t>
            </a:fld>
            <a:endParaRPr lang="lt-LT"/>
          </a:p>
        </p:txBody>
      </p:sp>
      <p:sp>
        <p:nvSpPr>
          <p:cNvPr id="4" name="Skaidrės vaizdo vietos rezervavimo ženkla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Pastabų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BA8F0-F64C-461A-9418-90CB1E15075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480909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6F965-D8D2-4E27-A7F0-028268DE49FF}" type="slidenum">
              <a:rPr lang="lt-LT" smtClean="0"/>
              <a:t>21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018429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82108-68FF-29ED-6380-B5741B417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>
            <a:extLst>
              <a:ext uri="{FF2B5EF4-FFF2-40B4-BE49-F238E27FC236}">
                <a16:creationId xmlns:a16="http://schemas.microsoft.com/office/drawing/2014/main" id="{47C6CE7A-8BFF-51AD-7A67-E5383F017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>
            <a:extLst>
              <a:ext uri="{FF2B5EF4-FFF2-40B4-BE49-F238E27FC236}">
                <a16:creationId xmlns:a16="http://schemas.microsoft.com/office/drawing/2014/main" id="{9D6036F9-3AA2-1A76-26EF-7B1C7D3B6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FFF1BBCD-E3D7-632F-16E3-070B47F44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6F965-D8D2-4E27-A7F0-028268DE49FF}" type="slidenum">
              <a:rPr lang="lt-LT" smtClean="0"/>
              <a:t>22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781404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D310-2068-8EC7-2E38-DAB7C4A50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>
            <a:extLst>
              <a:ext uri="{FF2B5EF4-FFF2-40B4-BE49-F238E27FC236}">
                <a16:creationId xmlns:a16="http://schemas.microsoft.com/office/drawing/2014/main" id="{D7602DEE-4BC9-6C08-6A9D-EE23481A3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>
            <a:extLst>
              <a:ext uri="{FF2B5EF4-FFF2-40B4-BE49-F238E27FC236}">
                <a16:creationId xmlns:a16="http://schemas.microsoft.com/office/drawing/2014/main" id="{49D939F5-CE99-FA13-869A-45A6F7D7A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FCCB3A23-76FC-A1C7-2712-3A42330C3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6F965-D8D2-4E27-A7F0-028268DE49FF}" type="slidenum">
              <a:rPr lang="lt-LT" smtClean="0"/>
              <a:t>23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17288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5583E-7FB9-355D-DD62-D01D3679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>
            <a:extLst>
              <a:ext uri="{FF2B5EF4-FFF2-40B4-BE49-F238E27FC236}">
                <a16:creationId xmlns:a16="http://schemas.microsoft.com/office/drawing/2014/main" id="{9CBD24FE-9DFF-9AF4-DED0-98BF93DEB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>
            <a:extLst>
              <a:ext uri="{FF2B5EF4-FFF2-40B4-BE49-F238E27FC236}">
                <a16:creationId xmlns:a16="http://schemas.microsoft.com/office/drawing/2014/main" id="{A97BB30A-A38F-4472-CE32-6D6980849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B182105C-6D4E-BA65-F882-666AE0499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6F965-D8D2-4E27-A7F0-028268DE49FF}" type="slidenum">
              <a:rPr lang="lt-LT" smtClean="0"/>
              <a:t>24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446230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FF23B2B-6DF0-175D-6F6E-CE8F2CE9D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C75A578B-F822-121B-70DE-26A285B38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9798A619-D9CD-8486-1DC0-79713FFE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2026-03-10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66049E90-79EE-7ACA-0605-40F877213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B4DF3385-9C80-DE8D-BE89-0A808117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140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00DA10F-7DE5-8E08-D2DF-569F9733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22ACF2B9-7FD9-3715-E634-C4247F953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8940070A-7201-ADA4-2E46-40D45C1E5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2026-03-10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61392D72-6405-3B12-7EE4-70A999A5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8818D59A-34AB-A34D-CD51-8FE8D8D2C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725789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050FADE-5EF0-36BC-C3EA-7F86A899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9F741CF4-BBD5-1985-15AD-2BAEC6B5C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C78235FD-80C3-ACCC-16CA-8E70FC8B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2026-03-10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BE900B73-AFB8-B971-5294-D1F2FD674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2189D49C-A340-BE8F-4EB5-B101EEB39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41304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0777C39-3AD9-649B-3BD3-F28FA01E1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1462FCAC-6E24-EC66-2CD0-773345DFC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10C02487-C43C-FC2A-F5A6-B65C88F9D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BF069540-A376-A842-1AD6-5167E658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2026-03-10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0B2B084F-5195-DD8D-BD70-C4EE3F598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F0DA0A15-7B7C-C71D-FF66-074AC361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3304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39C4366-1858-A9F4-A10A-D88481890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CA90D789-1FE7-D7A4-05B8-F056B4698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37F8B964-F0A8-9701-7719-DF154857F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Teksto vietos rezervavimo ženklas 4">
            <a:extLst>
              <a:ext uri="{FF2B5EF4-FFF2-40B4-BE49-F238E27FC236}">
                <a16:creationId xmlns:a16="http://schemas.microsoft.com/office/drawing/2014/main" id="{E5B193D5-9106-3337-97DF-F9D75052E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>
            <a:extLst>
              <a:ext uri="{FF2B5EF4-FFF2-40B4-BE49-F238E27FC236}">
                <a16:creationId xmlns:a16="http://schemas.microsoft.com/office/drawing/2014/main" id="{BCA516B4-5CFB-2F5A-CDA8-8842992A08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7" name="Datos vietos rezervavimo ženklas 6">
            <a:extLst>
              <a:ext uri="{FF2B5EF4-FFF2-40B4-BE49-F238E27FC236}">
                <a16:creationId xmlns:a16="http://schemas.microsoft.com/office/drawing/2014/main" id="{40DE2203-0ABA-7C0D-5290-65701035F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2026-03-10</a:t>
            </a:fld>
            <a:endParaRPr lang="lt-LT"/>
          </a:p>
        </p:txBody>
      </p:sp>
      <p:sp>
        <p:nvSpPr>
          <p:cNvPr id="8" name="Poraštės vietos rezervavimo ženklas 7">
            <a:extLst>
              <a:ext uri="{FF2B5EF4-FFF2-40B4-BE49-F238E27FC236}">
                <a16:creationId xmlns:a16="http://schemas.microsoft.com/office/drawing/2014/main" id="{F5E4E0A0-0F8B-D0E2-4A30-3CFDDAAC1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>
            <a:extLst>
              <a:ext uri="{FF2B5EF4-FFF2-40B4-BE49-F238E27FC236}">
                <a16:creationId xmlns:a16="http://schemas.microsoft.com/office/drawing/2014/main" id="{0BDA7F05-D49D-3718-F9C6-F6C71BBD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06195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B2AA7C0-5FC7-A453-FB73-56671A06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Datos vietos rezervavimo ženklas 2">
            <a:extLst>
              <a:ext uri="{FF2B5EF4-FFF2-40B4-BE49-F238E27FC236}">
                <a16:creationId xmlns:a16="http://schemas.microsoft.com/office/drawing/2014/main" id="{58A32CF7-85D3-D965-BCCF-67BA5BF9D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2026-03-10</a:t>
            </a:fld>
            <a:endParaRPr lang="lt-LT"/>
          </a:p>
        </p:txBody>
      </p:sp>
      <p:sp>
        <p:nvSpPr>
          <p:cNvPr id="4" name="Poraštės vietos rezervavimo ženklas 3">
            <a:extLst>
              <a:ext uri="{FF2B5EF4-FFF2-40B4-BE49-F238E27FC236}">
                <a16:creationId xmlns:a16="http://schemas.microsoft.com/office/drawing/2014/main" id="{CF2C3D1A-943A-E6D9-CD04-3A79B881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1F1F76B4-F2F3-D9C1-D8F9-3BBD6CD0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81175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>
            <a:extLst>
              <a:ext uri="{FF2B5EF4-FFF2-40B4-BE49-F238E27FC236}">
                <a16:creationId xmlns:a16="http://schemas.microsoft.com/office/drawing/2014/main" id="{D783999A-9246-2411-6587-EE4F6C90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2026-03-10</a:t>
            </a:fld>
            <a:endParaRPr lang="lt-LT"/>
          </a:p>
        </p:txBody>
      </p:sp>
      <p:sp>
        <p:nvSpPr>
          <p:cNvPr id="3" name="Poraštės vietos rezervavimo ženklas 2">
            <a:extLst>
              <a:ext uri="{FF2B5EF4-FFF2-40B4-BE49-F238E27FC236}">
                <a16:creationId xmlns:a16="http://schemas.microsoft.com/office/drawing/2014/main" id="{13EA9F26-13B4-BBC8-195E-4AB54EB04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45C5C349-5250-7091-A06F-4AEAC028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810039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CB23AA8-C804-B3C2-2490-A2D737B9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5AE34D72-2FF6-C20E-C3FC-3BBE7E9A6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DF5CA703-3860-0159-E180-30BE05C8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7EED5426-2ADD-4E29-C2C9-7EC436ED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2026-03-10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0E538187-9957-56D4-611D-4E09B993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BDB356E4-A00E-1D4C-BF2B-A7086646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87849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10F380E-1DB8-492B-C418-1D8FCCF0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Paveikslėlio vietos rezervavimo ženklas 2">
            <a:extLst>
              <a:ext uri="{FF2B5EF4-FFF2-40B4-BE49-F238E27FC236}">
                <a16:creationId xmlns:a16="http://schemas.microsoft.com/office/drawing/2014/main" id="{468F16F3-1DB1-C3E8-D41A-5C134F80E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F2D24081-1A7A-1755-AF94-AD1935E4A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4366CCFD-1C41-8B32-4E18-922AA0E3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2026-03-10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F8829BBD-7A0C-3A8A-6E73-87E9A5603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1452F694-ADC4-BD77-8C6C-0FDF3C69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63131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B7C4613-D8CE-D01C-CD29-79CF1DFF5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4B836B87-E486-833A-0C52-F7A4C9C1D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A102C01B-698D-E13F-4BAB-ADE838EB7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2026-03-10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CD3C4F44-20F5-426B-D2A1-80FC22A0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D6102B95-CB11-37E8-07B4-99932A9F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4188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>
            <a:extLst>
              <a:ext uri="{FF2B5EF4-FFF2-40B4-BE49-F238E27FC236}">
                <a16:creationId xmlns:a16="http://schemas.microsoft.com/office/drawing/2014/main" id="{9E5BF722-BC1F-DD1B-FA56-BD293B775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1BCA8742-C01C-6A2B-6A42-898E5FB00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5F5B6D0E-BF40-62B0-94D2-8DEC7D24E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CE24-FAE1-4818-8ED4-B2CFCD047904}" type="datetimeFigureOut">
              <a:rPr lang="lt-LT" smtClean="0"/>
              <a:t>2026-03-10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410BC458-E30B-A687-AE1E-4CBAEBA80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0D628726-4ECB-2BC4-1C4E-71D264BA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54937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>
            <a:extLst>
              <a:ext uri="{FF2B5EF4-FFF2-40B4-BE49-F238E27FC236}">
                <a16:creationId xmlns:a16="http://schemas.microsoft.com/office/drawing/2014/main" id="{D830CC69-8704-A741-0A56-13DE30CE2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BF147A68-0A73-8E5B-48C8-00CB25E62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6172387A-EF59-6D90-DE3B-A0D6815ED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02CE24-FAE1-4818-8ED4-B2CFCD047904}" type="datetimeFigureOut">
              <a:rPr lang="lt-LT" smtClean="0"/>
              <a:t>2026-03-10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C420A185-1A5A-B7DA-0F28-147161077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093544D2-EBF7-1807-A47D-2AB218DF4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FD129-C667-400B-87FB-8C7B423A0E4D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28615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51DE627-F873-EE20-9A3B-D8D2E34FD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Machine Learning</a:t>
            </a:r>
            <a:r>
              <a:rPr lang="lt-LT" dirty="0"/>
              <a:t>:</a:t>
            </a:r>
            <a:br>
              <a:rPr lang="lt-LT" dirty="0"/>
            </a:br>
            <a:r>
              <a:rPr lang="lt-LT" dirty="0"/>
              <a:t>ENSEMBLE MODELS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DF5DE917-4BE6-0DC6-27ED-48EBAD175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t-LT" dirty="0"/>
              <a:t>Žydrūnė Kelpšaitė</a:t>
            </a:r>
          </a:p>
          <a:p>
            <a:r>
              <a:rPr lang="lt-LT" dirty="0"/>
              <a:t>Data </a:t>
            </a:r>
            <a:r>
              <a:rPr lang="lt-LT" dirty="0" err="1"/>
              <a:t>Analyst</a:t>
            </a:r>
            <a:endParaRPr lang="lt-LT" dirty="0"/>
          </a:p>
        </p:txBody>
      </p:sp>
      <p:pic>
        <p:nvPicPr>
          <p:cNvPr id="6" name="Paveikslėlis 5" descr="Paveikslėlis, kuriame yra Šriftas, Grafika, ekrano kopija, tekstas&#10;&#10;Dirbtinio intelekto sugeneruotas turinys gali būti neteisingas.">
            <a:extLst>
              <a:ext uri="{FF2B5EF4-FFF2-40B4-BE49-F238E27FC236}">
                <a16:creationId xmlns:a16="http://schemas.microsoft.com/office/drawing/2014/main" id="{F961AEC2-639D-C9D7-F748-F31C4C289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57" y="281980"/>
            <a:ext cx="8135485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1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236BC7F-33D0-0B12-7202-12ECC509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WHAT IS DATA SCIENCE?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8392A17A-B0D7-1D08-E520-1955E4FEE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303" y="1547241"/>
            <a:ext cx="8886025" cy="487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6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DABA132-3969-2C1F-649A-A733DE7D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lt-LT" dirty="0" err="1"/>
              <a:t>ommon</a:t>
            </a:r>
            <a:r>
              <a:rPr lang="lt-LT" dirty="0"/>
              <a:t> </a:t>
            </a:r>
            <a:r>
              <a:rPr lang="lt-LT" dirty="0" err="1"/>
              <a:t>machine</a:t>
            </a:r>
            <a:r>
              <a:rPr lang="lt-LT" dirty="0"/>
              <a:t> </a:t>
            </a:r>
            <a:r>
              <a:rPr lang="lt-LT" dirty="0" err="1"/>
              <a:t>learning</a:t>
            </a:r>
            <a:r>
              <a:rPr lang="lt-LT" dirty="0"/>
              <a:t> </a:t>
            </a:r>
            <a:r>
              <a:rPr lang="lt-LT" dirty="0" err="1"/>
              <a:t>algorithms</a:t>
            </a:r>
            <a:endParaRPr lang="lt-LT" dirty="0"/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DD8A479-8FC6-C9BE-EF4C-F964D5FA4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087" y="1690688"/>
            <a:ext cx="7487695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6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1784170-4FC7-343C-B77B-8C7D88C3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CLASSIFICATION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40FBD-BC00-F59B-E673-AD47AF60ABC2}"/>
              </a:ext>
            </a:extLst>
          </p:cNvPr>
          <p:cNvSpPr txBox="1"/>
          <p:nvPr/>
        </p:nvSpPr>
        <p:spPr>
          <a:xfrm>
            <a:off x="983226" y="1406464"/>
            <a:ext cx="10370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Classification analysis is a supervised learning technique used to predict a categorical variable (target) by modeling its relationship with other variables (features)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806887F6-2856-EB0F-88AA-0A17D2E76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68" y="2238213"/>
            <a:ext cx="11574490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4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A909FBD-9E33-EC2F-F802-A6C3AC53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GOALS OF CLASSIFICATION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3E9AEB4A-3E45-29A2-C8FD-DBC9D8EBC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8" y="1445808"/>
            <a:ext cx="9314403" cy="3966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FD2334-7B13-5FD1-6F4D-ABAB381839ED}"/>
              </a:ext>
            </a:extLst>
          </p:cNvPr>
          <p:cNvSpPr txBox="1"/>
          <p:nvPr/>
        </p:nvSpPr>
        <p:spPr>
          <a:xfrm>
            <a:off x="1337187" y="5657997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often need to strike a balance between these goals – a model that is very inaccurate won’t be too trustworthy for inference, and understanding the impact that variables have on predictions can help make them more accurate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80017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62E8BD6-D48B-FB80-1352-DCAB90D8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2CE08-343A-5F68-0102-81761BC7500B}"/>
              </a:ext>
            </a:extLst>
          </p:cNvPr>
          <p:cNvSpPr txBox="1"/>
          <p:nvPr/>
        </p:nvSpPr>
        <p:spPr>
          <a:xfrm>
            <a:off x="838199" y="1367522"/>
            <a:ext cx="8954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some of the most common types of classification modeling techniques:</a:t>
            </a:r>
            <a:endParaRPr lang="lt-LT" dirty="0"/>
          </a:p>
        </p:txBody>
      </p:sp>
      <p:pic>
        <p:nvPicPr>
          <p:cNvPr id="6" name="Paveikslėlis 5" descr="Paveikslėlis, kuriame yra tekstas, ekrano kopija, diagram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C47C26F0-5627-0974-6193-CA5381BE4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49" y="2108774"/>
            <a:ext cx="11469701" cy="35056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AE1349-787D-BF0E-21E5-D5EC4FD987A2}"/>
              </a:ext>
            </a:extLst>
          </p:cNvPr>
          <p:cNvSpPr txBox="1"/>
          <p:nvPr/>
        </p:nvSpPr>
        <p:spPr>
          <a:xfrm>
            <a:off x="3047999" y="58478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All models are wrong, but some are useful</a:t>
            </a:r>
          </a:p>
          <a:p>
            <a:r>
              <a:rPr lang="lt-LT" dirty="0"/>
              <a:t>George </a:t>
            </a:r>
            <a:r>
              <a:rPr lang="lt-LT" dirty="0" err="1"/>
              <a:t>Box</a:t>
            </a:r>
            <a:endParaRPr lang="lt-LT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62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845D11B-20C4-BB10-70C7-079C8110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CLASSIFICATION MODELING WORKFLOW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2E1401B-9B90-F8A8-41C6-13480464D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348" y="1561169"/>
            <a:ext cx="9048801" cy="493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19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2DA4BA8-721E-4448-2176-B30FA853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KEY TAKEAWAYS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F818AFA9-5DCE-6270-1284-5496D83B7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128" y="1690688"/>
            <a:ext cx="9942478" cy="449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74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A36C90B-8A89-A90D-6443-FE75C24B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K-NEAREST NEIGHBORS (KNN)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E520F-0275-2CA6-85A0-AAD3A1895D90}"/>
              </a:ext>
            </a:extLst>
          </p:cNvPr>
          <p:cNvSpPr txBox="1"/>
          <p:nvPr/>
        </p:nvSpPr>
        <p:spPr>
          <a:xfrm>
            <a:off x="838200" y="2295265"/>
            <a:ext cx="9220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K-Nearest Neighbors (KNN) </a:t>
            </a:r>
            <a:r>
              <a:rPr lang="en-US" sz="2800" dirty="0"/>
              <a:t>is a classification technique designed to predict outcomes </a:t>
            </a:r>
            <a:r>
              <a:rPr lang="en-US" sz="2800" dirty="0">
                <a:highlight>
                  <a:srgbClr val="FFFF00"/>
                </a:highlight>
              </a:rPr>
              <a:t>based on similar observed values </a:t>
            </a:r>
          </a:p>
          <a:p>
            <a:r>
              <a:rPr lang="en-US" dirty="0"/>
              <a:t>	• In its simplest form, KNN creates a scatter plot with training data, plots a new unobserved value, and assigns a target class based on the classes of nearby points </a:t>
            </a:r>
          </a:p>
          <a:p>
            <a:r>
              <a:rPr lang="en-US" dirty="0"/>
              <a:t>	• </a:t>
            </a:r>
            <a:r>
              <a:rPr lang="en-US" sz="2400" b="1" dirty="0"/>
              <a:t>K </a:t>
            </a:r>
            <a:r>
              <a:rPr lang="en-US" dirty="0"/>
              <a:t>represents the number of nearby points (or “neighbors”) the model will consider when making a prediction </a:t>
            </a:r>
          </a:p>
          <a:p>
            <a:endParaRPr lang="en-US" b="1" dirty="0"/>
          </a:p>
          <a:p>
            <a:r>
              <a:rPr lang="en-US" b="1" dirty="0"/>
              <a:t>Example use cases: </a:t>
            </a:r>
          </a:p>
          <a:p>
            <a:r>
              <a:rPr lang="en-US" dirty="0"/>
              <a:t>	• Predicting which customers will purchase a product based on demographics </a:t>
            </a:r>
          </a:p>
          <a:p>
            <a:r>
              <a:rPr lang="en-US" dirty="0"/>
              <a:t>	• Classifying customers into pre-existing clusters or segments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084376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243A32E-97CD-2DA0-4291-4F4B03B2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LOGISTIC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3A86E-9B19-2EC3-3673-5E51E22DDB80}"/>
              </a:ext>
            </a:extLst>
          </p:cNvPr>
          <p:cNvSpPr txBox="1"/>
          <p:nvPr/>
        </p:nvSpPr>
        <p:spPr>
          <a:xfrm>
            <a:off x="934065" y="1803652"/>
            <a:ext cx="820993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Logistic Regression </a:t>
            </a:r>
            <a:r>
              <a:rPr lang="en-US" dirty="0"/>
              <a:t>is a classification technique used to predict the </a:t>
            </a:r>
            <a:r>
              <a:rPr lang="en-US" dirty="0">
                <a:highlight>
                  <a:srgbClr val="FFFF00"/>
                </a:highlight>
              </a:rPr>
              <a:t>probability of a binary (true/false) outcome </a:t>
            </a:r>
          </a:p>
          <a:p>
            <a:r>
              <a:rPr lang="en-US" dirty="0"/>
              <a:t>• In its simplest form, logistic regression forms an </a:t>
            </a:r>
            <a:r>
              <a:rPr lang="en-US" b="1" dirty="0"/>
              <a:t>S-shaped (sigmoid) curve between 0 and 1, </a:t>
            </a:r>
            <a:r>
              <a:rPr lang="en-US" dirty="0"/>
              <a:t>which represents the probability of a TRUE outcome for any given value of X </a:t>
            </a:r>
          </a:p>
          <a:p>
            <a:r>
              <a:rPr lang="en-US" dirty="0"/>
              <a:t>• The likelihood function measures how accurately a model predicts outcomes, and is used to optimize the “shape” of the curve </a:t>
            </a:r>
          </a:p>
          <a:p>
            <a:r>
              <a:rPr lang="en-US" dirty="0"/>
              <a:t>• Although it has the word “regression” in its name, logistic regression is not used for predicting numeric variables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 use cases: </a:t>
            </a:r>
          </a:p>
          <a:p>
            <a:r>
              <a:rPr lang="en-US" dirty="0"/>
              <a:t>• Flagging spam emails or fraudulent credit card transactions </a:t>
            </a:r>
          </a:p>
          <a:p>
            <a:r>
              <a:rPr lang="en-US" dirty="0"/>
              <a:t>• Determining whether to serve a particular ad to a website visitor</a:t>
            </a:r>
            <a:endParaRPr lang="lt-LT" dirty="0"/>
          </a:p>
        </p:txBody>
      </p:sp>
      <p:pic>
        <p:nvPicPr>
          <p:cNvPr id="6" name="Paveikslėlis 5" descr="Paveikslėlis, kuriame yra apskritimas, diagrama, Grafik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51298312-24E2-9221-1A4B-1024E5585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018" y="1917194"/>
            <a:ext cx="1676634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72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7C36C7C-374E-55C2-459A-2E08BA14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DECISION TREES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29C2CD-5DC5-2711-2A42-67ABD5939E52}"/>
              </a:ext>
            </a:extLst>
          </p:cNvPr>
          <p:cNvSpPr txBox="1"/>
          <p:nvPr/>
        </p:nvSpPr>
        <p:spPr>
          <a:xfrm>
            <a:off x="599767" y="1803652"/>
            <a:ext cx="104221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Decision Trees </a:t>
            </a:r>
            <a:r>
              <a:rPr lang="en-US" dirty="0"/>
              <a:t>use a series of binary (true/false) rules to predict </a:t>
            </a:r>
            <a:r>
              <a:rPr lang="en-US" dirty="0">
                <a:highlight>
                  <a:srgbClr val="FFFF00"/>
                </a:highlight>
              </a:rPr>
              <a:t>multi class or binary outcomes </a:t>
            </a:r>
          </a:p>
          <a:p>
            <a:r>
              <a:rPr lang="en-US" dirty="0"/>
              <a:t>	• For each rule, </a:t>
            </a:r>
            <a:r>
              <a:rPr lang="en-US" dirty="0">
                <a:highlight>
                  <a:srgbClr val="FFFF00"/>
                </a:highlight>
              </a:rPr>
              <a:t>a decision tree selects a single feature </a:t>
            </a:r>
            <a:r>
              <a:rPr lang="en-US" dirty="0"/>
              <a:t>and uses it to split observations into two groups, where each group (ideally) skews towards one class </a:t>
            </a:r>
          </a:p>
          <a:p>
            <a:r>
              <a:rPr lang="en-US" dirty="0"/>
              <a:t>	• The </a:t>
            </a:r>
            <a:r>
              <a:rPr lang="en-US" dirty="0">
                <a:highlight>
                  <a:srgbClr val="FFFF00"/>
                </a:highlight>
              </a:rPr>
              <a:t>goal is to determine which rules and features do the best job splitting up the classes, </a:t>
            </a:r>
            <a:r>
              <a:rPr lang="en-US" dirty="0"/>
              <a:t>which we can measure using a metric known as </a:t>
            </a:r>
            <a:r>
              <a:rPr lang="en-US" b="1" dirty="0"/>
              <a:t>entropy</a:t>
            </a:r>
            <a:r>
              <a:rPr lang="en-US" dirty="0"/>
              <a:t> 	</a:t>
            </a:r>
          </a:p>
          <a:p>
            <a:r>
              <a:rPr lang="en-US" dirty="0"/>
              <a:t>	• This is NOT a manual process; decision trees test many variables and select rules based on the change in entropy after the split (known as </a:t>
            </a:r>
            <a:r>
              <a:rPr lang="en-US" b="1" dirty="0"/>
              <a:t>information gain</a:t>
            </a:r>
            <a:r>
              <a:rPr lang="en-US" dirty="0"/>
              <a:t>)</a:t>
            </a:r>
            <a:endParaRPr lang="lt-LT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892346-4CF5-B77D-4E63-7E89E226DF24}"/>
              </a:ext>
            </a:extLst>
          </p:cNvPr>
          <p:cNvSpPr txBox="1"/>
          <p:nvPr/>
        </p:nvSpPr>
        <p:spPr>
          <a:xfrm>
            <a:off x="2399071" y="465110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use cases: </a:t>
            </a:r>
          </a:p>
          <a:p>
            <a:r>
              <a:rPr lang="en-US" dirty="0"/>
              <a:t>• Predicting if a customer will cancel/churn next month </a:t>
            </a:r>
          </a:p>
          <a:p>
            <a:r>
              <a:rPr lang="en-US" dirty="0"/>
              <a:t>• Identifying fraudulent bank transactions or insurance claims</a:t>
            </a:r>
            <a:endParaRPr lang="lt-LT" dirty="0"/>
          </a:p>
        </p:txBody>
      </p:sp>
      <p:pic>
        <p:nvPicPr>
          <p:cNvPr id="5" name="Paveikslėlis 4" descr="Paveikslėlis, kuriame yra apskritimas, Šriftas, laikrodis, Grafika&#10;&#10;Dirbtinio intelekto sugeneruotas turinys gali būti neteisingas.">
            <a:extLst>
              <a:ext uri="{FF2B5EF4-FFF2-40B4-BE49-F238E27FC236}">
                <a16:creationId xmlns:a16="http://schemas.microsoft.com/office/drawing/2014/main" id="{4C45F88D-958F-1D7E-936C-F7DE1ADC4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9534" y="4213721"/>
            <a:ext cx="1724266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19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38CFE75-7C13-AEDA-541F-9A413E29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MODEL SELECTION &amp;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B6D5D-17EA-9CBF-E577-CFECEE5AE7F7}"/>
              </a:ext>
            </a:extLst>
          </p:cNvPr>
          <p:cNvSpPr txBox="1"/>
          <p:nvPr/>
        </p:nvSpPr>
        <p:spPr>
          <a:xfrm>
            <a:off x="838199" y="1581749"/>
            <a:ext cx="101542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 selection </a:t>
            </a:r>
            <a:r>
              <a:rPr lang="en-US" dirty="0"/>
              <a:t>describes the process of training multiple models, comparing performance on Test data, and choosing the best option </a:t>
            </a:r>
          </a:p>
          <a:p>
            <a:r>
              <a:rPr lang="en-US" dirty="0"/>
              <a:t>	• When comparing performance, it’s important to </a:t>
            </a:r>
            <a:r>
              <a:rPr lang="en-US" dirty="0">
                <a:highlight>
                  <a:srgbClr val="FFFF00"/>
                </a:highlight>
              </a:rPr>
              <a:t>prioritize the </a:t>
            </a:r>
            <a:r>
              <a:rPr lang="en-US" b="1" dirty="0">
                <a:highlight>
                  <a:srgbClr val="FFFF00"/>
                </a:highlight>
              </a:rPr>
              <a:t>most relevant metrics </a:t>
            </a:r>
            <a:r>
              <a:rPr lang="en-US" dirty="0">
                <a:highlight>
                  <a:srgbClr val="FFFF00"/>
                </a:highlight>
              </a:rPr>
              <a:t>based on the business context and the problem you are trying to solve</a:t>
            </a:r>
            <a:endParaRPr lang="lt-LT" dirty="0">
              <a:highlight>
                <a:srgbClr val="FFFF00"/>
              </a:highlight>
            </a:endParaRPr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A234595A-6213-303D-7391-8E0ED69B8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729" y="2907312"/>
            <a:ext cx="10555173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58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BD066E8-BBB7-0E47-E527-D231B44EF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ENSEMBLE MODELS</a:t>
            </a:r>
          </a:p>
        </p:txBody>
      </p:sp>
      <p:pic>
        <p:nvPicPr>
          <p:cNvPr id="4" name="Paveikslėlis 3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24C5898A-E49A-BD9E-E965-811573E7F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363" y="1966708"/>
            <a:ext cx="6611273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26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4FA25-124B-35B9-F51B-8B191D79A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1F1A83E-CA84-33FF-0E98-3AF36CBA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ENSEMBLE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892CC-5296-7319-2961-26E17963B1EC}"/>
              </a:ext>
            </a:extLst>
          </p:cNvPr>
          <p:cNvSpPr txBox="1"/>
          <p:nvPr/>
        </p:nvSpPr>
        <p:spPr>
          <a:xfrm>
            <a:off x="1130710" y="1465458"/>
            <a:ext cx="89276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Ensemble models use the outputs of multiple models to make predictions </a:t>
            </a:r>
          </a:p>
          <a:p>
            <a:r>
              <a:rPr lang="en-US" dirty="0"/>
              <a:t>	• They are </a:t>
            </a:r>
            <a:r>
              <a:rPr lang="en-US" dirty="0">
                <a:highlight>
                  <a:srgbClr val="FFFF00"/>
                </a:highlight>
              </a:rPr>
              <a:t>often more accurate than any single model,</a:t>
            </a:r>
            <a:r>
              <a:rPr lang="en-US" dirty="0"/>
              <a:t> but more challenging to interpret</a:t>
            </a:r>
            <a:endParaRPr lang="lt-LT" dirty="0"/>
          </a:p>
        </p:txBody>
      </p:sp>
      <p:pic>
        <p:nvPicPr>
          <p:cNvPr id="7" name="Paveikslėlis 6" descr="Paveikslėlis, kuriame yra tekstas, ekrano kopija, Šriftas, logotipas&#10;&#10;Dirbtinio intelekto sugeneruotas turinys gali būti neteisingas.">
            <a:extLst>
              <a:ext uri="{FF2B5EF4-FFF2-40B4-BE49-F238E27FC236}">
                <a16:creationId xmlns:a16="http://schemas.microsoft.com/office/drawing/2014/main" id="{A9C3DCF6-2ADA-89AB-550C-E2D89B455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2580678"/>
            <a:ext cx="11279174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969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6326D70-1B0D-A66A-3B3C-8739E2FB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SIMPLE ENSEMBLE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E3C96-2736-ACDE-6C61-1ADBA21C204A}"/>
              </a:ext>
            </a:extLst>
          </p:cNvPr>
          <p:cNvSpPr txBox="1"/>
          <p:nvPr/>
        </p:nvSpPr>
        <p:spPr>
          <a:xfrm>
            <a:off x="966020" y="1522755"/>
            <a:ext cx="100657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Simple ensemble models are trained on the same data and features </a:t>
            </a:r>
          </a:p>
          <a:p>
            <a:r>
              <a:rPr lang="en-US" dirty="0"/>
              <a:t>	• “Hard” predictions (majority vote ensembles) take the mode from each model’s predictions </a:t>
            </a:r>
          </a:p>
          <a:p>
            <a:r>
              <a:rPr lang="en-US" dirty="0"/>
              <a:t>	• “Soft” predictions (probability average classifiers) take the average from the predictions</a:t>
            </a:r>
            <a:endParaRPr lang="lt-LT" dirty="0"/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75E7EAF3-12D1-295B-1C17-2303A758A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37" y="2848318"/>
            <a:ext cx="9072221" cy="27364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DA090D-3F90-076B-C4CE-B3679B24400E}"/>
              </a:ext>
            </a:extLst>
          </p:cNvPr>
          <p:cNvSpPr txBox="1"/>
          <p:nvPr/>
        </p:nvSpPr>
        <p:spPr>
          <a:xfrm>
            <a:off x="1199535" y="5657671"/>
            <a:ext cx="96749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Ensembles can be configured in many ways. </a:t>
            </a:r>
            <a:r>
              <a:rPr lang="en-US" dirty="0"/>
              <a:t>Data scientists could also calculate a </a:t>
            </a:r>
            <a:r>
              <a:rPr lang="en-US" b="1" dirty="0"/>
              <a:t>weighted average</a:t>
            </a:r>
            <a:r>
              <a:rPr lang="en-US" dirty="0"/>
              <a:t>, where the most accurate base model is given more weight than less accurate predictors.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105733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C219611-E7A3-5287-86CD-789B55BE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A SIMPLE ENSEMBLE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6FDD9D-AC8C-6B53-5664-EFDAF78A21DA}"/>
              </a:ext>
            </a:extLst>
          </p:cNvPr>
          <p:cNvSpPr txBox="1"/>
          <p:nvPr/>
        </p:nvSpPr>
        <p:spPr>
          <a:xfrm>
            <a:off x="934064" y="1426129"/>
            <a:ext cx="9114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Python, you can fit simple ensemble models using the scikit-learn library </a:t>
            </a:r>
          </a:p>
          <a:p>
            <a:r>
              <a:rPr lang="en-US" dirty="0"/>
              <a:t>• </a:t>
            </a:r>
            <a:r>
              <a:rPr lang="en-US" b="1" dirty="0" err="1"/>
              <a:t>sklearn.ensemble.VotingClassifier</a:t>
            </a:r>
            <a:r>
              <a:rPr lang="en-US" b="1" dirty="0"/>
              <a:t>(estimators, voting)</a:t>
            </a:r>
            <a:endParaRPr lang="lt-LT" b="1" dirty="0"/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900CE430-69DD-F3ED-7531-0D13E65A6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31989"/>
            <a:ext cx="5534797" cy="36295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01269E-4CD8-6962-3CAC-80500EB191CD}"/>
              </a:ext>
            </a:extLst>
          </p:cNvPr>
          <p:cNvSpPr txBox="1"/>
          <p:nvPr/>
        </p:nvSpPr>
        <p:spPr>
          <a:xfrm>
            <a:off x="6468661" y="3320845"/>
            <a:ext cx="42779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Here we’re passing in a list of tuples to the </a:t>
            </a:r>
            <a:r>
              <a:rPr lang="en-US" sz="1400" b="1" dirty="0"/>
              <a:t>estimators</a:t>
            </a:r>
            <a:r>
              <a:rPr lang="en-US" sz="1400" dirty="0"/>
              <a:t> argument, where the first value gives the model an internal name, and the second is the variable storing the associated model </a:t>
            </a:r>
          </a:p>
          <a:p>
            <a:r>
              <a:rPr lang="en-US" sz="1400" b="1" dirty="0"/>
              <a:t>voting=“hard” </a:t>
            </a:r>
            <a:r>
              <a:rPr lang="en-US" sz="1400" dirty="0"/>
              <a:t>indicates this is a </a:t>
            </a:r>
            <a:r>
              <a:rPr lang="en-US" sz="1400" b="1" dirty="0"/>
              <a:t>majority vote ensemble</a:t>
            </a:r>
            <a:endParaRPr lang="lt-LT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5C4433-2F04-C4D4-EAB6-FA60475BDBEB}"/>
              </a:ext>
            </a:extLst>
          </p:cNvPr>
          <p:cNvSpPr txBox="1"/>
          <p:nvPr/>
        </p:nvSpPr>
        <p:spPr>
          <a:xfrm>
            <a:off x="7284939" y="5015547"/>
            <a:ext cx="40688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 TIP: </a:t>
            </a:r>
            <a:r>
              <a:rPr lang="en-US" dirty="0">
                <a:highlight>
                  <a:srgbClr val="FFFF00"/>
                </a:highlight>
              </a:rPr>
              <a:t>Using a hard vote gives you less flexibility than soft probabilities</a:t>
            </a:r>
            <a:r>
              <a:rPr lang="en-US" dirty="0"/>
              <a:t>, so you’re generally better off using soft classification scores for ensemble models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991028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9E848-12A5-F03F-54ED-DDDD663F4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6AA4830-579C-7A80-9B02-198C30970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A SIMPLE ENSEMBLE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6B46E-DFD4-A715-F90F-85B6924C22F1}"/>
              </a:ext>
            </a:extLst>
          </p:cNvPr>
          <p:cNvSpPr txBox="1"/>
          <p:nvPr/>
        </p:nvSpPr>
        <p:spPr>
          <a:xfrm>
            <a:off x="934064" y="1426129"/>
            <a:ext cx="9114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Python, you can fit simple ensemble models using the </a:t>
            </a:r>
            <a:r>
              <a:rPr lang="en-US" dirty="0">
                <a:highlight>
                  <a:srgbClr val="FFFF00"/>
                </a:highlight>
              </a:rPr>
              <a:t>scikit-learn</a:t>
            </a:r>
            <a:r>
              <a:rPr lang="en-US" dirty="0"/>
              <a:t> library </a:t>
            </a:r>
          </a:p>
          <a:p>
            <a:r>
              <a:rPr lang="en-US" dirty="0"/>
              <a:t>• </a:t>
            </a:r>
            <a:r>
              <a:rPr lang="en-US" b="1" dirty="0" err="1"/>
              <a:t>sklearn.ensemble.VotingClassifier</a:t>
            </a:r>
            <a:r>
              <a:rPr lang="en-US" b="1" dirty="0"/>
              <a:t>(estimators, voting)</a:t>
            </a:r>
            <a:endParaRPr lang="lt-LT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942F26-C14C-0C05-B73C-87ABE3F52B79}"/>
              </a:ext>
            </a:extLst>
          </p:cNvPr>
          <p:cNvSpPr txBox="1"/>
          <p:nvPr/>
        </p:nvSpPr>
        <p:spPr>
          <a:xfrm>
            <a:off x="6468661" y="3320845"/>
            <a:ext cx="42779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voting=“soft” </a:t>
            </a:r>
            <a:r>
              <a:rPr lang="en-US" sz="1400" dirty="0"/>
              <a:t>indicates this is a </a:t>
            </a:r>
            <a:r>
              <a:rPr lang="en-US" sz="1400" b="1" dirty="0"/>
              <a:t>probability average classifier</a:t>
            </a:r>
            <a:endParaRPr lang="lt-LT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3AD840-CA42-F8D9-E138-E856BECC155A}"/>
              </a:ext>
            </a:extLst>
          </p:cNvPr>
          <p:cNvSpPr txBox="1"/>
          <p:nvPr/>
        </p:nvSpPr>
        <p:spPr>
          <a:xfrm>
            <a:off x="6871984" y="4294237"/>
            <a:ext cx="40688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soft probability ensemble was slightly more accurate </a:t>
            </a:r>
            <a:r>
              <a:rPr lang="en-US" dirty="0"/>
              <a:t>than the hard vote, as it includes the nuance for predictions that are close to the decision threshold </a:t>
            </a:r>
          </a:p>
          <a:p>
            <a:endParaRPr lang="en-US" dirty="0"/>
          </a:p>
          <a:p>
            <a:r>
              <a:rPr lang="en-US" dirty="0"/>
              <a:t>You can also leverage probability scores for thresholding!</a:t>
            </a:r>
            <a:endParaRPr lang="lt-LT" dirty="0"/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0F534A5-882C-060E-1058-0EACFD563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99" y="1998392"/>
            <a:ext cx="5430008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46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EBC9D21-E882-7208-6F89-D2EC0C89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RANDOM FORESTS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9CC093-AF5B-E84C-DA10-C91ADB1FD13B}"/>
              </a:ext>
            </a:extLst>
          </p:cNvPr>
          <p:cNvSpPr txBox="1"/>
          <p:nvPr/>
        </p:nvSpPr>
        <p:spPr>
          <a:xfrm>
            <a:off x="838199" y="1394089"/>
            <a:ext cx="102427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Random Forest is a collection of individual decision trees, each built using </a:t>
            </a:r>
            <a:r>
              <a:rPr lang="en-US" dirty="0">
                <a:highlight>
                  <a:srgbClr val="FFFF00"/>
                </a:highlight>
              </a:rPr>
              <a:t>a random sample </a:t>
            </a:r>
            <a:r>
              <a:rPr lang="en-US" dirty="0"/>
              <a:t>(with replacement) of observations </a:t>
            </a:r>
          </a:p>
          <a:p>
            <a:r>
              <a:rPr lang="en-US" dirty="0"/>
              <a:t>	• Each decision tree randomly selects variables to evaluate at each split </a:t>
            </a:r>
          </a:p>
          <a:p>
            <a:r>
              <a:rPr lang="en-US" dirty="0"/>
              <a:t>	• Each tree produces a prediction, and the mean score across the trees is used for classification</a:t>
            </a:r>
            <a:endParaRPr lang="lt-LT" dirty="0"/>
          </a:p>
        </p:txBody>
      </p:sp>
      <p:pic>
        <p:nvPicPr>
          <p:cNvPr id="6" name="Paveikslėlis 5" descr="Paveikslėlis, kuriame yra tekstas, ekrano kopija, linija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78975A3F-F71F-32AC-F7AE-6323A4950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77" y="3177168"/>
            <a:ext cx="7951840" cy="368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043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3BBADFF-190A-17B2-5835-017C21144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A RANDOM FOREST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A8EC2-D1F6-02DF-67E3-087CB72F4B70}"/>
              </a:ext>
            </a:extLst>
          </p:cNvPr>
          <p:cNvSpPr txBox="1"/>
          <p:nvPr/>
        </p:nvSpPr>
        <p:spPr>
          <a:xfrm>
            <a:off x="838200" y="1690688"/>
            <a:ext cx="9062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Python, you can fit a random forest model using the scikit-learn library </a:t>
            </a:r>
          </a:p>
          <a:p>
            <a:r>
              <a:rPr lang="en-US" dirty="0"/>
              <a:t>• </a:t>
            </a:r>
            <a:r>
              <a:rPr lang="en-US" b="1" dirty="0" err="1"/>
              <a:t>sklearn.ensemble.RandomForestClassifier</a:t>
            </a:r>
            <a:r>
              <a:rPr lang="en-US" b="1" dirty="0"/>
              <a:t>(</a:t>
            </a:r>
            <a:r>
              <a:rPr lang="en-US" b="1" dirty="0" err="1">
                <a:highlight>
                  <a:srgbClr val="FFFF00"/>
                </a:highlight>
              </a:rPr>
              <a:t>random_state</a:t>
            </a:r>
            <a:r>
              <a:rPr lang="en-US" b="1" dirty="0"/>
              <a:t>)</a:t>
            </a:r>
            <a:endParaRPr lang="lt-LT" b="1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D725376F-D4CA-3238-98DF-FF5223B3A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37019"/>
            <a:ext cx="10726647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EB04641-E89C-E957-C5A0-EC1FCDDCC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FEATURE IMPORTANCE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18BD55-6B49-CA1E-6BF2-05ABB2E54C39}"/>
              </a:ext>
            </a:extLst>
          </p:cNvPr>
          <p:cNvSpPr txBox="1"/>
          <p:nvPr/>
        </p:nvSpPr>
        <p:spPr>
          <a:xfrm>
            <a:off x="838200" y="1690688"/>
            <a:ext cx="10213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Like decision tree models, f</a:t>
            </a:r>
            <a:r>
              <a:rPr lang="en-US" b="1" dirty="0"/>
              <a:t>eature importance </a:t>
            </a:r>
            <a:r>
              <a:rPr lang="en-US" dirty="0"/>
              <a:t>can help understand which features are the most impactful in random forest models</a:t>
            </a:r>
            <a:endParaRPr lang="lt-LT" dirty="0"/>
          </a:p>
        </p:txBody>
      </p:sp>
      <p:pic>
        <p:nvPicPr>
          <p:cNvPr id="6" name="Paveikslėlis 5" descr="Paveikslėlis, kuriame yra tekstas, programinė įrang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98D238CD-76AD-FD09-1F0A-CE5B6012B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2304464"/>
            <a:ext cx="10202699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734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0CA7E3E-CC8C-B1DA-FC59-F035C7A1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TUNING A RANDOM FOREST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B1C202-DFAD-E4AC-8AE2-E523E136A436}"/>
              </a:ext>
            </a:extLst>
          </p:cNvPr>
          <p:cNvSpPr txBox="1"/>
          <p:nvPr/>
        </p:nvSpPr>
        <p:spPr>
          <a:xfrm>
            <a:off x="973392" y="1434265"/>
            <a:ext cx="9940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Hyperparameters are settings that affect how well a model fits the data </a:t>
            </a:r>
          </a:p>
          <a:p>
            <a:r>
              <a:rPr lang="en-US" dirty="0"/>
              <a:t>• Unlike model parameters (like regression coefficients) these are not learned from the data </a:t>
            </a:r>
          </a:p>
          <a:p>
            <a:r>
              <a:rPr lang="en-US" dirty="0"/>
              <a:t>• </a:t>
            </a:r>
            <a:r>
              <a:rPr lang="en-US" dirty="0">
                <a:highlight>
                  <a:srgbClr val="FFFF00"/>
                </a:highlight>
              </a:rPr>
              <a:t>Parameters are set before the model is fit and optimized based on validation performance</a:t>
            </a:r>
            <a:endParaRPr lang="lt-LT" dirty="0">
              <a:highlight>
                <a:srgbClr val="FFFF00"/>
              </a:highlight>
            </a:endParaRPr>
          </a:p>
        </p:txBody>
      </p:sp>
      <p:pic>
        <p:nvPicPr>
          <p:cNvPr id="6" name="Paveikslėlis 5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19390421-B909-0587-26EC-9FA8F48EE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92" y="2843877"/>
            <a:ext cx="9506375" cy="364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98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D0932-8370-9340-1657-7D3BCE55D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0118C8B-1200-7849-77FC-AFD26A22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TUNING A RANDOM FOREST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98679-06C3-79BE-1AF5-E8AEE52897C3}"/>
              </a:ext>
            </a:extLst>
          </p:cNvPr>
          <p:cNvSpPr txBox="1"/>
          <p:nvPr/>
        </p:nvSpPr>
        <p:spPr>
          <a:xfrm>
            <a:off x="973392" y="1434265"/>
            <a:ext cx="9940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 err="1"/>
              <a:t>The</a:t>
            </a:r>
            <a:r>
              <a:rPr lang="lt-LT" dirty="0"/>
              <a:t> </a:t>
            </a:r>
            <a:r>
              <a:rPr lang="lt-LT" b="1" dirty="0" err="1"/>
              <a:t>RandomForestClassifier</a:t>
            </a:r>
            <a:r>
              <a:rPr lang="lt-LT" dirty="0"/>
              <a:t> </a:t>
            </a:r>
            <a:r>
              <a:rPr lang="lt-LT" dirty="0" err="1"/>
              <a:t>function</a:t>
            </a:r>
            <a:r>
              <a:rPr lang="lt-LT" dirty="0"/>
              <a:t> </a:t>
            </a:r>
            <a:r>
              <a:rPr lang="lt-LT" dirty="0" err="1"/>
              <a:t>has</a:t>
            </a:r>
            <a:r>
              <a:rPr lang="lt-LT" dirty="0"/>
              <a:t> </a:t>
            </a:r>
            <a:r>
              <a:rPr lang="lt-LT" dirty="0" err="1"/>
              <a:t>many</a:t>
            </a:r>
            <a:r>
              <a:rPr lang="lt-LT" dirty="0"/>
              <a:t> </a:t>
            </a:r>
            <a:r>
              <a:rPr lang="lt-LT" dirty="0" err="1"/>
              <a:t>hyperparameters</a:t>
            </a:r>
            <a:r>
              <a:rPr lang="lt-LT" dirty="0"/>
              <a:t> </a:t>
            </a:r>
            <a:r>
              <a:rPr lang="lt-LT" dirty="0" err="1"/>
              <a:t>that</a:t>
            </a:r>
            <a:r>
              <a:rPr lang="lt-LT" dirty="0"/>
              <a:t> </a:t>
            </a:r>
            <a:r>
              <a:rPr lang="lt-LT" dirty="0" err="1"/>
              <a:t>can</a:t>
            </a:r>
            <a:r>
              <a:rPr lang="lt-LT" dirty="0"/>
              <a:t> be </a:t>
            </a:r>
            <a:r>
              <a:rPr lang="lt-LT" dirty="0" err="1"/>
              <a:t>tuned</a:t>
            </a:r>
            <a:r>
              <a:rPr lang="lt-LT" dirty="0"/>
              <a:t> </a:t>
            </a:r>
            <a:endParaRPr lang="en-US" dirty="0"/>
          </a:p>
          <a:p>
            <a:r>
              <a:rPr lang="en-US" dirty="0"/>
              <a:t>	</a:t>
            </a:r>
            <a:r>
              <a:rPr lang="lt-LT" sz="1500" dirty="0"/>
              <a:t>• </a:t>
            </a:r>
            <a:r>
              <a:rPr lang="lt-LT" sz="1500" b="1" dirty="0" err="1"/>
              <a:t>RandomForestClassifier</a:t>
            </a:r>
            <a:r>
              <a:rPr lang="lt-LT" sz="1500" b="1" dirty="0"/>
              <a:t>(</a:t>
            </a:r>
            <a:r>
              <a:rPr lang="lt-LT" sz="1500" b="1" dirty="0" err="1">
                <a:highlight>
                  <a:srgbClr val="FFFF00"/>
                </a:highlight>
              </a:rPr>
              <a:t>random_state</a:t>
            </a:r>
            <a:r>
              <a:rPr lang="lt-LT" sz="1500" b="1" dirty="0"/>
              <a:t>, </a:t>
            </a:r>
            <a:r>
              <a:rPr lang="lt-LT" sz="1500" b="1" dirty="0" err="1"/>
              <a:t>n_estimators</a:t>
            </a:r>
            <a:r>
              <a:rPr lang="lt-LT" sz="1500" b="1" dirty="0"/>
              <a:t>, </a:t>
            </a:r>
            <a:r>
              <a:rPr lang="lt-LT" sz="1500" b="1" dirty="0" err="1"/>
              <a:t>max_features</a:t>
            </a:r>
            <a:r>
              <a:rPr lang="lt-LT" sz="1500" b="1" dirty="0"/>
              <a:t>, </a:t>
            </a:r>
            <a:r>
              <a:rPr lang="lt-LT" sz="1500" b="1" dirty="0" err="1"/>
              <a:t>bootstrap</a:t>
            </a:r>
            <a:r>
              <a:rPr lang="lt-LT" sz="1500" b="1" dirty="0"/>
              <a:t>, </a:t>
            </a:r>
            <a:r>
              <a:rPr lang="lt-LT" sz="1500" b="1" dirty="0" err="1"/>
              <a:t>max_samples</a:t>
            </a:r>
            <a:r>
              <a:rPr lang="lt-LT" sz="1500" b="1" dirty="0"/>
              <a:t>)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1235248-8485-3261-5957-33384DA57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60" y="2080596"/>
            <a:ext cx="10974332" cy="3686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1B11DB-9C65-2345-A052-57E8CDEB62E3}"/>
              </a:ext>
            </a:extLst>
          </p:cNvPr>
          <p:cNvSpPr txBox="1"/>
          <p:nvPr/>
        </p:nvSpPr>
        <p:spPr>
          <a:xfrm>
            <a:off x="1170038" y="5934670"/>
            <a:ext cx="93603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 err="1"/>
              <a:t>max_depth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/>
              <a:t>min_samples_leaf</a:t>
            </a:r>
            <a:r>
              <a:rPr lang="en-US" b="1" dirty="0"/>
              <a:t> </a:t>
            </a:r>
            <a:r>
              <a:rPr lang="en-US" dirty="0"/>
              <a:t>hyperparameters are also available here (like with standard decision tree models) and are applied the same way for all the trees in the random forest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105828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7159-C406-8BB0-BC14-58399867B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B57601C-DC46-75EA-C534-D76D5E43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TUNING A RANDOM FOREST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8C741-C277-BE4A-BE1B-2F965A550D78}"/>
              </a:ext>
            </a:extLst>
          </p:cNvPr>
          <p:cNvSpPr txBox="1"/>
          <p:nvPr/>
        </p:nvSpPr>
        <p:spPr>
          <a:xfrm>
            <a:off x="973392" y="1434265"/>
            <a:ext cx="9940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use </a:t>
            </a:r>
            <a:r>
              <a:rPr lang="en-US" dirty="0" err="1"/>
              <a:t>GridSearchCV</a:t>
            </a:r>
            <a:r>
              <a:rPr lang="en-US" dirty="0"/>
              <a:t> to test various combinations of hyperparameters </a:t>
            </a:r>
          </a:p>
          <a:p>
            <a:r>
              <a:rPr lang="en-US" dirty="0"/>
              <a:t>	• Once you’ve determined the best hyperparameters, fit a final model with them specified</a:t>
            </a:r>
            <a:endParaRPr lang="lt-LT" sz="1500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7F8EB488-2EBD-DDE3-5EF3-FD55E3A85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67457"/>
            <a:ext cx="8295346" cy="394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31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E5F55-9209-2342-2BA2-90CAB53F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47DAF61-927D-D2EB-38C8-44EBE47B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TUNING A RANDOM FOREST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8A118-780C-4CFB-626D-12553B3FA66E}"/>
              </a:ext>
            </a:extLst>
          </p:cNvPr>
          <p:cNvSpPr txBox="1"/>
          <p:nvPr/>
        </p:nvSpPr>
        <p:spPr>
          <a:xfrm>
            <a:off x="973392" y="1434265"/>
            <a:ext cx="9940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use </a:t>
            </a:r>
            <a:r>
              <a:rPr lang="en-US" dirty="0" err="1"/>
              <a:t>GridSearchCV</a:t>
            </a:r>
            <a:r>
              <a:rPr lang="en-US" dirty="0"/>
              <a:t> to test various combinations of hyperparameters </a:t>
            </a:r>
          </a:p>
          <a:p>
            <a:r>
              <a:rPr lang="en-US" dirty="0"/>
              <a:t>	• Once you’ve determined the best hyperparameters, fit a final model with them specified</a:t>
            </a:r>
            <a:endParaRPr lang="lt-LT" sz="1500" dirty="0"/>
          </a:p>
        </p:txBody>
      </p:sp>
      <p:pic>
        <p:nvPicPr>
          <p:cNvPr id="5" name="Paveikslėlis 4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29C5FB94-D2B5-7A31-2B10-7FCC1AAD8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92" y="2345862"/>
            <a:ext cx="9185492" cy="430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68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4EECD20-D14D-EE95-2E16-ADA6C3A2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PRO TIP: RANDOM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963F0-3BE8-FD46-F60D-FFB165988AE9}"/>
              </a:ext>
            </a:extLst>
          </p:cNvPr>
          <p:cNvSpPr txBox="1"/>
          <p:nvPr/>
        </p:nvSpPr>
        <p:spPr>
          <a:xfrm>
            <a:off x="838200" y="1512076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Tuning ensemble methods can take a long time, so </a:t>
            </a:r>
            <a:r>
              <a:rPr lang="en-US" b="1" dirty="0" err="1"/>
              <a:t>RandomizedSearchCV</a:t>
            </a:r>
            <a:r>
              <a:rPr lang="en-US" dirty="0"/>
              <a:t> tries a fixed number of random combinations of parameters to speed up the process </a:t>
            </a:r>
          </a:p>
          <a:p>
            <a:r>
              <a:rPr lang="en-US" dirty="0"/>
              <a:t>• </a:t>
            </a:r>
            <a:r>
              <a:rPr lang="en-US" b="1" dirty="0" err="1"/>
              <a:t>sklearn.model_selection.RandomizedSearchCV</a:t>
            </a:r>
            <a:r>
              <a:rPr lang="en-US" b="1" dirty="0"/>
              <a:t>(model, params, </a:t>
            </a:r>
            <a:r>
              <a:rPr lang="en-US" b="1" dirty="0" err="1"/>
              <a:t>n_iterations</a:t>
            </a:r>
            <a:r>
              <a:rPr lang="en-US" b="1" dirty="0"/>
              <a:t>, scoring) </a:t>
            </a:r>
          </a:p>
          <a:p>
            <a:r>
              <a:rPr lang="en-US" dirty="0"/>
              <a:t>• From best random set, you can use </a:t>
            </a:r>
            <a:r>
              <a:rPr lang="en-US" dirty="0" err="1">
                <a:highlight>
                  <a:srgbClr val="FFFF00"/>
                </a:highlight>
              </a:rPr>
              <a:t>GridSearchCV</a:t>
            </a:r>
            <a:r>
              <a:rPr lang="en-US" dirty="0"/>
              <a:t> to fine-tune your model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CC68F972-BF20-56B6-E7AD-687507EB8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734" y="2671778"/>
            <a:ext cx="7339569" cy="383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3490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8CDCA8C-67F3-E329-FD01-3F5744544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&amp; CONS OF RANDOM FORESTS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34C75F-DAE5-51A8-63AA-19804A8E587C}"/>
              </a:ext>
            </a:extLst>
          </p:cNvPr>
          <p:cNvSpPr txBox="1"/>
          <p:nvPr/>
        </p:nvSpPr>
        <p:spPr>
          <a:xfrm>
            <a:off x="838199" y="1472747"/>
            <a:ext cx="110096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Random Forests have pros and cons that data scientists should be aware of when deciding whether it is the best model for the task at hand </a:t>
            </a:r>
          </a:p>
          <a:p>
            <a:r>
              <a:rPr lang="en-US" dirty="0"/>
              <a:t>• In general, random forests are strong models in terms of predictive accuracy, and address many of the drawbacks (e.g. overfitting) of decision trees. They are very hard to interpret, however.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BD1D65DB-38FF-17A5-83D3-7A0CCE91A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74" y="2685468"/>
            <a:ext cx="10488489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478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6EEC37A-5CFD-87B7-E092-617170F8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GRADIENT BOOSTED MACHINES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95E258-00DD-1089-229E-52044C8F9DAE}"/>
              </a:ext>
            </a:extLst>
          </p:cNvPr>
          <p:cNvSpPr txBox="1"/>
          <p:nvPr/>
        </p:nvSpPr>
        <p:spPr>
          <a:xfrm>
            <a:off x="914399" y="1602262"/>
            <a:ext cx="99305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Gradient Boosted Machines (GBM) is a </a:t>
            </a:r>
            <a:r>
              <a:rPr lang="en-US" dirty="0">
                <a:highlight>
                  <a:srgbClr val="FFFF00"/>
                </a:highlight>
              </a:rPr>
              <a:t>sequential ensemble technique </a:t>
            </a:r>
            <a:r>
              <a:rPr lang="en-US" dirty="0"/>
              <a:t>that fits a series of decision trees that predict the error in the previous model </a:t>
            </a:r>
          </a:p>
          <a:p>
            <a:r>
              <a:rPr lang="en-US" dirty="0"/>
              <a:t>• These trees are combined using </a:t>
            </a:r>
            <a:r>
              <a:rPr lang="en-US" dirty="0">
                <a:highlight>
                  <a:srgbClr val="FFFF00"/>
                </a:highlight>
              </a:rPr>
              <a:t>weighted averages </a:t>
            </a:r>
            <a:r>
              <a:rPr lang="en-US" dirty="0"/>
              <a:t>to make a final prediction </a:t>
            </a:r>
            <a:endParaRPr lang="lt-LT" dirty="0"/>
          </a:p>
        </p:txBody>
      </p:sp>
      <p:pic>
        <p:nvPicPr>
          <p:cNvPr id="6" name="Paveikslėlis 5" descr="Paveikslėlis, kuriame yra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5F061225-453B-0997-29A8-7782F767A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2" y="3429000"/>
            <a:ext cx="10612331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26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AA6290E-0709-67F9-B078-AEAAE271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A GRADIENT BOOSTING MODEL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461A77-41A6-E85C-9FC0-397C655926E9}"/>
              </a:ext>
            </a:extLst>
          </p:cNvPr>
          <p:cNvSpPr txBox="1"/>
          <p:nvPr/>
        </p:nvSpPr>
        <p:spPr>
          <a:xfrm>
            <a:off x="1071715" y="1690688"/>
            <a:ext cx="91046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Python, you can fit a gradient boosting model using the </a:t>
            </a:r>
            <a:r>
              <a:rPr lang="en-US" dirty="0">
                <a:highlight>
                  <a:srgbClr val="FFFF00"/>
                </a:highlight>
              </a:rPr>
              <a:t>scikit-learn library </a:t>
            </a:r>
          </a:p>
          <a:p>
            <a:r>
              <a:rPr lang="en-US" b="1" dirty="0"/>
              <a:t>• </a:t>
            </a:r>
            <a:r>
              <a:rPr lang="en-US" b="1" dirty="0" err="1">
                <a:highlight>
                  <a:srgbClr val="FFFF00"/>
                </a:highlight>
              </a:rPr>
              <a:t>sklearn.ensemble.GradientBoostingClassifier</a:t>
            </a:r>
            <a:r>
              <a:rPr lang="en-US" b="1" dirty="0">
                <a:highlight>
                  <a:srgbClr val="FFFF00"/>
                </a:highlight>
              </a:rPr>
              <a:t>(</a:t>
            </a:r>
            <a:r>
              <a:rPr lang="en-US" b="1" dirty="0" err="1">
                <a:highlight>
                  <a:srgbClr val="FFFF00"/>
                </a:highlight>
              </a:rPr>
              <a:t>random_state</a:t>
            </a:r>
            <a:r>
              <a:rPr lang="en-US" b="1" dirty="0">
                <a:highlight>
                  <a:srgbClr val="FFFF00"/>
                </a:highlight>
              </a:rPr>
              <a:t>)</a:t>
            </a:r>
            <a:endParaRPr lang="lt-LT" b="1" dirty="0">
              <a:highlight>
                <a:srgbClr val="FFFF00"/>
              </a:highlight>
            </a:endParaRPr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2C921A27-45E3-A43A-D14C-53439775B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49" y="2708235"/>
            <a:ext cx="8973802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12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6F430EE-72D4-8E6C-3D29-7FC5F6A3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A GRADIENT BOOSTING MODEL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0F64C-FFD8-3067-7E2D-C7E6D6CB9343}"/>
              </a:ext>
            </a:extLst>
          </p:cNvPr>
          <p:cNvSpPr txBox="1"/>
          <p:nvPr/>
        </p:nvSpPr>
        <p:spPr>
          <a:xfrm>
            <a:off x="1032387" y="1542420"/>
            <a:ext cx="95176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Hyperparameters are settings that affect how well a model fits the data </a:t>
            </a:r>
          </a:p>
          <a:p>
            <a:r>
              <a:rPr lang="en-US" dirty="0"/>
              <a:t>• Unlike model parameters (like regression coefficients) these are not learned from the data </a:t>
            </a:r>
          </a:p>
          <a:p>
            <a:r>
              <a:rPr lang="en-US" dirty="0"/>
              <a:t>• Parameters are set before the model is fit and optimized based on validation performance</a:t>
            </a:r>
            <a:endParaRPr lang="lt-LT" dirty="0"/>
          </a:p>
        </p:txBody>
      </p:sp>
      <p:pic>
        <p:nvPicPr>
          <p:cNvPr id="6" name="Paveikslėlis 5" descr="Paveikslėlis, kuriame yra tekstas, ekrano kopija, diagrama, apskritimas&#10;&#10;Dirbtinio intelekto sugeneruotas turinys gali būti neteisingas.">
            <a:extLst>
              <a:ext uri="{FF2B5EF4-FFF2-40B4-BE49-F238E27FC236}">
                <a16:creationId xmlns:a16="http://schemas.microsoft.com/office/drawing/2014/main" id="{033367C6-CB20-DF3D-94D1-0A02C09E3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32" y="2867983"/>
            <a:ext cx="8587518" cy="349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01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94A65-59C1-8136-FF54-9473B3694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2A6A934-54AA-266F-94BD-C0544CC9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A GRADIENT BOOSTING MODEL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2006B-F455-8306-A1D5-19E02955983E}"/>
              </a:ext>
            </a:extLst>
          </p:cNvPr>
          <p:cNvSpPr txBox="1"/>
          <p:nvPr/>
        </p:nvSpPr>
        <p:spPr>
          <a:xfrm>
            <a:off x="1032387" y="1542420"/>
            <a:ext cx="95176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 err="1"/>
              <a:t>The</a:t>
            </a:r>
            <a:r>
              <a:rPr lang="lt-LT" dirty="0"/>
              <a:t> </a:t>
            </a:r>
            <a:r>
              <a:rPr lang="lt-LT" dirty="0" err="1">
                <a:highlight>
                  <a:srgbClr val="FFFF00"/>
                </a:highlight>
              </a:rPr>
              <a:t>GradientBoostingClassifier</a:t>
            </a:r>
            <a:r>
              <a:rPr lang="lt-LT" dirty="0">
                <a:highlight>
                  <a:srgbClr val="FFFF00"/>
                </a:highlight>
              </a:rPr>
              <a:t> </a:t>
            </a:r>
            <a:r>
              <a:rPr lang="lt-LT" dirty="0" err="1"/>
              <a:t>function</a:t>
            </a:r>
            <a:r>
              <a:rPr lang="lt-LT" dirty="0"/>
              <a:t> </a:t>
            </a:r>
            <a:r>
              <a:rPr lang="lt-LT" dirty="0" err="1"/>
              <a:t>has</a:t>
            </a:r>
            <a:r>
              <a:rPr lang="lt-LT" dirty="0"/>
              <a:t> </a:t>
            </a:r>
            <a:r>
              <a:rPr lang="lt-LT" dirty="0" err="1"/>
              <a:t>many</a:t>
            </a:r>
            <a:r>
              <a:rPr lang="lt-LT" dirty="0"/>
              <a:t> </a:t>
            </a:r>
            <a:r>
              <a:rPr lang="lt-LT" dirty="0" err="1"/>
              <a:t>hyperparameters</a:t>
            </a:r>
            <a:r>
              <a:rPr lang="lt-LT" dirty="0"/>
              <a:t> to tune </a:t>
            </a:r>
            <a:endParaRPr lang="en-US" dirty="0"/>
          </a:p>
          <a:p>
            <a:r>
              <a:rPr lang="en-US" dirty="0"/>
              <a:t>	</a:t>
            </a:r>
            <a:r>
              <a:rPr lang="lt-LT" dirty="0"/>
              <a:t>• </a:t>
            </a:r>
            <a:r>
              <a:rPr lang="lt-LT" b="1" dirty="0" err="1"/>
              <a:t>GradientBoostingClassifier</a:t>
            </a:r>
            <a:r>
              <a:rPr lang="lt-LT" b="1" dirty="0"/>
              <a:t>(</a:t>
            </a:r>
            <a:r>
              <a:rPr lang="lt-LT" b="1" dirty="0" err="1"/>
              <a:t>r</a:t>
            </a:r>
            <a:r>
              <a:rPr lang="lt-LT" b="1" dirty="0" err="1">
                <a:highlight>
                  <a:srgbClr val="FFFF00"/>
                </a:highlight>
              </a:rPr>
              <a:t>andom_state</a:t>
            </a:r>
            <a:r>
              <a:rPr lang="lt-LT" b="1" dirty="0"/>
              <a:t>, </a:t>
            </a:r>
            <a:r>
              <a:rPr lang="lt-LT" b="1" dirty="0" err="1"/>
              <a:t>n_estimators</a:t>
            </a:r>
            <a:r>
              <a:rPr lang="lt-LT" b="1" dirty="0"/>
              <a:t>, </a:t>
            </a:r>
            <a:r>
              <a:rPr lang="lt-LT" b="1" dirty="0" err="1"/>
              <a:t>learning_rate</a:t>
            </a:r>
            <a:r>
              <a:rPr lang="lt-LT" b="1" dirty="0"/>
              <a:t>, </a:t>
            </a:r>
            <a:r>
              <a:rPr lang="lt-LT" b="1" dirty="0" err="1"/>
              <a:t>max_features</a:t>
            </a:r>
            <a:r>
              <a:rPr lang="lt-LT" b="1" dirty="0"/>
              <a:t>, </a:t>
            </a:r>
            <a:r>
              <a:rPr lang="lt-LT" b="1" dirty="0" err="1"/>
              <a:t>subsample</a:t>
            </a:r>
            <a:r>
              <a:rPr lang="lt-LT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7F9CB-C722-7E99-E609-F3262B75B192}"/>
              </a:ext>
            </a:extLst>
          </p:cNvPr>
          <p:cNvSpPr txBox="1"/>
          <p:nvPr/>
        </p:nvSpPr>
        <p:spPr>
          <a:xfrm>
            <a:off x="1484668" y="5748203"/>
            <a:ext cx="102550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 err="1"/>
              <a:t>max_depth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/>
              <a:t>min_samples_leaf</a:t>
            </a:r>
            <a:r>
              <a:rPr lang="en-US" b="1" dirty="0"/>
              <a:t> </a:t>
            </a:r>
            <a:r>
              <a:rPr lang="en-US" dirty="0"/>
              <a:t>hyperparameters are also available here (like with standard decision tree models and random forests) and are applied the same way for all the trees in the sequence</a:t>
            </a:r>
            <a:endParaRPr lang="lt-LT" dirty="0"/>
          </a:p>
        </p:txBody>
      </p:sp>
      <p:pic>
        <p:nvPicPr>
          <p:cNvPr id="7" name="Paveikslėli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72C42A1B-B15E-D2B8-93F6-2BD5C74AC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68" y="2465750"/>
            <a:ext cx="8877624" cy="313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51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2772-0CA6-D056-3F1C-B5441D52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331C36D-417B-AA27-855D-8EDE1B553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A GRADIENT BOOSTING MODEL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6CC10-3DC2-F593-3F80-37749795F654}"/>
              </a:ext>
            </a:extLst>
          </p:cNvPr>
          <p:cNvSpPr txBox="1"/>
          <p:nvPr/>
        </p:nvSpPr>
        <p:spPr>
          <a:xfrm>
            <a:off x="1012723" y="1343189"/>
            <a:ext cx="9517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</a:t>
            </a:r>
            <a:r>
              <a:rPr lang="en-US" b="1" dirty="0" err="1"/>
              <a:t>RandomizedSearchCV</a:t>
            </a:r>
            <a:r>
              <a:rPr lang="en-US" dirty="0"/>
              <a:t> to identify promising hyperparameters, then use </a:t>
            </a:r>
            <a:r>
              <a:rPr lang="en-US" b="1" dirty="0" err="1"/>
              <a:t>GridSearchCV</a:t>
            </a:r>
            <a:r>
              <a:rPr lang="en-US" b="1" dirty="0"/>
              <a:t> t</a:t>
            </a:r>
            <a:r>
              <a:rPr lang="en-US" dirty="0"/>
              <a:t>o fine tune them </a:t>
            </a:r>
          </a:p>
          <a:p>
            <a:r>
              <a:rPr lang="en-US" dirty="0"/>
              <a:t>	• Once you’ve determined the best hyperparameters, fit a final model with them specified</a:t>
            </a:r>
            <a:endParaRPr lang="lt-LT" dirty="0"/>
          </a:p>
        </p:txBody>
      </p:sp>
      <p:pic>
        <p:nvPicPr>
          <p:cNvPr id="8" name="Paveikslėlis 7" descr="Paveikslėlis, kuriame yra tekstas, Šriftas, ekrano kopij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9D3B2A61-2F81-F251-ABB6-7AD3ADCF3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650" y="2543518"/>
            <a:ext cx="9085772" cy="39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326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56DEA-8344-F532-58F1-72561D608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443501C-3D86-5B19-426C-80777BC3E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A GRADIENT BOOSTING MODEL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739BF5-8D5B-2520-7E79-959C2035F856}"/>
              </a:ext>
            </a:extLst>
          </p:cNvPr>
          <p:cNvSpPr txBox="1"/>
          <p:nvPr/>
        </p:nvSpPr>
        <p:spPr>
          <a:xfrm>
            <a:off x="1012723" y="1343189"/>
            <a:ext cx="9517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</a:t>
            </a:r>
            <a:r>
              <a:rPr lang="en-US" b="1" dirty="0" err="1"/>
              <a:t>RandomizedSearchCV</a:t>
            </a:r>
            <a:r>
              <a:rPr lang="en-US" dirty="0"/>
              <a:t> to identify promising hyperparameters, then use </a:t>
            </a:r>
            <a:r>
              <a:rPr lang="en-US" dirty="0" err="1"/>
              <a:t>GridSearchCV</a:t>
            </a:r>
            <a:r>
              <a:rPr lang="en-US" dirty="0"/>
              <a:t> to fine tune them </a:t>
            </a:r>
          </a:p>
          <a:p>
            <a:r>
              <a:rPr lang="en-US" dirty="0"/>
              <a:t>	• Once you’ve determined the best hyperparameters, fit a final model with them specified</a:t>
            </a:r>
            <a:endParaRPr lang="lt-LT" dirty="0"/>
          </a:p>
        </p:txBody>
      </p:sp>
      <p:pic>
        <p:nvPicPr>
          <p:cNvPr id="5" name="Paveikslėlis 4" descr="Paveikslėlis, kuriame yra tekstas, Šrift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CAEEC0C4-309F-C6D5-884B-5DD78A92C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2543518"/>
            <a:ext cx="11041016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12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5E8654C-C883-596A-615B-40B0CB86F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&amp; CONS OF GRADIENT BOOSTING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F7263-D3C8-5F1A-F2FA-57B6B12607A3}"/>
              </a:ext>
            </a:extLst>
          </p:cNvPr>
          <p:cNvSpPr txBox="1"/>
          <p:nvPr/>
        </p:nvSpPr>
        <p:spPr>
          <a:xfrm>
            <a:off x="838199" y="1512076"/>
            <a:ext cx="100264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Gradient Boosted Machines have pros and cons that data scientists should be aware of when deciding whether it is the best model for the task at hand </a:t>
            </a:r>
          </a:p>
          <a:p>
            <a:r>
              <a:rPr lang="en-US" dirty="0"/>
              <a:t>	• In general, GBMs are the highest performing models in terms of predictive power– they tend to win Kaggle competitions more often than other models – but this comes at the cost of complexity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7C15B544-DC72-1875-8180-D0516E387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283" y="3026275"/>
            <a:ext cx="9199434" cy="371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14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5F05009-71C2-B6C5-B390-7E72CB608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PRO TIP: SHAP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0145B0-E743-B7C2-DBEB-883B3632CE53}"/>
              </a:ext>
            </a:extLst>
          </p:cNvPr>
          <p:cNvSpPr txBox="1"/>
          <p:nvPr/>
        </p:nvSpPr>
        <p:spPr>
          <a:xfrm>
            <a:off x="648928" y="1486165"/>
            <a:ext cx="107638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SHAP values are a framework for understanding how features impact predictions </a:t>
            </a:r>
          </a:p>
          <a:p>
            <a:r>
              <a:rPr lang="en-US" dirty="0"/>
              <a:t>• Based on game theory economics, they not only reveal which features are most impactful, but also give us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insights</a:t>
            </a:r>
            <a:r>
              <a:rPr lang="en-US" dirty="0">
                <a:highlight>
                  <a:srgbClr val="FFFF00"/>
                </a:highlight>
              </a:rPr>
              <a:t> into the sign (+/-) of the impact</a:t>
            </a:r>
            <a:r>
              <a:rPr lang="en-US" dirty="0"/>
              <a:t>, and reveal interactions between features </a:t>
            </a:r>
          </a:p>
          <a:p>
            <a:r>
              <a:rPr lang="en-US" dirty="0"/>
              <a:t>• Positive SHAP values indicate a positive impact on probability, and vice versa</a:t>
            </a:r>
            <a:endParaRPr lang="lt-LT" dirty="0"/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CA2F7C9D-CE93-A238-D405-09E781ADD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1" y="2810207"/>
            <a:ext cx="6371304" cy="368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0629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FC0A0A6-EE55-8342-232D-AF7B27E3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 TIP: SHAP WATERFALL PLOT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13F4CE-976E-6D63-E939-AC2FAE00ACDA}"/>
              </a:ext>
            </a:extLst>
          </p:cNvPr>
          <p:cNvSpPr txBox="1"/>
          <p:nvPr/>
        </p:nvSpPr>
        <p:spPr>
          <a:xfrm>
            <a:off x="1032387" y="1584294"/>
            <a:ext cx="9655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SHAP waterfall plots help explain how </a:t>
            </a:r>
            <a:r>
              <a:rPr lang="en-US" dirty="0">
                <a:solidFill>
                  <a:srgbClr val="FF0000"/>
                </a:solidFill>
              </a:rPr>
              <a:t>individual predictions </a:t>
            </a:r>
            <a:r>
              <a:rPr lang="en-US" dirty="0"/>
              <a:t>get pushed away from the average observation</a:t>
            </a:r>
            <a:endParaRPr lang="lt-LT" dirty="0"/>
          </a:p>
        </p:txBody>
      </p:sp>
      <p:pic>
        <p:nvPicPr>
          <p:cNvPr id="6" name="Paveikslėlis 5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3DED5145-A2F5-39E1-D37A-3DF09249F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181" y="2571813"/>
            <a:ext cx="8422421" cy="371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973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748493A-A9E5-E716-ED67-69C65FE24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 TIP: SHAP BEESWARM PLOT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57AAC-88AA-6292-0B67-8D2F2E5528BE}"/>
              </a:ext>
            </a:extLst>
          </p:cNvPr>
          <p:cNvSpPr txBox="1"/>
          <p:nvPr/>
        </p:nvSpPr>
        <p:spPr>
          <a:xfrm>
            <a:off x="838200" y="1524451"/>
            <a:ext cx="10291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SHAP </a:t>
            </a:r>
            <a:r>
              <a:rPr lang="en-US" b="1" dirty="0" err="1"/>
              <a:t>beeswarm</a:t>
            </a:r>
            <a:r>
              <a:rPr lang="en-US" b="1" dirty="0"/>
              <a:t> plot </a:t>
            </a:r>
            <a:r>
              <a:rPr lang="en-US" dirty="0"/>
              <a:t>acts as a supercharged version of feature importance, indicating the impact and direction of each feature on each observation</a:t>
            </a:r>
            <a:endParaRPr lang="lt-LT" dirty="0"/>
          </a:p>
        </p:txBody>
      </p:sp>
      <p:pic>
        <p:nvPicPr>
          <p:cNvPr id="6" name="Paveikslėlis 5" descr="Paveikslėlis, kuriame yra tekstas, Šriftas, linija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36B28699-368A-0595-03BF-B426F27F0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58" y="2613186"/>
            <a:ext cx="8702752" cy="359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08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8DE6C27-0689-D7A3-4BF7-0F09731B6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 TIP: SHAP DEPENDENCE PLOT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012BD-E285-5628-F74F-A8B673CC1EFC}"/>
              </a:ext>
            </a:extLst>
          </p:cNvPr>
          <p:cNvSpPr txBox="1"/>
          <p:nvPr/>
        </p:nvSpPr>
        <p:spPr>
          <a:xfrm>
            <a:off x="838199" y="1376967"/>
            <a:ext cx="107736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SHAP dependence plot </a:t>
            </a:r>
            <a:r>
              <a:rPr lang="en-US" dirty="0"/>
              <a:t>shows interactions between features in the data and their impact on the predictions in the model</a:t>
            </a:r>
            <a:endParaRPr lang="lt-LT" dirty="0"/>
          </a:p>
        </p:txBody>
      </p:sp>
      <p:pic>
        <p:nvPicPr>
          <p:cNvPr id="6" name="Paveikslėlis 5" descr="Paveikslėlis, kuriame yra tekstas, ekrano kopija, diagram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FB6B1887-9BFB-2AFB-03A2-13FD089AC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023298"/>
            <a:ext cx="6192114" cy="45916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96871A-13B5-C4EB-1F86-B4C70E90C6F3}"/>
              </a:ext>
            </a:extLst>
          </p:cNvPr>
          <p:cNvSpPr txBox="1"/>
          <p:nvPr/>
        </p:nvSpPr>
        <p:spPr>
          <a:xfrm>
            <a:off x="7207168" y="3035140"/>
            <a:ext cx="42278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general, probability rises with salary </a:t>
            </a:r>
            <a:r>
              <a:rPr lang="en-US" dirty="0">
                <a:highlight>
                  <a:srgbClr val="FFFF00"/>
                </a:highlight>
              </a:rPr>
              <a:t>Customers with high ages also have positive predicted probabilities </a:t>
            </a:r>
            <a:r>
              <a:rPr lang="en-US" dirty="0"/>
              <a:t>and, as salary rises, we see more low age customers scoring high as well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0125292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E8301AE-DFFF-FB93-C726-9370AC019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KEY TAKEAWAYS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4B32E995-59AB-054E-0711-8569CAA7B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03" y="1690688"/>
            <a:ext cx="9553835" cy="450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71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10828D7-4363-71F3-CE24-FA582A22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CLASSIFICATION MODEL RECAP</a:t>
            </a:r>
          </a:p>
        </p:txBody>
      </p:sp>
      <p:pic>
        <p:nvPicPr>
          <p:cNvPr id="4" name="Paveikslėlis 3" descr="Paveikslėlis, kuriame yra tekstas, ekrano kopija, skaičius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BD7B2F7C-C203-92C2-F658-A36972AAE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255674" cy="473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514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42C1273-2A40-68FF-5115-0ECB28146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LOOKING AHEAD: UNSUPERVISED LEARNING</a:t>
            </a:r>
          </a:p>
        </p:txBody>
      </p:sp>
      <p:pic>
        <p:nvPicPr>
          <p:cNvPr id="6" name="Paveikslėlis 5">
            <a:extLst>
              <a:ext uri="{FF2B5EF4-FFF2-40B4-BE49-F238E27FC236}">
                <a16:creationId xmlns:a16="http://schemas.microsoft.com/office/drawing/2014/main" id="{CC3C6464-B213-F304-6854-7EE2A97F5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206" y="2004423"/>
            <a:ext cx="5801535" cy="40486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80813B-9C7C-7996-16B4-DAD62CD1A44D}"/>
              </a:ext>
            </a:extLst>
          </p:cNvPr>
          <p:cNvSpPr txBox="1"/>
          <p:nvPr/>
        </p:nvSpPr>
        <p:spPr>
          <a:xfrm>
            <a:off x="7865807" y="2323151"/>
            <a:ext cx="38247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Clustering Algorithms </a:t>
            </a:r>
          </a:p>
          <a:p>
            <a:r>
              <a:rPr lang="en-US" dirty="0"/>
              <a:t>• Anomaly Detection </a:t>
            </a:r>
          </a:p>
          <a:p>
            <a:r>
              <a:rPr lang="en-US" dirty="0"/>
              <a:t>• Dimensionality Reduction </a:t>
            </a:r>
          </a:p>
          <a:p>
            <a:r>
              <a:rPr lang="en-US" dirty="0"/>
              <a:t>• Recommender Systems • </a:t>
            </a:r>
          </a:p>
          <a:p>
            <a:r>
              <a:rPr lang="en-US" dirty="0"/>
              <a:t>…and More!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37345700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5B8A74C8-16A0-445A-AF83-74713AD78582}"/>
</file>

<file path=customXml/itemProps2.xml><?xml version="1.0" encoding="utf-8"?>
<ds:datastoreItem xmlns:ds="http://schemas.openxmlformats.org/officeDocument/2006/customXml" ds:itemID="{0020BA1D-B5C4-4B9D-A243-00FF8B4BDE61}"/>
</file>

<file path=customXml/itemProps3.xml><?xml version="1.0" encoding="utf-8"?>
<ds:datastoreItem xmlns:ds="http://schemas.openxmlformats.org/officeDocument/2006/customXml" ds:itemID="{9B85F0D5-463C-4581-ACC8-F2B6A610FC0D}"/>
</file>

<file path=docProps/app.xml><?xml version="1.0" encoding="utf-8"?>
<Properties xmlns="http://schemas.openxmlformats.org/officeDocument/2006/extended-properties" xmlns:vt="http://schemas.openxmlformats.org/officeDocument/2006/docPropsVTypes">
  <TotalTime>1084</TotalTime>
  <Words>1805</Words>
  <Application>Microsoft Office PowerPoint</Application>
  <PresentationFormat>Plačiaekranė</PresentationFormat>
  <Paragraphs>143</Paragraphs>
  <Slides>40</Slides>
  <Notes>4</Notes>
  <HiddenSlides>0</HiddenSlides>
  <MMClips>0</MMClips>
  <ScaleCrop>false</ScaleCrop>
  <HeadingPairs>
    <vt:vector size="6" baseType="variant">
      <vt:variant>
        <vt:lpstr>Naudojami šriftai</vt:lpstr>
      </vt:variant>
      <vt:variant>
        <vt:i4>3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„Office“ tema</vt:lpstr>
      <vt:lpstr>Python Machine Learning: ENSEMBLE MODELS</vt:lpstr>
      <vt:lpstr>WHAT IS DATA SCIENCE?</vt:lpstr>
      <vt:lpstr>Common machine learning algorithms</vt:lpstr>
      <vt:lpstr>CLASSIFICATION 101</vt:lpstr>
      <vt:lpstr>GOALS OF CLASSIFICATION</vt:lpstr>
      <vt:lpstr>TYPES OF CLASSIFICATION</vt:lpstr>
      <vt:lpstr>CLASSIFICATION MODELING WORKFLOW</vt:lpstr>
      <vt:lpstr>KEY TAKEAWAYS</vt:lpstr>
      <vt:lpstr>K-NEAREST NEIGHBORS (KNN)</vt:lpstr>
      <vt:lpstr>LOGISTIC REGRESSION</vt:lpstr>
      <vt:lpstr>DECISION TREES</vt:lpstr>
      <vt:lpstr>MODEL SELECTION &amp; METRICS</vt:lpstr>
      <vt:lpstr>ENSEMBLE MODELS</vt:lpstr>
      <vt:lpstr>ENSEMBLE MODELS</vt:lpstr>
      <vt:lpstr>SIMPLE ENSEMBLE MODELS</vt:lpstr>
      <vt:lpstr>FITTING A SIMPLE ENSEMBLE MODEL</vt:lpstr>
      <vt:lpstr>FITTING A SIMPLE ENSEMBLE MODEL</vt:lpstr>
      <vt:lpstr>RANDOM FORESTS</vt:lpstr>
      <vt:lpstr>FITTING A RANDOM FOREST MODEL</vt:lpstr>
      <vt:lpstr>FEATURE IMPORTANCE</vt:lpstr>
      <vt:lpstr>TUNING A RANDOM FOREST MODEL</vt:lpstr>
      <vt:lpstr>TUNING A RANDOM FOREST MODEL</vt:lpstr>
      <vt:lpstr>TUNING A RANDOM FOREST MODEL</vt:lpstr>
      <vt:lpstr>TUNING A RANDOM FOREST MODEL</vt:lpstr>
      <vt:lpstr>PRO TIP: RANDOM SEARCH</vt:lpstr>
      <vt:lpstr>PROS &amp; CONS OF RANDOM FORESTS</vt:lpstr>
      <vt:lpstr>GRADIENT BOOSTED MACHINES</vt:lpstr>
      <vt:lpstr>FITTING A GRADIENT BOOSTING MODEL</vt:lpstr>
      <vt:lpstr>TUNING A GRADIENT BOOSTING MODEL</vt:lpstr>
      <vt:lpstr>TUNING A GRADIENT BOOSTING MODEL</vt:lpstr>
      <vt:lpstr>TUNING A GRADIENT BOOSTING MODEL</vt:lpstr>
      <vt:lpstr>TUNING A GRADIENT BOOSTING MODEL</vt:lpstr>
      <vt:lpstr>PROS &amp; CONS OF GRADIENT BOOSTING</vt:lpstr>
      <vt:lpstr>PRO TIP: SHAP VALUES</vt:lpstr>
      <vt:lpstr>PRO TIP: SHAP WATERFALL PLOT</vt:lpstr>
      <vt:lpstr>PRO TIP: SHAP BEESWARM PLOT</vt:lpstr>
      <vt:lpstr>PRO TIP: SHAP DEPENDENCE PLOT</vt:lpstr>
      <vt:lpstr>KEY TAKEAWAYS</vt:lpstr>
      <vt:lpstr>CLASSIFICATION MODEL RECAP</vt:lpstr>
      <vt:lpstr>LOOKING AHEAD: UNSUPERVISED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Žydrūnė Kelpšaitė</dc:creator>
  <cp:lastModifiedBy>Žydrūnė Kelpšaitė</cp:lastModifiedBy>
  <cp:revision>3</cp:revision>
  <dcterms:created xsi:type="dcterms:W3CDTF">2026-01-30T17:15:02Z</dcterms:created>
  <dcterms:modified xsi:type="dcterms:W3CDTF">2026-03-10T12:59:58Z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0x010100753C69E30CD2E346B0231A1827D4E953</vt:lpwstr>
  </property>
</Properties>
</file>