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5" r:id="rId6"/>
    <p:sldId id="266" r:id="rId7"/>
    <p:sldId id="267" r:id="rId8"/>
    <p:sldId id="268" r:id="rId9"/>
    <p:sldId id="294" r:id="rId10"/>
    <p:sldId id="329" r:id="rId11"/>
    <p:sldId id="363" r:id="rId12"/>
    <p:sldId id="407" r:id="rId13"/>
    <p:sldId id="408" r:id="rId14"/>
    <p:sldId id="409" r:id="rId15"/>
    <p:sldId id="410" r:id="rId16"/>
    <p:sldId id="411" r:id="rId17"/>
    <p:sldId id="412" r:id="rId18"/>
    <p:sldId id="413" r:id="rId19"/>
    <p:sldId id="414" r:id="rId20"/>
    <p:sldId id="416" r:id="rId21"/>
    <p:sldId id="417" r:id="rId22"/>
    <p:sldId id="418" r:id="rId23"/>
    <p:sldId id="419" r:id="rId24"/>
    <p:sldId id="420" r:id="rId25"/>
    <p:sldId id="415" r:id="rId26"/>
    <p:sldId id="421" r:id="rId27"/>
    <p:sldId id="422" r:id="rId28"/>
    <p:sldId id="423" r:id="rId29"/>
    <p:sldId id="424" r:id="rId30"/>
    <p:sldId id="425" r:id="rId31"/>
    <p:sldId id="427" r:id="rId32"/>
    <p:sldId id="428" r:id="rId33"/>
    <p:sldId id="426" r:id="rId34"/>
    <p:sldId id="429" r:id="rId35"/>
  </p:sldIdLst>
  <p:sldSz cx="12192000" cy="6858000"/>
  <p:notesSz cx="6858000" cy="9144000"/>
  <p:defaultTextStyle>
    <a:defPPr>
      <a:defRPr lang="lt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12" autoAdjust="0"/>
    <p:restoredTop sz="94660"/>
  </p:normalViewPr>
  <p:slideViewPr>
    <p:cSldViewPr snapToGrid="0">
      <p:cViewPr varScale="1">
        <p:scale>
          <a:sx n="97" d="100"/>
          <a:sy n="97" d="100"/>
        </p:scale>
        <p:origin x="69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Žydrūnė Kelpšaitė" userId="e943768126acec1d" providerId="LiveId" clId="{31712FD7-FA85-48BA-9D35-5382388CFC74}"/>
    <pc:docChg chg="undo custSel addSld delSld modSld">
      <pc:chgData name="Žydrūnė Kelpšaitė" userId="e943768126acec1d" providerId="LiveId" clId="{31712FD7-FA85-48BA-9D35-5382388CFC74}" dt="2026-03-09T12:40:28.013" v="92" actId="13926"/>
      <pc:docMkLst>
        <pc:docMk/>
      </pc:docMkLst>
      <pc:sldChg chg="addSp delSp modSp mod">
        <pc:chgData name="Žydrūnė Kelpšaitė" userId="e943768126acec1d" providerId="LiveId" clId="{31712FD7-FA85-48BA-9D35-5382388CFC74}" dt="2026-02-11T18:18:39.375" v="30" actId="20577"/>
        <pc:sldMkLst>
          <pc:docMk/>
          <pc:sldMk cId="4182519725" sldId="256"/>
        </pc:sldMkLst>
        <pc:spChg chg="mod">
          <ac:chgData name="Žydrūnė Kelpšaitė" userId="e943768126acec1d" providerId="LiveId" clId="{31712FD7-FA85-48BA-9D35-5382388CFC74}" dt="2026-02-11T18:18:39.375" v="30" actId="20577"/>
          <ac:spMkLst>
            <pc:docMk/>
            <pc:sldMk cId="4182519725" sldId="256"/>
            <ac:spMk id="2" creationId="{551DE627-F873-EE20-9A3B-D8D2E34FDCCE}"/>
          </ac:spMkLst>
        </pc:spChg>
        <pc:picChg chg="add mod">
          <ac:chgData name="Žydrūnė Kelpšaitė" userId="e943768126acec1d" providerId="LiveId" clId="{31712FD7-FA85-48BA-9D35-5382388CFC74}" dt="2026-02-11T18:18:22.350" v="14" actId="1076"/>
          <ac:picMkLst>
            <pc:docMk/>
            <pc:sldMk cId="4182519725" sldId="256"/>
            <ac:picMk id="4" creationId="{0DEFE5D2-7577-60FA-43A8-1EA3EA21B280}"/>
          </ac:picMkLst>
        </pc:picChg>
      </pc:sldChg>
      <pc:sldChg chg="modSp mod">
        <pc:chgData name="Žydrūnė Kelpšaitė" userId="e943768126acec1d" providerId="LiveId" clId="{31712FD7-FA85-48BA-9D35-5382388CFC74}" dt="2026-02-12T07:40:10.440" v="42" actId="13926"/>
        <pc:sldMkLst>
          <pc:docMk/>
          <pc:sldMk cId="3084376267" sldId="294"/>
        </pc:sldMkLst>
        <pc:spChg chg="mod">
          <ac:chgData name="Žydrūnė Kelpšaitė" userId="e943768126acec1d" providerId="LiveId" clId="{31712FD7-FA85-48BA-9D35-5382388CFC74}" dt="2026-02-12T07:40:10.440" v="42" actId="13926"/>
          <ac:spMkLst>
            <pc:docMk/>
            <pc:sldMk cId="3084376267" sldId="294"/>
            <ac:spMk id="4" creationId="{534E520F-0275-2CA6-85A0-AAD3A1895D90}"/>
          </ac:spMkLst>
        </pc:spChg>
      </pc:sldChg>
      <pc:sldChg chg="modSp mod">
        <pc:chgData name="Žydrūnė Kelpšaitė" userId="e943768126acec1d" providerId="LiveId" clId="{31712FD7-FA85-48BA-9D35-5382388CFC74}" dt="2026-02-12T07:41:45.375" v="43" actId="13926"/>
        <pc:sldMkLst>
          <pc:docMk/>
          <pc:sldMk cId="3367358231" sldId="363"/>
        </pc:sldMkLst>
        <pc:spChg chg="mod">
          <ac:chgData name="Žydrūnė Kelpšaitė" userId="e943768126acec1d" providerId="LiveId" clId="{31712FD7-FA85-48BA-9D35-5382388CFC74}" dt="2026-02-12T07:41:45.375" v="43" actId="13926"/>
          <ac:spMkLst>
            <pc:docMk/>
            <pc:sldMk cId="3367358231" sldId="363"/>
            <ac:spMk id="4" creationId="{F51B6D5D-17EA-9CBF-E577-CFECEE5AE7F7}"/>
          </ac:spMkLst>
        </pc:spChg>
      </pc:sldChg>
      <pc:sldChg chg="addSp delSp modSp mod">
        <pc:chgData name="Žydrūnė Kelpšaitė" userId="e943768126acec1d" providerId="LiveId" clId="{31712FD7-FA85-48BA-9D35-5382388CFC74}" dt="2026-02-12T07:42:46.060" v="45" actId="1076"/>
        <pc:sldMkLst>
          <pc:docMk/>
          <pc:sldMk cId="4231371397" sldId="407"/>
        </pc:sldMkLst>
        <pc:picChg chg="add mod">
          <ac:chgData name="Žydrūnė Kelpšaitė" userId="e943768126acec1d" providerId="LiveId" clId="{31712FD7-FA85-48BA-9D35-5382388CFC74}" dt="2026-02-12T07:42:46.060" v="45" actId="1076"/>
          <ac:picMkLst>
            <pc:docMk/>
            <pc:sldMk cId="4231371397" sldId="407"/>
            <ac:picMk id="3" creationId="{267C5D7F-F98D-2E1B-81CD-3AA5E7507A03}"/>
          </ac:picMkLst>
        </pc:picChg>
        <pc:picChg chg="mod">
          <ac:chgData name="Žydrūnė Kelpšaitė" userId="e943768126acec1d" providerId="LiveId" clId="{31712FD7-FA85-48BA-9D35-5382388CFC74}" dt="2026-02-11T18:22:18.866" v="37" actId="1076"/>
          <ac:picMkLst>
            <pc:docMk/>
            <pc:sldMk cId="4231371397" sldId="407"/>
            <ac:picMk id="6" creationId="{0F5639FD-C5CC-C512-9BA4-513F8F91340D}"/>
          </ac:picMkLst>
        </pc:picChg>
      </pc:sldChg>
      <pc:sldChg chg="addSp modSp mod">
        <pc:chgData name="Žydrūnė Kelpšaitė" userId="e943768126acec1d" providerId="LiveId" clId="{31712FD7-FA85-48BA-9D35-5382388CFC74}" dt="2026-03-08T17:31:37.910" v="70" actId="113"/>
        <pc:sldMkLst>
          <pc:docMk/>
          <pc:sldMk cId="3640119024" sldId="408"/>
        </pc:sldMkLst>
        <pc:spChg chg="mod">
          <ac:chgData name="Žydrūnė Kelpšaitė" userId="e943768126acec1d" providerId="LiveId" clId="{31712FD7-FA85-48BA-9D35-5382388CFC74}" dt="2026-03-08T17:31:37.910" v="70" actId="113"/>
          <ac:spMkLst>
            <pc:docMk/>
            <pc:sldMk cId="3640119024" sldId="408"/>
            <ac:spMk id="4" creationId="{BC29C2CD-5DC5-2711-2A42-67ABD5939E52}"/>
          </ac:spMkLst>
        </pc:spChg>
        <pc:picChg chg="add mod">
          <ac:chgData name="Žydrūnė Kelpšaitė" userId="e943768126acec1d" providerId="LiveId" clId="{31712FD7-FA85-48BA-9D35-5382388CFC74}" dt="2026-02-11T18:22:27.477" v="41" actId="1076"/>
          <ac:picMkLst>
            <pc:docMk/>
            <pc:sldMk cId="3640119024" sldId="408"/>
            <ac:picMk id="5" creationId="{4C45F88D-958F-1D7E-936C-F7DE1ADC4CAB}"/>
          </ac:picMkLst>
        </pc:picChg>
      </pc:sldChg>
      <pc:sldChg chg="modSp mod">
        <pc:chgData name="Žydrūnė Kelpšaitė" userId="e943768126acec1d" providerId="LiveId" clId="{31712FD7-FA85-48BA-9D35-5382388CFC74}" dt="2026-02-12T07:54:56.433" v="50" actId="14100"/>
        <pc:sldMkLst>
          <pc:docMk/>
          <pc:sldMk cId="3809694581" sldId="409"/>
        </pc:sldMkLst>
        <pc:picChg chg="mod">
          <ac:chgData name="Žydrūnė Kelpšaitė" userId="e943768126acec1d" providerId="LiveId" clId="{31712FD7-FA85-48BA-9D35-5382388CFC74}" dt="2026-02-12T07:54:56.433" v="50" actId="14100"/>
          <ac:picMkLst>
            <pc:docMk/>
            <pc:sldMk cId="3809694581" sldId="409"/>
            <ac:picMk id="4" creationId="{84E4C60B-3AC3-6448-42D0-DB8968332D1B}"/>
          </ac:picMkLst>
        </pc:picChg>
      </pc:sldChg>
      <pc:sldChg chg="modSp mod">
        <pc:chgData name="Žydrūnė Kelpšaitė" userId="e943768126acec1d" providerId="LiveId" clId="{31712FD7-FA85-48BA-9D35-5382388CFC74}" dt="2026-03-09T11:54:41.121" v="77" actId="113"/>
        <pc:sldMkLst>
          <pc:docMk/>
          <pc:sldMk cId="851313527" sldId="410"/>
        </pc:sldMkLst>
        <pc:spChg chg="mod">
          <ac:chgData name="Žydrūnė Kelpšaitė" userId="e943768126acec1d" providerId="LiveId" clId="{31712FD7-FA85-48BA-9D35-5382388CFC74}" dt="2026-02-12T07:57:02.775" v="51" actId="1076"/>
          <ac:spMkLst>
            <pc:docMk/>
            <pc:sldMk cId="851313527" sldId="410"/>
            <ac:spMk id="2" creationId="{0A01141C-3C90-CD17-A3DA-7F0F3631CF1F}"/>
          </ac:spMkLst>
        </pc:spChg>
        <pc:spChg chg="mod">
          <ac:chgData name="Žydrūnė Kelpšaitė" userId="e943768126acec1d" providerId="LiveId" clId="{31712FD7-FA85-48BA-9D35-5382388CFC74}" dt="2026-03-09T11:54:41.121" v="77" actId="113"/>
          <ac:spMkLst>
            <pc:docMk/>
            <pc:sldMk cId="851313527" sldId="410"/>
            <ac:spMk id="7" creationId="{CE8A8317-10CB-EEB9-BECC-91F4B173D62D}"/>
          </ac:spMkLst>
        </pc:spChg>
        <pc:picChg chg="mod">
          <ac:chgData name="Žydrūnė Kelpšaitė" userId="e943768126acec1d" providerId="LiveId" clId="{31712FD7-FA85-48BA-9D35-5382388CFC74}" dt="2026-02-12T07:57:09.293" v="53" actId="1076"/>
          <ac:picMkLst>
            <pc:docMk/>
            <pc:sldMk cId="851313527" sldId="410"/>
            <ac:picMk id="5" creationId="{E47DE768-F998-7BF2-8031-FBB2C31986F0}"/>
          </ac:picMkLst>
        </pc:picChg>
      </pc:sldChg>
      <pc:sldChg chg="modSp mod">
        <pc:chgData name="Žydrūnė Kelpšaitė" userId="e943768126acec1d" providerId="LiveId" clId="{31712FD7-FA85-48BA-9D35-5382388CFC74}" dt="2026-02-12T08:09:56.797" v="56" actId="1076"/>
        <pc:sldMkLst>
          <pc:docMk/>
          <pc:sldMk cId="176767817" sldId="414"/>
        </pc:sldMkLst>
        <pc:spChg chg="mod">
          <ac:chgData name="Žydrūnė Kelpšaitė" userId="e943768126acec1d" providerId="LiveId" clId="{31712FD7-FA85-48BA-9D35-5382388CFC74}" dt="2026-02-12T08:09:56.797" v="56" actId="1076"/>
          <ac:spMkLst>
            <pc:docMk/>
            <pc:sldMk cId="176767817" sldId="414"/>
            <ac:spMk id="2" creationId="{9AB028C1-A982-92B8-AB42-2033CBB077EA}"/>
          </ac:spMkLst>
        </pc:spChg>
      </pc:sldChg>
      <pc:sldChg chg="modSp mod">
        <pc:chgData name="Žydrūnė Kelpšaitė" userId="e943768126acec1d" providerId="LiveId" clId="{31712FD7-FA85-48BA-9D35-5382388CFC74}" dt="2026-03-09T12:06:41.650" v="79" actId="113"/>
        <pc:sldMkLst>
          <pc:docMk/>
          <pc:sldMk cId="3920900442" sldId="415"/>
        </pc:sldMkLst>
        <pc:spChg chg="mod">
          <ac:chgData name="Žydrūnė Kelpšaitė" userId="e943768126acec1d" providerId="LiveId" clId="{31712FD7-FA85-48BA-9D35-5382388CFC74}" dt="2026-03-09T12:06:41.650" v="79" actId="113"/>
          <ac:spMkLst>
            <pc:docMk/>
            <pc:sldMk cId="3920900442" sldId="415"/>
            <ac:spMk id="4" creationId="{E72E7F21-F2A9-7872-1B4E-C418080A59F0}"/>
          </ac:spMkLst>
        </pc:spChg>
      </pc:sldChg>
      <pc:sldChg chg="modSp mod">
        <pc:chgData name="Žydrūnė Kelpšaitė" userId="e943768126acec1d" providerId="LiveId" clId="{31712FD7-FA85-48BA-9D35-5382388CFC74}" dt="2026-03-08T17:59:02.344" v="75" actId="113"/>
        <pc:sldMkLst>
          <pc:docMk/>
          <pc:sldMk cId="1596925659" sldId="421"/>
        </pc:sldMkLst>
        <pc:spChg chg="mod">
          <ac:chgData name="Žydrūnė Kelpšaitė" userId="e943768126acec1d" providerId="LiveId" clId="{31712FD7-FA85-48BA-9D35-5382388CFC74}" dt="2026-03-08T17:59:02.344" v="75" actId="113"/>
          <ac:spMkLst>
            <pc:docMk/>
            <pc:sldMk cId="1596925659" sldId="421"/>
            <ac:spMk id="4" creationId="{F7490484-1701-B1E7-B848-D627BFD7A1DB}"/>
          </ac:spMkLst>
        </pc:spChg>
      </pc:sldChg>
      <pc:sldChg chg="modSp mod">
        <pc:chgData name="Žydrūnė Kelpšaitė" userId="e943768126acec1d" providerId="LiveId" clId="{31712FD7-FA85-48BA-9D35-5382388CFC74}" dt="2026-03-09T12:31:20.189" v="87" actId="1076"/>
        <pc:sldMkLst>
          <pc:docMk/>
          <pc:sldMk cId="2183174850" sldId="422"/>
        </pc:sldMkLst>
        <pc:spChg chg="mod">
          <ac:chgData name="Žydrūnė Kelpšaitė" userId="e943768126acec1d" providerId="LiveId" clId="{31712FD7-FA85-48BA-9D35-5382388CFC74}" dt="2026-02-12T08:21:40.290" v="62" actId="1076"/>
          <ac:spMkLst>
            <pc:docMk/>
            <pc:sldMk cId="2183174850" sldId="422"/>
            <ac:spMk id="2" creationId="{2EEFB617-5969-9E90-0240-81405D78BBC4}"/>
          </ac:spMkLst>
        </pc:spChg>
        <pc:picChg chg="mod">
          <ac:chgData name="Žydrūnė Kelpšaitė" userId="e943768126acec1d" providerId="LiveId" clId="{31712FD7-FA85-48BA-9D35-5382388CFC74}" dt="2026-03-09T12:31:20.189" v="87" actId="1076"/>
          <ac:picMkLst>
            <pc:docMk/>
            <pc:sldMk cId="2183174850" sldId="422"/>
            <ac:picMk id="6" creationId="{96729882-C633-976B-46AC-AF81B9F366A8}"/>
          </ac:picMkLst>
        </pc:picChg>
      </pc:sldChg>
      <pc:sldChg chg="modSp mod">
        <pc:chgData name="Žydrūnė Kelpšaitė" userId="e943768126acec1d" providerId="LiveId" clId="{31712FD7-FA85-48BA-9D35-5382388CFC74}" dt="2026-02-12T08:55:14.605" v="64" actId="207"/>
        <pc:sldMkLst>
          <pc:docMk/>
          <pc:sldMk cId="1998187668" sldId="424"/>
        </pc:sldMkLst>
        <pc:spChg chg="mod">
          <ac:chgData name="Žydrūnė Kelpšaitė" userId="e943768126acec1d" providerId="LiveId" clId="{31712FD7-FA85-48BA-9D35-5382388CFC74}" dt="2026-02-12T08:55:14.605" v="64" actId="207"/>
          <ac:spMkLst>
            <pc:docMk/>
            <pc:sldMk cId="1998187668" sldId="424"/>
            <ac:spMk id="4" creationId="{0E08589B-8684-9B0F-217B-4EB5D12607AD}"/>
          </ac:spMkLst>
        </pc:spChg>
      </pc:sldChg>
      <pc:sldChg chg="modSp mod">
        <pc:chgData name="Žydrūnė Kelpšaitė" userId="e943768126acec1d" providerId="LiveId" clId="{31712FD7-FA85-48BA-9D35-5382388CFC74}" dt="2026-03-09T12:39:10.627" v="91" actId="1076"/>
        <pc:sldMkLst>
          <pc:docMk/>
          <pc:sldMk cId="3841547139" sldId="425"/>
        </pc:sldMkLst>
        <pc:spChg chg="mod">
          <ac:chgData name="Žydrūnė Kelpšaitė" userId="e943768126acec1d" providerId="LiveId" clId="{31712FD7-FA85-48BA-9D35-5382388CFC74}" dt="2026-03-09T12:39:01.702" v="89" actId="113"/>
          <ac:spMkLst>
            <pc:docMk/>
            <pc:sldMk cId="3841547139" sldId="425"/>
            <ac:spMk id="4" creationId="{96E6BD80-F123-5397-198B-D7BD4983B6A8}"/>
          </ac:spMkLst>
        </pc:spChg>
        <pc:picChg chg="mod">
          <ac:chgData name="Žydrūnė Kelpšaitė" userId="e943768126acec1d" providerId="LiveId" clId="{31712FD7-FA85-48BA-9D35-5382388CFC74}" dt="2026-03-09T12:39:10.627" v="91" actId="1076"/>
          <ac:picMkLst>
            <pc:docMk/>
            <pc:sldMk cId="3841547139" sldId="425"/>
            <ac:picMk id="6" creationId="{0C60E04D-1EC5-8816-FB38-DF9F8BD20180}"/>
          </ac:picMkLst>
        </pc:picChg>
      </pc:sldChg>
      <pc:sldChg chg="modSp mod">
        <pc:chgData name="Žydrūnė Kelpšaitė" userId="e943768126acec1d" providerId="LiveId" clId="{31712FD7-FA85-48BA-9D35-5382388CFC74}" dt="2026-03-09T12:40:28.013" v="92" actId="13926"/>
        <pc:sldMkLst>
          <pc:docMk/>
          <pc:sldMk cId="3983396786" sldId="426"/>
        </pc:sldMkLst>
        <pc:spChg chg="mod">
          <ac:chgData name="Žydrūnė Kelpšaitė" userId="e943768126acec1d" providerId="LiveId" clId="{31712FD7-FA85-48BA-9D35-5382388CFC74}" dt="2026-03-09T12:40:28.013" v="92" actId="13926"/>
          <ac:spMkLst>
            <pc:docMk/>
            <pc:sldMk cId="3983396786" sldId="426"/>
            <ac:spMk id="4" creationId="{243EB6A0-5222-9ED9-23D2-E77B0C6A5C28}"/>
          </ac:spMkLst>
        </pc:spChg>
      </pc:sldChg>
      <pc:sldChg chg="modSp mod">
        <pc:chgData name="Žydrūnė Kelpšaitė" userId="e943768126acec1d" providerId="LiveId" clId="{31712FD7-FA85-48BA-9D35-5382388CFC74}" dt="2026-02-12T09:17:57.715" v="67" actId="13926"/>
        <pc:sldMkLst>
          <pc:docMk/>
          <pc:sldMk cId="926925305" sldId="429"/>
        </pc:sldMkLst>
        <pc:spChg chg="mod">
          <ac:chgData name="Žydrūnė Kelpšaitė" userId="e943768126acec1d" providerId="LiveId" clId="{31712FD7-FA85-48BA-9D35-5382388CFC74}" dt="2026-02-12T09:17:57.715" v="67" actId="13926"/>
          <ac:spMkLst>
            <pc:docMk/>
            <pc:sldMk cId="926925305" sldId="429"/>
            <ac:spMk id="4" creationId="{62C3D212-83E4-BDDF-B566-AFF9CAE6EE1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avadinimo skaidr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FF23B2B-6DF0-175D-6F6E-CE8F2CE9DB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Antrinis pavadinimas 2">
            <a:extLst>
              <a:ext uri="{FF2B5EF4-FFF2-40B4-BE49-F238E27FC236}">
                <a16:creationId xmlns:a16="http://schemas.microsoft.com/office/drawing/2014/main" id="{C75A578B-F822-121B-70DE-26A285B38F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lt-LT"/>
              <a:t>Spustelėkite norėdami redaguoti šablono paantraštės stilių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9798A619-D9CD-8486-1DC0-79713FFEA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2026-03-09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66049E90-79EE-7ACA-0605-40F877213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B4DF3385-9C80-DE8D-BE89-0A8081174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2140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avadinimas ir turin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00DA10F-7DE5-8E08-D2DF-569F97338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22ACF2B9-7FD9-3715-E634-C4247F953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8940070A-7201-ADA4-2E46-40D45C1E5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2026-03-09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61392D72-6405-3B12-7EE4-70A999A53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8818D59A-34AB-A34D-CD51-8FE8D8D2C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725789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kcijos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F050FADE-5EF0-36BC-C3EA-7F86A899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9F741CF4-BBD5-1985-15AD-2BAEC6B5C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C78235FD-80C3-ACCC-16CA-8E70FC8B9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2026-03-09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BE900B73-AFB8-B971-5294-D1F2FD674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2189D49C-A340-BE8F-4EB5-B101EEB39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413041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 turin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E0777C39-3AD9-649B-3BD3-F28FA01E1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1462FCAC-6E24-EC66-2CD0-773345DFCA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Turinio vietos rezervavimo ženklas 3">
            <a:extLst>
              <a:ext uri="{FF2B5EF4-FFF2-40B4-BE49-F238E27FC236}">
                <a16:creationId xmlns:a16="http://schemas.microsoft.com/office/drawing/2014/main" id="{10C02487-C43C-FC2A-F5A6-B65C88F9D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BF069540-A376-A842-1AD6-5167E6580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2026-03-09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0B2B084F-5195-DD8D-BD70-C4EE3F598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F0DA0A15-7B7C-C71D-FF66-074AC3611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33043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Lyg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F39C4366-1858-A9F4-A10A-D88481890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CA90D789-1FE7-D7A4-05B8-F056B4698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4" name="Turinio vietos rezervavimo ženklas 3">
            <a:extLst>
              <a:ext uri="{FF2B5EF4-FFF2-40B4-BE49-F238E27FC236}">
                <a16:creationId xmlns:a16="http://schemas.microsoft.com/office/drawing/2014/main" id="{37F8B964-F0A8-9701-7719-DF154857F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5" name="Teksto vietos rezervavimo ženklas 4">
            <a:extLst>
              <a:ext uri="{FF2B5EF4-FFF2-40B4-BE49-F238E27FC236}">
                <a16:creationId xmlns:a16="http://schemas.microsoft.com/office/drawing/2014/main" id="{E5B193D5-9106-3337-97DF-F9D75052E1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6" name="Turinio vietos rezervavimo ženklas 5">
            <a:extLst>
              <a:ext uri="{FF2B5EF4-FFF2-40B4-BE49-F238E27FC236}">
                <a16:creationId xmlns:a16="http://schemas.microsoft.com/office/drawing/2014/main" id="{BCA516B4-5CFB-2F5A-CDA8-8842992A08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7" name="Datos vietos rezervavimo ženklas 6">
            <a:extLst>
              <a:ext uri="{FF2B5EF4-FFF2-40B4-BE49-F238E27FC236}">
                <a16:creationId xmlns:a16="http://schemas.microsoft.com/office/drawing/2014/main" id="{40DE2203-0ABA-7C0D-5290-65701035F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2026-03-09</a:t>
            </a:fld>
            <a:endParaRPr lang="lt-LT"/>
          </a:p>
        </p:txBody>
      </p:sp>
      <p:sp>
        <p:nvSpPr>
          <p:cNvPr id="8" name="Poraštės vietos rezervavimo ženklas 7">
            <a:extLst>
              <a:ext uri="{FF2B5EF4-FFF2-40B4-BE49-F238E27FC236}">
                <a16:creationId xmlns:a16="http://schemas.microsoft.com/office/drawing/2014/main" id="{F5E4E0A0-0F8B-D0E2-4A30-3CFDDAAC1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9" name="Skaidrės numerio vietos rezervavimo ženklas 8">
            <a:extLst>
              <a:ext uri="{FF2B5EF4-FFF2-40B4-BE49-F238E27FC236}">
                <a16:creationId xmlns:a16="http://schemas.microsoft.com/office/drawing/2014/main" id="{0BDA7F05-D49D-3718-F9C6-F6C71BBD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061953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k pavad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B2AA7C0-5FC7-A453-FB73-56671A068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Datos vietos rezervavimo ženklas 2">
            <a:extLst>
              <a:ext uri="{FF2B5EF4-FFF2-40B4-BE49-F238E27FC236}">
                <a16:creationId xmlns:a16="http://schemas.microsoft.com/office/drawing/2014/main" id="{58A32CF7-85D3-D965-BCCF-67BA5BF9D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2026-03-09</a:t>
            </a:fld>
            <a:endParaRPr lang="lt-LT"/>
          </a:p>
        </p:txBody>
      </p:sp>
      <p:sp>
        <p:nvSpPr>
          <p:cNvPr id="4" name="Poraštės vietos rezervavimo ženklas 3">
            <a:extLst>
              <a:ext uri="{FF2B5EF4-FFF2-40B4-BE49-F238E27FC236}">
                <a16:creationId xmlns:a16="http://schemas.microsoft.com/office/drawing/2014/main" id="{CF2C3D1A-943A-E6D9-CD04-3A79B881A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1F1F76B4-F2F3-D9C1-D8F9-3BBD6CD00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811751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ušč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os vietos rezervavimo ženklas 1">
            <a:extLst>
              <a:ext uri="{FF2B5EF4-FFF2-40B4-BE49-F238E27FC236}">
                <a16:creationId xmlns:a16="http://schemas.microsoft.com/office/drawing/2014/main" id="{D783999A-9246-2411-6587-EE4F6C903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2026-03-09</a:t>
            </a:fld>
            <a:endParaRPr lang="lt-LT"/>
          </a:p>
        </p:txBody>
      </p:sp>
      <p:sp>
        <p:nvSpPr>
          <p:cNvPr id="3" name="Poraštės vietos rezervavimo ženklas 2">
            <a:extLst>
              <a:ext uri="{FF2B5EF4-FFF2-40B4-BE49-F238E27FC236}">
                <a16:creationId xmlns:a16="http://schemas.microsoft.com/office/drawing/2014/main" id="{13EA9F26-13B4-BBC8-195E-4AB54EB04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kaidrės numerio vietos rezervavimo ženklas 3">
            <a:extLst>
              <a:ext uri="{FF2B5EF4-FFF2-40B4-BE49-F238E27FC236}">
                <a16:creationId xmlns:a16="http://schemas.microsoft.com/office/drawing/2014/main" id="{45C5C349-5250-7091-A06F-4AEAC0286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810039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uriny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CB23AA8-C804-B3C2-2490-A2D737B9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5AE34D72-2FF6-C20E-C3FC-3BBE7E9A6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Teksto vietos rezervavimo ženklas 3">
            <a:extLst>
              <a:ext uri="{FF2B5EF4-FFF2-40B4-BE49-F238E27FC236}">
                <a16:creationId xmlns:a16="http://schemas.microsoft.com/office/drawing/2014/main" id="{DF5CA703-3860-0159-E180-30BE05C8C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7EED5426-2ADD-4E29-C2C9-7EC436ED7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2026-03-09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0E538187-9957-56D4-611D-4E09B9935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BDB356E4-A00E-1D4C-BF2B-A7086646D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878498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aveikslėli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10F380E-1DB8-492B-C418-1D8FCCF0E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Paveikslėlio vietos rezervavimo ženklas 2">
            <a:extLst>
              <a:ext uri="{FF2B5EF4-FFF2-40B4-BE49-F238E27FC236}">
                <a16:creationId xmlns:a16="http://schemas.microsoft.com/office/drawing/2014/main" id="{468F16F3-1DB1-C3E8-D41A-5C134F80E3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t-LT"/>
          </a:p>
        </p:txBody>
      </p:sp>
      <p:sp>
        <p:nvSpPr>
          <p:cNvPr id="4" name="Teksto vietos rezervavimo ženklas 3">
            <a:extLst>
              <a:ext uri="{FF2B5EF4-FFF2-40B4-BE49-F238E27FC236}">
                <a16:creationId xmlns:a16="http://schemas.microsoft.com/office/drawing/2014/main" id="{F2D24081-1A7A-1755-AF94-AD1935E4A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4366CCFD-1C41-8B32-4E18-922AA0E3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2026-03-09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F8829BBD-7A0C-3A8A-6E73-87E9A5603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1452F694-ADC4-BD77-8C6C-0FDF3C698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631313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Pavadinimas ir vertikalus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B7C4613-D8CE-D01C-CD29-79CF1DFF5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Vertikalaus teksto vietos rezervavimo ženklas 2">
            <a:extLst>
              <a:ext uri="{FF2B5EF4-FFF2-40B4-BE49-F238E27FC236}">
                <a16:creationId xmlns:a16="http://schemas.microsoft.com/office/drawing/2014/main" id="{4B836B87-E486-833A-0C52-F7A4C9C1D3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A102C01B-698D-E13F-4BAB-ADE838EB7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2026-03-09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CD3C4F44-20F5-426B-D2A1-80FC22A0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D6102B95-CB11-37E8-07B4-99932A9F4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941882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us pavadinimas ir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us pavadinimas 1">
            <a:extLst>
              <a:ext uri="{FF2B5EF4-FFF2-40B4-BE49-F238E27FC236}">
                <a16:creationId xmlns:a16="http://schemas.microsoft.com/office/drawing/2014/main" id="{9E5BF722-BC1F-DD1B-FA56-BD293B7757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Vertikalaus teksto vietos rezervavimo ženklas 2">
            <a:extLst>
              <a:ext uri="{FF2B5EF4-FFF2-40B4-BE49-F238E27FC236}">
                <a16:creationId xmlns:a16="http://schemas.microsoft.com/office/drawing/2014/main" id="{1BCA8742-C01C-6A2B-6A42-898E5FB007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5F5B6D0E-BF40-62B0-94D2-8DEC7D24E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2026-03-09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410BC458-E30B-A687-AE1E-4CBAEBA80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0D628726-4ECB-2BC4-1C4E-71D264BA1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54937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o vietos rezervavimo ženklas 1">
            <a:extLst>
              <a:ext uri="{FF2B5EF4-FFF2-40B4-BE49-F238E27FC236}">
                <a16:creationId xmlns:a16="http://schemas.microsoft.com/office/drawing/2014/main" id="{D830CC69-8704-A741-0A56-13DE30CE2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BF147A68-0A73-8E5B-48C8-00CB25E62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6172387A-EF59-6D90-DE3B-A0D6815EDC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02CE24-FAE1-4818-8ED4-B2CFCD047904}" type="datetimeFigureOut">
              <a:rPr lang="lt-LT" smtClean="0"/>
              <a:t>2026-03-09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C420A185-1A5A-B7DA-0F28-1471610778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093544D2-EBF7-1807-A47D-2AB218DF4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286153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t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51DE627-F873-EE20-9A3B-D8D2E34FDC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Machine Learning</a:t>
            </a:r>
            <a:r>
              <a:rPr lang="lt-LT" dirty="0"/>
              <a:t>:</a:t>
            </a:r>
            <a:br>
              <a:rPr lang="lt-LT" dirty="0"/>
            </a:br>
            <a:r>
              <a:rPr lang="lt-LT" dirty="0" err="1"/>
              <a:t>Decision</a:t>
            </a:r>
            <a:r>
              <a:rPr lang="lt-LT" dirty="0"/>
              <a:t> </a:t>
            </a:r>
            <a:r>
              <a:rPr lang="lt-LT" dirty="0" err="1"/>
              <a:t>Trees</a:t>
            </a:r>
            <a:endParaRPr lang="lt-LT" dirty="0"/>
          </a:p>
        </p:txBody>
      </p:sp>
      <p:sp>
        <p:nvSpPr>
          <p:cNvPr id="3" name="Antrinis pavadinimas 2">
            <a:extLst>
              <a:ext uri="{FF2B5EF4-FFF2-40B4-BE49-F238E27FC236}">
                <a16:creationId xmlns:a16="http://schemas.microsoft.com/office/drawing/2014/main" id="{DF5DE917-4BE6-0DC6-27ED-48EBAD1754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lt-LT" dirty="0"/>
              <a:t>Žydrūnė Kelpšaitė</a:t>
            </a:r>
          </a:p>
          <a:p>
            <a:r>
              <a:rPr lang="lt-LT" dirty="0"/>
              <a:t>Data </a:t>
            </a:r>
            <a:r>
              <a:rPr lang="lt-LT" dirty="0" err="1"/>
              <a:t>Analyst</a:t>
            </a:r>
            <a:endParaRPr lang="lt-LT" dirty="0"/>
          </a:p>
        </p:txBody>
      </p:sp>
      <p:pic>
        <p:nvPicPr>
          <p:cNvPr id="4" name="Paveikslėlis 3" descr="Paveikslėlis, kuriame yra Šriftas, Grafika, ekrano kopija, grafinis dizainas&#10;&#10;Dirbtinio intelekto sugeneruotas turinys gali būti neteisingas.">
            <a:extLst>
              <a:ext uri="{FF2B5EF4-FFF2-40B4-BE49-F238E27FC236}">
                <a16:creationId xmlns:a16="http://schemas.microsoft.com/office/drawing/2014/main" id="{0DEFE5D2-7577-60FA-43A8-1EA3EA21B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293" y="403508"/>
            <a:ext cx="7459116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519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236BC7F-33D0-0B12-7202-12ECC509D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WHAT IS DATA SCIENCE?</a:t>
            </a:r>
          </a:p>
        </p:txBody>
      </p:sp>
      <p:pic>
        <p:nvPicPr>
          <p:cNvPr id="4" name="Paveikslėlis 3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8392A17A-B0D7-1D08-E520-1955E4FEE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303" y="1547241"/>
            <a:ext cx="8886025" cy="487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16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DABA132-3969-2C1F-649A-A733DE7DD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lt-LT" dirty="0" err="1"/>
              <a:t>ommon</a:t>
            </a:r>
            <a:r>
              <a:rPr lang="lt-LT" dirty="0"/>
              <a:t> </a:t>
            </a:r>
            <a:r>
              <a:rPr lang="lt-LT" dirty="0" err="1"/>
              <a:t>machine</a:t>
            </a:r>
            <a:r>
              <a:rPr lang="lt-LT" dirty="0"/>
              <a:t> </a:t>
            </a:r>
            <a:r>
              <a:rPr lang="lt-LT" dirty="0" err="1"/>
              <a:t>learning</a:t>
            </a:r>
            <a:r>
              <a:rPr lang="lt-LT" dirty="0"/>
              <a:t> </a:t>
            </a:r>
            <a:r>
              <a:rPr lang="lt-LT" dirty="0" err="1"/>
              <a:t>algorithms</a:t>
            </a:r>
            <a:endParaRPr lang="lt-LT" dirty="0"/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5DD8A479-8FC6-C9BE-EF4C-F964D5FA4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087" y="1690688"/>
            <a:ext cx="7487695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068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1784170-4FC7-343C-B77B-8C7D88C39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CLASSIFICATION 101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E40FBD-BC00-F59B-E673-AD47AF60ABC2}"/>
              </a:ext>
            </a:extLst>
          </p:cNvPr>
          <p:cNvSpPr txBox="1"/>
          <p:nvPr/>
        </p:nvSpPr>
        <p:spPr>
          <a:xfrm>
            <a:off x="983226" y="1406464"/>
            <a:ext cx="103705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Classification analysis is a supervised learning technique used to predict a categorical variable (target) by modeling its relationship with other variables (features)</a:t>
            </a:r>
            <a:endParaRPr lang="lt-LT" dirty="0"/>
          </a:p>
        </p:txBody>
      </p:sp>
      <p:pic>
        <p:nvPicPr>
          <p:cNvPr id="6" name="Paveikslėlis 5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806887F6-2856-EB0F-88AA-0A17D2E76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68" y="2238213"/>
            <a:ext cx="11574490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342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A909FBD-9E33-EC2F-F802-A6C3AC53A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GOALS OF CLASSIFICATION</a:t>
            </a:r>
          </a:p>
        </p:txBody>
      </p:sp>
      <p:pic>
        <p:nvPicPr>
          <p:cNvPr id="4" name="Paveikslėlis 3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3E9AEB4A-3E45-29A2-C8FD-DBC9D8EBC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58" y="1445808"/>
            <a:ext cx="9314403" cy="39663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FD2334-7B13-5FD1-6F4D-ABAB381839ED}"/>
              </a:ext>
            </a:extLst>
          </p:cNvPr>
          <p:cNvSpPr txBox="1"/>
          <p:nvPr/>
        </p:nvSpPr>
        <p:spPr>
          <a:xfrm>
            <a:off x="1337187" y="5657997"/>
            <a:ext cx="8917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often need to strike a balance between these goals – a model that is very inaccurate won’t be too trustworthy for inference, and understanding the impact that variables have on predictions can help make them more accurate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1800178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62E8BD6-D48B-FB80-1352-DCAB90D88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TYPES OF CLASSIFICATION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F2CE08-343A-5F68-0102-81761BC7500B}"/>
              </a:ext>
            </a:extLst>
          </p:cNvPr>
          <p:cNvSpPr txBox="1"/>
          <p:nvPr/>
        </p:nvSpPr>
        <p:spPr>
          <a:xfrm>
            <a:off x="838199" y="1367522"/>
            <a:ext cx="8954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These are some of the most common types of classification modeling techniques:</a:t>
            </a:r>
            <a:endParaRPr lang="lt-LT" dirty="0"/>
          </a:p>
        </p:txBody>
      </p:sp>
      <p:pic>
        <p:nvPicPr>
          <p:cNvPr id="6" name="Paveikslėlis 5" descr="Paveikslėlis, kuriame yra tekstas, ekrano kopija, diagram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C47C26F0-5627-0974-6193-CA5381BE4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49" y="2108774"/>
            <a:ext cx="11469701" cy="35056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AE1349-787D-BF0E-21E5-D5EC4FD987A2}"/>
              </a:ext>
            </a:extLst>
          </p:cNvPr>
          <p:cNvSpPr txBox="1"/>
          <p:nvPr/>
        </p:nvSpPr>
        <p:spPr>
          <a:xfrm>
            <a:off x="3047999" y="584788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All models are wrong, but some are useful</a:t>
            </a:r>
          </a:p>
          <a:p>
            <a:r>
              <a:rPr lang="lt-LT" dirty="0"/>
              <a:t>George </a:t>
            </a:r>
            <a:r>
              <a:rPr lang="lt-LT" dirty="0" err="1"/>
              <a:t>Box</a:t>
            </a:r>
            <a:endParaRPr lang="lt-LT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627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F845D11B-20C4-BB10-70C7-079C8110E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CLASSIFICATION MODELING WORKFLOW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52E1401B-9B90-F8A8-41C6-13480464D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348" y="1561169"/>
            <a:ext cx="9048801" cy="493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019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2DA4BA8-721E-4448-2176-B30FA8535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KEY TAKEAWAYS</a:t>
            </a:r>
          </a:p>
        </p:txBody>
      </p:sp>
      <p:pic>
        <p:nvPicPr>
          <p:cNvPr id="4" name="Paveikslėlis 3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F818AFA9-5DCE-6270-1284-5496D83B7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128" y="1690688"/>
            <a:ext cx="9942478" cy="449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274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A36C90B-8A89-A90D-6443-FE75C24B4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K-NEAREST NEIGHBORS (KNN)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4E520F-0275-2CA6-85A0-AAD3A1895D90}"/>
              </a:ext>
            </a:extLst>
          </p:cNvPr>
          <p:cNvSpPr txBox="1"/>
          <p:nvPr/>
        </p:nvSpPr>
        <p:spPr>
          <a:xfrm>
            <a:off x="838200" y="2295265"/>
            <a:ext cx="9220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K-Nearest Neighbors (KNN) </a:t>
            </a:r>
            <a:r>
              <a:rPr lang="en-US" sz="2800" dirty="0"/>
              <a:t>is a classification technique designed to predict outcomes </a:t>
            </a:r>
            <a:r>
              <a:rPr lang="en-US" sz="2800" dirty="0">
                <a:highlight>
                  <a:srgbClr val="FFFF00"/>
                </a:highlight>
              </a:rPr>
              <a:t>based on similar observed values </a:t>
            </a:r>
          </a:p>
          <a:p>
            <a:r>
              <a:rPr lang="en-US" dirty="0"/>
              <a:t>	• In its simplest form, KNN creates a scatter plot with training data, plots a new unobserved value, and assigns a target class based on the classes of nearby points </a:t>
            </a:r>
          </a:p>
          <a:p>
            <a:r>
              <a:rPr lang="en-US" dirty="0"/>
              <a:t>	• </a:t>
            </a:r>
            <a:r>
              <a:rPr lang="en-US" sz="2400" b="1" dirty="0"/>
              <a:t>K </a:t>
            </a:r>
            <a:r>
              <a:rPr lang="en-US" dirty="0"/>
              <a:t>represents the number of nearby points (or “neighbors”) the model will consider when making a prediction </a:t>
            </a:r>
          </a:p>
          <a:p>
            <a:endParaRPr lang="en-US" b="1" dirty="0"/>
          </a:p>
          <a:p>
            <a:r>
              <a:rPr lang="en-US" b="1" dirty="0"/>
              <a:t>Example use cases: </a:t>
            </a:r>
          </a:p>
          <a:p>
            <a:r>
              <a:rPr lang="en-US" dirty="0"/>
              <a:t>	• Predicting which customers will purchase a product based on demographics </a:t>
            </a:r>
          </a:p>
          <a:p>
            <a:r>
              <a:rPr lang="en-US" dirty="0"/>
              <a:t>	• Classifying customers into pre-existing clusters or segments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3084376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243A32E-97CD-2DA0-4291-4F4B03B24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LOGISTIC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23A86E-9B19-2EC3-3673-5E51E22DDB80}"/>
              </a:ext>
            </a:extLst>
          </p:cNvPr>
          <p:cNvSpPr txBox="1"/>
          <p:nvPr/>
        </p:nvSpPr>
        <p:spPr>
          <a:xfrm>
            <a:off x="934065" y="1803652"/>
            <a:ext cx="820993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Logistic Regression </a:t>
            </a:r>
            <a:r>
              <a:rPr lang="en-US" dirty="0"/>
              <a:t>is a classification technique used to predict the probability of a binary (true/false) outcome </a:t>
            </a:r>
          </a:p>
          <a:p>
            <a:r>
              <a:rPr lang="en-US" dirty="0"/>
              <a:t>• In its simplest form, logistic regression forms an </a:t>
            </a:r>
            <a:r>
              <a:rPr lang="en-US" b="1" dirty="0"/>
              <a:t>S-shaped (sigmoid) curve between 0 and 1, </a:t>
            </a:r>
            <a:r>
              <a:rPr lang="en-US" dirty="0"/>
              <a:t>which represents the probability of a TRUE outcome for any given value of X </a:t>
            </a:r>
          </a:p>
          <a:p>
            <a:r>
              <a:rPr lang="en-US" dirty="0"/>
              <a:t>• The likelihood function measures how accurately a model predicts outcomes, and is used to optimize the “shape” of the curve </a:t>
            </a:r>
          </a:p>
          <a:p>
            <a:r>
              <a:rPr lang="en-US" dirty="0"/>
              <a:t>• Although it has the word “regression” in its name, logistic regression is not used for predicting numeric variables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 use cases: </a:t>
            </a:r>
          </a:p>
          <a:p>
            <a:r>
              <a:rPr lang="en-US" dirty="0"/>
              <a:t>• Flagging spam emails or fraudulent credit card transactions </a:t>
            </a:r>
          </a:p>
          <a:p>
            <a:r>
              <a:rPr lang="en-US" dirty="0"/>
              <a:t>• Determining whether to serve a particular ad to a website visitor</a:t>
            </a:r>
            <a:endParaRPr lang="lt-LT" dirty="0"/>
          </a:p>
        </p:txBody>
      </p:sp>
      <p:pic>
        <p:nvPicPr>
          <p:cNvPr id="6" name="Paveikslėlis 5" descr="Paveikslėlis, kuriame yra apskritimas, diagrama, Grafika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51298312-24E2-9221-1A4B-1024E5585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018" y="1917194"/>
            <a:ext cx="1676634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772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38CFE75-7C13-AEDA-541F-9A413E29B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MODEL SELECTION &amp; METRICS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1B6D5D-17EA-9CBF-E577-CFECEE5AE7F7}"/>
              </a:ext>
            </a:extLst>
          </p:cNvPr>
          <p:cNvSpPr txBox="1"/>
          <p:nvPr/>
        </p:nvSpPr>
        <p:spPr>
          <a:xfrm>
            <a:off x="838199" y="1581749"/>
            <a:ext cx="101542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Model selection </a:t>
            </a:r>
            <a:r>
              <a:rPr lang="en-US" dirty="0"/>
              <a:t>describes the process of training multiple models, comparing performance on Test data, and choosing the best option </a:t>
            </a:r>
          </a:p>
          <a:p>
            <a:r>
              <a:rPr lang="en-US" dirty="0"/>
              <a:t>	• When comparing performance, it’s important to </a:t>
            </a:r>
            <a:r>
              <a:rPr lang="en-US" dirty="0">
                <a:highlight>
                  <a:srgbClr val="FFFF00"/>
                </a:highlight>
              </a:rPr>
              <a:t>prioritize the </a:t>
            </a:r>
            <a:r>
              <a:rPr lang="en-US" b="1" dirty="0">
                <a:highlight>
                  <a:srgbClr val="FFFF00"/>
                </a:highlight>
              </a:rPr>
              <a:t>most relevant metrics </a:t>
            </a:r>
            <a:r>
              <a:rPr lang="en-US" dirty="0">
                <a:highlight>
                  <a:srgbClr val="FFFF00"/>
                </a:highlight>
              </a:rPr>
              <a:t>based on the business context and the problem you are trying to solve</a:t>
            </a:r>
            <a:endParaRPr lang="lt-LT" dirty="0">
              <a:highlight>
                <a:srgbClr val="FFFF00"/>
              </a:highlight>
            </a:endParaRPr>
          </a:p>
        </p:txBody>
      </p:sp>
      <p:pic>
        <p:nvPicPr>
          <p:cNvPr id="6" name="Paveikslėlis 5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A234595A-6213-303D-7391-8E0ED69B8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729" y="2907312"/>
            <a:ext cx="10555173" cy="380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358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6D31E545-0055-B2AE-F700-6B21B3EAA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DECISION TREES</a:t>
            </a:r>
          </a:p>
        </p:txBody>
      </p:sp>
      <p:pic>
        <p:nvPicPr>
          <p:cNvPr id="6" name="Paveikslėlis 5" descr="Paveikslėlis, kuriame yra tekstas, ekrano kopija, Šriftas, linija&#10;&#10;Dirbtinio intelekto sugeneruotas turinys gali būti neteisingas.">
            <a:extLst>
              <a:ext uri="{FF2B5EF4-FFF2-40B4-BE49-F238E27FC236}">
                <a16:creationId xmlns:a16="http://schemas.microsoft.com/office/drawing/2014/main" id="{0F5639FD-C5CC-C512-9BA4-513F8F913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679" y="2300710"/>
            <a:ext cx="6744641" cy="2838846"/>
          </a:xfrm>
          <a:prstGeom prst="rect">
            <a:avLst/>
          </a:prstGeom>
        </p:spPr>
      </p:pic>
      <p:pic>
        <p:nvPicPr>
          <p:cNvPr id="3" name="Paveikslėlis 2" descr="Paveikslėlis, kuriame yra apskritimas, Šriftas, laikrodis, Grafika&#10;&#10;Dirbtinio intelekto sugeneruotas turinys gali būti neteisingas.">
            <a:extLst>
              <a:ext uri="{FF2B5EF4-FFF2-40B4-BE49-F238E27FC236}">
                <a16:creationId xmlns:a16="http://schemas.microsoft.com/office/drawing/2014/main" id="{267C5D7F-F98D-2E1B-81CD-3AA5E7507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66" y="528644"/>
            <a:ext cx="1724266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371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7C36C7C-374E-55C2-459A-2E08BA141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DECISION TREES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29C2CD-5DC5-2711-2A42-67ABD5939E52}"/>
              </a:ext>
            </a:extLst>
          </p:cNvPr>
          <p:cNvSpPr txBox="1"/>
          <p:nvPr/>
        </p:nvSpPr>
        <p:spPr>
          <a:xfrm>
            <a:off x="599767" y="1803652"/>
            <a:ext cx="1042219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Decision Trees </a:t>
            </a:r>
            <a:r>
              <a:rPr lang="en-US" dirty="0"/>
              <a:t>use a series of</a:t>
            </a:r>
            <a:r>
              <a:rPr lang="en-US" b="1" dirty="0"/>
              <a:t> binary (true/false) </a:t>
            </a:r>
            <a:r>
              <a:rPr lang="en-US" dirty="0"/>
              <a:t>rules to predict </a:t>
            </a:r>
            <a:r>
              <a:rPr lang="en-US" dirty="0">
                <a:highlight>
                  <a:srgbClr val="FFFF00"/>
                </a:highlight>
              </a:rPr>
              <a:t>multi class or binary outcomes </a:t>
            </a:r>
          </a:p>
          <a:p>
            <a:r>
              <a:rPr lang="en-US" dirty="0"/>
              <a:t>	• For each rule, </a:t>
            </a:r>
            <a:r>
              <a:rPr lang="en-US" dirty="0">
                <a:highlight>
                  <a:srgbClr val="FFFF00"/>
                </a:highlight>
              </a:rPr>
              <a:t>a decision tree selects a single feature </a:t>
            </a:r>
            <a:r>
              <a:rPr lang="en-US" dirty="0"/>
              <a:t>and uses it to split observations into two groups, where each group (ideally) skews towards one class </a:t>
            </a:r>
          </a:p>
          <a:p>
            <a:r>
              <a:rPr lang="en-US" dirty="0"/>
              <a:t>	• The </a:t>
            </a:r>
            <a:r>
              <a:rPr lang="en-US" dirty="0">
                <a:highlight>
                  <a:srgbClr val="FFFF00"/>
                </a:highlight>
              </a:rPr>
              <a:t>goal is to determine which rules and features do the best job splitting up the classes, </a:t>
            </a:r>
            <a:r>
              <a:rPr lang="en-US" dirty="0"/>
              <a:t>which we can measure using a metric known as </a:t>
            </a:r>
            <a:r>
              <a:rPr lang="en-US" b="1" dirty="0"/>
              <a:t>entropy</a:t>
            </a:r>
            <a:r>
              <a:rPr lang="en-US" dirty="0"/>
              <a:t> 	</a:t>
            </a:r>
          </a:p>
          <a:p>
            <a:r>
              <a:rPr lang="en-US" dirty="0"/>
              <a:t>	• This is </a:t>
            </a:r>
            <a:r>
              <a:rPr lang="en-US" b="1" dirty="0"/>
              <a:t>NOT</a:t>
            </a:r>
            <a:r>
              <a:rPr lang="en-US" dirty="0"/>
              <a:t> a manual process; </a:t>
            </a:r>
            <a:r>
              <a:rPr lang="en-US" b="1" dirty="0"/>
              <a:t>decision trees test many variables </a:t>
            </a:r>
            <a:r>
              <a:rPr lang="en-US" dirty="0"/>
              <a:t>and select rules based on the change in entropy after the split (known as </a:t>
            </a:r>
            <a:r>
              <a:rPr lang="en-US" b="1" dirty="0"/>
              <a:t>information gain</a:t>
            </a:r>
            <a:r>
              <a:rPr lang="en-US" dirty="0"/>
              <a:t>)</a:t>
            </a:r>
            <a:endParaRPr lang="lt-LT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892346-4CF5-B77D-4E63-7E89E226DF24}"/>
              </a:ext>
            </a:extLst>
          </p:cNvPr>
          <p:cNvSpPr txBox="1"/>
          <p:nvPr/>
        </p:nvSpPr>
        <p:spPr>
          <a:xfrm>
            <a:off x="2399071" y="465110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use cases: </a:t>
            </a:r>
          </a:p>
          <a:p>
            <a:r>
              <a:rPr lang="en-US" dirty="0"/>
              <a:t>• Predicting if a customer will cancel/churn next month </a:t>
            </a:r>
          </a:p>
          <a:p>
            <a:r>
              <a:rPr lang="en-US" dirty="0"/>
              <a:t>• Identifying fraudulent bank transactions or insurance claims</a:t>
            </a:r>
            <a:endParaRPr lang="lt-LT" dirty="0"/>
          </a:p>
        </p:txBody>
      </p:sp>
      <p:pic>
        <p:nvPicPr>
          <p:cNvPr id="5" name="Paveikslėlis 4" descr="Paveikslėlis, kuriame yra apskritimas, Šriftas, laikrodis, Grafika&#10;&#10;Dirbtinio intelekto sugeneruotas turinys gali būti neteisingas.">
            <a:extLst>
              <a:ext uri="{FF2B5EF4-FFF2-40B4-BE49-F238E27FC236}">
                <a16:creationId xmlns:a16="http://schemas.microsoft.com/office/drawing/2014/main" id="{4C45F88D-958F-1D7E-936C-F7DE1ADC4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9534" y="4213721"/>
            <a:ext cx="1724266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119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D738777-C79F-F3CD-606B-3052ED7CD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DECISION TREES</a:t>
            </a:r>
          </a:p>
        </p:txBody>
      </p:sp>
      <p:pic>
        <p:nvPicPr>
          <p:cNvPr id="4" name="Paveikslėlis 3" descr="Paveikslėlis, kuriame yra tekstas, ekrano kopija, diagrama&#10;&#10;Dirbtinio intelekto sugeneruotas turinys gali būti neteisingas.">
            <a:extLst>
              <a:ext uri="{FF2B5EF4-FFF2-40B4-BE49-F238E27FC236}">
                <a16:creationId xmlns:a16="http://schemas.microsoft.com/office/drawing/2014/main" id="{84E4C60B-3AC3-6448-42D0-DB8968332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066" y="1482636"/>
            <a:ext cx="9546020" cy="491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694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67BE7-EF7D-5759-3143-BEFC9BE58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A01141C-3C90-CD17-A3DA-7F0F3631C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42" y="56872"/>
            <a:ext cx="10515600" cy="1325563"/>
          </a:xfrm>
        </p:spPr>
        <p:txBody>
          <a:bodyPr/>
          <a:lstStyle/>
          <a:p>
            <a:r>
              <a:rPr lang="lt-LT" dirty="0"/>
              <a:t>DECISION TREES</a:t>
            </a:r>
          </a:p>
        </p:txBody>
      </p:sp>
      <p:pic>
        <p:nvPicPr>
          <p:cNvPr id="5" name="Paveikslėlis 4" descr="Paveikslėlis, kuriame yra tekstas, ekrano kopija, diagrama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E47DE768-F998-7BF2-8031-FBB2C3198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742" y="1612029"/>
            <a:ext cx="7672978" cy="43856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8A8317-10CB-EEB9-BECC-91F4B173D62D}"/>
              </a:ext>
            </a:extLst>
          </p:cNvPr>
          <p:cNvSpPr txBox="1"/>
          <p:nvPr/>
        </p:nvSpPr>
        <p:spPr>
          <a:xfrm>
            <a:off x="7944465" y="1382435"/>
            <a:ext cx="398206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How do we know which features to split? </a:t>
            </a:r>
          </a:p>
          <a:p>
            <a:r>
              <a:rPr lang="en-US" dirty="0"/>
              <a:t>	• </a:t>
            </a:r>
            <a:r>
              <a:rPr lang="en-US" b="1" dirty="0"/>
              <a:t>Entropy</a:t>
            </a:r>
            <a:r>
              <a:rPr lang="en-US" dirty="0"/>
              <a:t> measures the “evenness” or “uncertainty” between classes, and can be compared before/after each split to </a:t>
            </a:r>
            <a:r>
              <a:rPr lang="en-US" b="1" dirty="0"/>
              <a:t>measure information gain </a:t>
            </a:r>
          </a:p>
          <a:p>
            <a:r>
              <a:rPr lang="en-US" dirty="0"/>
              <a:t>	• The model tries </a:t>
            </a:r>
            <a:r>
              <a:rPr lang="en-US" i="1" dirty="0"/>
              <a:t>all</a:t>
            </a:r>
            <a:r>
              <a:rPr lang="en-US" dirty="0"/>
              <a:t> features and multiple splits within each feature to </a:t>
            </a:r>
            <a:r>
              <a:rPr lang="en-US" dirty="0">
                <a:highlight>
                  <a:srgbClr val="FFFF00"/>
                </a:highlight>
              </a:rPr>
              <a:t>determine which splits reduce entropy the most</a:t>
            </a:r>
            <a:endParaRPr lang="lt-LT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51313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20474D2-ED2C-9796-0273-21092A3A2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DECISION TREES</a:t>
            </a:r>
          </a:p>
        </p:txBody>
      </p:sp>
      <p:pic>
        <p:nvPicPr>
          <p:cNvPr id="4" name="Paveikslėlis 3" descr="Paveikslėlis, kuriame yra tekstas, diagrama, linija, Grafikas&#10;&#10;Dirbtinio intelekto sugeneruotas turinys gali būti neteisingas.">
            <a:extLst>
              <a:ext uri="{FF2B5EF4-FFF2-40B4-BE49-F238E27FC236}">
                <a16:creationId xmlns:a16="http://schemas.microsoft.com/office/drawing/2014/main" id="{C5D34936-9FE2-BB9A-E90D-4045C9914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181" y="1600014"/>
            <a:ext cx="6478259" cy="502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290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EB607C0C-7D72-41B8-676A-C2F006833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DECISION TREES</a:t>
            </a:r>
          </a:p>
        </p:txBody>
      </p:sp>
      <p:pic>
        <p:nvPicPr>
          <p:cNvPr id="4" name="Paveikslėlis 3" descr="Paveikslėlis, kuriame yra tekstas, diagrama, Šriftas, ekrano kopija&#10;&#10;Dirbtinio intelekto sugeneruotas turinys gali būti neteisingas.">
            <a:extLst>
              <a:ext uri="{FF2B5EF4-FFF2-40B4-BE49-F238E27FC236}">
                <a16:creationId xmlns:a16="http://schemas.microsoft.com/office/drawing/2014/main" id="{5F18027B-5E41-08BF-8AA0-22FFAF6B6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55" y="1841863"/>
            <a:ext cx="11460174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414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3F39D-154F-A373-CDDB-526C062F5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366C979-3EEB-7C8E-0519-5525B5BBF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DECISION TREES</a:t>
            </a:r>
          </a:p>
        </p:txBody>
      </p:sp>
      <p:pic>
        <p:nvPicPr>
          <p:cNvPr id="5" name="Paveikslėlis 4" descr="Paveikslėlis, kuriame yra tekstas, ekrano kopija, diagrama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6B8FD696-A9E6-082A-2B3D-58162D834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670" y="1690688"/>
            <a:ext cx="9193162" cy="473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518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72098-66B4-F5BE-A168-5288A4957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AB028C1-A982-92B8-AB42-2033CBB07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374" y="0"/>
            <a:ext cx="10515600" cy="1325563"/>
          </a:xfrm>
        </p:spPr>
        <p:txBody>
          <a:bodyPr/>
          <a:lstStyle/>
          <a:p>
            <a:r>
              <a:rPr lang="lt-LT" dirty="0"/>
              <a:t>DECISION TREES</a:t>
            </a:r>
          </a:p>
        </p:txBody>
      </p:sp>
      <p:pic>
        <p:nvPicPr>
          <p:cNvPr id="4" name="Paveikslėlis 3" descr="Paveikslėlis, kuriame yra tekstas, ekrano kopija, diagrama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514C50A8-E3D1-F212-D806-FCC0F7CB7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057" y="1286700"/>
            <a:ext cx="8695695" cy="533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67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C32F2-7764-934F-62BB-0EE07673C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83C3DFF-DC35-030D-3CE3-4A5D0F036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DECISION TREES</a:t>
            </a:r>
          </a:p>
        </p:txBody>
      </p:sp>
      <p:pic>
        <p:nvPicPr>
          <p:cNvPr id="5" name="Paveikslėlis 4" descr="Paveikslėlis, kuriame yra tekstas, ekrano kopija, diagrama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55B91426-03C4-8F06-52C4-8B97F5829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55" y="1273411"/>
            <a:ext cx="8684728" cy="521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620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272EB-80FF-05B3-01E4-22C8980C0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7745242-C1F8-BCFA-0DE7-FAA266B0A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DECISION TREES</a:t>
            </a:r>
          </a:p>
        </p:txBody>
      </p:sp>
      <p:pic>
        <p:nvPicPr>
          <p:cNvPr id="4" name="Paveikslėlis 3" descr="Paveikslėlis, kuriame yra tekstas, ekrano kopija, diagrama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B980CF36-7DCC-E36E-D1D7-3C665DE3C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19484"/>
            <a:ext cx="9063867" cy="526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3802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FE016-254D-77B1-7646-1DBBFCFAE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50B94D4-959D-AE70-4030-41380C6F3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DECISION TREES</a:t>
            </a:r>
          </a:p>
        </p:txBody>
      </p:sp>
      <p:pic>
        <p:nvPicPr>
          <p:cNvPr id="5" name="Paveikslėlis 4" descr="Paveikslėlis, kuriame yra tekstas, ekrano kopija, diagrama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7C50A490-59E1-54F8-D9B1-FF1321390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91" y="1423705"/>
            <a:ext cx="8680682" cy="506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010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1F442-3874-5C15-6DC3-245DEE410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424166B-7BC8-F18D-97CA-7925A6E0E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DECISION TREES</a:t>
            </a:r>
          </a:p>
        </p:txBody>
      </p:sp>
      <p:pic>
        <p:nvPicPr>
          <p:cNvPr id="4" name="Paveikslėlis 3" descr="Paveikslėlis, kuriame yra tekstas, ekrano kopija, diagrama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2454494B-D4FC-34C2-54CB-82E616E59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529" y="1389537"/>
            <a:ext cx="9198732" cy="538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2470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53857-AB30-47C4-7650-AAD5E31D4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822FC83-F70F-C3F2-FD1C-1B23D1CAA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DECISION TREES</a:t>
            </a:r>
          </a:p>
        </p:txBody>
      </p:sp>
      <p:pic>
        <p:nvPicPr>
          <p:cNvPr id="5" name="Paveikslėlis 4" descr="Paveikslėlis, kuriame yra tekstas, ekrano kopija, diagrama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038EFCFE-9869-316A-55F5-457D30839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8320859" cy="5133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783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7106B8B-C2CF-1DA6-54BD-2CCDCDD2B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DECISION TREES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2E7F21-F2A9-7872-1B4E-C418080A59F0}"/>
              </a:ext>
            </a:extLst>
          </p:cNvPr>
          <p:cNvSpPr txBox="1"/>
          <p:nvPr/>
        </p:nvSpPr>
        <p:spPr>
          <a:xfrm>
            <a:off x="1698523" y="1979785"/>
            <a:ext cx="969460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How do we know when to stop splitting? </a:t>
            </a:r>
          </a:p>
          <a:p>
            <a:r>
              <a:rPr lang="en-US" dirty="0"/>
              <a:t>	• Splitting too much can lead to overfitting, so we need to tune model hyperparameters to limit things like </a:t>
            </a:r>
            <a:r>
              <a:rPr lang="en-US" b="1" dirty="0"/>
              <a:t>tree depth </a:t>
            </a:r>
            <a:r>
              <a:rPr lang="en-US" dirty="0"/>
              <a:t>or </a:t>
            </a:r>
            <a:r>
              <a:rPr lang="en-US" b="1" dirty="0"/>
              <a:t>leaf size 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How do we know where to split numerical features? </a:t>
            </a:r>
          </a:p>
          <a:p>
            <a:r>
              <a:rPr lang="en-US" dirty="0"/>
              <a:t>	• In practice, decision trees will test different numerical splits and </a:t>
            </a:r>
            <a:r>
              <a:rPr lang="en-US" b="1" dirty="0"/>
              <a:t>optimize based on information gain </a:t>
            </a:r>
            <a:r>
              <a:rPr lang="en-US" dirty="0"/>
              <a:t>(just like testing individual features splits) 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Does the best first split always lead to the most accurate model? </a:t>
            </a:r>
          </a:p>
          <a:p>
            <a:r>
              <a:rPr lang="en-US" dirty="0"/>
              <a:t>	• Not necessarily! That’s why we often use a collection of multiple decision trees, known as a </a:t>
            </a:r>
            <a:r>
              <a:rPr lang="en-US" b="1" dirty="0">
                <a:highlight>
                  <a:srgbClr val="FFFF00"/>
                </a:highlight>
              </a:rPr>
              <a:t>random forest</a:t>
            </a:r>
            <a:r>
              <a:rPr lang="en-US" dirty="0"/>
              <a:t>, to maximize accuracy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39209004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38CE2BF-38A0-C83B-CA5B-3F0FA5E50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FITTING A DECISION TREE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490484-1701-B1E7-B848-D627BFD7A1DB}"/>
              </a:ext>
            </a:extLst>
          </p:cNvPr>
          <p:cNvSpPr txBox="1"/>
          <p:nvPr/>
        </p:nvSpPr>
        <p:spPr>
          <a:xfrm>
            <a:off x="838200" y="1395785"/>
            <a:ext cx="94660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Python, you can fit a decision tree model using the scikit-learn library </a:t>
            </a:r>
          </a:p>
          <a:p>
            <a:r>
              <a:rPr lang="en-US" dirty="0"/>
              <a:t>• </a:t>
            </a:r>
            <a:r>
              <a:rPr lang="en-US" b="1" dirty="0" err="1"/>
              <a:t>sklearn.tree.DecisionTreeClassifier</a:t>
            </a:r>
            <a:r>
              <a:rPr lang="en-US" b="1" dirty="0"/>
              <a:t>(</a:t>
            </a:r>
            <a:r>
              <a:rPr lang="en-US" b="1" dirty="0" err="1"/>
              <a:t>max_depth</a:t>
            </a:r>
            <a:r>
              <a:rPr lang="en-US" b="1" dirty="0"/>
              <a:t>, </a:t>
            </a:r>
            <a:r>
              <a:rPr lang="en-US" b="1" dirty="0" err="1"/>
              <a:t>min_samples_leaf</a:t>
            </a:r>
            <a:r>
              <a:rPr lang="en-US" b="1" dirty="0"/>
              <a:t>)</a:t>
            </a:r>
            <a:endParaRPr lang="lt-LT" b="1" dirty="0"/>
          </a:p>
        </p:txBody>
      </p:sp>
      <p:pic>
        <p:nvPicPr>
          <p:cNvPr id="6" name="Paveikslėlis 5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7BC6969F-E7B3-FE10-5791-663AEA2C2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94" y="2721348"/>
            <a:ext cx="8735644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9256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EEFB617-5969-9E90-0240-81405D78B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50" y="212725"/>
            <a:ext cx="10515600" cy="1325563"/>
          </a:xfrm>
        </p:spPr>
        <p:txBody>
          <a:bodyPr/>
          <a:lstStyle/>
          <a:p>
            <a:r>
              <a:rPr lang="lt-LT" dirty="0"/>
              <a:t>VISUALIZING DECISION TREES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F7968D-1345-6676-1DF2-C45FA4F06A5A}"/>
              </a:ext>
            </a:extLst>
          </p:cNvPr>
          <p:cNvSpPr txBox="1"/>
          <p:nvPr/>
        </p:nvSpPr>
        <p:spPr>
          <a:xfrm>
            <a:off x="838199" y="1690688"/>
            <a:ext cx="97216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plot_tree</a:t>
            </a:r>
            <a:r>
              <a:rPr lang="en-US" dirty="0"/>
              <a:t> function lets you visualize decision trees </a:t>
            </a:r>
          </a:p>
          <a:p>
            <a:r>
              <a:rPr lang="en-US" dirty="0"/>
              <a:t>• This helps interpret which splits in the data lead to class predictions </a:t>
            </a:r>
          </a:p>
          <a:p>
            <a:r>
              <a:rPr lang="en-US" dirty="0"/>
              <a:t>• </a:t>
            </a:r>
            <a:r>
              <a:rPr lang="en-US" dirty="0" err="1"/>
              <a:t>plot_tree</a:t>
            </a:r>
            <a:r>
              <a:rPr lang="en-US" dirty="0"/>
              <a:t>(model, </a:t>
            </a:r>
            <a:r>
              <a:rPr lang="en-US" dirty="0" err="1"/>
              <a:t>feature_names</a:t>
            </a:r>
            <a:r>
              <a:rPr lang="en-US" dirty="0"/>
              <a:t>, </a:t>
            </a:r>
            <a:r>
              <a:rPr lang="en-US" dirty="0" err="1"/>
              <a:t>class_names</a:t>
            </a:r>
            <a:r>
              <a:rPr lang="en-US" dirty="0"/>
              <a:t>, impurity, proportion, filled)</a:t>
            </a:r>
            <a:endParaRPr lang="lt-LT" dirty="0"/>
          </a:p>
        </p:txBody>
      </p:sp>
      <p:pic>
        <p:nvPicPr>
          <p:cNvPr id="6" name="Paveikslėlis 5" descr="Paveikslėlis, kuriame yra tekstas, diagrama, ekrano kopija, linija&#10;&#10;Dirbtinio intelekto sugeneruotas turinys gali būti neteisingas.">
            <a:extLst>
              <a:ext uri="{FF2B5EF4-FFF2-40B4-BE49-F238E27FC236}">
                <a16:creationId xmlns:a16="http://schemas.microsoft.com/office/drawing/2014/main" id="{96729882-C633-976B-46AC-AF81B9F36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601728"/>
            <a:ext cx="10168151" cy="416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1748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C536773-470E-EE3F-4BE6-65FF00B01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FEATURE IMPORTANCE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B42C28-31FE-F1FB-4005-E05958E95E59}"/>
              </a:ext>
            </a:extLst>
          </p:cNvPr>
          <p:cNvSpPr txBox="1"/>
          <p:nvPr/>
        </p:nvSpPr>
        <p:spPr>
          <a:xfrm>
            <a:off x="838199" y="1424433"/>
            <a:ext cx="100067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Feature importance summarizes how much each feature contributes to the accuracy of a tree-based model </a:t>
            </a:r>
          </a:p>
          <a:p>
            <a:r>
              <a:rPr lang="en-US" dirty="0"/>
              <a:t>	• Feature importance sums to 1 across all features; a score of 1 indicates a feature provides 100% of the decision-making power, while a score of 0 indicates it isn’t used at all</a:t>
            </a:r>
            <a:endParaRPr lang="lt-LT" dirty="0"/>
          </a:p>
        </p:txBody>
      </p:sp>
      <p:pic>
        <p:nvPicPr>
          <p:cNvPr id="6" name="Paveikslėlis 5" descr="Paveikslėlis, kuriame yra tekstas, ekrano kopija, Šriftas, linija&#10;&#10;Dirbtinio intelekto sugeneruotas turinys gali būti neteisingas.">
            <a:extLst>
              <a:ext uri="{FF2B5EF4-FFF2-40B4-BE49-F238E27FC236}">
                <a16:creationId xmlns:a16="http://schemas.microsoft.com/office/drawing/2014/main" id="{A8B70578-1CCD-85A1-341B-8AFFA976E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748789"/>
            <a:ext cx="9326071" cy="26847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061F3D-A0F2-E137-D91E-17BF31E2AACD}"/>
              </a:ext>
            </a:extLst>
          </p:cNvPr>
          <p:cNvSpPr txBox="1"/>
          <p:nvPr/>
        </p:nvSpPr>
        <p:spPr>
          <a:xfrm>
            <a:off x="1160206" y="5569545"/>
            <a:ext cx="98027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 TIP: Feature importance can also be used as an EDA tool by fitting a model with all the features and screening out those with low importance to focus on the useful ones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15596042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089D6E7-156A-29DC-EA26-306AFB254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TUNING A DECISION TREE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08589B-8684-9B0F-217B-4EB5D12607AD}"/>
              </a:ext>
            </a:extLst>
          </p:cNvPr>
          <p:cNvSpPr txBox="1"/>
          <p:nvPr/>
        </p:nvSpPr>
        <p:spPr>
          <a:xfrm>
            <a:off x="1042218" y="1306446"/>
            <a:ext cx="96257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Hyperparameters are settings that affect how well a model fits the data </a:t>
            </a:r>
          </a:p>
          <a:p>
            <a:r>
              <a:rPr lang="en-US" dirty="0"/>
              <a:t>• Unlike model parameters (like regression coefficients) these are not learned from the data </a:t>
            </a:r>
          </a:p>
          <a:p>
            <a:r>
              <a:rPr lang="en-US" dirty="0"/>
              <a:t>• </a:t>
            </a:r>
            <a:r>
              <a:rPr lang="en-US" dirty="0">
                <a:solidFill>
                  <a:srgbClr val="FF0000"/>
                </a:solidFill>
              </a:rPr>
              <a:t>Parameters are set before the model is fit </a:t>
            </a:r>
            <a:r>
              <a:rPr lang="en-US" dirty="0"/>
              <a:t>and optimized based on validation performance</a:t>
            </a:r>
            <a:endParaRPr lang="lt-LT" dirty="0"/>
          </a:p>
        </p:txBody>
      </p:sp>
      <p:pic>
        <p:nvPicPr>
          <p:cNvPr id="6" name="Paveikslėlis 5" descr="Paveikslėlis, kuriame yra tekstas, ekrano kopija, Šriftas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4CE383A3-7D66-4279-20DB-6CD5A897A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586" y="3429000"/>
            <a:ext cx="7896069" cy="289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876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CEC4AC4-E4DF-ED5E-6B74-18244BE8B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TUNING A DECISION TREE MODEL</a:t>
            </a:r>
            <a:endParaRPr lang="lt-L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E6BD80-F123-5397-198B-D7BD4983B6A8}"/>
              </a:ext>
            </a:extLst>
          </p:cNvPr>
          <p:cNvSpPr txBox="1"/>
          <p:nvPr/>
        </p:nvSpPr>
        <p:spPr>
          <a:xfrm>
            <a:off x="943897" y="1346623"/>
            <a:ext cx="103042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</a:t>
            </a:r>
            <a:r>
              <a:rPr lang="lt-LT" dirty="0" err="1"/>
              <a:t>he</a:t>
            </a:r>
            <a:r>
              <a:rPr lang="lt-LT" dirty="0"/>
              <a:t> </a:t>
            </a:r>
            <a:r>
              <a:rPr lang="lt-LT" b="1" dirty="0" err="1"/>
              <a:t>DecisionTreeClassifier</a:t>
            </a:r>
            <a:r>
              <a:rPr lang="lt-LT" dirty="0"/>
              <a:t> </a:t>
            </a:r>
            <a:r>
              <a:rPr lang="lt-LT" dirty="0" err="1"/>
              <a:t>function</a:t>
            </a:r>
            <a:r>
              <a:rPr lang="lt-LT" dirty="0"/>
              <a:t> </a:t>
            </a:r>
            <a:r>
              <a:rPr lang="lt-LT" dirty="0" err="1"/>
              <a:t>has</a:t>
            </a:r>
            <a:r>
              <a:rPr lang="lt-LT" dirty="0"/>
              <a:t> </a:t>
            </a:r>
            <a:r>
              <a:rPr lang="lt-LT" dirty="0" err="1"/>
              <a:t>many</a:t>
            </a:r>
            <a:r>
              <a:rPr lang="lt-LT" dirty="0"/>
              <a:t> </a:t>
            </a:r>
            <a:r>
              <a:rPr lang="lt-LT" dirty="0" err="1"/>
              <a:t>hyperparameters</a:t>
            </a:r>
            <a:r>
              <a:rPr lang="lt-LT" dirty="0"/>
              <a:t> </a:t>
            </a:r>
            <a:r>
              <a:rPr lang="lt-LT" dirty="0" err="1"/>
              <a:t>that</a:t>
            </a:r>
            <a:r>
              <a:rPr lang="lt-LT" dirty="0"/>
              <a:t> </a:t>
            </a:r>
            <a:r>
              <a:rPr lang="lt-LT" dirty="0" err="1"/>
              <a:t>can</a:t>
            </a:r>
            <a:r>
              <a:rPr lang="lt-LT" dirty="0"/>
              <a:t> be </a:t>
            </a:r>
            <a:r>
              <a:rPr lang="lt-LT" dirty="0" err="1"/>
              <a:t>tuned</a:t>
            </a:r>
            <a:r>
              <a:rPr lang="lt-LT" dirty="0"/>
              <a:t> </a:t>
            </a:r>
            <a:endParaRPr lang="en-US" dirty="0"/>
          </a:p>
          <a:p>
            <a:r>
              <a:rPr lang="en-US" dirty="0"/>
              <a:t>	</a:t>
            </a:r>
            <a:r>
              <a:rPr lang="lt-LT" dirty="0"/>
              <a:t>• </a:t>
            </a:r>
            <a:r>
              <a:rPr lang="lt-LT" b="1" dirty="0" err="1"/>
              <a:t>sklearn.tree.DecisionTreeClassifier</a:t>
            </a:r>
            <a:r>
              <a:rPr lang="lt-LT" b="1" dirty="0"/>
              <a:t>(</a:t>
            </a:r>
            <a:r>
              <a:rPr lang="lt-LT" b="1" dirty="0" err="1"/>
              <a:t>criterion</a:t>
            </a:r>
            <a:r>
              <a:rPr lang="lt-LT" b="1" dirty="0"/>
              <a:t>, </a:t>
            </a:r>
            <a:r>
              <a:rPr lang="lt-LT" b="1" dirty="0" err="1"/>
              <a:t>max_depth</a:t>
            </a:r>
            <a:r>
              <a:rPr lang="lt-LT" b="1" dirty="0"/>
              <a:t>, </a:t>
            </a:r>
            <a:r>
              <a:rPr lang="lt-LT" b="1" dirty="0" err="1"/>
              <a:t>min_samples_leaf</a:t>
            </a:r>
            <a:r>
              <a:rPr lang="lt-LT" b="1" dirty="0"/>
              <a:t>, </a:t>
            </a:r>
            <a:r>
              <a:rPr lang="lt-LT" b="1" dirty="0" err="1"/>
              <a:t>class_weight</a:t>
            </a:r>
            <a:r>
              <a:rPr lang="lt-LT" b="1" dirty="0"/>
              <a:t>)</a:t>
            </a:r>
          </a:p>
        </p:txBody>
      </p:sp>
      <p:pic>
        <p:nvPicPr>
          <p:cNvPr id="6" name="Paveikslėlis 5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0C60E04D-1EC5-8816-FB38-DF9F8BD20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442" y="2269953"/>
            <a:ext cx="8775945" cy="30935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E17A54-86F7-378F-AB74-29359C6CD9CD}"/>
              </a:ext>
            </a:extLst>
          </p:cNvPr>
          <p:cNvSpPr txBox="1"/>
          <p:nvPr/>
        </p:nvSpPr>
        <p:spPr>
          <a:xfrm>
            <a:off x="1120877" y="5511377"/>
            <a:ext cx="90555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 TIP: There are additional hyperparameter options, but in practice you will primarily tune the </a:t>
            </a:r>
            <a:r>
              <a:rPr lang="en-US" b="1" dirty="0" err="1"/>
              <a:t>max_depth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 err="1"/>
              <a:t>min_samples_leaf</a:t>
            </a:r>
            <a:r>
              <a:rPr lang="en-US" b="1" dirty="0"/>
              <a:t> </a:t>
            </a:r>
            <a:r>
              <a:rPr lang="en-US" dirty="0"/>
              <a:t>hyperparameters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38415471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3DCF6-1B71-6CB7-736D-F08AE1E78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174EBD7-C8B0-3DA2-C10A-77234057E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TUNING A DECISION TREE MODEL</a:t>
            </a:r>
            <a:endParaRPr lang="lt-L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F3F362-DBB6-93FD-734F-6B3988734643}"/>
              </a:ext>
            </a:extLst>
          </p:cNvPr>
          <p:cNvSpPr txBox="1"/>
          <p:nvPr/>
        </p:nvSpPr>
        <p:spPr>
          <a:xfrm>
            <a:off x="943897" y="1346623"/>
            <a:ext cx="103042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</a:t>
            </a:r>
            <a:r>
              <a:rPr lang="lt-LT" dirty="0" err="1"/>
              <a:t>he</a:t>
            </a:r>
            <a:r>
              <a:rPr lang="lt-LT" dirty="0"/>
              <a:t> </a:t>
            </a:r>
            <a:r>
              <a:rPr lang="lt-LT" b="1" dirty="0" err="1"/>
              <a:t>DecisionTreeClassifier</a:t>
            </a:r>
            <a:r>
              <a:rPr lang="lt-LT" dirty="0"/>
              <a:t> </a:t>
            </a:r>
            <a:r>
              <a:rPr lang="lt-LT" dirty="0" err="1"/>
              <a:t>function</a:t>
            </a:r>
            <a:r>
              <a:rPr lang="lt-LT" dirty="0"/>
              <a:t> </a:t>
            </a:r>
            <a:r>
              <a:rPr lang="lt-LT" dirty="0" err="1"/>
              <a:t>has</a:t>
            </a:r>
            <a:r>
              <a:rPr lang="lt-LT" dirty="0"/>
              <a:t> </a:t>
            </a:r>
            <a:r>
              <a:rPr lang="lt-LT" dirty="0" err="1"/>
              <a:t>many</a:t>
            </a:r>
            <a:r>
              <a:rPr lang="lt-LT" dirty="0"/>
              <a:t> </a:t>
            </a:r>
            <a:r>
              <a:rPr lang="lt-LT" dirty="0" err="1"/>
              <a:t>hyperparameters</a:t>
            </a:r>
            <a:r>
              <a:rPr lang="lt-LT" dirty="0"/>
              <a:t> </a:t>
            </a:r>
            <a:r>
              <a:rPr lang="lt-LT" dirty="0" err="1"/>
              <a:t>that</a:t>
            </a:r>
            <a:r>
              <a:rPr lang="lt-LT" dirty="0"/>
              <a:t> </a:t>
            </a:r>
            <a:r>
              <a:rPr lang="lt-LT" dirty="0" err="1"/>
              <a:t>can</a:t>
            </a:r>
            <a:r>
              <a:rPr lang="lt-LT" dirty="0"/>
              <a:t> be </a:t>
            </a:r>
            <a:r>
              <a:rPr lang="lt-LT" dirty="0" err="1"/>
              <a:t>tuned</a:t>
            </a:r>
            <a:r>
              <a:rPr lang="lt-LT" dirty="0"/>
              <a:t> </a:t>
            </a:r>
            <a:endParaRPr lang="en-US" dirty="0"/>
          </a:p>
          <a:p>
            <a:r>
              <a:rPr lang="en-US" dirty="0"/>
              <a:t>	</a:t>
            </a:r>
            <a:r>
              <a:rPr lang="lt-LT" dirty="0"/>
              <a:t>• </a:t>
            </a:r>
            <a:r>
              <a:rPr lang="lt-LT" dirty="0" err="1"/>
              <a:t>sklearn.tree.DecisionTreeClassifier</a:t>
            </a:r>
            <a:r>
              <a:rPr lang="lt-LT" dirty="0"/>
              <a:t>(</a:t>
            </a:r>
            <a:r>
              <a:rPr lang="lt-LT" dirty="0" err="1"/>
              <a:t>criterion</a:t>
            </a:r>
            <a:r>
              <a:rPr lang="lt-LT" dirty="0"/>
              <a:t>, </a:t>
            </a:r>
            <a:r>
              <a:rPr lang="lt-LT" dirty="0" err="1"/>
              <a:t>max_depth</a:t>
            </a:r>
            <a:r>
              <a:rPr lang="lt-LT" dirty="0"/>
              <a:t>, </a:t>
            </a:r>
            <a:r>
              <a:rPr lang="lt-LT" dirty="0" err="1"/>
              <a:t>min_samples_leaf</a:t>
            </a:r>
            <a:r>
              <a:rPr lang="lt-LT" dirty="0"/>
              <a:t>, </a:t>
            </a:r>
            <a:r>
              <a:rPr lang="lt-LT" dirty="0" err="1"/>
              <a:t>class_weights</a:t>
            </a:r>
            <a:r>
              <a:rPr lang="lt-LT" dirty="0"/>
              <a:t>)</a:t>
            </a:r>
          </a:p>
        </p:txBody>
      </p:sp>
      <p:pic>
        <p:nvPicPr>
          <p:cNvPr id="5" name="Paveikslėlis 4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5AF22530-3B1C-A29E-878C-287E8AF87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62556"/>
            <a:ext cx="8999771" cy="411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1812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8C2E163-DB69-2D0A-155A-989703B6D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TUNING A DECISION TREE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EE40B8-5C66-A5D6-D488-8D8E69E0CCFA}"/>
              </a:ext>
            </a:extLst>
          </p:cNvPr>
          <p:cNvSpPr txBox="1"/>
          <p:nvPr/>
        </p:nvSpPr>
        <p:spPr>
          <a:xfrm>
            <a:off x="914400" y="1514619"/>
            <a:ext cx="9999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can use </a:t>
            </a:r>
            <a:r>
              <a:rPr lang="en-US" b="1" dirty="0" err="1"/>
              <a:t>GridSearchCV</a:t>
            </a:r>
            <a:r>
              <a:rPr lang="en-US" dirty="0"/>
              <a:t> to test various combinations of hyperparameters </a:t>
            </a:r>
          </a:p>
          <a:p>
            <a:r>
              <a:rPr lang="en-US" dirty="0"/>
              <a:t>• Once you’ve determined the best hyperparameters, fit a final model with them specified</a:t>
            </a:r>
            <a:endParaRPr lang="lt-LT" dirty="0"/>
          </a:p>
        </p:txBody>
      </p:sp>
      <p:pic>
        <p:nvPicPr>
          <p:cNvPr id="6" name="Paveikslėlis 5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2C19C652-34E1-DC52-EBF6-4112FE8F1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54" y="2699625"/>
            <a:ext cx="8858143" cy="379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6686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FB49CFAE-CB1F-0A83-8815-BD7133FB9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&amp; CONS OF DECISION TREES</a:t>
            </a:r>
            <a:endParaRPr lang="lt-L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3EB6A0-5222-9ED9-23D2-E77B0C6A5C28}"/>
              </a:ext>
            </a:extLst>
          </p:cNvPr>
          <p:cNvSpPr txBox="1"/>
          <p:nvPr/>
        </p:nvSpPr>
        <p:spPr>
          <a:xfrm>
            <a:off x="924232" y="1512075"/>
            <a:ext cx="104295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Decision Trees have pros and cons </a:t>
            </a:r>
            <a:r>
              <a:rPr lang="en-US" dirty="0"/>
              <a:t>that data scientists should be aware of when deciding whether it is the best model for the task at hand </a:t>
            </a:r>
          </a:p>
          <a:p>
            <a:r>
              <a:rPr lang="en-US" dirty="0"/>
              <a:t>• In general, decision trees are </a:t>
            </a:r>
            <a:r>
              <a:rPr lang="en-US" dirty="0">
                <a:highlight>
                  <a:srgbClr val="FFFF00"/>
                </a:highlight>
              </a:rPr>
              <a:t>(somewhat) interpretable models </a:t>
            </a:r>
            <a:r>
              <a:rPr lang="en-US" dirty="0"/>
              <a:t>that require minimal data preparation, but are very prone to overfitting and can be dominated by strong predictors</a:t>
            </a:r>
            <a:endParaRPr lang="lt-LT" dirty="0"/>
          </a:p>
        </p:txBody>
      </p:sp>
      <p:pic>
        <p:nvPicPr>
          <p:cNvPr id="6" name="Paveikslėlis 5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544C3550-7124-5BD4-09DE-23BDF5303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3" y="3095047"/>
            <a:ext cx="8262658" cy="314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3967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669B0116-2520-8902-F2EC-F54C18B0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KEY TAKEAWAYS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C3D212-83E4-BDDF-B566-AFF9CAE6EE12}"/>
              </a:ext>
            </a:extLst>
          </p:cNvPr>
          <p:cNvSpPr txBox="1"/>
          <p:nvPr/>
        </p:nvSpPr>
        <p:spPr>
          <a:xfrm>
            <a:off x="963561" y="1582256"/>
            <a:ext cx="1021571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Decision Trees </a:t>
            </a:r>
            <a:r>
              <a:rPr lang="en-US" dirty="0"/>
              <a:t>are algorithms that split data to separate </a:t>
            </a:r>
            <a:r>
              <a:rPr lang="en-US" dirty="0">
                <a:highlight>
                  <a:srgbClr val="FFFF00"/>
                </a:highlight>
              </a:rPr>
              <a:t>classes</a:t>
            </a:r>
            <a:r>
              <a:rPr lang="en-US" dirty="0"/>
              <a:t> </a:t>
            </a:r>
          </a:p>
          <a:p>
            <a:r>
              <a:rPr lang="en-US" dirty="0"/>
              <a:t>	• They search for the features and splits within them that yield the “purest” leaves using entropy </a:t>
            </a:r>
          </a:p>
          <a:p>
            <a:endParaRPr lang="en-US" dirty="0"/>
          </a:p>
          <a:p>
            <a:r>
              <a:rPr lang="en-US" dirty="0"/>
              <a:t>Decision Trees can be </a:t>
            </a:r>
            <a:r>
              <a:rPr lang="en-US" b="1" dirty="0"/>
              <a:t>visualized</a:t>
            </a:r>
            <a:r>
              <a:rPr lang="en-US" dirty="0"/>
              <a:t> to help users interpret the model </a:t>
            </a:r>
          </a:p>
          <a:p>
            <a:r>
              <a:rPr lang="en-US" dirty="0"/>
              <a:t>	• Tree diagrams get very complicated as tree depth grows, but </a:t>
            </a:r>
            <a:r>
              <a:rPr lang="en-US" dirty="0">
                <a:highlight>
                  <a:srgbClr val="FFFF00"/>
                </a:highlight>
              </a:rPr>
              <a:t>even understanding the first few splits </a:t>
            </a:r>
            <a:r>
              <a:rPr lang="en-US" dirty="0"/>
              <a:t>can help you understand what is driving the major decisions the model is making </a:t>
            </a:r>
          </a:p>
          <a:p>
            <a:endParaRPr lang="en-US" dirty="0"/>
          </a:p>
          <a:p>
            <a:r>
              <a:rPr lang="en-US" b="1" dirty="0"/>
              <a:t>Feature Importance </a:t>
            </a:r>
            <a:r>
              <a:rPr lang="en-US" dirty="0"/>
              <a:t>shows which features contribute the most to accuracy </a:t>
            </a:r>
          </a:p>
          <a:p>
            <a:r>
              <a:rPr lang="en-US" dirty="0"/>
              <a:t>	• </a:t>
            </a:r>
            <a:r>
              <a:rPr lang="en-US" dirty="0">
                <a:highlight>
                  <a:srgbClr val="FFFF00"/>
                </a:highlight>
              </a:rPr>
              <a:t>Consider removing features with a feature importance close to zero</a:t>
            </a:r>
            <a:r>
              <a:rPr lang="en-US" dirty="0"/>
              <a:t>, as these may be causing overfitting rather than improving out-of-sample performance </a:t>
            </a:r>
          </a:p>
          <a:p>
            <a:endParaRPr lang="en-US" dirty="0"/>
          </a:p>
          <a:p>
            <a:r>
              <a:rPr lang="en-US" b="1" dirty="0"/>
              <a:t>Hyperparameter tuning </a:t>
            </a:r>
            <a:r>
              <a:rPr lang="en-US" dirty="0"/>
              <a:t>is critical for preventing overfitting </a:t>
            </a:r>
          </a:p>
          <a:p>
            <a:r>
              <a:rPr lang="en-US" dirty="0"/>
              <a:t>	• By default, trees will keep splitting data until the classes are perfectly separated </a:t>
            </a:r>
          </a:p>
          <a:p>
            <a:r>
              <a:rPr lang="en-US" dirty="0"/>
              <a:t>	• This leads to overfitting unless we constrain the complexity of the tree by setting hyperparameters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926925305"/>
      </p:ext>
    </p:extLst>
  </p:cSld>
  <p:clrMapOvr>
    <a:masterClrMapping/>
  </p:clrMapOvr>
</p:sld>
</file>

<file path=ppt/theme/theme1.xml><?xml version="1.0" encoding="utf-8"?>
<a:theme xmlns:a="http://schemas.openxmlformats.org/drawingml/2006/main" name="„Office“ 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as" ma:contentTypeID="0x010100753C69E30CD2E346B0231A1827D4E953" ma:contentTypeVersion="32" ma:contentTypeDescription="Kurkite naują dokumentą." ma:contentTypeScope="" ma:versionID="809ac949904d02c312bdad0800d9e5ec">
  <xsd:schema xmlns:xsd="http://www.w3.org/2001/XMLSchema" xmlns:xs="http://www.w3.org/2001/XMLSchema" xmlns:p="http://schemas.microsoft.com/office/2006/metadata/properties" xmlns:ns2="662e3587-765d-4918-9d92-5b93275042d2" xmlns:ns3="eb74e56a-683e-4ac4-9917-2810b22b5cab" targetNamespace="http://schemas.microsoft.com/office/2006/metadata/properties" ma:root="true" ma:fieldsID="7810e61893e78777e4b537f36b79e890" ns2:_="" ns3:_="">
    <xsd:import namespace="662e3587-765d-4918-9d92-5b93275042d2"/>
    <xsd:import namespace="eb74e56a-683e-4ac4-9917-2810b22b5c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2e3587-765d-4918-9d92-5b9327504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Vaizdų žymės" ma:readOnly="false" ma:fieldId="{5cf76f15-5ced-4ddc-b409-7134ff3c332f}" ma:taxonomyMulti="true" ma:sspId="170f77d6-0e01-4d43-ba48-7d2f3bc0a5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NotebookType" ma:index="19" nillable="true" ma:displayName="Notebook Type" ma:internalName="NotebookType">
      <xsd:simpleType>
        <xsd:restriction base="dms:Text"/>
      </xsd:simpleType>
    </xsd:element>
    <xsd:element name="FolderType" ma:index="20" nillable="true" ma:displayName="Folder Type" ma:internalName="FolderType">
      <xsd:simpleType>
        <xsd:restriction base="dms:Text"/>
      </xsd:simpleType>
    </xsd:element>
    <xsd:element name="CultureName" ma:index="21" nillable="true" ma:displayName="Culture Name" ma:internalName="CultureName">
      <xsd:simpleType>
        <xsd:restriction base="dms:Text"/>
      </xsd:simpleType>
    </xsd:element>
    <xsd:element name="AppVersion" ma:index="22" nillable="true" ma:displayName="App Version" ma:internalName="AppVersion">
      <xsd:simpleType>
        <xsd:restriction base="dms:Text"/>
      </xsd:simpleType>
    </xsd:element>
    <xsd:element name="TeamsChannelId" ma:index="23" nillable="true" ma:displayName="Teams Channel Id" ma:internalName="TeamsChannelId">
      <xsd:simpleType>
        <xsd:restriction base="dms:Text"/>
      </xsd:simpleType>
    </xsd:element>
    <xsd:element name="Owner" ma:index="24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5" nillable="true" ma:displayName="Math Settings" ma:internalName="Math_Settings">
      <xsd:simpleType>
        <xsd:restriction base="dms:Text"/>
      </xsd:simpleType>
    </xsd:element>
    <xsd:element name="DefaultSectionNames" ma:index="26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7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8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9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0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1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2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3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4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5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6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7" nillable="true" ma:displayName="Is Collaboration Space Locked" ma:internalName="Is_Collaboration_Space_Locked">
      <xsd:simpleType>
        <xsd:restriction base="dms:Boolean"/>
      </xsd:simpleType>
    </xsd:element>
    <xsd:element name="IsNotebookLocked" ma:index="38" nillable="true" ma:displayName="Is Notebook Locked" ma:internalName="IsNotebookLocked">
      <xsd:simpleType>
        <xsd:restriction base="dms:Boolean"/>
      </xsd:simpleType>
    </xsd:element>
    <xsd:element name="Teams_Channel_Section_Location" ma:index="39" nillable="true" ma:displayName="Teams Channel Section Location" ma:internalName="Teams_Channel_Section_Loca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4e56a-683e-4ac4-9917-2810b22b5ca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668e2cc-9ecf-45c3-8926-07f8ce6bf3d7}" ma:internalName="TaxCatchAll" ma:showField="CatchAllData" ma:web="eb74e56a-683e-4ac4-9917-2810b22b5c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urinio tipas"/>
        <xsd:element ref="dc:title" minOccurs="0" maxOccurs="1" ma:index="4" ma:displayName="Antraštė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vited_Teachers xmlns="662e3587-765d-4918-9d92-5b93275042d2" xsi:nil="true"/>
    <DefaultSectionNames xmlns="662e3587-765d-4918-9d92-5b93275042d2" xsi:nil="true"/>
    <Teams_Channel_Section_Location xmlns="662e3587-765d-4918-9d92-5b93275042d2" xsi:nil="true"/>
    <Templates xmlns="662e3587-765d-4918-9d92-5b93275042d2" xsi:nil="true"/>
    <NotebookType xmlns="662e3587-765d-4918-9d92-5b93275042d2" xsi:nil="true"/>
    <Distribution_Groups xmlns="662e3587-765d-4918-9d92-5b93275042d2" xsi:nil="true"/>
    <TeamsChannelId xmlns="662e3587-765d-4918-9d92-5b93275042d2" xsi:nil="true"/>
    <Is_Collaboration_Space_Locked xmlns="662e3587-765d-4918-9d92-5b93275042d2" xsi:nil="true"/>
    <Owner xmlns="662e3587-765d-4918-9d92-5b93275042d2">
      <UserInfo>
        <DisplayName/>
        <AccountId xsi:nil="true"/>
        <AccountType/>
      </UserInfo>
    </Owner>
    <LMS_Mappings xmlns="662e3587-765d-4918-9d92-5b93275042d2" xsi:nil="true"/>
    <Invited_Students xmlns="662e3587-765d-4918-9d92-5b93275042d2" xsi:nil="true"/>
    <FolderType xmlns="662e3587-765d-4918-9d92-5b93275042d2" xsi:nil="true"/>
    <CultureName xmlns="662e3587-765d-4918-9d92-5b93275042d2" xsi:nil="true"/>
    <IsNotebookLocked xmlns="662e3587-765d-4918-9d92-5b93275042d2" xsi:nil="true"/>
    <Math_Settings xmlns="662e3587-765d-4918-9d92-5b93275042d2" xsi:nil="true"/>
    <Teachers xmlns="662e3587-765d-4918-9d92-5b93275042d2">
      <UserInfo>
        <DisplayName/>
        <AccountId xsi:nil="true"/>
        <AccountType/>
      </UserInfo>
    </Teachers>
    <Student_Groups xmlns="662e3587-765d-4918-9d92-5b93275042d2">
      <UserInfo>
        <DisplayName/>
        <AccountId xsi:nil="true"/>
        <AccountType/>
      </UserInfo>
    </Student_Groups>
    <TaxCatchAll xmlns="eb74e56a-683e-4ac4-9917-2810b22b5cab" xsi:nil="true"/>
    <AppVersion xmlns="662e3587-765d-4918-9d92-5b93275042d2" xsi:nil="true"/>
    <Self_Registration_Enabled xmlns="662e3587-765d-4918-9d92-5b93275042d2" xsi:nil="true"/>
    <Has_Teacher_Only_SectionGroup xmlns="662e3587-765d-4918-9d92-5b93275042d2" xsi:nil="true"/>
    <lcf76f155ced4ddcb4097134ff3c332f xmlns="662e3587-765d-4918-9d92-5b93275042d2">
      <Terms xmlns="http://schemas.microsoft.com/office/infopath/2007/PartnerControls"/>
    </lcf76f155ced4ddcb4097134ff3c332f>
    <Students xmlns="662e3587-765d-4918-9d92-5b93275042d2">
      <UserInfo>
        <DisplayName/>
        <AccountId xsi:nil="true"/>
        <AccountType/>
      </UserInfo>
    </Students>
  </documentManagement>
</p:properties>
</file>

<file path=customXml/itemProps1.xml><?xml version="1.0" encoding="utf-8"?>
<ds:datastoreItem xmlns:ds="http://schemas.openxmlformats.org/officeDocument/2006/customXml" ds:itemID="{CF18A45C-C132-41ED-A1A2-D702C0A744C8}"/>
</file>

<file path=customXml/itemProps2.xml><?xml version="1.0" encoding="utf-8"?>
<ds:datastoreItem xmlns:ds="http://schemas.openxmlformats.org/officeDocument/2006/customXml" ds:itemID="{14B832AF-D249-402D-9CB0-5E303EF71FAA}"/>
</file>

<file path=customXml/itemProps3.xml><?xml version="1.0" encoding="utf-8"?>
<ds:datastoreItem xmlns:ds="http://schemas.openxmlformats.org/officeDocument/2006/customXml" ds:itemID="{099FE136-04BF-4243-ADC3-ED059B937525}"/>
</file>

<file path=docProps/app.xml><?xml version="1.0" encoding="utf-8"?>
<Properties xmlns="http://schemas.openxmlformats.org/officeDocument/2006/extended-properties" xmlns:vt="http://schemas.openxmlformats.org/officeDocument/2006/docPropsVTypes">
  <TotalTime>885</TotalTime>
  <Words>1310</Words>
  <Application>Microsoft Office PowerPoint</Application>
  <PresentationFormat>Plačiaekranė</PresentationFormat>
  <Paragraphs>110</Paragraphs>
  <Slides>34</Slides>
  <Notes>0</Notes>
  <HiddenSlides>0</HiddenSlides>
  <MMClips>0</MMClips>
  <ScaleCrop>false</ScaleCrop>
  <HeadingPairs>
    <vt:vector size="6" baseType="variant">
      <vt:variant>
        <vt:lpstr>Naudojami šriftai</vt:lpstr>
      </vt:variant>
      <vt:variant>
        <vt:i4>3</vt:i4>
      </vt:variant>
      <vt:variant>
        <vt:lpstr>Tema</vt:lpstr>
      </vt:variant>
      <vt:variant>
        <vt:i4>1</vt:i4>
      </vt:variant>
      <vt:variant>
        <vt:lpstr>Skaidrių pavadinimai</vt:lpstr>
      </vt:variant>
      <vt:variant>
        <vt:i4>34</vt:i4>
      </vt:variant>
    </vt:vector>
  </HeadingPairs>
  <TitlesOfParts>
    <vt:vector size="38" baseType="lpstr">
      <vt:lpstr>Aptos</vt:lpstr>
      <vt:lpstr>Aptos Display</vt:lpstr>
      <vt:lpstr>Arial</vt:lpstr>
      <vt:lpstr>„Office“ tema</vt:lpstr>
      <vt:lpstr>Python Machine Learning: Decision Trees</vt:lpstr>
      <vt:lpstr>WHAT IS DATA SCIENCE?</vt:lpstr>
      <vt:lpstr>Common machine learning algorithms</vt:lpstr>
      <vt:lpstr>CLASSIFICATION 101</vt:lpstr>
      <vt:lpstr>GOALS OF CLASSIFICATION</vt:lpstr>
      <vt:lpstr>TYPES OF CLASSIFICATION</vt:lpstr>
      <vt:lpstr>CLASSIFICATION MODELING WORKFLOW</vt:lpstr>
      <vt:lpstr>KEY TAKEAWAYS</vt:lpstr>
      <vt:lpstr>K-NEAREST NEIGHBORS (KNN)</vt:lpstr>
      <vt:lpstr>LOGISTIC REGRESSION</vt:lpstr>
      <vt:lpstr>MODEL SELECTION &amp; METRICS</vt:lpstr>
      <vt:lpstr>DECISION TREES</vt:lpstr>
      <vt:lpstr>DECISION TREES</vt:lpstr>
      <vt:lpstr>DECISION TREES</vt:lpstr>
      <vt:lpstr>DECISION TREES</vt:lpstr>
      <vt:lpstr>DECISION TREES</vt:lpstr>
      <vt:lpstr>DECISION TREES</vt:lpstr>
      <vt:lpstr>DECISION TREES</vt:lpstr>
      <vt:lpstr>DECISION TREES</vt:lpstr>
      <vt:lpstr>DECISION TREES</vt:lpstr>
      <vt:lpstr>DECISION TREES</vt:lpstr>
      <vt:lpstr>DECISION TREES</vt:lpstr>
      <vt:lpstr>DECISION TREES</vt:lpstr>
      <vt:lpstr>DECISION TREES</vt:lpstr>
      <vt:lpstr>DECISION TREES</vt:lpstr>
      <vt:lpstr>FITTING A DECISION TREE MODEL</vt:lpstr>
      <vt:lpstr>VISUALIZING DECISION TREES</vt:lpstr>
      <vt:lpstr>FEATURE IMPORTANCE</vt:lpstr>
      <vt:lpstr>TUNING A DECISION TREE MODEL</vt:lpstr>
      <vt:lpstr>TUNING A DECISION TREE MODEL</vt:lpstr>
      <vt:lpstr>TUNING A DECISION TREE MODEL</vt:lpstr>
      <vt:lpstr>TUNING A DECISION TREE MODEL</vt:lpstr>
      <vt:lpstr>PROS &amp; CONS OF DECISION TREES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Žydrūnė Kelpšaitė</dc:creator>
  <cp:lastModifiedBy>Žydrūnė Kelpšaitė</cp:lastModifiedBy>
  <cp:revision>2</cp:revision>
  <dcterms:created xsi:type="dcterms:W3CDTF">2026-01-30T17:15:02Z</dcterms:created>
  <dcterms:modified xsi:type="dcterms:W3CDTF">2026-03-09T12:40:36Z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0x010100753C69E30CD2E346B0231A1827D4E953</vt:lpwstr>
  </property>
</Properties>
</file>