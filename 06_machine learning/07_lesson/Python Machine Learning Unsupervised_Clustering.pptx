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60" r:id="rId2"/>
    <p:sldId id="262" r:id="rId3"/>
    <p:sldId id="257" r:id="rId4"/>
    <p:sldId id="259" r:id="rId5"/>
    <p:sldId id="265" r:id="rId6"/>
    <p:sldId id="266" r:id="rId7"/>
    <p:sldId id="301" r:id="rId8"/>
    <p:sldId id="302" r:id="rId9"/>
    <p:sldId id="303" r:id="rId10"/>
    <p:sldId id="304" r:id="rId11"/>
    <p:sldId id="305" r:id="rId12"/>
    <p:sldId id="306" r:id="rId13"/>
    <p:sldId id="308" r:id="rId14"/>
    <p:sldId id="309" r:id="rId15"/>
    <p:sldId id="310" r:id="rId16"/>
    <p:sldId id="307" r:id="rId17"/>
    <p:sldId id="312" r:id="rId18"/>
    <p:sldId id="313" r:id="rId19"/>
    <p:sldId id="311" r:id="rId20"/>
    <p:sldId id="314" r:id="rId21"/>
    <p:sldId id="315" r:id="rId22"/>
    <p:sldId id="316" r:id="rId23"/>
    <p:sldId id="317" r:id="rId24"/>
    <p:sldId id="354" r:id="rId25"/>
    <p:sldId id="318" r:id="rId26"/>
    <p:sldId id="319" r:id="rId27"/>
    <p:sldId id="320" r:id="rId28"/>
    <p:sldId id="321" r:id="rId29"/>
    <p:sldId id="322" r:id="rId30"/>
    <p:sldId id="323" r:id="rId31"/>
    <p:sldId id="324" r:id="rId32"/>
    <p:sldId id="326" r:id="rId33"/>
    <p:sldId id="327" r:id="rId34"/>
    <p:sldId id="328" r:id="rId35"/>
    <p:sldId id="329" r:id="rId36"/>
    <p:sldId id="330" r:id="rId37"/>
    <p:sldId id="325" r:id="rId38"/>
    <p:sldId id="331" r:id="rId39"/>
    <p:sldId id="333" r:id="rId40"/>
    <p:sldId id="332" r:id="rId41"/>
    <p:sldId id="334" r:id="rId42"/>
    <p:sldId id="335" r:id="rId43"/>
    <p:sldId id="338" r:id="rId44"/>
    <p:sldId id="336" r:id="rId45"/>
    <p:sldId id="337" r:id="rId46"/>
    <p:sldId id="339" r:id="rId47"/>
    <p:sldId id="340" r:id="rId48"/>
    <p:sldId id="342" r:id="rId49"/>
    <p:sldId id="343" r:id="rId50"/>
    <p:sldId id="344" r:id="rId51"/>
    <p:sldId id="345" r:id="rId52"/>
    <p:sldId id="346" r:id="rId53"/>
    <p:sldId id="347" r:id="rId54"/>
    <p:sldId id="348" r:id="rId55"/>
    <p:sldId id="349" r:id="rId56"/>
    <p:sldId id="350" r:id="rId57"/>
    <p:sldId id="351" r:id="rId58"/>
    <p:sldId id="352" r:id="rId59"/>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741731-FD19-45E3-B8E4-F4B2DFF60C1C}" v="5" dt="2026-03-16T09:34:12.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7706" autoAdjust="0"/>
  </p:normalViewPr>
  <p:slideViewPr>
    <p:cSldViewPr snapToGrid="0">
      <p:cViewPr varScale="1">
        <p:scale>
          <a:sx n="89" d="100"/>
          <a:sy n="89" d="100"/>
        </p:scale>
        <p:origin x="132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theme" Target="theme/theme1.xml"/><Relationship Id="rId68"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69"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undo custSel addSld delSld modSld sldOrd">
      <pc:chgData name="Žydrūnė Kelpšaitė" userId="e943768126acec1d" providerId="LiveId" clId="{31712FD7-FA85-48BA-9D35-5382388CFC74}" dt="2026-03-16T13:09:38.935" v="255" actId="13926"/>
      <pc:docMkLst>
        <pc:docMk/>
      </pc:docMkLst>
      <pc:sldChg chg="addSp modSp mod">
        <pc:chgData name="Žydrūnė Kelpšaitė" userId="e943768126acec1d" providerId="LiveId" clId="{31712FD7-FA85-48BA-9D35-5382388CFC74}" dt="2026-02-18T18:27:15.664" v="5" actId="1076"/>
        <pc:sldMkLst>
          <pc:docMk/>
          <pc:sldMk cId="4182519725" sldId="260"/>
        </pc:sldMkLst>
        <pc:picChg chg="add mod">
          <ac:chgData name="Žydrūnė Kelpšaitė" userId="e943768126acec1d" providerId="LiveId" clId="{31712FD7-FA85-48BA-9D35-5382388CFC74}" dt="2026-02-18T18:27:15.664" v="5" actId="1076"/>
          <ac:picMkLst>
            <pc:docMk/>
            <pc:sldMk cId="4182519725" sldId="260"/>
            <ac:picMk id="4" creationId="{828CAB8D-2892-10A0-3C41-39608C03B042}"/>
          </ac:picMkLst>
        </pc:picChg>
      </pc:sldChg>
      <pc:sldChg chg="delSp modSp mod">
        <pc:chgData name="Žydrūnė Kelpšaitė" userId="e943768126acec1d" providerId="LiveId" clId="{31712FD7-FA85-48BA-9D35-5382388CFC74}" dt="2026-02-18T18:37:12.376" v="74" actId="1076"/>
        <pc:sldMkLst>
          <pc:docMk/>
          <pc:sldMk cId="1482464162" sldId="301"/>
        </pc:sldMkLst>
        <pc:picChg chg="mod">
          <ac:chgData name="Žydrūnė Kelpšaitė" userId="e943768126acec1d" providerId="LiveId" clId="{31712FD7-FA85-48BA-9D35-5382388CFC74}" dt="2026-02-18T18:37:12.376" v="74" actId="1076"/>
          <ac:picMkLst>
            <pc:docMk/>
            <pc:sldMk cId="1482464162" sldId="301"/>
            <ac:picMk id="6" creationId="{EEBF4A94-C4DD-F867-E02B-A554B1B99FCE}"/>
          </ac:picMkLst>
        </pc:picChg>
      </pc:sldChg>
      <pc:sldChg chg="modSp mod">
        <pc:chgData name="Žydrūnė Kelpšaitė" userId="e943768126acec1d" providerId="LiveId" clId="{31712FD7-FA85-48BA-9D35-5382388CFC74}" dt="2026-03-14T16:48:10.601" v="161" actId="13926"/>
        <pc:sldMkLst>
          <pc:docMk/>
          <pc:sldMk cId="2741892866" sldId="303"/>
        </pc:sldMkLst>
        <pc:spChg chg="mod">
          <ac:chgData name="Žydrūnė Kelpšaitė" userId="e943768126acec1d" providerId="LiveId" clId="{31712FD7-FA85-48BA-9D35-5382388CFC74}" dt="2026-03-14T16:48:10.601" v="161" actId="13926"/>
          <ac:spMkLst>
            <pc:docMk/>
            <pc:sldMk cId="2741892866" sldId="303"/>
            <ac:spMk id="8" creationId="{16C9D771-B418-5202-AB32-8C33817EC56A}"/>
          </ac:spMkLst>
        </pc:spChg>
      </pc:sldChg>
      <pc:sldChg chg="modNotesTx">
        <pc:chgData name="Žydrūnė Kelpšaitė" userId="e943768126acec1d" providerId="LiveId" clId="{31712FD7-FA85-48BA-9D35-5382388CFC74}" dt="2026-03-14T16:51:11.395" v="185" actId="20577"/>
        <pc:sldMkLst>
          <pc:docMk/>
          <pc:sldMk cId="479440265" sldId="304"/>
        </pc:sldMkLst>
      </pc:sldChg>
      <pc:sldChg chg="modSp mod">
        <pc:chgData name="Žydrūnė Kelpšaitė" userId="e943768126acec1d" providerId="LiveId" clId="{31712FD7-FA85-48BA-9D35-5382388CFC74}" dt="2026-03-16T11:30:57.994" v="253" actId="13926"/>
        <pc:sldMkLst>
          <pc:docMk/>
          <pc:sldMk cId="1139019959" sldId="305"/>
        </pc:sldMkLst>
        <pc:spChg chg="mod">
          <ac:chgData name="Žydrūnė Kelpšaitė" userId="e943768126acec1d" providerId="LiveId" clId="{31712FD7-FA85-48BA-9D35-5382388CFC74}" dt="2026-03-16T11:30:57.994" v="253" actId="13926"/>
          <ac:spMkLst>
            <pc:docMk/>
            <pc:sldMk cId="1139019959" sldId="305"/>
            <ac:spMk id="6" creationId="{8CFB3416-78CD-47A5-D6FE-E2A8A6CD3E43}"/>
          </ac:spMkLst>
        </pc:spChg>
      </pc:sldChg>
      <pc:sldChg chg="modNotesTx">
        <pc:chgData name="Žydrūnė Kelpšaitė" userId="e943768126acec1d" providerId="LiveId" clId="{31712FD7-FA85-48BA-9D35-5382388CFC74}" dt="2026-03-14T16:53:49.100" v="190" actId="20577"/>
        <pc:sldMkLst>
          <pc:docMk/>
          <pc:sldMk cId="676769709" sldId="306"/>
        </pc:sldMkLst>
      </pc:sldChg>
      <pc:sldChg chg="modSp mod">
        <pc:chgData name="Žydrūnė Kelpšaitė" userId="e943768126acec1d" providerId="LiveId" clId="{31712FD7-FA85-48BA-9D35-5382388CFC74}" dt="2026-02-19T07:53:48.779" v="139" actId="20577"/>
        <pc:sldMkLst>
          <pc:docMk/>
          <pc:sldMk cId="264270233" sldId="307"/>
        </pc:sldMkLst>
        <pc:spChg chg="mod">
          <ac:chgData name="Žydrūnė Kelpšaitė" userId="e943768126acec1d" providerId="LiveId" clId="{31712FD7-FA85-48BA-9D35-5382388CFC74}" dt="2026-02-19T07:53:48.779" v="139" actId="20577"/>
          <ac:spMkLst>
            <pc:docMk/>
            <pc:sldMk cId="264270233" sldId="307"/>
            <ac:spMk id="4" creationId="{C22D32A4-CF7B-D763-81A3-BCAB4936D28F}"/>
          </ac:spMkLst>
        </pc:spChg>
      </pc:sldChg>
      <pc:sldChg chg="modSp mod">
        <pc:chgData name="Žydrūnė Kelpšaitė" userId="e943768126acec1d" providerId="LiveId" clId="{31712FD7-FA85-48BA-9D35-5382388CFC74}" dt="2026-02-18T18:29:35.233" v="7" actId="1076"/>
        <pc:sldMkLst>
          <pc:docMk/>
          <pc:sldMk cId="2412600636" sldId="309"/>
        </pc:sldMkLst>
        <pc:picChg chg="mod">
          <ac:chgData name="Žydrūnė Kelpšaitė" userId="e943768126acec1d" providerId="LiveId" clId="{31712FD7-FA85-48BA-9D35-5382388CFC74}" dt="2026-02-18T18:29:32.057" v="6" actId="14100"/>
          <ac:picMkLst>
            <pc:docMk/>
            <pc:sldMk cId="2412600636" sldId="309"/>
            <ac:picMk id="6" creationId="{9D952BCE-2438-18D0-B2C0-DBE40DAC0CE2}"/>
          </ac:picMkLst>
        </pc:picChg>
        <pc:picChg chg="mod">
          <ac:chgData name="Žydrūnė Kelpšaitė" userId="e943768126acec1d" providerId="LiveId" clId="{31712FD7-FA85-48BA-9D35-5382388CFC74}" dt="2026-02-18T18:29:35.233" v="7" actId="1076"/>
          <ac:picMkLst>
            <pc:docMk/>
            <pc:sldMk cId="2412600636" sldId="309"/>
            <ac:picMk id="8" creationId="{D0F1C1A9-3922-688F-44FD-CB2F51EBEE0C}"/>
          </ac:picMkLst>
        </pc:picChg>
      </pc:sldChg>
      <pc:sldChg chg="modSp mod modNotesTx">
        <pc:chgData name="Žydrūnė Kelpšaitė" userId="e943768126acec1d" providerId="LiveId" clId="{31712FD7-FA85-48BA-9D35-5382388CFC74}" dt="2026-03-16T09:34:11.235" v="252" actId="20577"/>
        <pc:sldMkLst>
          <pc:docMk/>
          <pc:sldMk cId="3360401796" sldId="311"/>
        </pc:sldMkLst>
        <pc:spChg chg="mod">
          <ac:chgData name="Žydrūnė Kelpšaitė" userId="e943768126acec1d" providerId="LiveId" clId="{31712FD7-FA85-48BA-9D35-5382388CFC74}" dt="2026-02-19T08:00:14.572" v="140" actId="20577"/>
          <ac:spMkLst>
            <pc:docMk/>
            <pc:sldMk cId="3360401796" sldId="311"/>
            <ac:spMk id="4" creationId="{3A1ECAAE-BFCD-ED64-12D4-4C9285765BD0}"/>
          </ac:spMkLst>
        </pc:spChg>
        <pc:picChg chg="mod">
          <ac:chgData name="Žydrūnė Kelpšaitė" userId="e943768126acec1d" providerId="LiveId" clId="{31712FD7-FA85-48BA-9D35-5382388CFC74}" dt="2026-02-19T08:02:28.768" v="142" actId="14100"/>
          <ac:picMkLst>
            <pc:docMk/>
            <pc:sldMk cId="3360401796" sldId="311"/>
            <ac:picMk id="6" creationId="{5498A004-69BF-0E41-5D45-E89D1B630955}"/>
          </ac:picMkLst>
        </pc:picChg>
      </pc:sldChg>
      <pc:sldChg chg="modSp mod">
        <pc:chgData name="Žydrūnė Kelpšaitė" userId="e943768126acec1d" providerId="LiveId" clId="{31712FD7-FA85-48BA-9D35-5382388CFC74}" dt="2026-03-14T17:54:35.589" v="233" actId="20577"/>
        <pc:sldMkLst>
          <pc:docMk/>
          <pc:sldMk cId="1700639675" sldId="314"/>
        </pc:sldMkLst>
        <pc:spChg chg="mod">
          <ac:chgData name="Žydrūnė Kelpšaitė" userId="e943768126acec1d" providerId="LiveId" clId="{31712FD7-FA85-48BA-9D35-5382388CFC74}" dt="2026-03-14T17:54:35.589" v="233" actId="20577"/>
          <ac:spMkLst>
            <pc:docMk/>
            <pc:sldMk cId="1700639675" sldId="314"/>
            <ac:spMk id="4" creationId="{3BEDC391-67A7-C2B3-DEAA-86D51A258D73}"/>
          </ac:spMkLst>
        </pc:spChg>
      </pc:sldChg>
      <pc:sldChg chg="delSp modSp mod">
        <pc:chgData name="Žydrūnė Kelpšaitė" userId="e943768126acec1d" providerId="LiveId" clId="{31712FD7-FA85-48BA-9D35-5382388CFC74}" dt="2026-02-18T19:28:42.175" v="96" actId="14100"/>
        <pc:sldMkLst>
          <pc:docMk/>
          <pc:sldMk cId="1352793110" sldId="317"/>
        </pc:sldMkLst>
        <pc:picChg chg="mod">
          <ac:chgData name="Žydrūnė Kelpšaitė" userId="e943768126acec1d" providerId="LiveId" clId="{31712FD7-FA85-48BA-9D35-5382388CFC74}" dt="2026-02-18T19:28:42.175" v="96" actId="14100"/>
          <ac:picMkLst>
            <pc:docMk/>
            <pc:sldMk cId="1352793110" sldId="317"/>
            <ac:picMk id="8" creationId="{D965797A-7712-3FE9-A928-8B3FBC703A9A}"/>
          </ac:picMkLst>
        </pc:picChg>
      </pc:sldChg>
      <pc:sldChg chg="modSp mod">
        <pc:chgData name="Žydrūnė Kelpšaitė" userId="e943768126acec1d" providerId="LiveId" clId="{31712FD7-FA85-48BA-9D35-5382388CFC74}" dt="2026-03-15T12:53:28.323" v="237" actId="113"/>
        <pc:sldMkLst>
          <pc:docMk/>
          <pc:sldMk cId="2312604127" sldId="319"/>
        </pc:sldMkLst>
        <pc:spChg chg="mod">
          <ac:chgData name="Žydrūnė Kelpšaitė" userId="e943768126acec1d" providerId="LiveId" clId="{31712FD7-FA85-48BA-9D35-5382388CFC74}" dt="2026-03-15T12:53:28.323" v="237" actId="113"/>
          <ac:spMkLst>
            <pc:docMk/>
            <pc:sldMk cId="2312604127" sldId="319"/>
            <ac:spMk id="6" creationId="{98721C27-9D76-268A-00DC-A651EFAC97F0}"/>
          </ac:spMkLst>
        </pc:spChg>
      </pc:sldChg>
      <pc:sldChg chg="delSp modSp mod">
        <pc:chgData name="Žydrūnė Kelpšaitė" userId="e943768126acec1d" providerId="LiveId" clId="{31712FD7-FA85-48BA-9D35-5382388CFC74}" dt="2026-03-16T12:30:35.339" v="254" actId="1076"/>
        <pc:sldMkLst>
          <pc:docMk/>
          <pc:sldMk cId="3795805864" sldId="320"/>
        </pc:sldMkLst>
        <pc:spChg chg="mod">
          <ac:chgData name="Žydrūnė Kelpšaitė" userId="e943768126acec1d" providerId="LiveId" clId="{31712FD7-FA85-48BA-9D35-5382388CFC74}" dt="2026-03-16T12:30:35.339" v="254" actId="1076"/>
          <ac:spMkLst>
            <pc:docMk/>
            <pc:sldMk cId="3795805864" sldId="320"/>
            <ac:spMk id="6" creationId="{EA8BC818-F127-C15F-5BE4-BA5D5729F3BD}"/>
          </ac:spMkLst>
        </pc:spChg>
      </pc:sldChg>
      <pc:sldChg chg="delSp modSp mod">
        <pc:chgData name="Žydrūnė Kelpšaitė" userId="e943768126acec1d" providerId="LiveId" clId="{31712FD7-FA85-48BA-9D35-5382388CFC74}" dt="2026-02-19T08:57:23.186" v="146" actId="13926"/>
        <pc:sldMkLst>
          <pc:docMk/>
          <pc:sldMk cId="4029941585" sldId="323"/>
        </pc:sldMkLst>
        <pc:spChg chg="mod">
          <ac:chgData name="Žydrūnė Kelpšaitė" userId="e943768126acec1d" providerId="LiveId" clId="{31712FD7-FA85-48BA-9D35-5382388CFC74}" dt="2026-02-19T08:57:23.186" v="146" actId="13926"/>
          <ac:spMkLst>
            <pc:docMk/>
            <pc:sldMk cId="4029941585" sldId="323"/>
            <ac:spMk id="8" creationId="{61ECBF12-D65A-5450-420A-ED9A059BD6F4}"/>
          </ac:spMkLst>
        </pc:spChg>
      </pc:sldChg>
      <pc:sldChg chg="modSp mod">
        <pc:chgData name="Žydrūnė Kelpšaitė" userId="e943768126acec1d" providerId="LiveId" clId="{31712FD7-FA85-48BA-9D35-5382388CFC74}" dt="2026-02-18T19:36:25.615" v="114" actId="1076"/>
        <pc:sldMkLst>
          <pc:docMk/>
          <pc:sldMk cId="3235382143" sldId="324"/>
        </pc:sldMkLst>
        <pc:spChg chg="mod">
          <ac:chgData name="Žydrūnė Kelpšaitė" userId="e943768126acec1d" providerId="LiveId" clId="{31712FD7-FA85-48BA-9D35-5382388CFC74}" dt="2026-02-18T19:36:25.615" v="114" actId="1076"/>
          <ac:spMkLst>
            <pc:docMk/>
            <pc:sldMk cId="3235382143" sldId="324"/>
            <ac:spMk id="14" creationId="{F42C34B6-2F03-E8C8-C710-64EA196247D2}"/>
          </ac:spMkLst>
        </pc:spChg>
      </pc:sldChg>
      <pc:sldChg chg="modSp mod">
        <pc:chgData name="Žydrūnė Kelpšaitė" userId="e943768126acec1d" providerId="LiveId" clId="{31712FD7-FA85-48BA-9D35-5382388CFC74}" dt="2026-02-19T09:03:01.495" v="149" actId="113"/>
        <pc:sldMkLst>
          <pc:docMk/>
          <pc:sldMk cId="2063568308" sldId="325"/>
        </pc:sldMkLst>
        <pc:spChg chg="mod">
          <ac:chgData name="Žydrūnė Kelpšaitė" userId="e943768126acec1d" providerId="LiveId" clId="{31712FD7-FA85-48BA-9D35-5382388CFC74}" dt="2026-02-19T09:03:01.495" v="149" actId="113"/>
          <ac:spMkLst>
            <pc:docMk/>
            <pc:sldMk cId="2063568308" sldId="325"/>
            <ac:spMk id="4" creationId="{256BC30C-F2CE-7293-B979-624C5F56F990}"/>
          </ac:spMkLst>
        </pc:spChg>
      </pc:sldChg>
      <pc:sldChg chg="modSp mod">
        <pc:chgData name="Žydrūnė Kelpšaitė" userId="e943768126acec1d" providerId="LiveId" clId="{31712FD7-FA85-48BA-9D35-5382388CFC74}" dt="2026-02-19T07:03:08.255" v="135" actId="1076"/>
        <pc:sldMkLst>
          <pc:docMk/>
          <pc:sldMk cId="3390553522" sldId="326"/>
        </pc:sldMkLst>
        <pc:picChg chg="mod">
          <ac:chgData name="Žydrūnė Kelpšaitė" userId="e943768126acec1d" providerId="LiveId" clId="{31712FD7-FA85-48BA-9D35-5382388CFC74}" dt="2026-02-19T07:03:08.255" v="135" actId="1076"/>
          <ac:picMkLst>
            <pc:docMk/>
            <pc:sldMk cId="3390553522" sldId="326"/>
            <ac:picMk id="10" creationId="{5248D59A-52AD-936A-B019-77E4E7F9F676}"/>
          </ac:picMkLst>
        </pc:picChg>
      </pc:sldChg>
      <pc:sldChg chg="modSp mod">
        <pc:chgData name="Žydrūnė Kelpšaitė" userId="e943768126acec1d" providerId="LiveId" clId="{31712FD7-FA85-48BA-9D35-5382388CFC74}" dt="2026-02-19T09:00:18.308" v="147" actId="113"/>
        <pc:sldMkLst>
          <pc:docMk/>
          <pc:sldMk cId="1392712452" sldId="329"/>
        </pc:sldMkLst>
        <pc:spChg chg="mod">
          <ac:chgData name="Žydrūnė Kelpšaitė" userId="e943768126acec1d" providerId="LiveId" clId="{31712FD7-FA85-48BA-9D35-5382388CFC74}" dt="2026-02-18T18:38:33.034" v="75" actId="1076"/>
          <ac:spMkLst>
            <pc:docMk/>
            <pc:sldMk cId="1392712452" sldId="329"/>
            <ac:spMk id="2" creationId="{32F934D7-98CD-2870-034A-217C8B545F72}"/>
          </ac:spMkLst>
        </pc:spChg>
        <pc:spChg chg="mod">
          <ac:chgData name="Žydrūnė Kelpšaitė" userId="e943768126acec1d" providerId="LiveId" clId="{31712FD7-FA85-48BA-9D35-5382388CFC74}" dt="2026-02-19T09:00:18.308" v="147" actId="113"/>
          <ac:spMkLst>
            <pc:docMk/>
            <pc:sldMk cId="1392712452" sldId="329"/>
            <ac:spMk id="11" creationId="{F8B8DCD0-4FEA-E955-FB11-0FABF5A4F917}"/>
          </ac:spMkLst>
        </pc:spChg>
        <pc:picChg chg="mod">
          <ac:chgData name="Žydrūnė Kelpšaitė" userId="e943768126acec1d" providerId="LiveId" clId="{31712FD7-FA85-48BA-9D35-5382388CFC74}" dt="2026-02-18T18:38:37.265" v="76" actId="1076"/>
          <ac:picMkLst>
            <pc:docMk/>
            <pc:sldMk cId="1392712452" sldId="329"/>
            <ac:picMk id="9" creationId="{E2C08539-FDC9-623B-EB9D-BC050C8672CB}"/>
          </ac:picMkLst>
        </pc:picChg>
      </pc:sldChg>
      <pc:sldChg chg="modSp mod">
        <pc:chgData name="Žydrūnė Kelpšaitė" userId="e943768126acec1d" providerId="LiveId" clId="{31712FD7-FA85-48BA-9D35-5382388CFC74}" dt="2026-02-18T18:39:13.730" v="80" actId="1076"/>
        <pc:sldMkLst>
          <pc:docMk/>
          <pc:sldMk cId="393224592" sldId="330"/>
        </pc:sldMkLst>
        <pc:picChg chg="mod">
          <ac:chgData name="Žydrūnė Kelpšaitė" userId="e943768126acec1d" providerId="LiveId" clId="{31712FD7-FA85-48BA-9D35-5382388CFC74}" dt="2026-02-18T18:39:10.497" v="79" actId="14100"/>
          <ac:picMkLst>
            <pc:docMk/>
            <pc:sldMk cId="393224592" sldId="330"/>
            <ac:picMk id="7" creationId="{7CFF806A-F565-21CF-76C3-4BE22404D921}"/>
          </ac:picMkLst>
        </pc:picChg>
        <pc:picChg chg="mod">
          <ac:chgData name="Žydrūnė Kelpšaitė" userId="e943768126acec1d" providerId="LiveId" clId="{31712FD7-FA85-48BA-9D35-5382388CFC74}" dt="2026-02-18T18:39:13.730" v="80" actId="1076"/>
          <ac:picMkLst>
            <pc:docMk/>
            <pc:sldMk cId="393224592" sldId="330"/>
            <ac:picMk id="9" creationId="{0BFD8B8C-9EC0-2702-D01F-10A75994B7E2}"/>
          </ac:picMkLst>
        </pc:picChg>
      </pc:sldChg>
      <pc:sldChg chg="delSp modSp mod">
        <pc:chgData name="Žydrūnė Kelpšaitė" userId="e943768126acec1d" providerId="LiveId" clId="{31712FD7-FA85-48BA-9D35-5382388CFC74}" dt="2026-02-19T09:21:26.548" v="154" actId="13926"/>
        <pc:sldMkLst>
          <pc:docMk/>
          <pc:sldMk cId="4268215146" sldId="335"/>
        </pc:sldMkLst>
        <pc:spChg chg="mod">
          <ac:chgData name="Žydrūnė Kelpšaitė" userId="e943768126acec1d" providerId="LiveId" clId="{31712FD7-FA85-48BA-9D35-5382388CFC74}" dt="2026-02-19T09:21:26.548" v="154" actId="13926"/>
          <ac:spMkLst>
            <pc:docMk/>
            <pc:sldMk cId="4268215146" sldId="335"/>
            <ac:spMk id="5" creationId="{97750201-ADEC-5E2D-1BA6-2E8493E9649D}"/>
          </ac:spMkLst>
        </pc:spChg>
      </pc:sldChg>
      <pc:sldChg chg="modSp mod ord">
        <pc:chgData name="Žydrūnė Kelpšaitė" userId="e943768126acec1d" providerId="LiveId" clId="{31712FD7-FA85-48BA-9D35-5382388CFC74}" dt="2026-02-19T09:22:48.363" v="157" actId="113"/>
        <pc:sldMkLst>
          <pc:docMk/>
          <pc:sldMk cId="4146986831" sldId="338"/>
        </pc:sldMkLst>
        <pc:spChg chg="mod">
          <ac:chgData name="Žydrūnė Kelpšaitė" userId="e943768126acec1d" providerId="LiveId" clId="{31712FD7-FA85-48BA-9D35-5382388CFC74}" dt="2026-02-19T09:22:48.363" v="157" actId="113"/>
          <ac:spMkLst>
            <pc:docMk/>
            <pc:sldMk cId="4146986831" sldId="338"/>
            <ac:spMk id="4" creationId="{792FDB52-AB1E-AB26-B67A-79DD245D0DB1}"/>
          </ac:spMkLst>
        </pc:spChg>
      </pc:sldChg>
      <pc:sldChg chg="modSp mod">
        <pc:chgData name="Žydrūnė Kelpšaitė" userId="e943768126acec1d" providerId="LiveId" clId="{31712FD7-FA85-48BA-9D35-5382388CFC74}" dt="2026-03-15T16:40:29.831" v="248" actId="1076"/>
        <pc:sldMkLst>
          <pc:docMk/>
          <pc:sldMk cId="1833631137" sldId="342"/>
        </pc:sldMkLst>
        <pc:picChg chg="mod">
          <ac:chgData name="Žydrūnė Kelpšaitė" userId="e943768126acec1d" providerId="LiveId" clId="{31712FD7-FA85-48BA-9D35-5382388CFC74}" dt="2026-03-15T16:40:29.831" v="248" actId="1076"/>
          <ac:picMkLst>
            <pc:docMk/>
            <pc:sldMk cId="1833631137" sldId="342"/>
            <ac:picMk id="9" creationId="{BE602276-6098-0AE8-1DFC-327D580A9E75}"/>
          </ac:picMkLst>
        </pc:picChg>
        <pc:picChg chg="mod">
          <ac:chgData name="Žydrūnė Kelpšaitė" userId="e943768126acec1d" providerId="LiveId" clId="{31712FD7-FA85-48BA-9D35-5382388CFC74}" dt="2026-03-15T16:40:27.274" v="247" actId="1076"/>
          <ac:picMkLst>
            <pc:docMk/>
            <pc:sldMk cId="1833631137" sldId="342"/>
            <ac:picMk id="15" creationId="{5FE797D1-9982-216D-8F6B-70A7A2DB75D3}"/>
          </ac:picMkLst>
        </pc:picChg>
        <pc:picChg chg="mod">
          <ac:chgData name="Žydrūnė Kelpšaitė" userId="e943768126acec1d" providerId="LiveId" clId="{31712FD7-FA85-48BA-9D35-5382388CFC74}" dt="2026-03-15T16:40:23.686" v="246" actId="1076"/>
          <ac:picMkLst>
            <pc:docMk/>
            <pc:sldMk cId="1833631137" sldId="342"/>
            <ac:picMk id="17" creationId="{F4FC3BD9-B6AD-AD24-0515-7F783A65A0ED}"/>
          </ac:picMkLst>
        </pc:picChg>
      </pc:sldChg>
      <pc:sldChg chg="modSp mod">
        <pc:chgData name="Žydrūnė Kelpšaitė" userId="e943768126acec1d" providerId="LiveId" clId="{31712FD7-FA85-48BA-9D35-5382388CFC74}" dt="2026-03-16T13:09:38.935" v="255" actId="13926"/>
        <pc:sldMkLst>
          <pc:docMk/>
          <pc:sldMk cId="4177498823" sldId="344"/>
        </pc:sldMkLst>
        <pc:spChg chg="mod">
          <ac:chgData name="Žydrūnė Kelpšaitė" userId="e943768126acec1d" providerId="LiveId" clId="{31712FD7-FA85-48BA-9D35-5382388CFC74}" dt="2026-02-19T09:24:51.649" v="158" actId="113"/>
          <ac:spMkLst>
            <pc:docMk/>
            <pc:sldMk cId="4177498823" sldId="344"/>
            <ac:spMk id="4" creationId="{8B27BDD3-7386-5F83-E60F-2517615F75F2}"/>
          </ac:spMkLst>
        </pc:spChg>
        <pc:spChg chg="mod">
          <ac:chgData name="Žydrūnė Kelpšaitė" userId="e943768126acec1d" providerId="LiveId" clId="{31712FD7-FA85-48BA-9D35-5382388CFC74}" dt="2026-03-16T13:09:38.935" v="255" actId="13926"/>
          <ac:spMkLst>
            <pc:docMk/>
            <pc:sldMk cId="4177498823" sldId="344"/>
            <ac:spMk id="8" creationId="{1D347892-B63E-AB66-AFAA-21C5D7B2AB22}"/>
          </ac:spMkLst>
        </pc:spChg>
      </pc:sldChg>
      <pc:sldChg chg="modSp mod">
        <pc:chgData name="Žydrūnė Kelpšaitė" userId="e943768126acec1d" providerId="LiveId" clId="{31712FD7-FA85-48BA-9D35-5382388CFC74}" dt="2026-03-15T16:47:17.906" v="250" actId="1076"/>
        <pc:sldMkLst>
          <pc:docMk/>
          <pc:sldMk cId="1938719642" sldId="346"/>
        </pc:sldMkLst>
        <pc:picChg chg="mod">
          <ac:chgData name="Žydrūnė Kelpšaitė" userId="e943768126acec1d" providerId="LiveId" clId="{31712FD7-FA85-48BA-9D35-5382388CFC74}" dt="2026-03-15T16:47:17.906" v="250" actId="1076"/>
          <ac:picMkLst>
            <pc:docMk/>
            <pc:sldMk cId="1938719642" sldId="346"/>
            <ac:picMk id="6" creationId="{299A265D-340A-C0F7-2241-34137EA7644B}"/>
          </ac:picMkLst>
        </pc:picChg>
      </pc:sldChg>
      <pc:sldChg chg="modSp mod">
        <pc:chgData name="Žydrūnė Kelpšaitė" userId="e943768126acec1d" providerId="LiveId" clId="{31712FD7-FA85-48BA-9D35-5382388CFC74}" dt="2026-02-18T19:58:51.312" v="134" actId="20577"/>
        <pc:sldMkLst>
          <pc:docMk/>
          <pc:sldMk cId="2460476084" sldId="347"/>
        </pc:sldMkLst>
        <pc:spChg chg="mod">
          <ac:chgData name="Žydrūnė Kelpšaitė" userId="e943768126acec1d" providerId="LiveId" clId="{31712FD7-FA85-48BA-9D35-5382388CFC74}" dt="2026-02-18T19:58:51.312" v="134" actId="20577"/>
          <ac:spMkLst>
            <pc:docMk/>
            <pc:sldMk cId="2460476084" sldId="347"/>
            <ac:spMk id="4" creationId="{1CBF9AD5-D7E0-9267-8AE6-2F660EA3F5F8}"/>
          </ac:spMkLst>
        </pc:spChg>
      </pc:sldChg>
      <pc:sldChg chg="addSp delSp modSp add mod">
        <pc:chgData name="Žydrūnė Kelpšaitė" userId="e943768126acec1d" providerId="LiveId" clId="{31712FD7-FA85-48BA-9D35-5382388CFC74}" dt="2026-02-19T09:33:16.022" v="159" actId="113"/>
        <pc:sldMkLst>
          <pc:docMk/>
          <pc:sldMk cId="4070000959" sldId="348"/>
        </pc:sldMkLst>
        <pc:spChg chg="mod">
          <ac:chgData name="Žydrūnė Kelpšaitė" userId="e943768126acec1d" providerId="LiveId" clId="{31712FD7-FA85-48BA-9D35-5382388CFC74}" dt="2026-02-18T18:32:18.537" v="9"/>
          <ac:spMkLst>
            <pc:docMk/>
            <pc:sldMk cId="4070000959" sldId="348"/>
            <ac:spMk id="2" creationId="{E3C3CBE7-991A-2860-62E4-FF7CA8B039EA}"/>
          </ac:spMkLst>
        </pc:spChg>
        <pc:spChg chg="mod">
          <ac:chgData name="Žydrūnė Kelpšaitė" userId="e943768126acec1d" providerId="LiveId" clId="{31712FD7-FA85-48BA-9D35-5382388CFC74}" dt="2026-02-19T09:33:16.022" v="159" actId="113"/>
          <ac:spMkLst>
            <pc:docMk/>
            <pc:sldMk cId="4070000959" sldId="348"/>
            <ac:spMk id="4" creationId="{25E39EF3-F521-84B2-DC8D-EA4BE1CC1D69}"/>
          </ac:spMkLst>
        </pc:spChg>
        <pc:picChg chg="add mod">
          <ac:chgData name="Žydrūnė Kelpšaitė" userId="e943768126acec1d" providerId="LiveId" clId="{31712FD7-FA85-48BA-9D35-5382388CFC74}" dt="2026-02-18T18:32:48.939" v="17" actId="1076"/>
          <ac:picMkLst>
            <pc:docMk/>
            <pc:sldMk cId="4070000959" sldId="348"/>
            <ac:picMk id="6" creationId="{964C63AF-097C-C15E-DF60-3C476C78FB3C}"/>
          </ac:picMkLst>
        </pc:picChg>
      </pc:sldChg>
      <pc:sldChg chg="addSp modSp new mod">
        <pc:chgData name="Žydrūnė Kelpšaitė" userId="e943768126acec1d" providerId="LiveId" clId="{31712FD7-FA85-48BA-9D35-5382388CFC74}" dt="2026-02-18T18:33:28.624" v="22" actId="962"/>
        <pc:sldMkLst>
          <pc:docMk/>
          <pc:sldMk cId="139900902" sldId="349"/>
        </pc:sldMkLst>
        <pc:spChg chg="mod">
          <ac:chgData name="Žydrūnė Kelpšaitė" userId="e943768126acec1d" providerId="LiveId" clId="{31712FD7-FA85-48BA-9D35-5382388CFC74}" dt="2026-02-18T18:33:11.364" v="19"/>
          <ac:spMkLst>
            <pc:docMk/>
            <pc:sldMk cId="139900902" sldId="349"/>
            <ac:spMk id="2" creationId="{6A49250A-D19A-2823-5627-921BFB3E6D9A}"/>
          </ac:spMkLst>
        </pc:spChg>
        <pc:picChg chg="add mod">
          <ac:chgData name="Žydrūnė Kelpšaitė" userId="e943768126acec1d" providerId="LiveId" clId="{31712FD7-FA85-48BA-9D35-5382388CFC74}" dt="2026-02-18T18:33:28.624" v="22" actId="962"/>
          <ac:picMkLst>
            <pc:docMk/>
            <pc:sldMk cId="139900902" sldId="349"/>
            <ac:picMk id="4" creationId="{809CD1B9-B85B-8F74-5C5F-00437D3851BC}"/>
          </ac:picMkLst>
        </pc:picChg>
      </pc:sldChg>
      <pc:sldChg chg="addSp delSp modSp add mod">
        <pc:chgData name="Žydrūnė Kelpšaitė" userId="e943768126acec1d" providerId="LiveId" clId="{31712FD7-FA85-48BA-9D35-5382388CFC74}" dt="2026-02-18T18:34:32.892" v="34" actId="1076"/>
        <pc:sldMkLst>
          <pc:docMk/>
          <pc:sldMk cId="3558754474" sldId="350"/>
        </pc:sldMkLst>
        <pc:spChg chg="add mod">
          <ac:chgData name="Žydrūnė Kelpšaitė" userId="e943768126acec1d" providerId="LiveId" clId="{31712FD7-FA85-48BA-9D35-5382388CFC74}" dt="2026-02-18T18:34:01.739" v="29" actId="14100"/>
          <ac:spMkLst>
            <pc:docMk/>
            <pc:sldMk cId="3558754474" sldId="350"/>
            <ac:spMk id="5" creationId="{CFC5789A-4747-C8C5-5D86-D89EA4F91739}"/>
          </ac:spMkLst>
        </pc:spChg>
        <pc:picChg chg="add mod">
          <ac:chgData name="Žydrūnė Kelpšaitė" userId="e943768126acec1d" providerId="LiveId" clId="{31712FD7-FA85-48BA-9D35-5382388CFC74}" dt="2026-02-18T18:34:32.892" v="34" actId="1076"/>
          <ac:picMkLst>
            <pc:docMk/>
            <pc:sldMk cId="3558754474" sldId="350"/>
            <ac:picMk id="7" creationId="{E09649E4-A201-B5C1-142B-3FA4436D7231}"/>
          </ac:picMkLst>
        </pc:picChg>
      </pc:sldChg>
      <pc:sldChg chg="addSp modSp new mod">
        <pc:chgData name="Žydrūnė Kelpšaitė" userId="e943768126acec1d" providerId="LiveId" clId="{31712FD7-FA85-48BA-9D35-5382388CFC74}" dt="2026-02-18T18:36:30.790" v="66" actId="13926"/>
        <pc:sldMkLst>
          <pc:docMk/>
          <pc:sldMk cId="4251815377" sldId="351"/>
        </pc:sldMkLst>
        <pc:spChg chg="mod">
          <ac:chgData name="Žydrūnė Kelpšaitė" userId="e943768126acec1d" providerId="LiveId" clId="{31712FD7-FA85-48BA-9D35-5382388CFC74}" dt="2026-02-18T18:34:45.379" v="36"/>
          <ac:spMkLst>
            <pc:docMk/>
            <pc:sldMk cId="4251815377" sldId="351"/>
            <ac:spMk id="2" creationId="{61757395-A39E-882C-6FA3-9E9C0C19A16B}"/>
          </ac:spMkLst>
        </pc:spChg>
        <pc:spChg chg="add mod">
          <ac:chgData name="Žydrūnė Kelpšaitė" userId="e943768126acec1d" providerId="LiveId" clId="{31712FD7-FA85-48BA-9D35-5382388CFC74}" dt="2026-02-18T18:36:30.790" v="66" actId="13926"/>
          <ac:spMkLst>
            <pc:docMk/>
            <pc:sldMk cId="4251815377" sldId="351"/>
            <ac:spMk id="4" creationId="{5FD86AA9-4A40-24A3-8D97-1F944AE745A4}"/>
          </ac:spMkLst>
        </pc:spChg>
      </pc:sldChg>
      <pc:sldChg chg="addSp modSp new mod">
        <pc:chgData name="Žydrūnė Kelpšaitė" userId="e943768126acec1d" providerId="LiveId" clId="{31712FD7-FA85-48BA-9D35-5382388CFC74}" dt="2026-02-18T18:37:01.676" v="73" actId="14100"/>
        <pc:sldMkLst>
          <pc:docMk/>
          <pc:sldMk cId="1266178217" sldId="352"/>
        </pc:sldMkLst>
        <pc:spChg chg="mod">
          <ac:chgData name="Žydrūnė Kelpšaitė" userId="e943768126acec1d" providerId="LiveId" clId="{31712FD7-FA85-48BA-9D35-5382388CFC74}" dt="2026-02-18T18:36:44.187" v="68"/>
          <ac:spMkLst>
            <pc:docMk/>
            <pc:sldMk cId="1266178217" sldId="352"/>
            <ac:spMk id="2" creationId="{FFB7A386-CD3B-3D5C-3777-F12ED5D1AF37}"/>
          </ac:spMkLst>
        </pc:spChg>
        <pc:picChg chg="add mod">
          <ac:chgData name="Žydrūnė Kelpšaitė" userId="e943768126acec1d" providerId="LiveId" clId="{31712FD7-FA85-48BA-9D35-5382388CFC74}" dt="2026-02-18T18:37:01.676" v="73" actId="14100"/>
          <ac:picMkLst>
            <pc:docMk/>
            <pc:sldMk cId="1266178217" sldId="352"/>
            <ac:picMk id="4" creationId="{8B13C123-467F-1EC9-34D9-B243C5732953}"/>
          </ac:picMkLst>
        </pc:picChg>
      </pc:sldChg>
      <pc:sldChg chg="addSp delSp modSp add mod">
        <pc:chgData name="Žydrūnė Kelpšaitė" userId="e943768126acec1d" providerId="LiveId" clId="{31712FD7-FA85-48BA-9D35-5382388CFC74}" dt="2026-02-18T19:29:34.842" v="98" actId="478"/>
        <pc:sldMkLst>
          <pc:docMk/>
          <pc:sldMk cId="1429282728" sldId="354"/>
        </pc:sldMkLst>
        <pc:picChg chg="add del mod">
          <ac:chgData name="Žydrūnė Kelpšaitė" userId="e943768126acec1d" providerId="LiveId" clId="{31712FD7-FA85-48BA-9D35-5382388CFC74}" dt="2026-02-18T19:29:34.842" v="98" actId="478"/>
          <ac:picMkLst>
            <pc:docMk/>
            <pc:sldMk cId="1429282728" sldId="354"/>
            <ac:picMk id="10" creationId="{C357B8AB-47C6-091B-80FA-62B369B43E7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ntraštės vietos rezervavimo ženklas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os vietos rezervavimo ženklas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673277-77CA-46EF-8116-8E0655FB9E16}" type="datetimeFigureOut">
              <a:rPr lang="lt-LT" smtClean="0"/>
              <a:t>2026-03-16</a:t>
            </a:fld>
            <a:endParaRPr lang="lt-LT"/>
          </a:p>
        </p:txBody>
      </p:sp>
      <p:sp>
        <p:nvSpPr>
          <p:cNvPr id="4" name="Skaidrės vaizdo vietos rezervavimo ženkla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Pastabų vietos rezervavimo ženkl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6" name="Poraštės vietos rezervavimo ženklas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kaidrės numerio vietos rezervavimo ženklas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A7588C-94D5-4269-923E-A396A1BC98EB}" type="slidenum">
              <a:rPr lang="lt-LT" smtClean="0"/>
              <a:t>‹#›</a:t>
            </a:fld>
            <a:endParaRPr lang="lt-LT"/>
          </a:p>
        </p:txBody>
      </p:sp>
    </p:spTree>
    <p:extLst>
      <p:ext uri="{BB962C8B-B14F-4D97-AF65-F5344CB8AC3E}">
        <p14:creationId xmlns:p14="http://schemas.microsoft.com/office/powerpoint/2010/main" val="3178821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Čia K</a:t>
            </a:r>
            <a:r>
              <a:rPr lang="en-US" dirty="0"/>
              <a:t>=</a:t>
            </a:r>
            <a:r>
              <a:rPr lang="lt-LT" dirty="0"/>
              <a:t>2</a:t>
            </a:r>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10</a:t>
            </a:fld>
            <a:endParaRPr lang="lt-LT"/>
          </a:p>
        </p:txBody>
      </p:sp>
    </p:spTree>
    <p:extLst>
      <p:ext uri="{BB962C8B-B14F-4D97-AF65-F5344CB8AC3E}">
        <p14:creationId xmlns:p14="http://schemas.microsoft.com/office/powerpoint/2010/main" val="134965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en-US" dirty="0"/>
              <a:t>K = 2</a:t>
            </a:r>
            <a:endParaRPr lang="lt-LT" dirty="0"/>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12</a:t>
            </a:fld>
            <a:endParaRPr lang="lt-LT"/>
          </a:p>
        </p:txBody>
      </p:sp>
    </p:spTree>
    <p:extLst>
      <p:ext uri="{BB962C8B-B14F-4D97-AF65-F5344CB8AC3E}">
        <p14:creationId xmlns:p14="http://schemas.microsoft.com/office/powerpoint/2010/main" val="389666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https://www.geeksforgeeks.org/python/3d-scatter-plotting-in-python-using-matplotlib/</a:t>
            </a:r>
          </a:p>
          <a:p>
            <a:endParaRPr lang="lt-LT" dirty="0"/>
          </a:p>
          <a:p>
            <a:r>
              <a:rPr lang="lt-LT" dirty="0"/>
              <a:t>https://matplotlib.org/stable/gallery/mplot3d/scatter3d.html</a:t>
            </a:r>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19</a:t>
            </a:fld>
            <a:endParaRPr lang="lt-LT"/>
          </a:p>
        </p:txBody>
      </p:sp>
    </p:spTree>
    <p:extLst>
      <p:ext uri="{BB962C8B-B14F-4D97-AF65-F5344CB8AC3E}">
        <p14:creationId xmlns:p14="http://schemas.microsoft.com/office/powerpoint/2010/main" val="2279919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t-LT" sz="1200" kern="1200" dirty="0">
                <a:solidFill>
                  <a:schemeClr val="tx1"/>
                </a:solidFill>
                <a:effectLst/>
                <a:latin typeface="+mn-lt"/>
                <a:ea typeface="+mn-ea"/>
                <a:cs typeface="+mn-cs"/>
              </a:rPr>
              <a:t>Didinant K, </a:t>
            </a:r>
            <a:r>
              <a:rPr lang="lt-LT" sz="1200" kern="1200" dirty="0" err="1">
                <a:solidFill>
                  <a:schemeClr val="tx1"/>
                </a:solidFill>
                <a:effectLst/>
                <a:latin typeface="+mn-lt"/>
                <a:ea typeface="+mn-ea"/>
                <a:cs typeface="+mn-cs"/>
              </a:rPr>
              <a:t>inertia</a:t>
            </a:r>
            <a:r>
              <a:rPr lang="lt-LT" sz="1200" kern="1200" dirty="0">
                <a:solidFill>
                  <a:schemeClr val="tx1"/>
                </a:solidFill>
                <a:effectLst/>
                <a:latin typeface="+mn-lt"/>
                <a:ea typeface="+mn-ea"/>
                <a:cs typeface="+mn-cs"/>
              </a:rPr>
              <a:t> mažėja.</a:t>
            </a:r>
            <a:br>
              <a:rPr lang="lt-LT" sz="1200" kern="1200" dirty="0">
                <a:solidFill>
                  <a:schemeClr val="tx1"/>
                </a:solidFill>
                <a:effectLst/>
                <a:latin typeface="+mn-lt"/>
                <a:ea typeface="+mn-ea"/>
                <a:cs typeface="+mn-cs"/>
              </a:rPr>
            </a:br>
            <a:r>
              <a:rPr lang="lt-LT" sz="1200" kern="1200" dirty="0">
                <a:solidFill>
                  <a:schemeClr val="tx1"/>
                </a:solidFill>
                <a:effectLst/>
                <a:latin typeface="+mn-lt"/>
                <a:ea typeface="+mn-ea"/>
                <a:cs typeface="+mn-cs"/>
              </a:rPr>
              <a:t>Tačiau ties tam tikra vieta mažėjimas tampa gerokai lėtesnis – susidaro „alkūnė“.</a:t>
            </a:r>
            <a:br>
              <a:rPr lang="lt-LT" sz="1200" kern="1200" dirty="0">
                <a:solidFill>
                  <a:schemeClr val="tx1"/>
                </a:solidFill>
                <a:effectLst/>
                <a:latin typeface="+mn-lt"/>
                <a:ea typeface="+mn-ea"/>
                <a:cs typeface="+mn-cs"/>
              </a:rPr>
            </a:br>
            <a:r>
              <a:rPr lang="lt-LT" sz="1200" kern="1200" dirty="0">
                <a:solidFill>
                  <a:schemeClr val="tx1"/>
                </a:solidFill>
                <a:effectLst/>
                <a:latin typeface="+mn-lt"/>
                <a:ea typeface="+mn-ea"/>
                <a:cs typeface="+mn-cs"/>
              </a:rPr>
              <a:t>Šiame pavyzdyje ji ties K ≈ 5.</a:t>
            </a:r>
          </a:p>
          <a:p>
            <a:endParaRPr lang="lt-LT" dirty="0"/>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23</a:t>
            </a:fld>
            <a:endParaRPr lang="lt-LT"/>
          </a:p>
        </p:txBody>
      </p:sp>
    </p:spTree>
    <p:extLst>
      <p:ext uri="{BB962C8B-B14F-4D97-AF65-F5344CB8AC3E}">
        <p14:creationId xmlns:p14="http://schemas.microsoft.com/office/powerpoint/2010/main" val="585220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https://www.w3schools.com/python/python_ml_k-means.asp</a:t>
            </a:r>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24</a:t>
            </a:fld>
            <a:endParaRPr lang="lt-LT"/>
          </a:p>
        </p:txBody>
      </p:sp>
    </p:spTree>
    <p:extLst>
      <p:ext uri="{BB962C8B-B14F-4D97-AF65-F5344CB8AC3E}">
        <p14:creationId xmlns:p14="http://schemas.microsoft.com/office/powerpoint/2010/main" val="2051885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sz="1200" kern="1200" dirty="0">
                <a:solidFill>
                  <a:schemeClr val="tx1"/>
                </a:solidFill>
                <a:effectLst/>
                <a:latin typeface="+mn-lt"/>
                <a:ea typeface="+mn-ea"/>
                <a:cs typeface="+mn-cs"/>
              </a:rPr>
              <a:t>X ašis – klasterių skaičius K.</a:t>
            </a:r>
            <a:br>
              <a:rPr lang="lt-LT" sz="1200" kern="1200" dirty="0">
                <a:solidFill>
                  <a:schemeClr val="tx1"/>
                </a:solidFill>
                <a:effectLst/>
                <a:latin typeface="+mn-lt"/>
                <a:ea typeface="+mn-ea"/>
                <a:cs typeface="+mn-cs"/>
              </a:rPr>
            </a:br>
            <a:r>
              <a:rPr lang="lt-LT" sz="1200" kern="1200" dirty="0">
                <a:solidFill>
                  <a:schemeClr val="tx1"/>
                </a:solidFill>
                <a:effectLst/>
                <a:latin typeface="+mn-lt"/>
                <a:ea typeface="+mn-ea"/>
                <a:cs typeface="+mn-cs"/>
              </a:rPr>
              <a:t>Y ašis – </a:t>
            </a:r>
            <a:r>
              <a:rPr lang="lt-LT" sz="1200" kern="1200" dirty="0" err="1">
                <a:solidFill>
                  <a:schemeClr val="tx1"/>
                </a:solidFill>
                <a:effectLst/>
                <a:latin typeface="+mn-lt"/>
                <a:ea typeface="+mn-ea"/>
                <a:cs typeface="+mn-cs"/>
              </a:rPr>
              <a:t>inertia</a:t>
            </a:r>
            <a:r>
              <a:rPr lang="lt-LT" sz="1200" kern="1200" dirty="0">
                <a:solidFill>
                  <a:schemeClr val="tx1"/>
                </a:solidFill>
                <a:effectLst/>
                <a:latin typeface="+mn-lt"/>
                <a:ea typeface="+mn-ea"/>
                <a:cs typeface="+mn-cs"/>
              </a:rPr>
              <a:t>.</a:t>
            </a:r>
          </a:p>
          <a:p>
            <a:r>
              <a:rPr lang="lt-LT" sz="1200" kern="1200" dirty="0">
                <a:solidFill>
                  <a:schemeClr val="tx1"/>
                </a:solidFill>
                <a:effectLst/>
                <a:latin typeface="+mn-lt"/>
                <a:ea typeface="+mn-ea"/>
                <a:cs typeface="+mn-cs"/>
              </a:rPr>
              <a:t>Matyti, kad didžiausias kritimas yra tarp 2 ir 3 klasterių, o po 3 mažėjimas tampa lėtesnis.</a:t>
            </a:r>
            <a:br>
              <a:rPr lang="lt-LT" sz="1200" kern="1200" dirty="0">
                <a:solidFill>
                  <a:schemeClr val="tx1"/>
                </a:solidFill>
                <a:effectLst/>
                <a:latin typeface="+mn-lt"/>
                <a:ea typeface="+mn-ea"/>
                <a:cs typeface="+mn-cs"/>
              </a:rPr>
            </a:br>
            <a:r>
              <a:rPr lang="lt-LT" sz="1200" kern="1200" dirty="0">
                <a:solidFill>
                  <a:schemeClr val="tx1"/>
                </a:solidFill>
                <a:effectLst/>
                <a:latin typeface="+mn-lt"/>
                <a:ea typeface="+mn-ea"/>
                <a:cs typeface="+mn-cs"/>
              </a:rPr>
              <a:t>Todėl „alkūnė“ šiame pavyzdyje ties K ≈ 3.</a:t>
            </a:r>
          </a:p>
          <a:p>
            <a:endParaRPr lang="lt-LT" dirty="0"/>
          </a:p>
        </p:txBody>
      </p:sp>
      <p:sp>
        <p:nvSpPr>
          <p:cNvPr id="4" name="Skaidrės numerio vietos rezervavimo ženklas 3"/>
          <p:cNvSpPr>
            <a:spLocks noGrp="1"/>
          </p:cNvSpPr>
          <p:nvPr>
            <p:ph type="sldNum" sz="quarter" idx="5"/>
          </p:nvPr>
        </p:nvSpPr>
        <p:spPr/>
        <p:txBody>
          <a:bodyPr/>
          <a:lstStyle/>
          <a:p>
            <a:fld id="{01A7588C-94D5-4269-923E-A396A1BC98EB}" type="slidenum">
              <a:rPr lang="lt-LT" smtClean="0"/>
              <a:t>25</a:t>
            </a:fld>
            <a:endParaRPr lang="lt-LT"/>
          </a:p>
        </p:txBody>
      </p:sp>
    </p:spTree>
    <p:extLst>
      <p:ext uri="{BB962C8B-B14F-4D97-AF65-F5344CB8AC3E}">
        <p14:creationId xmlns:p14="http://schemas.microsoft.com/office/powerpoint/2010/main" val="1768833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avadinimo skaidr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93AB5EF-6B5F-ACFB-6C6D-FA31DA170580}"/>
              </a:ext>
            </a:extLst>
          </p:cNvPr>
          <p:cNvSpPr>
            <a:spLocks noGrp="1"/>
          </p:cNvSpPr>
          <p:nvPr>
            <p:ph type="ctrTitle"/>
          </p:nvPr>
        </p:nvSpPr>
        <p:spPr>
          <a:xfrm>
            <a:off x="1524000" y="1122363"/>
            <a:ext cx="9144000" cy="2387600"/>
          </a:xfrm>
        </p:spPr>
        <p:txBody>
          <a:bodyPr anchor="b"/>
          <a:lstStyle>
            <a:lvl1pPr algn="ctr">
              <a:defRPr sz="6000"/>
            </a:lvl1pPr>
          </a:lstStyle>
          <a:p>
            <a:r>
              <a:rPr lang="lt-LT"/>
              <a:t>Spustelėję redaguokite stilių</a:t>
            </a:r>
          </a:p>
        </p:txBody>
      </p:sp>
      <p:sp>
        <p:nvSpPr>
          <p:cNvPr id="3" name="Antrinis pavadinimas 2">
            <a:extLst>
              <a:ext uri="{FF2B5EF4-FFF2-40B4-BE49-F238E27FC236}">
                <a16:creationId xmlns:a16="http://schemas.microsoft.com/office/drawing/2014/main" id="{AA7A3585-116A-28BB-125E-20D8978181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lt-LT"/>
              <a:t>Spustelėkite norėdami redaguoti šablono paantraštės stilių</a:t>
            </a:r>
          </a:p>
        </p:txBody>
      </p:sp>
      <p:sp>
        <p:nvSpPr>
          <p:cNvPr id="4" name="Datos vietos rezervavimo ženklas 3">
            <a:extLst>
              <a:ext uri="{FF2B5EF4-FFF2-40B4-BE49-F238E27FC236}">
                <a16:creationId xmlns:a16="http://schemas.microsoft.com/office/drawing/2014/main" id="{D4F618C5-73DE-FAAA-9CC4-7D800A68993C}"/>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1B8F9A60-F596-2591-A3EB-004275BCDFC4}"/>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3D60BAD2-F37E-D8C3-9067-BDBB6993F754}"/>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99719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avadinimas ir turiny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D02571B-C3B5-4F55-65E5-9AF8A8593EE7}"/>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9DC9DB81-A158-0399-4F98-7A0359157454}"/>
              </a:ext>
            </a:extLst>
          </p:cNvPr>
          <p:cNvSpPr>
            <a:spLocks noGrp="1"/>
          </p:cNvSpPr>
          <p:nvPr>
            <p:ph idx="1"/>
          </p:nvPr>
        </p:nvSpPr>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0D462D09-DBC8-BB43-6C73-4225BE0A45C3}"/>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BC35F0A0-14D3-45D4-C563-E3C9BB5E2220}"/>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950C23AE-B3EC-DD65-6B68-F5DA71BAFC2E}"/>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41752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kcijos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D81EB92-CFEA-CE70-D2CB-7CA4457C7558}"/>
              </a:ext>
            </a:extLst>
          </p:cNvPr>
          <p:cNvSpPr>
            <a:spLocks noGrp="1"/>
          </p:cNvSpPr>
          <p:nvPr>
            <p:ph type="title"/>
          </p:nvPr>
        </p:nvSpPr>
        <p:spPr>
          <a:xfrm>
            <a:off x="831850" y="1709738"/>
            <a:ext cx="10515600" cy="2852737"/>
          </a:xfrm>
        </p:spPr>
        <p:txBody>
          <a:bodyPr anchor="b"/>
          <a:lstStyle>
            <a:lvl1pPr>
              <a:defRPr sz="6000"/>
            </a:lvl1pPr>
          </a:lstStyle>
          <a:p>
            <a:r>
              <a:rPr lang="lt-LT"/>
              <a:t>Spustelėję redaguokite stilių</a:t>
            </a:r>
          </a:p>
        </p:txBody>
      </p:sp>
      <p:sp>
        <p:nvSpPr>
          <p:cNvPr id="3" name="Teksto vietos rezervavimo ženklas 2">
            <a:extLst>
              <a:ext uri="{FF2B5EF4-FFF2-40B4-BE49-F238E27FC236}">
                <a16:creationId xmlns:a16="http://schemas.microsoft.com/office/drawing/2014/main" id="{2A1F0D1E-66FB-EDE9-C9DE-DA6E11B076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lt-LT"/>
              <a:t>Spustelėkite, kad galėtumėte redaguoti šablono teksto stilius</a:t>
            </a:r>
          </a:p>
        </p:txBody>
      </p:sp>
      <p:sp>
        <p:nvSpPr>
          <p:cNvPr id="4" name="Datos vietos rezervavimo ženklas 3">
            <a:extLst>
              <a:ext uri="{FF2B5EF4-FFF2-40B4-BE49-F238E27FC236}">
                <a16:creationId xmlns:a16="http://schemas.microsoft.com/office/drawing/2014/main" id="{4EB2DA4C-B184-E72A-6887-3356FBE7FD78}"/>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DE14000D-CA2B-C147-EB84-0349A97663C4}"/>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BC0B6265-21E8-D0A7-26B4-338A5D3CE3A9}"/>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63389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 turiniai">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1D07088-39AB-104D-0225-189CB43D8195}"/>
              </a:ext>
            </a:extLst>
          </p:cNvPr>
          <p:cNvSpPr>
            <a:spLocks noGrp="1"/>
          </p:cNvSpPr>
          <p:nvPr>
            <p:ph type="title"/>
          </p:nvPr>
        </p:nvSpPr>
        <p:spPr/>
        <p:txBody>
          <a:bodyPr/>
          <a:lstStyle/>
          <a:p>
            <a:r>
              <a:rPr lang="lt-LT"/>
              <a:t>Spustelėję redaguokite stilių</a:t>
            </a:r>
          </a:p>
        </p:txBody>
      </p:sp>
      <p:sp>
        <p:nvSpPr>
          <p:cNvPr id="3" name="Turinio vietos rezervavimo ženklas 2">
            <a:extLst>
              <a:ext uri="{FF2B5EF4-FFF2-40B4-BE49-F238E27FC236}">
                <a16:creationId xmlns:a16="http://schemas.microsoft.com/office/drawing/2014/main" id="{0210B43B-50EC-3EE7-E6A4-069F397458B6}"/>
              </a:ext>
            </a:extLst>
          </p:cNvPr>
          <p:cNvSpPr>
            <a:spLocks noGrp="1"/>
          </p:cNvSpPr>
          <p:nvPr>
            <p:ph sz="half" idx="1"/>
          </p:nvPr>
        </p:nvSpPr>
        <p:spPr>
          <a:xfrm>
            <a:off x="838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urinio vietos rezervavimo ženklas 3">
            <a:extLst>
              <a:ext uri="{FF2B5EF4-FFF2-40B4-BE49-F238E27FC236}">
                <a16:creationId xmlns:a16="http://schemas.microsoft.com/office/drawing/2014/main" id="{D73F7631-5846-D978-4C62-5054C3DA774A}"/>
              </a:ext>
            </a:extLst>
          </p:cNvPr>
          <p:cNvSpPr>
            <a:spLocks noGrp="1"/>
          </p:cNvSpPr>
          <p:nvPr>
            <p:ph sz="half" idx="2"/>
          </p:nvPr>
        </p:nvSpPr>
        <p:spPr>
          <a:xfrm>
            <a:off x="6172200" y="1825625"/>
            <a:ext cx="5181600" cy="435133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Datos vietos rezervavimo ženklas 4">
            <a:extLst>
              <a:ext uri="{FF2B5EF4-FFF2-40B4-BE49-F238E27FC236}">
                <a16:creationId xmlns:a16="http://schemas.microsoft.com/office/drawing/2014/main" id="{C4DC9898-72BA-9BA7-5A12-3F849162D829}"/>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6" name="Poraštės vietos rezervavimo ženklas 5">
            <a:extLst>
              <a:ext uri="{FF2B5EF4-FFF2-40B4-BE49-F238E27FC236}">
                <a16:creationId xmlns:a16="http://schemas.microsoft.com/office/drawing/2014/main" id="{8A31FAD6-D938-BF00-E394-8DF9F3F83CE1}"/>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BB200594-9DED-48F3-5393-A126C0595936}"/>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2295415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Lyg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B3AAD30-C6D2-3737-22E7-83514695C9C2}"/>
              </a:ext>
            </a:extLst>
          </p:cNvPr>
          <p:cNvSpPr>
            <a:spLocks noGrp="1"/>
          </p:cNvSpPr>
          <p:nvPr>
            <p:ph type="title"/>
          </p:nvPr>
        </p:nvSpPr>
        <p:spPr>
          <a:xfrm>
            <a:off x="839788" y="365125"/>
            <a:ext cx="10515600" cy="1325563"/>
          </a:xfrm>
        </p:spPr>
        <p:txBody>
          <a:bodyPr/>
          <a:lstStyle/>
          <a:p>
            <a:r>
              <a:rPr lang="lt-LT"/>
              <a:t>Spustelėję redaguokite stilių</a:t>
            </a:r>
          </a:p>
        </p:txBody>
      </p:sp>
      <p:sp>
        <p:nvSpPr>
          <p:cNvPr id="3" name="Teksto vietos rezervavimo ženklas 2">
            <a:extLst>
              <a:ext uri="{FF2B5EF4-FFF2-40B4-BE49-F238E27FC236}">
                <a16:creationId xmlns:a16="http://schemas.microsoft.com/office/drawing/2014/main" id="{A8EA7E1E-6425-909D-044E-650F6F7AA8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4" name="Turinio vietos rezervavimo ženklas 3">
            <a:extLst>
              <a:ext uri="{FF2B5EF4-FFF2-40B4-BE49-F238E27FC236}">
                <a16:creationId xmlns:a16="http://schemas.microsoft.com/office/drawing/2014/main" id="{F531CFDB-0761-BB5B-AD82-1A87FE90CB2D}"/>
              </a:ext>
            </a:extLst>
          </p:cNvPr>
          <p:cNvSpPr>
            <a:spLocks noGrp="1"/>
          </p:cNvSpPr>
          <p:nvPr>
            <p:ph sz="half" idx="2"/>
          </p:nvPr>
        </p:nvSpPr>
        <p:spPr>
          <a:xfrm>
            <a:off x="839788" y="2505075"/>
            <a:ext cx="5157787"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5" name="Teksto vietos rezervavimo ženklas 4">
            <a:extLst>
              <a:ext uri="{FF2B5EF4-FFF2-40B4-BE49-F238E27FC236}">
                <a16:creationId xmlns:a16="http://schemas.microsoft.com/office/drawing/2014/main" id="{C0BFFCC7-A45E-D8B0-CA3E-3600885943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lt-LT"/>
              <a:t>Spustelėkite, kad galėtumėte redaguoti šablono teksto stilius</a:t>
            </a:r>
          </a:p>
        </p:txBody>
      </p:sp>
      <p:sp>
        <p:nvSpPr>
          <p:cNvPr id="6" name="Turinio vietos rezervavimo ženklas 5">
            <a:extLst>
              <a:ext uri="{FF2B5EF4-FFF2-40B4-BE49-F238E27FC236}">
                <a16:creationId xmlns:a16="http://schemas.microsoft.com/office/drawing/2014/main" id="{B7D4207F-8018-0BED-EFBD-78F51C5BC050}"/>
              </a:ext>
            </a:extLst>
          </p:cNvPr>
          <p:cNvSpPr>
            <a:spLocks noGrp="1"/>
          </p:cNvSpPr>
          <p:nvPr>
            <p:ph sz="quarter" idx="4"/>
          </p:nvPr>
        </p:nvSpPr>
        <p:spPr>
          <a:xfrm>
            <a:off x="6172200" y="2505075"/>
            <a:ext cx="5183188" cy="3684588"/>
          </a:xfrm>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7" name="Datos vietos rezervavimo ženklas 6">
            <a:extLst>
              <a:ext uri="{FF2B5EF4-FFF2-40B4-BE49-F238E27FC236}">
                <a16:creationId xmlns:a16="http://schemas.microsoft.com/office/drawing/2014/main" id="{860E1263-516F-1752-14FE-053353CE460D}"/>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8" name="Poraštės vietos rezervavimo ženklas 7">
            <a:extLst>
              <a:ext uri="{FF2B5EF4-FFF2-40B4-BE49-F238E27FC236}">
                <a16:creationId xmlns:a16="http://schemas.microsoft.com/office/drawing/2014/main" id="{030558BC-DD3F-1C05-7777-D7B1E314900F}"/>
              </a:ext>
            </a:extLst>
          </p:cNvPr>
          <p:cNvSpPr>
            <a:spLocks noGrp="1"/>
          </p:cNvSpPr>
          <p:nvPr>
            <p:ph type="ftr" sz="quarter" idx="11"/>
          </p:nvPr>
        </p:nvSpPr>
        <p:spPr/>
        <p:txBody>
          <a:bodyPr/>
          <a:lstStyle/>
          <a:p>
            <a:endParaRPr lang="lt-LT"/>
          </a:p>
        </p:txBody>
      </p:sp>
      <p:sp>
        <p:nvSpPr>
          <p:cNvPr id="9" name="Skaidrės numerio vietos rezervavimo ženklas 8">
            <a:extLst>
              <a:ext uri="{FF2B5EF4-FFF2-40B4-BE49-F238E27FC236}">
                <a16:creationId xmlns:a16="http://schemas.microsoft.com/office/drawing/2014/main" id="{2E7FDEEB-1EF6-0270-0E99-9E072CB63A68}"/>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965819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k pavadinim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762FCF0-5BF0-2245-3031-97E4F8C57499}"/>
              </a:ext>
            </a:extLst>
          </p:cNvPr>
          <p:cNvSpPr>
            <a:spLocks noGrp="1"/>
          </p:cNvSpPr>
          <p:nvPr>
            <p:ph type="title"/>
          </p:nvPr>
        </p:nvSpPr>
        <p:spPr/>
        <p:txBody>
          <a:bodyPr/>
          <a:lstStyle/>
          <a:p>
            <a:r>
              <a:rPr lang="lt-LT"/>
              <a:t>Spustelėję redaguokite stilių</a:t>
            </a:r>
          </a:p>
        </p:txBody>
      </p:sp>
      <p:sp>
        <p:nvSpPr>
          <p:cNvPr id="3" name="Datos vietos rezervavimo ženklas 2">
            <a:extLst>
              <a:ext uri="{FF2B5EF4-FFF2-40B4-BE49-F238E27FC236}">
                <a16:creationId xmlns:a16="http://schemas.microsoft.com/office/drawing/2014/main" id="{79CB8673-23B3-ED38-A184-7D61C18D71FF}"/>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4" name="Poraštės vietos rezervavimo ženklas 3">
            <a:extLst>
              <a:ext uri="{FF2B5EF4-FFF2-40B4-BE49-F238E27FC236}">
                <a16:creationId xmlns:a16="http://schemas.microsoft.com/office/drawing/2014/main" id="{D3B0FAAC-0F16-C92E-D178-1369899BDD23}"/>
              </a:ext>
            </a:extLst>
          </p:cNvPr>
          <p:cNvSpPr>
            <a:spLocks noGrp="1"/>
          </p:cNvSpPr>
          <p:nvPr>
            <p:ph type="ftr" sz="quarter" idx="11"/>
          </p:nvPr>
        </p:nvSpPr>
        <p:spPr/>
        <p:txBody>
          <a:bodyPr/>
          <a:lstStyle/>
          <a:p>
            <a:endParaRPr lang="lt-LT"/>
          </a:p>
        </p:txBody>
      </p:sp>
      <p:sp>
        <p:nvSpPr>
          <p:cNvPr id="5" name="Skaidrės numerio vietos rezervavimo ženklas 4">
            <a:extLst>
              <a:ext uri="{FF2B5EF4-FFF2-40B4-BE49-F238E27FC236}">
                <a16:creationId xmlns:a16="http://schemas.microsoft.com/office/drawing/2014/main" id="{2FD31876-93BC-4FD2-751D-A5A7CEEC2261}"/>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88109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uščia">
    <p:spTree>
      <p:nvGrpSpPr>
        <p:cNvPr id="1" name=""/>
        <p:cNvGrpSpPr/>
        <p:nvPr/>
      </p:nvGrpSpPr>
      <p:grpSpPr>
        <a:xfrm>
          <a:off x="0" y="0"/>
          <a:ext cx="0" cy="0"/>
          <a:chOff x="0" y="0"/>
          <a:chExt cx="0" cy="0"/>
        </a:xfrm>
      </p:grpSpPr>
      <p:sp>
        <p:nvSpPr>
          <p:cNvPr id="2" name="Datos vietos rezervavimo ženklas 1">
            <a:extLst>
              <a:ext uri="{FF2B5EF4-FFF2-40B4-BE49-F238E27FC236}">
                <a16:creationId xmlns:a16="http://schemas.microsoft.com/office/drawing/2014/main" id="{B3E168CD-03D8-7EFB-0256-0D12DA524480}"/>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3" name="Poraštės vietos rezervavimo ženklas 2">
            <a:extLst>
              <a:ext uri="{FF2B5EF4-FFF2-40B4-BE49-F238E27FC236}">
                <a16:creationId xmlns:a16="http://schemas.microsoft.com/office/drawing/2014/main" id="{66FE637A-8D43-3972-276F-94EA9DE0A9E1}"/>
              </a:ext>
            </a:extLst>
          </p:cNvPr>
          <p:cNvSpPr>
            <a:spLocks noGrp="1"/>
          </p:cNvSpPr>
          <p:nvPr>
            <p:ph type="ftr" sz="quarter" idx="11"/>
          </p:nvPr>
        </p:nvSpPr>
        <p:spPr/>
        <p:txBody>
          <a:bodyPr/>
          <a:lstStyle/>
          <a:p>
            <a:endParaRPr lang="lt-LT"/>
          </a:p>
        </p:txBody>
      </p:sp>
      <p:sp>
        <p:nvSpPr>
          <p:cNvPr id="4" name="Skaidrės numerio vietos rezervavimo ženklas 3">
            <a:extLst>
              <a:ext uri="{FF2B5EF4-FFF2-40B4-BE49-F238E27FC236}">
                <a16:creationId xmlns:a16="http://schemas.microsoft.com/office/drawing/2014/main" id="{C8B29FB4-957D-E0FD-8154-7DD8B143D184}"/>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610025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uriny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C66F36F-031E-0847-5ADF-9C1F239AF560}"/>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Turinio vietos rezervavimo ženklas 2">
            <a:extLst>
              <a:ext uri="{FF2B5EF4-FFF2-40B4-BE49-F238E27FC236}">
                <a16:creationId xmlns:a16="http://schemas.microsoft.com/office/drawing/2014/main" id="{BFB98109-249E-4014-EA8C-6D0B097502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Teksto vietos rezervavimo ženklas 3">
            <a:extLst>
              <a:ext uri="{FF2B5EF4-FFF2-40B4-BE49-F238E27FC236}">
                <a16:creationId xmlns:a16="http://schemas.microsoft.com/office/drawing/2014/main" id="{4A7BC854-855F-8063-56C4-0E44C170F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991B6309-19E8-D11D-6D17-2CE3253CDF10}"/>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6" name="Poraštės vietos rezervavimo ženklas 5">
            <a:extLst>
              <a:ext uri="{FF2B5EF4-FFF2-40B4-BE49-F238E27FC236}">
                <a16:creationId xmlns:a16="http://schemas.microsoft.com/office/drawing/2014/main" id="{533A68E0-CBBA-8ED4-0157-F09B6929EF8B}"/>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9F32A747-797D-C2AF-19B0-1B4AE9F490E6}"/>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1380269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aveikslėlis ir antraštė">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A0CA3C1-1729-2245-0AD7-A246108EC283}"/>
              </a:ext>
            </a:extLst>
          </p:cNvPr>
          <p:cNvSpPr>
            <a:spLocks noGrp="1"/>
          </p:cNvSpPr>
          <p:nvPr>
            <p:ph type="title"/>
          </p:nvPr>
        </p:nvSpPr>
        <p:spPr>
          <a:xfrm>
            <a:off x="839788" y="457200"/>
            <a:ext cx="3932237" cy="1600200"/>
          </a:xfrm>
        </p:spPr>
        <p:txBody>
          <a:bodyPr anchor="b"/>
          <a:lstStyle>
            <a:lvl1pPr>
              <a:defRPr sz="3200"/>
            </a:lvl1pPr>
          </a:lstStyle>
          <a:p>
            <a:r>
              <a:rPr lang="lt-LT"/>
              <a:t>Spustelėję redaguokite stilių</a:t>
            </a:r>
          </a:p>
        </p:txBody>
      </p:sp>
      <p:sp>
        <p:nvSpPr>
          <p:cNvPr id="3" name="Paveikslėlio vietos rezervavimo ženklas 2">
            <a:extLst>
              <a:ext uri="{FF2B5EF4-FFF2-40B4-BE49-F238E27FC236}">
                <a16:creationId xmlns:a16="http://schemas.microsoft.com/office/drawing/2014/main" id="{9D12CB35-EC9B-E745-3EBE-B14458EF93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t-LT"/>
          </a:p>
        </p:txBody>
      </p:sp>
      <p:sp>
        <p:nvSpPr>
          <p:cNvPr id="4" name="Teksto vietos rezervavimo ženklas 3">
            <a:extLst>
              <a:ext uri="{FF2B5EF4-FFF2-40B4-BE49-F238E27FC236}">
                <a16:creationId xmlns:a16="http://schemas.microsoft.com/office/drawing/2014/main" id="{2C98CC2F-EC1D-D9A4-3E8C-2AD710A6D1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lt-LT"/>
              <a:t>Spustelėkite, kad galėtumėte redaguoti šablono teksto stilius</a:t>
            </a:r>
          </a:p>
        </p:txBody>
      </p:sp>
      <p:sp>
        <p:nvSpPr>
          <p:cNvPr id="5" name="Datos vietos rezervavimo ženklas 4">
            <a:extLst>
              <a:ext uri="{FF2B5EF4-FFF2-40B4-BE49-F238E27FC236}">
                <a16:creationId xmlns:a16="http://schemas.microsoft.com/office/drawing/2014/main" id="{CE268519-25FF-D320-518D-A67FFFB43A69}"/>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6" name="Poraštės vietos rezervavimo ženklas 5">
            <a:extLst>
              <a:ext uri="{FF2B5EF4-FFF2-40B4-BE49-F238E27FC236}">
                <a16:creationId xmlns:a16="http://schemas.microsoft.com/office/drawing/2014/main" id="{DFBD949C-C6F1-2F49-F500-4C6859BF7366}"/>
              </a:ext>
            </a:extLst>
          </p:cNvPr>
          <p:cNvSpPr>
            <a:spLocks noGrp="1"/>
          </p:cNvSpPr>
          <p:nvPr>
            <p:ph type="ftr" sz="quarter" idx="11"/>
          </p:nvPr>
        </p:nvSpPr>
        <p:spPr/>
        <p:txBody>
          <a:bodyPr/>
          <a:lstStyle/>
          <a:p>
            <a:endParaRPr lang="lt-LT"/>
          </a:p>
        </p:txBody>
      </p:sp>
      <p:sp>
        <p:nvSpPr>
          <p:cNvPr id="7" name="Skaidrės numerio vietos rezervavimo ženklas 6">
            <a:extLst>
              <a:ext uri="{FF2B5EF4-FFF2-40B4-BE49-F238E27FC236}">
                <a16:creationId xmlns:a16="http://schemas.microsoft.com/office/drawing/2014/main" id="{0269386D-C6E6-4E12-547D-8997DE1291D8}"/>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7334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Pavadinimas ir vertikalus tekstas">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95ED226-BADD-FF62-B4AB-2A42CE4EF773}"/>
              </a:ext>
            </a:extLst>
          </p:cNvPr>
          <p:cNvSpPr>
            <a:spLocks noGrp="1"/>
          </p:cNvSpPr>
          <p:nvPr>
            <p:ph type="title"/>
          </p:nvPr>
        </p:nvSpPr>
        <p:spPr/>
        <p:txBody>
          <a:bodyPr/>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346476DC-425D-DBA6-9913-F46BA1054978}"/>
              </a:ext>
            </a:extLst>
          </p:cNvPr>
          <p:cNvSpPr>
            <a:spLocks noGrp="1"/>
          </p:cNvSpPr>
          <p:nvPr>
            <p:ph type="body" orient="vert" idx="1"/>
          </p:nvPr>
        </p:nvSpPr>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FDFF0406-6709-D8D8-1E60-1459CB0B47C4}"/>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12DFB000-9ED4-8E2F-F272-6B47BB42E486}"/>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19D64B03-AFAE-9F53-2E4B-E61280842A7F}"/>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919394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us pavadinimas ir tekstas">
    <p:spTree>
      <p:nvGrpSpPr>
        <p:cNvPr id="1" name=""/>
        <p:cNvGrpSpPr/>
        <p:nvPr/>
      </p:nvGrpSpPr>
      <p:grpSpPr>
        <a:xfrm>
          <a:off x="0" y="0"/>
          <a:ext cx="0" cy="0"/>
          <a:chOff x="0" y="0"/>
          <a:chExt cx="0" cy="0"/>
        </a:xfrm>
      </p:grpSpPr>
      <p:sp>
        <p:nvSpPr>
          <p:cNvPr id="2" name="Vertikalus pavadinimas 1">
            <a:extLst>
              <a:ext uri="{FF2B5EF4-FFF2-40B4-BE49-F238E27FC236}">
                <a16:creationId xmlns:a16="http://schemas.microsoft.com/office/drawing/2014/main" id="{EDB1386A-8741-442A-031B-74255946A3F7}"/>
              </a:ext>
            </a:extLst>
          </p:cNvPr>
          <p:cNvSpPr>
            <a:spLocks noGrp="1"/>
          </p:cNvSpPr>
          <p:nvPr>
            <p:ph type="title" orient="vert"/>
          </p:nvPr>
        </p:nvSpPr>
        <p:spPr>
          <a:xfrm>
            <a:off x="8724900" y="365125"/>
            <a:ext cx="2628900" cy="5811838"/>
          </a:xfrm>
        </p:spPr>
        <p:txBody>
          <a:bodyPr vert="eaVert"/>
          <a:lstStyle/>
          <a:p>
            <a:r>
              <a:rPr lang="lt-LT"/>
              <a:t>Spustelėję redaguokite stilių</a:t>
            </a:r>
          </a:p>
        </p:txBody>
      </p:sp>
      <p:sp>
        <p:nvSpPr>
          <p:cNvPr id="3" name="Vertikalaus teksto vietos rezervavimo ženklas 2">
            <a:extLst>
              <a:ext uri="{FF2B5EF4-FFF2-40B4-BE49-F238E27FC236}">
                <a16:creationId xmlns:a16="http://schemas.microsoft.com/office/drawing/2014/main" id="{770C33A8-A3BA-726D-14D3-7339AA42E972}"/>
              </a:ext>
            </a:extLst>
          </p:cNvPr>
          <p:cNvSpPr>
            <a:spLocks noGrp="1"/>
          </p:cNvSpPr>
          <p:nvPr>
            <p:ph type="body" orient="vert" idx="1"/>
          </p:nvPr>
        </p:nvSpPr>
        <p:spPr>
          <a:xfrm>
            <a:off x="838200" y="365125"/>
            <a:ext cx="7734300" cy="5811838"/>
          </a:xfrm>
        </p:spPr>
        <p:txBody>
          <a:bodyPr vert="eaVe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0742D7A4-A271-EF2F-17C4-820B384B4F3A}"/>
              </a:ext>
            </a:extLst>
          </p:cNvPr>
          <p:cNvSpPr>
            <a:spLocks noGrp="1"/>
          </p:cNvSpPr>
          <p:nvPr>
            <p:ph type="dt" sz="half" idx="10"/>
          </p:nvPr>
        </p:nvSpPr>
        <p:spPr/>
        <p:txBody>
          <a:body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4422E5F2-2DDF-CB74-27E4-DA2E9AE4004C}"/>
              </a:ext>
            </a:extLst>
          </p:cNvPr>
          <p:cNvSpPr>
            <a:spLocks noGrp="1"/>
          </p:cNvSpPr>
          <p:nvPr>
            <p:ph type="ftr" sz="quarter" idx="11"/>
          </p:nvPr>
        </p:nvSpPr>
        <p:spPr/>
        <p:txBody>
          <a:bodyPr/>
          <a:lstStyle/>
          <a:p>
            <a:endParaRPr lang="lt-LT"/>
          </a:p>
        </p:txBody>
      </p:sp>
      <p:sp>
        <p:nvSpPr>
          <p:cNvPr id="6" name="Skaidrės numerio vietos rezervavimo ženklas 5">
            <a:extLst>
              <a:ext uri="{FF2B5EF4-FFF2-40B4-BE49-F238E27FC236}">
                <a16:creationId xmlns:a16="http://schemas.microsoft.com/office/drawing/2014/main" id="{9189827F-6873-DC48-7EF2-7C2BD97C0E49}"/>
              </a:ext>
            </a:extLst>
          </p:cNvPr>
          <p:cNvSpPr>
            <a:spLocks noGrp="1"/>
          </p:cNvSpPr>
          <p:nvPr>
            <p:ph type="sldNum" sz="quarter" idx="12"/>
          </p:nvPr>
        </p:nvSpPr>
        <p:spPr/>
        <p:txBody>
          <a:bodyPr/>
          <a:lstStyle/>
          <a:p>
            <a:fld id="{18EF1DCD-C392-4C65-BB44-D22CA8F35346}" type="slidenum">
              <a:rPr lang="lt-LT" smtClean="0"/>
              <a:t>‹#›</a:t>
            </a:fld>
            <a:endParaRPr lang="lt-LT"/>
          </a:p>
        </p:txBody>
      </p:sp>
    </p:spTree>
    <p:extLst>
      <p:ext uri="{BB962C8B-B14F-4D97-AF65-F5344CB8AC3E}">
        <p14:creationId xmlns:p14="http://schemas.microsoft.com/office/powerpoint/2010/main" val="8931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avadinimo vietos rezervavimo ženklas 1">
            <a:extLst>
              <a:ext uri="{FF2B5EF4-FFF2-40B4-BE49-F238E27FC236}">
                <a16:creationId xmlns:a16="http://schemas.microsoft.com/office/drawing/2014/main" id="{D89D0249-6CF1-2A6D-BA39-0553FEA190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lt-LT"/>
              <a:t>Spustelėję redaguokite stilių</a:t>
            </a:r>
          </a:p>
        </p:txBody>
      </p:sp>
      <p:sp>
        <p:nvSpPr>
          <p:cNvPr id="3" name="Teksto vietos rezervavimo ženklas 2">
            <a:extLst>
              <a:ext uri="{FF2B5EF4-FFF2-40B4-BE49-F238E27FC236}">
                <a16:creationId xmlns:a16="http://schemas.microsoft.com/office/drawing/2014/main" id="{0F896552-3523-D00F-7F15-72231631E0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4" name="Datos vietos rezervavimo ženklas 3">
            <a:extLst>
              <a:ext uri="{FF2B5EF4-FFF2-40B4-BE49-F238E27FC236}">
                <a16:creationId xmlns:a16="http://schemas.microsoft.com/office/drawing/2014/main" id="{C61BC822-194C-CA54-855F-F64E5F6A9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34C509-4FC9-4EE0-9201-F9F538BD35AE}" type="datetimeFigureOut">
              <a:rPr lang="lt-LT" smtClean="0"/>
              <a:t>2026-03-16</a:t>
            </a:fld>
            <a:endParaRPr lang="lt-LT"/>
          </a:p>
        </p:txBody>
      </p:sp>
      <p:sp>
        <p:nvSpPr>
          <p:cNvPr id="5" name="Poraštės vietos rezervavimo ženklas 4">
            <a:extLst>
              <a:ext uri="{FF2B5EF4-FFF2-40B4-BE49-F238E27FC236}">
                <a16:creationId xmlns:a16="http://schemas.microsoft.com/office/drawing/2014/main" id="{15695E55-4479-8356-B78E-4D4ECCEC7F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t-LT"/>
          </a:p>
        </p:txBody>
      </p:sp>
      <p:sp>
        <p:nvSpPr>
          <p:cNvPr id="6" name="Skaidrės numerio vietos rezervavimo ženklas 5">
            <a:extLst>
              <a:ext uri="{FF2B5EF4-FFF2-40B4-BE49-F238E27FC236}">
                <a16:creationId xmlns:a16="http://schemas.microsoft.com/office/drawing/2014/main" id="{6B7341C4-1DFB-CC8D-FBF5-CBAE6FD01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EF1DCD-C392-4C65-BB44-D22CA8F35346}" type="slidenum">
              <a:rPr lang="lt-LT" smtClean="0"/>
              <a:t>‹#›</a:t>
            </a:fld>
            <a:endParaRPr lang="lt-LT"/>
          </a:p>
        </p:txBody>
      </p:sp>
    </p:spTree>
    <p:extLst>
      <p:ext uri="{BB962C8B-B14F-4D97-AF65-F5344CB8AC3E}">
        <p14:creationId xmlns:p14="http://schemas.microsoft.com/office/powerpoint/2010/main" val="841830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6.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51DE627-F873-EE20-9A3B-D8D2E34FDCCE}"/>
              </a:ext>
            </a:extLst>
          </p:cNvPr>
          <p:cNvSpPr>
            <a:spLocks noGrp="1"/>
          </p:cNvSpPr>
          <p:nvPr>
            <p:ph type="ctrTitle"/>
          </p:nvPr>
        </p:nvSpPr>
        <p:spPr/>
        <p:txBody>
          <a:bodyPr>
            <a:normAutofit fontScale="90000"/>
          </a:bodyPr>
          <a:lstStyle/>
          <a:p>
            <a:br>
              <a:rPr lang="en-US" dirty="0"/>
            </a:br>
            <a:br>
              <a:rPr lang="en-US" dirty="0"/>
            </a:br>
            <a:r>
              <a:rPr lang="en-US" dirty="0"/>
              <a:t>Python Machine Learning</a:t>
            </a:r>
            <a:endParaRPr lang="lt-LT" dirty="0"/>
          </a:p>
        </p:txBody>
      </p:sp>
      <p:sp>
        <p:nvSpPr>
          <p:cNvPr id="3" name="Antrinis pavadinimas 2">
            <a:extLst>
              <a:ext uri="{FF2B5EF4-FFF2-40B4-BE49-F238E27FC236}">
                <a16:creationId xmlns:a16="http://schemas.microsoft.com/office/drawing/2014/main" id="{DF5DE917-4BE6-0DC6-27ED-48EBAD1754DC}"/>
              </a:ext>
            </a:extLst>
          </p:cNvPr>
          <p:cNvSpPr>
            <a:spLocks noGrp="1"/>
          </p:cNvSpPr>
          <p:nvPr>
            <p:ph type="subTitle" idx="1"/>
          </p:nvPr>
        </p:nvSpPr>
        <p:spPr/>
        <p:txBody>
          <a:bodyPr/>
          <a:lstStyle/>
          <a:p>
            <a:r>
              <a:rPr lang="lt-LT" dirty="0"/>
              <a:t>Žydrūnė Kelpšaitė</a:t>
            </a:r>
          </a:p>
          <a:p>
            <a:r>
              <a:rPr lang="lt-LT" dirty="0"/>
              <a:t>Data </a:t>
            </a:r>
            <a:r>
              <a:rPr lang="lt-LT" dirty="0" err="1"/>
              <a:t>Analyst</a:t>
            </a:r>
            <a:endParaRPr lang="lt-LT" dirty="0"/>
          </a:p>
        </p:txBody>
      </p:sp>
      <p:pic>
        <p:nvPicPr>
          <p:cNvPr id="7" name="Paveikslėlis 6">
            <a:extLst>
              <a:ext uri="{FF2B5EF4-FFF2-40B4-BE49-F238E27FC236}">
                <a16:creationId xmlns:a16="http://schemas.microsoft.com/office/drawing/2014/main" id="{9E79B567-32F2-69DD-9EA7-B800DE5C43BA}"/>
              </a:ext>
            </a:extLst>
          </p:cNvPr>
          <p:cNvPicPr>
            <a:picLocks noChangeAspect="1"/>
          </p:cNvPicPr>
          <p:nvPr/>
        </p:nvPicPr>
        <p:blipFill>
          <a:blip r:embed="rId2"/>
          <a:stretch>
            <a:fillRect/>
          </a:stretch>
        </p:blipFill>
        <p:spPr>
          <a:xfrm>
            <a:off x="569986" y="522204"/>
            <a:ext cx="10698068" cy="1200318"/>
          </a:xfrm>
          <a:prstGeom prst="rect">
            <a:avLst/>
          </a:prstGeom>
        </p:spPr>
      </p:pic>
      <p:pic>
        <p:nvPicPr>
          <p:cNvPr id="4" name="Paveikslėlis 3" descr="Paveikslėlis, kuriame yra Šriftas, Grafika, ekrano kopija, grafinis dizainas&#10;&#10;Dirbtinio intelekto sugeneruotas turinys gali būti neteisingas.">
            <a:extLst>
              <a:ext uri="{FF2B5EF4-FFF2-40B4-BE49-F238E27FC236}">
                <a16:creationId xmlns:a16="http://schemas.microsoft.com/office/drawing/2014/main" id="{828CAB8D-2892-10A0-3C41-39608C03B042}"/>
              </a:ext>
            </a:extLst>
          </p:cNvPr>
          <p:cNvPicPr>
            <a:picLocks noChangeAspect="1"/>
          </p:cNvPicPr>
          <p:nvPr/>
        </p:nvPicPr>
        <p:blipFill>
          <a:blip r:embed="rId3"/>
          <a:stretch>
            <a:fillRect/>
          </a:stretch>
        </p:blipFill>
        <p:spPr>
          <a:xfrm>
            <a:off x="3388512" y="4730663"/>
            <a:ext cx="5591955" cy="1238423"/>
          </a:xfrm>
          <a:prstGeom prst="rect">
            <a:avLst/>
          </a:prstGeom>
        </p:spPr>
      </p:pic>
    </p:spTree>
    <p:extLst>
      <p:ext uri="{BB962C8B-B14F-4D97-AF65-F5344CB8AC3E}">
        <p14:creationId xmlns:p14="http://schemas.microsoft.com/office/powerpoint/2010/main" val="418251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DABA132-3969-2C1F-649A-A733DE7DDB0C}"/>
              </a:ext>
            </a:extLst>
          </p:cNvPr>
          <p:cNvSpPr>
            <a:spLocks noGrp="1"/>
          </p:cNvSpPr>
          <p:nvPr>
            <p:ph type="title"/>
          </p:nvPr>
        </p:nvSpPr>
        <p:spPr/>
        <p:txBody>
          <a:bodyPr/>
          <a:lstStyle/>
          <a:p>
            <a:r>
              <a:rPr lang="en-US" dirty="0"/>
              <a:t>C</a:t>
            </a:r>
            <a:r>
              <a:rPr lang="lt-LT" dirty="0" err="1"/>
              <a:t>ommon</a:t>
            </a:r>
            <a:r>
              <a:rPr lang="lt-LT" dirty="0"/>
              <a:t> </a:t>
            </a:r>
            <a:r>
              <a:rPr lang="lt-LT" dirty="0" err="1"/>
              <a:t>machine</a:t>
            </a:r>
            <a:r>
              <a:rPr lang="lt-LT" dirty="0"/>
              <a:t> </a:t>
            </a:r>
            <a:r>
              <a:rPr lang="lt-LT" dirty="0" err="1"/>
              <a:t>learning</a:t>
            </a:r>
            <a:r>
              <a:rPr lang="lt-LT" dirty="0"/>
              <a:t> </a:t>
            </a:r>
            <a:r>
              <a:rPr lang="lt-LT" dirty="0" err="1"/>
              <a:t>algorithms</a:t>
            </a:r>
            <a:endParaRPr lang="lt-LT" dirty="0"/>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5DD8A479-8FC6-C9BE-EF4C-F964D5FA4F16}"/>
              </a:ext>
            </a:extLst>
          </p:cNvPr>
          <p:cNvPicPr>
            <a:picLocks noChangeAspect="1"/>
          </p:cNvPicPr>
          <p:nvPr/>
        </p:nvPicPr>
        <p:blipFill>
          <a:blip r:embed="rId2"/>
          <a:stretch>
            <a:fillRect/>
          </a:stretch>
        </p:blipFill>
        <p:spPr>
          <a:xfrm>
            <a:off x="2942087" y="1690688"/>
            <a:ext cx="7487695" cy="4344006"/>
          </a:xfrm>
          <a:prstGeom prst="rect">
            <a:avLst/>
          </a:prstGeom>
        </p:spPr>
      </p:pic>
    </p:spTree>
    <p:extLst>
      <p:ext uri="{BB962C8B-B14F-4D97-AF65-F5344CB8AC3E}">
        <p14:creationId xmlns:p14="http://schemas.microsoft.com/office/powerpoint/2010/main" val="3911068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518DA7C-CE0F-B1DC-315B-638B26FC5E41}"/>
              </a:ext>
            </a:extLst>
          </p:cNvPr>
          <p:cNvSpPr>
            <a:spLocks noGrp="1"/>
          </p:cNvSpPr>
          <p:nvPr>
            <p:ph type="title"/>
          </p:nvPr>
        </p:nvSpPr>
        <p:spPr/>
        <p:txBody>
          <a:bodyPr/>
          <a:lstStyle/>
          <a:p>
            <a:r>
              <a:rPr lang="lt-LT" dirty="0"/>
              <a:t>UNSUPERVISED LEARNING 101</a:t>
            </a:r>
          </a:p>
        </p:txBody>
      </p:sp>
      <p:sp>
        <p:nvSpPr>
          <p:cNvPr id="6" name="TextBox 5">
            <a:extLst>
              <a:ext uri="{FF2B5EF4-FFF2-40B4-BE49-F238E27FC236}">
                <a16:creationId xmlns:a16="http://schemas.microsoft.com/office/drawing/2014/main" id="{8F7923C2-2411-204F-1F53-FB5A29B090DD}"/>
              </a:ext>
            </a:extLst>
          </p:cNvPr>
          <p:cNvSpPr txBox="1"/>
          <p:nvPr/>
        </p:nvSpPr>
        <p:spPr>
          <a:xfrm>
            <a:off x="914399" y="1571916"/>
            <a:ext cx="10176387" cy="923330"/>
          </a:xfrm>
          <a:prstGeom prst="rect">
            <a:avLst/>
          </a:prstGeom>
          <a:noFill/>
        </p:spPr>
        <p:txBody>
          <a:bodyPr wrap="square">
            <a:spAutoFit/>
          </a:bodyPr>
          <a:lstStyle/>
          <a:p>
            <a:r>
              <a:rPr lang="en-US" dirty="0"/>
              <a:t>Unsupervised learning is about </a:t>
            </a:r>
            <a:r>
              <a:rPr lang="en-US" b="1" dirty="0"/>
              <a:t>finding insights &amp; patterns </a:t>
            </a:r>
            <a:r>
              <a:rPr lang="en-US" dirty="0"/>
              <a:t>hidden in the data </a:t>
            </a:r>
          </a:p>
          <a:p>
            <a:r>
              <a:rPr lang="en-US" dirty="0"/>
              <a:t>• Unlike regression or classification, we don’t care about splitting our data into train / test sets and making predictions, we just care about understanding the relationships in our data </a:t>
            </a:r>
            <a:endParaRPr lang="lt-LT" dirty="0"/>
          </a:p>
        </p:txBody>
      </p:sp>
      <p:pic>
        <p:nvPicPr>
          <p:cNvPr id="8" name="Paveikslėlis 7" descr="Paveikslėlis, kuriame yra tekstas, ekrano kopija, Šriftas, linija&#10;&#10;Dirbtinio intelekto sugeneruotas turinys gali būti neteisingas.">
            <a:extLst>
              <a:ext uri="{FF2B5EF4-FFF2-40B4-BE49-F238E27FC236}">
                <a16:creationId xmlns:a16="http://schemas.microsoft.com/office/drawing/2014/main" id="{766FD9EF-DD8A-5B44-DA06-3B6CBBDD2CFE}"/>
              </a:ext>
            </a:extLst>
          </p:cNvPr>
          <p:cNvPicPr>
            <a:picLocks noChangeAspect="1"/>
          </p:cNvPicPr>
          <p:nvPr/>
        </p:nvPicPr>
        <p:blipFill>
          <a:blip r:embed="rId2"/>
          <a:stretch>
            <a:fillRect/>
          </a:stretch>
        </p:blipFill>
        <p:spPr>
          <a:xfrm>
            <a:off x="3628104" y="2897479"/>
            <a:ext cx="6239928" cy="3410600"/>
          </a:xfrm>
          <a:prstGeom prst="rect">
            <a:avLst/>
          </a:prstGeom>
        </p:spPr>
      </p:pic>
    </p:spTree>
    <p:extLst>
      <p:ext uri="{BB962C8B-B14F-4D97-AF65-F5344CB8AC3E}">
        <p14:creationId xmlns:p14="http://schemas.microsoft.com/office/powerpoint/2010/main" val="525665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EC0CCCE-AC17-715B-53EA-29447C1E7164}"/>
              </a:ext>
            </a:extLst>
          </p:cNvPr>
          <p:cNvSpPr>
            <a:spLocks noGrp="1"/>
          </p:cNvSpPr>
          <p:nvPr>
            <p:ph type="title"/>
          </p:nvPr>
        </p:nvSpPr>
        <p:spPr/>
        <p:txBody>
          <a:bodyPr/>
          <a:lstStyle/>
          <a:p>
            <a:r>
              <a:rPr lang="lt-LT" dirty="0"/>
              <a:t>UNSUPERVISED LEARNING TECHNIQUES</a:t>
            </a:r>
          </a:p>
        </p:txBody>
      </p:sp>
      <p:sp>
        <p:nvSpPr>
          <p:cNvPr id="4" name="TextBox 3">
            <a:extLst>
              <a:ext uri="{FF2B5EF4-FFF2-40B4-BE49-F238E27FC236}">
                <a16:creationId xmlns:a16="http://schemas.microsoft.com/office/drawing/2014/main" id="{F4F161AD-193D-73A6-2EB8-74FD6EAC3FCC}"/>
              </a:ext>
            </a:extLst>
          </p:cNvPr>
          <p:cNvSpPr txBox="1"/>
          <p:nvPr/>
        </p:nvSpPr>
        <p:spPr>
          <a:xfrm>
            <a:off x="953728" y="1515468"/>
            <a:ext cx="9753601" cy="369332"/>
          </a:xfrm>
          <a:prstGeom prst="rect">
            <a:avLst/>
          </a:prstGeom>
          <a:noFill/>
        </p:spPr>
        <p:txBody>
          <a:bodyPr wrap="square">
            <a:spAutoFit/>
          </a:bodyPr>
          <a:lstStyle/>
          <a:p>
            <a:r>
              <a:rPr lang="en-US" dirty="0"/>
              <a:t>There are two popular categories of unsupervised learning techniques:</a:t>
            </a:r>
            <a:endParaRPr lang="lt-LT" dirty="0"/>
          </a:p>
        </p:txBody>
      </p:sp>
      <p:pic>
        <p:nvPicPr>
          <p:cNvPr id="6" name="Paveikslėlis 5" descr="Paveikslėlis, kuriame yra tekstas, elektronika, ekrano kopija, Šriftas&#10;&#10;Dirbtinio intelekto sugeneruotas turinys gali būti neteisingas.">
            <a:extLst>
              <a:ext uri="{FF2B5EF4-FFF2-40B4-BE49-F238E27FC236}">
                <a16:creationId xmlns:a16="http://schemas.microsoft.com/office/drawing/2014/main" id="{CEABAF16-E812-06F6-5264-9284262A9730}"/>
              </a:ext>
            </a:extLst>
          </p:cNvPr>
          <p:cNvPicPr>
            <a:picLocks noChangeAspect="1"/>
          </p:cNvPicPr>
          <p:nvPr/>
        </p:nvPicPr>
        <p:blipFill>
          <a:blip r:embed="rId2"/>
          <a:stretch>
            <a:fillRect/>
          </a:stretch>
        </p:blipFill>
        <p:spPr>
          <a:xfrm>
            <a:off x="1789471" y="2170922"/>
            <a:ext cx="7777996" cy="4321953"/>
          </a:xfrm>
          <a:prstGeom prst="rect">
            <a:avLst/>
          </a:prstGeom>
        </p:spPr>
      </p:pic>
    </p:spTree>
    <p:extLst>
      <p:ext uri="{BB962C8B-B14F-4D97-AF65-F5344CB8AC3E}">
        <p14:creationId xmlns:p14="http://schemas.microsoft.com/office/powerpoint/2010/main" val="2372278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4A05502-CB11-0184-5FA5-91DD4F393988}"/>
              </a:ext>
            </a:extLst>
          </p:cNvPr>
          <p:cNvSpPr>
            <a:spLocks noGrp="1"/>
          </p:cNvSpPr>
          <p:nvPr>
            <p:ph type="title"/>
          </p:nvPr>
        </p:nvSpPr>
        <p:spPr/>
        <p:txBody>
          <a:bodyPr/>
          <a:lstStyle/>
          <a:p>
            <a:r>
              <a:rPr lang="lt-LT" dirty="0"/>
              <a:t>UNSUPERVISED LEARNING APPLICATIONS</a:t>
            </a:r>
          </a:p>
        </p:txBody>
      </p:sp>
      <p:sp>
        <p:nvSpPr>
          <p:cNvPr id="4" name="TextBox 3">
            <a:extLst>
              <a:ext uri="{FF2B5EF4-FFF2-40B4-BE49-F238E27FC236}">
                <a16:creationId xmlns:a16="http://schemas.microsoft.com/office/drawing/2014/main" id="{EC25FC7C-F9B7-1AB8-ACEC-81A509489299}"/>
              </a:ext>
            </a:extLst>
          </p:cNvPr>
          <p:cNvSpPr txBox="1"/>
          <p:nvPr/>
        </p:nvSpPr>
        <p:spPr>
          <a:xfrm>
            <a:off x="1366684" y="1436809"/>
            <a:ext cx="6096000" cy="646331"/>
          </a:xfrm>
          <a:prstGeom prst="rect">
            <a:avLst/>
          </a:prstGeom>
          <a:noFill/>
        </p:spPr>
        <p:txBody>
          <a:bodyPr wrap="square">
            <a:spAutoFit/>
          </a:bodyPr>
          <a:lstStyle/>
          <a:p>
            <a:r>
              <a:rPr lang="en-US" dirty="0"/>
              <a:t>These are two common applications of unsupervised learning techniques:</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14E1DD77-591D-414C-8D73-320047D4E7C3}"/>
              </a:ext>
            </a:extLst>
          </p:cNvPr>
          <p:cNvPicPr>
            <a:picLocks noChangeAspect="1"/>
          </p:cNvPicPr>
          <p:nvPr/>
        </p:nvPicPr>
        <p:blipFill>
          <a:blip r:embed="rId2"/>
          <a:stretch>
            <a:fillRect/>
          </a:stretch>
        </p:blipFill>
        <p:spPr>
          <a:xfrm>
            <a:off x="1897626" y="2219783"/>
            <a:ext cx="7931947" cy="3859810"/>
          </a:xfrm>
          <a:prstGeom prst="rect">
            <a:avLst/>
          </a:prstGeom>
        </p:spPr>
      </p:pic>
    </p:spTree>
    <p:extLst>
      <p:ext uri="{BB962C8B-B14F-4D97-AF65-F5344CB8AC3E}">
        <p14:creationId xmlns:p14="http://schemas.microsoft.com/office/powerpoint/2010/main" val="383202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FCB2FE0-94D9-EEDF-B8FA-E25EC4FE5E3E}"/>
              </a:ext>
            </a:extLst>
          </p:cNvPr>
          <p:cNvSpPr>
            <a:spLocks noGrp="1"/>
          </p:cNvSpPr>
          <p:nvPr>
            <p:ph type="title"/>
          </p:nvPr>
        </p:nvSpPr>
        <p:spPr/>
        <p:txBody>
          <a:bodyPr/>
          <a:lstStyle/>
          <a:p>
            <a:r>
              <a:rPr lang="en-US" dirty="0"/>
              <a:t>U</a:t>
            </a:r>
            <a:r>
              <a:rPr lang="lt-LT" dirty="0" err="1"/>
              <a:t>nsupervised</a:t>
            </a:r>
            <a:r>
              <a:rPr lang="lt-LT" dirty="0"/>
              <a:t> </a:t>
            </a:r>
            <a:r>
              <a:rPr lang="lt-LT" dirty="0" err="1"/>
              <a:t>learning</a:t>
            </a:r>
            <a:r>
              <a:rPr lang="lt-LT" dirty="0"/>
              <a:t> </a:t>
            </a:r>
            <a:r>
              <a:rPr lang="lt-LT" dirty="0" err="1"/>
              <a:t>techniques</a:t>
            </a:r>
            <a:r>
              <a:rPr lang="lt-LT" dirty="0"/>
              <a:t> &amp; </a:t>
            </a:r>
            <a:r>
              <a:rPr lang="lt-LT" dirty="0" err="1"/>
              <a:t>applications</a:t>
            </a:r>
            <a:endParaRPr lang="lt-LT" dirty="0"/>
          </a:p>
        </p:txBody>
      </p:sp>
      <p:pic>
        <p:nvPicPr>
          <p:cNvPr id="4" name="Paveikslėlis 3" descr="Paveikslėlis, kuriame yra tekstas, ekrano kopija, Šriftas, skaičius&#10;&#10;Dirbtinio intelekto sugeneruotas turinys gali būti neteisingas.">
            <a:extLst>
              <a:ext uri="{FF2B5EF4-FFF2-40B4-BE49-F238E27FC236}">
                <a16:creationId xmlns:a16="http://schemas.microsoft.com/office/drawing/2014/main" id="{4268AE77-9982-846A-B106-68DC4CD156F9}"/>
              </a:ext>
            </a:extLst>
          </p:cNvPr>
          <p:cNvPicPr>
            <a:picLocks noChangeAspect="1"/>
          </p:cNvPicPr>
          <p:nvPr/>
        </p:nvPicPr>
        <p:blipFill>
          <a:blip r:embed="rId2"/>
          <a:stretch>
            <a:fillRect/>
          </a:stretch>
        </p:blipFill>
        <p:spPr>
          <a:xfrm>
            <a:off x="1406012" y="2052649"/>
            <a:ext cx="8665696" cy="4081786"/>
          </a:xfrm>
          <a:prstGeom prst="rect">
            <a:avLst/>
          </a:prstGeom>
        </p:spPr>
      </p:pic>
    </p:spTree>
    <p:extLst>
      <p:ext uri="{BB962C8B-B14F-4D97-AF65-F5344CB8AC3E}">
        <p14:creationId xmlns:p14="http://schemas.microsoft.com/office/powerpoint/2010/main" val="2445238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919CC78-1013-C25F-7564-F2EE166CDDBF}"/>
              </a:ext>
            </a:extLst>
          </p:cNvPr>
          <p:cNvSpPr>
            <a:spLocks noGrp="1"/>
          </p:cNvSpPr>
          <p:nvPr>
            <p:ph type="title"/>
          </p:nvPr>
        </p:nvSpPr>
        <p:spPr/>
        <p:txBody>
          <a:bodyPr/>
          <a:lstStyle/>
          <a:p>
            <a:r>
              <a:rPr lang="lt-LT" dirty="0"/>
              <a:t>CLUSTERING</a:t>
            </a:r>
          </a:p>
        </p:txBody>
      </p:sp>
      <p:pic>
        <p:nvPicPr>
          <p:cNvPr id="6" name="Paveikslėlis 5" descr="Paveikslėlis, kuriame yra tekstas, ekrano kopija, Šriftas, dizainas&#10;&#10;Dirbtinio intelekto sugeneruotas turinys gali būti neteisingas.">
            <a:extLst>
              <a:ext uri="{FF2B5EF4-FFF2-40B4-BE49-F238E27FC236}">
                <a16:creationId xmlns:a16="http://schemas.microsoft.com/office/drawing/2014/main" id="{EEBF4A94-C4DD-F867-E02B-A554B1B99FCE}"/>
              </a:ext>
            </a:extLst>
          </p:cNvPr>
          <p:cNvPicPr>
            <a:picLocks noChangeAspect="1"/>
          </p:cNvPicPr>
          <p:nvPr/>
        </p:nvPicPr>
        <p:blipFill>
          <a:blip r:embed="rId2"/>
          <a:stretch>
            <a:fillRect/>
          </a:stretch>
        </p:blipFill>
        <p:spPr>
          <a:xfrm>
            <a:off x="2540338" y="1834737"/>
            <a:ext cx="6392167" cy="2972215"/>
          </a:xfrm>
          <a:prstGeom prst="rect">
            <a:avLst/>
          </a:prstGeom>
        </p:spPr>
      </p:pic>
    </p:spTree>
    <p:extLst>
      <p:ext uri="{BB962C8B-B14F-4D97-AF65-F5344CB8AC3E}">
        <p14:creationId xmlns:p14="http://schemas.microsoft.com/office/powerpoint/2010/main" val="1482464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E3363BA-F1E1-288C-C926-C9289B095395}"/>
              </a:ext>
            </a:extLst>
          </p:cNvPr>
          <p:cNvSpPr>
            <a:spLocks noGrp="1"/>
          </p:cNvSpPr>
          <p:nvPr>
            <p:ph type="title"/>
          </p:nvPr>
        </p:nvSpPr>
        <p:spPr/>
        <p:txBody>
          <a:bodyPr/>
          <a:lstStyle/>
          <a:p>
            <a:r>
              <a:rPr lang="lt-LT" dirty="0"/>
              <a:t>CLUSTERING BASICS</a:t>
            </a:r>
          </a:p>
        </p:txBody>
      </p:sp>
      <p:sp>
        <p:nvSpPr>
          <p:cNvPr id="4" name="TextBox 3">
            <a:extLst>
              <a:ext uri="{FF2B5EF4-FFF2-40B4-BE49-F238E27FC236}">
                <a16:creationId xmlns:a16="http://schemas.microsoft.com/office/drawing/2014/main" id="{CE03816B-0B2B-A80F-4F80-4420E5627DCE}"/>
              </a:ext>
            </a:extLst>
          </p:cNvPr>
          <p:cNvSpPr txBox="1"/>
          <p:nvPr/>
        </p:nvSpPr>
        <p:spPr>
          <a:xfrm>
            <a:off x="934064" y="1445793"/>
            <a:ext cx="9812593" cy="646331"/>
          </a:xfrm>
          <a:prstGeom prst="rect">
            <a:avLst/>
          </a:prstGeom>
          <a:noFill/>
        </p:spPr>
        <p:txBody>
          <a:bodyPr wrap="square">
            <a:spAutoFit/>
          </a:bodyPr>
          <a:lstStyle/>
          <a:p>
            <a:r>
              <a:rPr lang="en-US" dirty="0"/>
              <a:t>Clustering allows to find concentrations or groups of observations which are similar to one another but distinct from other groups </a:t>
            </a:r>
            <a:endParaRPr lang="lt-LT" dirty="0"/>
          </a:p>
        </p:txBody>
      </p:sp>
      <p:pic>
        <p:nvPicPr>
          <p:cNvPr id="6" name="Paveikslėlis 5">
            <a:extLst>
              <a:ext uri="{FF2B5EF4-FFF2-40B4-BE49-F238E27FC236}">
                <a16:creationId xmlns:a16="http://schemas.microsoft.com/office/drawing/2014/main" id="{E6A3D7CC-B6C0-2A57-0C20-6806884186E7}"/>
              </a:ext>
            </a:extLst>
          </p:cNvPr>
          <p:cNvPicPr>
            <a:picLocks noChangeAspect="1"/>
          </p:cNvPicPr>
          <p:nvPr/>
        </p:nvPicPr>
        <p:blipFill>
          <a:blip r:embed="rId2"/>
          <a:stretch>
            <a:fillRect/>
          </a:stretch>
        </p:blipFill>
        <p:spPr>
          <a:xfrm>
            <a:off x="3005144" y="2092124"/>
            <a:ext cx="6516009" cy="4544059"/>
          </a:xfrm>
          <a:prstGeom prst="rect">
            <a:avLst/>
          </a:prstGeom>
        </p:spPr>
      </p:pic>
    </p:spTree>
    <p:extLst>
      <p:ext uri="{BB962C8B-B14F-4D97-AF65-F5344CB8AC3E}">
        <p14:creationId xmlns:p14="http://schemas.microsoft.com/office/powerpoint/2010/main" val="1856663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135C0B5-5A39-07DB-F825-A8B125C3D504}"/>
              </a:ext>
            </a:extLst>
          </p:cNvPr>
          <p:cNvSpPr>
            <a:spLocks noGrp="1"/>
          </p:cNvSpPr>
          <p:nvPr>
            <p:ph type="title"/>
          </p:nvPr>
        </p:nvSpPr>
        <p:spPr/>
        <p:txBody>
          <a:bodyPr/>
          <a:lstStyle/>
          <a:p>
            <a:r>
              <a:rPr lang="lt-LT" dirty="0"/>
              <a:t>CLUSTERING WORKFLOW</a:t>
            </a:r>
          </a:p>
        </p:txBody>
      </p:sp>
      <p:sp>
        <p:nvSpPr>
          <p:cNvPr id="4" name="TextBox 3">
            <a:extLst>
              <a:ext uri="{FF2B5EF4-FFF2-40B4-BE49-F238E27FC236}">
                <a16:creationId xmlns:a16="http://schemas.microsoft.com/office/drawing/2014/main" id="{976D2C49-3F35-C8A0-34FE-4D7FB06ECE2F}"/>
              </a:ext>
            </a:extLst>
          </p:cNvPr>
          <p:cNvSpPr txBox="1"/>
          <p:nvPr/>
        </p:nvSpPr>
        <p:spPr>
          <a:xfrm>
            <a:off x="1052051" y="1780938"/>
            <a:ext cx="9271819" cy="369332"/>
          </a:xfrm>
          <a:prstGeom prst="rect">
            <a:avLst/>
          </a:prstGeom>
          <a:noFill/>
        </p:spPr>
        <p:txBody>
          <a:bodyPr wrap="square">
            <a:spAutoFit/>
          </a:bodyPr>
          <a:lstStyle/>
          <a:p>
            <a:r>
              <a:rPr lang="en-US" dirty="0"/>
              <a:t>The general clustering workflow consists of the following steps:</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250A3517-6CF4-3B2C-5D18-92F5B59A6583}"/>
              </a:ext>
            </a:extLst>
          </p:cNvPr>
          <p:cNvPicPr>
            <a:picLocks noChangeAspect="1"/>
          </p:cNvPicPr>
          <p:nvPr/>
        </p:nvPicPr>
        <p:blipFill>
          <a:blip r:embed="rId2"/>
          <a:stretch>
            <a:fillRect/>
          </a:stretch>
        </p:blipFill>
        <p:spPr>
          <a:xfrm>
            <a:off x="1052051" y="2357737"/>
            <a:ext cx="9349539" cy="3339711"/>
          </a:xfrm>
          <a:prstGeom prst="rect">
            <a:avLst/>
          </a:prstGeom>
        </p:spPr>
      </p:pic>
      <p:sp>
        <p:nvSpPr>
          <p:cNvPr id="8" name="TextBox 7">
            <a:extLst>
              <a:ext uri="{FF2B5EF4-FFF2-40B4-BE49-F238E27FC236}">
                <a16:creationId xmlns:a16="http://schemas.microsoft.com/office/drawing/2014/main" id="{16C9D771-B418-5202-AB32-8C33817EC56A}"/>
              </a:ext>
            </a:extLst>
          </p:cNvPr>
          <p:cNvSpPr txBox="1"/>
          <p:nvPr/>
        </p:nvSpPr>
        <p:spPr>
          <a:xfrm>
            <a:off x="1347020" y="5764332"/>
            <a:ext cx="9871586" cy="923330"/>
          </a:xfrm>
          <a:prstGeom prst="rect">
            <a:avLst/>
          </a:prstGeom>
          <a:noFill/>
        </p:spPr>
        <p:txBody>
          <a:bodyPr wrap="square">
            <a:spAutoFit/>
          </a:bodyPr>
          <a:lstStyle/>
          <a:p>
            <a:r>
              <a:rPr lang="en-US" dirty="0"/>
              <a:t>Remember, there’s no “right” answer or single optimization metric when it comes to clustering; the best outputs are the ones which help you </a:t>
            </a:r>
            <a:r>
              <a:rPr lang="en-US" dirty="0">
                <a:highlight>
                  <a:srgbClr val="FFFF00"/>
                </a:highlight>
              </a:rPr>
              <a:t>answer the question </a:t>
            </a:r>
            <a:r>
              <a:rPr lang="en-US" dirty="0"/>
              <a:t>at hand and </a:t>
            </a:r>
            <a:r>
              <a:rPr lang="en-US" dirty="0">
                <a:highlight>
                  <a:srgbClr val="FFFF00"/>
                </a:highlight>
              </a:rPr>
              <a:t>make practical, data-driven business decisions </a:t>
            </a:r>
            <a:endParaRPr lang="lt-LT" dirty="0">
              <a:highlight>
                <a:srgbClr val="FFFF00"/>
              </a:highlight>
            </a:endParaRPr>
          </a:p>
        </p:txBody>
      </p:sp>
    </p:spTree>
    <p:extLst>
      <p:ext uri="{BB962C8B-B14F-4D97-AF65-F5344CB8AC3E}">
        <p14:creationId xmlns:p14="http://schemas.microsoft.com/office/powerpoint/2010/main" val="2741892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D7E31D4-C5F3-CE99-30C5-06ECDADD5BDA}"/>
              </a:ext>
            </a:extLst>
          </p:cNvPr>
          <p:cNvSpPr>
            <a:spLocks noGrp="1"/>
          </p:cNvSpPr>
          <p:nvPr>
            <p:ph type="title"/>
          </p:nvPr>
        </p:nvSpPr>
        <p:spPr/>
        <p:txBody>
          <a:bodyPr/>
          <a:lstStyle/>
          <a:p>
            <a:r>
              <a:rPr lang="lt-LT" dirty="0"/>
              <a:t>K-MEANS CLUSTERING</a:t>
            </a:r>
          </a:p>
        </p:txBody>
      </p:sp>
      <p:sp>
        <p:nvSpPr>
          <p:cNvPr id="4" name="TextBox 3">
            <a:extLst>
              <a:ext uri="{FF2B5EF4-FFF2-40B4-BE49-F238E27FC236}">
                <a16:creationId xmlns:a16="http://schemas.microsoft.com/office/drawing/2014/main" id="{0000053C-8789-A1C2-9777-F00A16EBA0B1}"/>
              </a:ext>
            </a:extLst>
          </p:cNvPr>
          <p:cNvSpPr txBox="1"/>
          <p:nvPr/>
        </p:nvSpPr>
        <p:spPr>
          <a:xfrm>
            <a:off x="838199" y="1406464"/>
            <a:ext cx="10105103" cy="646331"/>
          </a:xfrm>
          <a:prstGeom prst="rect">
            <a:avLst/>
          </a:prstGeom>
          <a:noFill/>
        </p:spPr>
        <p:txBody>
          <a:bodyPr wrap="square">
            <a:spAutoFit/>
          </a:bodyPr>
          <a:lstStyle/>
          <a:p>
            <a:r>
              <a:rPr lang="en-US" b="1" dirty="0"/>
              <a:t>K-Means Clustering </a:t>
            </a:r>
            <a:r>
              <a:rPr lang="en-US" dirty="0"/>
              <a:t>is a popular algorithm which assigns each observation in a data set to a specific cluster, where “K” represents the number of clusters</a:t>
            </a:r>
            <a:endParaRPr lang="lt-LT" dirty="0"/>
          </a:p>
        </p:txBody>
      </p:sp>
      <p:pic>
        <p:nvPicPr>
          <p:cNvPr id="6" name="Paveikslėlis 5" descr="Paveikslėlis, kuriame yra diagrama, linija, Grafikas, ekrano kopija&#10;&#10;Dirbtinio intelekto sugeneruotas turinys gali būti neteisingas.">
            <a:extLst>
              <a:ext uri="{FF2B5EF4-FFF2-40B4-BE49-F238E27FC236}">
                <a16:creationId xmlns:a16="http://schemas.microsoft.com/office/drawing/2014/main" id="{EF4F5805-9F02-2E72-0693-1EA36DAC30C8}"/>
              </a:ext>
            </a:extLst>
          </p:cNvPr>
          <p:cNvPicPr>
            <a:picLocks noChangeAspect="1"/>
          </p:cNvPicPr>
          <p:nvPr/>
        </p:nvPicPr>
        <p:blipFill>
          <a:blip r:embed="rId3"/>
          <a:stretch>
            <a:fillRect/>
          </a:stretch>
        </p:blipFill>
        <p:spPr>
          <a:xfrm>
            <a:off x="1904415" y="2504467"/>
            <a:ext cx="8383170" cy="4353533"/>
          </a:xfrm>
          <a:prstGeom prst="rect">
            <a:avLst/>
          </a:prstGeom>
        </p:spPr>
      </p:pic>
    </p:spTree>
    <p:extLst>
      <p:ext uri="{BB962C8B-B14F-4D97-AF65-F5344CB8AC3E}">
        <p14:creationId xmlns:p14="http://schemas.microsoft.com/office/powerpoint/2010/main" val="479440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70DE6DC-D0DE-5649-9F57-818AEAC90328}"/>
              </a:ext>
            </a:extLst>
          </p:cNvPr>
          <p:cNvSpPr>
            <a:spLocks noGrp="1"/>
          </p:cNvSpPr>
          <p:nvPr>
            <p:ph type="title"/>
          </p:nvPr>
        </p:nvSpPr>
        <p:spPr/>
        <p:txBody>
          <a:bodyPr/>
          <a:lstStyle/>
          <a:p>
            <a:r>
              <a:rPr lang="lt-LT"/>
              <a:t>K-MEANS CLUSTERING</a:t>
            </a:r>
            <a:endParaRPr lang="lt-LT" dirty="0"/>
          </a:p>
        </p:txBody>
      </p:sp>
      <p:sp>
        <p:nvSpPr>
          <p:cNvPr id="4" name="TextBox 3">
            <a:extLst>
              <a:ext uri="{FF2B5EF4-FFF2-40B4-BE49-F238E27FC236}">
                <a16:creationId xmlns:a16="http://schemas.microsoft.com/office/drawing/2014/main" id="{0C5BADAA-6AF4-4977-8189-3AC6D40A87C0}"/>
              </a:ext>
            </a:extLst>
          </p:cNvPr>
          <p:cNvSpPr txBox="1"/>
          <p:nvPr/>
        </p:nvSpPr>
        <p:spPr>
          <a:xfrm>
            <a:off x="943896" y="1690688"/>
            <a:ext cx="10409903" cy="646331"/>
          </a:xfrm>
          <a:prstGeom prst="rect">
            <a:avLst/>
          </a:prstGeom>
          <a:noFill/>
        </p:spPr>
        <p:txBody>
          <a:bodyPr wrap="square">
            <a:spAutoFit/>
          </a:bodyPr>
          <a:lstStyle/>
          <a:p>
            <a:r>
              <a:rPr lang="en-US" dirty="0"/>
              <a:t>K-Means Clustering is a popular algorithm which assigns each observation in a data set to a specific cluster, where “K” represents the number of clusters</a:t>
            </a:r>
            <a:endParaRPr lang="lt-LT" dirty="0"/>
          </a:p>
        </p:txBody>
      </p:sp>
      <p:sp>
        <p:nvSpPr>
          <p:cNvPr id="6" name="TextBox 5">
            <a:extLst>
              <a:ext uri="{FF2B5EF4-FFF2-40B4-BE49-F238E27FC236}">
                <a16:creationId xmlns:a16="http://schemas.microsoft.com/office/drawing/2014/main" id="{8CFB3416-78CD-47A5-D6FE-E2A8A6CD3E43}"/>
              </a:ext>
            </a:extLst>
          </p:cNvPr>
          <p:cNvSpPr txBox="1"/>
          <p:nvPr/>
        </p:nvSpPr>
        <p:spPr>
          <a:xfrm>
            <a:off x="2379407" y="2769758"/>
            <a:ext cx="6096000" cy="2585323"/>
          </a:xfrm>
          <a:prstGeom prst="rect">
            <a:avLst/>
          </a:prstGeom>
          <a:noFill/>
        </p:spPr>
        <p:txBody>
          <a:bodyPr wrap="square">
            <a:spAutoFit/>
          </a:bodyPr>
          <a:lstStyle/>
          <a:p>
            <a:r>
              <a:rPr lang="lt-LT" dirty="0" err="1"/>
              <a:t>Here’s</a:t>
            </a:r>
            <a:r>
              <a:rPr lang="lt-LT" dirty="0"/>
              <a:t> </a:t>
            </a:r>
            <a:r>
              <a:rPr lang="lt-LT" dirty="0" err="1"/>
              <a:t>how</a:t>
            </a:r>
            <a:r>
              <a:rPr lang="lt-LT" dirty="0"/>
              <a:t> it </a:t>
            </a:r>
            <a:r>
              <a:rPr lang="lt-LT" dirty="0" err="1"/>
              <a:t>works</a:t>
            </a:r>
            <a:r>
              <a:rPr lang="lt-LT" dirty="0"/>
              <a:t>: </a:t>
            </a:r>
            <a:endParaRPr lang="en-US" dirty="0"/>
          </a:p>
          <a:p>
            <a:pPr marL="342900" indent="-342900">
              <a:buAutoNum type="arabicPeriod"/>
            </a:pPr>
            <a:r>
              <a:rPr lang="en-US" dirty="0"/>
              <a:t>Select “K” arbitrary locations in a scatter plot as cluster centers (or </a:t>
            </a:r>
            <a:r>
              <a:rPr lang="en-US" b="1" dirty="0"/>
              <a:t>centroids</a:t>
            </a:r>
            <a:r>
              <a:rPr lang="en-US" dirty="0"/>
              <a:t>), and assign each observation to a cluster based on the closest centroid </a:t>
            </a:r>
          </a:p>
          <a:p>
            <a:pPr marL="342900" indent="-342900">
              <a:buAutoNum type="arabicPeriod"/>
            </a:pPr>
            <a:r>
              <a:rPr lang="en-US" dirty="0"/>
              <a:t> Recalculate and relocate each centroid to the mean of the observations assigned to it, then reassign each observation to its new closest centroid </a:t>
            </a:r>
          </a:p>
          <a:p>
            <a:pPr marL="342900" indent="-342900">
              <a:buAutoNum type="arabicPeriod"/>
            </a:pPr>
            <a:r>
              <a:rPr lang="en-US" dirty="0">
                <a:highlight>
                  <a:srgbClr val="FFFF00"/>
                </a:highlight>
              </a:rPr>
              <a:t>Repeat the process until observations no longer change clusters</a:t>
            </a:r>
            <a:endParaRPr lang="lt-LT" dirty="0">
              <a:highlight>
                <a:srgbClr val="FFFF00"/>
              </a:highlight>
            </a:endParaRPr>
          </a:p>
        </p:txBody>
      </p:sp>
      <p:sp>
        <p:nvSpPr>
          <p:cNvPr id="8" name="TextBox 7">
            <a:extLst>
              <a:ext uri="{FF2B5EF4-FFF2-40B4-BE49-F238E27FC236}">
                <a16:creationId xmlns:a16="http://schemas.microsoft.com/office/drawing/2014/main" id="{609A214C-AB6A-AB24-3F7C-872B20D14D51}"/>
              </a:ext>
            </a:extLst>
          </p:cNvPr>
          <p:cNvSpPr txBox="1"/>
          <p:nvPr/>
        </p:nvSpPr>
        <p:spPr>
          <a:xfrm>
            <a:off x="1710813" y="5586271"/>
            <a:ext cx="9281652" cy="923330"/>
          </a:xfrm>
          <a:prstGeom prst="rect">
            <a:avLst/>
          </a:prstGeom>
          <a:noFill/>
        </p:spPr>
        <p:txBody>
          <a:bodyPr wrap="square">
            <a:spAutoFit/>
          </a:bodyPr>
          <a:lstStyle/>
          <a:p>
            <a:r>
              <a:rPr lang="en-US" dirty="0"/>
              <a:t>Example use cases: </a:t>
            </a:r>
          </a:p>
          <a:p>
            <a:r>
              <a:rPr lang="en-US" dirty="0"/>
              <a:t>	• Identifying customer segments for targeted marketing campaigns 	</a:t>
            </a:r>
          </a:p>
          <a:p>
            <a:r>
              <a:rPr lang="en-US" dirty="0"/>
              <a:t>	• Clustering store locations based on factors like sales, ratings, size, </a:t>
            </a:r>
            <a:r>
              <a:rPr lang="en-US" dirty="0" err="1"/>
              <a:t>etc</a:t>
            </a:r>
            <a:endParaRPr lang="lt-LT" dirty="0"/>
          </a:p>
        </p:txBody>
      </p:sp>
    </p:spTree>
    <p:extLst>
      <p:ext uri="{BB962C8B-B14F-4D97-AF65-F5344CB8AC3E}">
        <p14:creationId xmlns:p14="http://schemas.microsoft.com/office/powerpoint/2010/main" val="113901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687DB01-CFE7-C351-9D9A-42A4DA0DB0C4}"/>
              </a:ext>
            </a:extLst>
          </p:cNvPr>
          <p:cNvSpPr>
            <a:spLocks noGrp="1"/>
          </p:cNvSpPr>
          <p:nvPr>
            <p:ph type="title"/>
          </p:nvPr>
        </p:nvSpPr>
        <p:spPr/>
        <p:txBody>
          <a:bodyPr/>
          <a:lstStyle/>
          <a:p>
            <a:r>
              <a:rPr lang="lt-LT" dirty="0"/>
              <a:t>K-MEANS CLUSTERING</a:t>
            </a:r>
          </a:p>
        </p:txBody>
      </p:sp>
      <p:sp>
        <p:nvSpPr>
          <p:cNvPr id="4" name="TextBox 3">
            <a:extLst>
              <a:ext uri="{FF2B5EF4-FFF2-40B4-BE49-F238E27FC236}">
                <a16:creationId xmlns:a16="http://schemas.microsoft.com/office/drawing/2014/main" id="{F905E06A-6763-EB4E-0549-37034FFFFE1C}"/>
              </a:ext>
            </a:extLst>
          </p:cNvPr>
          <p:cNvSpPr txBox="1"/>
          <p:nvPr/>
        </p:nvSpPr>
        <p:spPr>
          <a:xfrm>
            <a:off x="838200" y="1435961"/>
            <a:ext cx="10213258" cy="646331"/>
          </a:xfrm>
          <a:prstGeom prst="rect">
            <a:avLst/>
          </a:prstGeom>
          <a:noFill/>
        </p:spPr>
        <p:txBody>
          <a:bodyPr wrap="square">
            <a:spAutoFit/>
          </a:bodyPr>
          <a:lstStyle/>
          <a:p>
            <a:r>
              <a:rPr lang="en-US" b="1" dirty="0"/>
              <a:t>STEP 1: </a:t>
            </a:r>
            <a:r>
              <a:rPr lang="en-US" dirty="0"/>
              <a:t>Determine what you think might be an appropriate number of clusters (in this case 2), and select arbitrary locations as initial centroids </a:t>
            </a:r>
            <a:endParaRPr lang="lt-LT" dirty="0"/>
          </a:p>
        </p:txBody>
      </p:sp>
      <p:pic>
        <p:nvPicPr>
          <p:cNvPr id="6" name="Paveikslėlis 5" descr="Paveikslėlis, kuriame yra diagrama, linija, Grafikas, tekstas&#10;&#10;Dirbtinio intelekto sugeneruotas turinys gali būti neteisingas.">
            <a:extLst>
              <a:ext uri="{FF2B5EF4-FFF2-40B4-BE49-F238E27FC236}">
                <a16:creationId xmlns:a16="http://schemas.microsoft.com/office/drawing/2014/main" id="{B741F978-AC06-1561-EC62-F8B4F5297748}"/>
              </a:ext>
            </a:extLst>
          </p:cNvPr>
          <p:cNvPicPr>
            <a:picLocks noChangeAspect="1"/>
          </p:cNvPicPr>
          <p:nvPr/>
        </p:nvPicPr>
        <p:blipFill>
          <a:blip r:embed="rId3"/>
          <a:stretch>
            <a:fillRect/>
          </a:stretch>
        </p:blipFill>
        <p:spPr>
          <a:xfrm>
            <a:off x="1858033" y="2594051"/>
            <a:ext cx="8173591" cy="4029637"/>
          </a:xfrm>
          <a:prstGeom prst="rect">
            <a:avLst/>
          </a:prstGeom>
        </p:spPr>
      </p:pic>
    </p:spTree>
    <p:extLst>
      <p:ext uri="{BB962C8B-B14F-4D97-AF65-F5344CB8AC3E}">
        <p14:creationId xmlns:p14="http://schemas.microsoft.com/office/powerpoint/2010/main" val="676769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E742-2B21-A510-0240-FEA70121B41F}"/>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0B341E90-F96E-BD84-2879-9849E0820F43}"/>
              </a:ext>
            </a:extLst>
          </p:cNvPr>
          <p:cNvSpPr>
            <a:spLocks noGrp="1"/>
          </p:cNvSpPr>
          <p:nvPr>
            <p:ph type="title"/>
          </p:nvPr>
        </p:nvSpPr>
        <p:spPr/>
        <p:txBody>
          <a:bodyPr/>
          <a:lstStyle/>
          <a:p>
            <a:r>
              <a:rPr lang="lt-LT" dirty="0"/>
              <a:t>K-MEANS CLUSTERING</a:t>
            </a:r>
          </a:p>
        </p:txBody>
      </p:sp>
      <p:sp>
        <p:nvSpPr>
          <p:cNvPr id="4" name="TextBox 3">
            <a:extLst>
              <a:ext uri="{FF2B5EF4-FFF2-40B4-BE49-F238E27FC236}">
                <a16:creationId xmlns:a16="http://schemas.microsoft.com/office/drawing/2014/main" id="{71462930-B633-89C9-7BB3-091B1C15D8DB}"/>
              </a:ext>
            </a:extLst>
          </p:cNvPr>
          <p:cNvSpPr txBox="1"/>
          <p:nvPr/>
        </p:nvSpPr>
        <p:spPr>
          <a:xfrm>
            <a:off x="838200" y="1435961"/>
            <a:ext cx="10213258" cy="369332"/>
          </a:xfrm>
          <a:prstGeom prst="rect">
            <a:avLst/>
          </a:prstGeom>
          <a:noFill/>
        </p:spPr>
        <p:txBody>
          <a:bodyPr wrap="square">
            <a:spAutoFit/>
          </a:bodyPr>
          <a:lstStyle/>
          <a:p>
            <a:r>
              <a:rPr lang="en-US" b="1" dirty="0"/>
              <a:t>STEP 2: </a:t>
            </a:r>
            <a:r>
              <a:rPr lang="en-US" dirty="0"/>
              <a:t>Assign each observation to a cluster, based on the closest centroid</a:t>
            </a:r>
            <a:endParaRPr lang="lt-LT" dirty="0"/>
          </a:p>
        </p:txBody>
      </p:sp>
      <p:pic>
        <p:nvPicPr>
          <p:cNvPr id="5" name="Paveikslėlis 4" descr="Paveikslėlis, kuriame yra diagrama, linija, ekrano kopija, Grafikas&#10;&#10;Dirbtinio intelekto sugeneruotas turinys gali būti neteisingas.">
            <a:extLst>
              <a:ext uri="{FF2B5EF4-FFF2-40B4-BE49-F238E27FC236}">
                <a16:creationId xmlns:a16="http://schemas.microsoft.com/office/drawing/2014/main" id="{DAF0029B-D118-DBB3-FB01-7A2C50727BB6}"/>
              </a:ext>
            </a:extLst>
          </p:cNvPr>
          <p:cNvPicPr>
            <a:picLocks noChangeAspect="1"/>
          </p:cNvPicPr>
          <p:nvPr/>
        </p:nvPicPr>
        <p:blipFill>
          <a:blip r:embed="rId2"/>
          <a:stretch>
            <a:fillRect/>
          </a:stretch>
        </p:blipFill>
        <p:spPr>
          <a:xfrm>
            <a:off x="1781823" y="2047860"/>
            <a:ext cx="8326012" cy="4610743"/>
          </a:xfrm>
          <a:prstGeom prst="rect">
            <a:avLst/>
          </a:prstGeom>
        </p:spPr>
      </p:pic>
    </p:spTree>
    <p:extLst>
      <p:ext uri="{BB962C8B-B14F-4D97-AF65-F5344CB8AC3E}">
        <p14:creationId xmlns:p14="http://schemas.microsoft.com/office/powerpoint/2010/main" val="4165570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0B281-9503-FB1C-2358-7ACA96A4F092}"/>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593D15A7-DB5B-9B1A-4361-38FC6E91EBBA}"/>
              </a:ext>
            </a:extLst>
          </p:cNvPr>
          <p:cNvSpPr>
            <a:spLocks noGrp="1"/>
          </p:cNvSpPr>
          <p:nvPr>
            <p:ph type="title"/>
          </p:nvPr>
        </p:nvSpPr>
        <p:spPr/>
        <p:txBody>
          <a:bodyPr/>
          <a:lstStyle/>
          <a:p>
            <a:r>
              <a:rPr lang="lt-LT" dirty="0"/>
              <a:t>K-MEANS CLUSTERING</a:t>
            </a:r>
          </a:p>
        </p:txBody>
      </p:sp>
      <p:sp>
        <p:nvSpPr>
          <p:cNvPr id="4" name="TextBox 3">
            <a:extLst>
              <a:ext uri="{FF2B5EF4-FFF2-40B4-BE49-F238E27FC236}">
                <a16:creationId xmlns:a16="http://schemas.microsoft.com/office/drawing/2014/main" id="{C6F89F97-FE73-DA61-1A6C-A7F96614F163}"/>
              </a:ext>
            </a:extLst>
          </p:cNvPr>
          <p:cNvSpPr txBox="1"/>
          <p:nvPr/>
        </p:nvSpPr>
        <p:spPr>
          <a:xfrm>
            <a:off x="838200" y="1435961"/>
            <a:ext cx="10213258" cy="646331"/>
          </a:xfrm>
          <a:prstGeom prst="rect">
            <a:avLst/>
          </a:prstGeom>
          <a:noFill/>
        </p:spPr>
        <p:txBody>
          <a:bodyPr wrap="square">
            <a:spAutoFit/>
          </a:bodyPr>
          <a:lstStyle/>
          <a:p>
            <a:r>
              <a:rPr lang="en-US" dirty="0"/>
              <a:t>STEP 3: Relocate each centroid to the mean of its assigned observations, and reassign each observation to the new closest centroid</a:t>
            </a:r>
            <a:endParaRPr lang="lt-LT" dirty="0"/>
          </a:p>
        </p:txBody>
      </p:sp>
      <p:pic>
        <p:nvPicPr>
          <p:cNvPr id="6" name="Paveikslėlis 5" descr="Paveikslėlis, kuriame yra ekrano kopija, diagrama, linija, Grafikas&#10;&#10;Dirbtinio intelekto sugeneruotas turinys gali būti neteisingas.">
            <a:extLst>
              <a:ext uri="{FF2B5EF4-FFF2-40B4-BE49-F238E27FC236}">
                <a16:creationId xmlns:a16="http://schemas.microsoft.com/office/drawing/2014/main" id="{9D952BCE-2438-18D0-B2C0-DBE40DAC0CE2}"/>
              </a:ext>
            </a:extLst>
          </p:cNvPr>
          <p:cNvPicPr>
            <a:picLocks noChangeAspect="1"/>
          </p:cNvPicPr>
          <p:nvPr/>
        </p:nvPicPr>
        <p:blipFill>
          <a:blip r:embed="rId2"/>
          <a:stretch>
            <a:fillRect/>
          </a:stretch>
        </p:blipFill>
        <p:spPr>
          <a:xfrm>
            <a:off x="747179" y="2761524"/>
            <a:ext cx="5055647" cy="2545297"/>
          </a:xfrm>
          <a:prstGeom prst="rect">
            <a:avLst/>
          </a:prstGeom>
        </p:spPr>
      </p:pic>
      <p:pic>
        <p:nvPicPr>
          <p:cNvPr id="8" name="Paveikslėlis 7" descr="Paveikslėlis, kuriame yra ekrano kopija, linija, diagrama, Grafikas&#10;&#10;Dirbtinio intelekto sugeneruotas turinys gali būti neteisingas.">
            <a:extLst>
              <a:ext uri="{FF2B5EF4-FFF2-40B4-BE49-F238E27FC236}">
                <a16:creationId xmlns:a16="http://schemas.microsoft.com/office/drawing/2014/main" id="{D0F1C1A9-3922-688F-44FD-CB2F51EBEE0C}"/>
              </a:ext>
            </a:extLst>
          </p:cNvPr>
          <p:cNvPicPr>
            <a:picLocks noChangeAspect="1"/>
          </p:cNvPicPr>
          <p:nvPr/>
        </p:nvPicPr>
        <p:blipFill>
          <a:blip r:embed="rId3"/>
          <a:stretch>
            <a:fillRect/>
          </a:stretch>
        </p:blipFill>
        <p:spPr>
          <a:xfrm>
            <a:off x="6096000" y="2673034"/>
            <a:ext cx="5610478" cy="2968084"/>
          </a:xfrm>
          <a:prstGeom prst="rect">
            <a:avLst/>
          </a:prstGeom>
        </p:spPr>
      </p:pic>
    </p:spTree>
    <p:extLst>
      <p:ext uri="{BB962C8B-B14F-4D97-AF65-F5344CB8AC3E}">
        <p14:creationId xmlns:p14="http://schemas.microsoft.com/office/powerpoint/2010/main" val="2412600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12A9-2A6E-DA55-CBA8-DF5FE51FB838}"/>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3C87C051-CB2A-9F31-FE13-9418395D7AE8}"/>
              </a:ext>
            </a:extLst>
          </p:cNvPr>
          <p:cNvSpPr>
            <a:spLocks noGrp="1"/>
          </p:cNvSpPr>
          <p:nvPr>
            <p:ph type="title"/>
          </p:nvPr>
        </p:nvSpPr>
        <p:spPr/>
        <p:txBody>
          <a:bodyPr/>
          <a:lstStyle/>
          <a:p>
            <a:r>
              <a:rPr lang="lt-LT" dirty="0"/>
              <a:t>K-MEANS CLUSTERING</a:t>
            </a:r>
          </a:p>
        </p:txBody>
      </p:sp>
      <p:sp>
        <p:nvSpPr>
          <p:cNvPr id="4" name="TextBox 3">
            <a:extLst>
              <a:ext uri="{FF2B5EF4-FFF2-40B4-BE49-F238E27FC236}">
                <a16:creationId xmlns:a16="http://schemas.microsoft.com/office/drawing/2014/main" id="{3D68F5B0-6987-6F53-B404-B0A690A4C03E}"/>
              </a:ext>
            </a:extLst>
          </p:cNvPr>
          <p:cNvSpPr txBox="1"/>
          <p:nvPr/>
        </p:nvSpPr>
        <p:spPr>
          <a:xfrm>
            <a:off x="838200" y="1435961"/>
            <a:ext cx="10213258" cy="646331"/>
          </a:xfrm>
          <a:prstGeom prst="rect">
            <a:avLst/>
          </a:prstGeom>
          <a:noFill/>
        </p:spPr>
        <p:txBody>
          <a:bodyPr wrap="square">
            <a:spAutoFit/>
          </a:bodyPr>
          <a:lstStyle/>
          <a:p>
            <a:r>
              <a:rPr lang="en-US" dirty="0"/>
              <a:t>STEP 4: Continue to relocate each centroid to the mean of its assigned observations, until the clusters no longer change</a:t>
            </a:r>
            <a:endParaRPr lang="lt-LT" dirty="0"/>
          </a:p>
        </p:txBody>
      </p:sp>
      <p:pic>
        <p:nvPicPr>
          <p:cNvPr id="5" name="Paveikslėlis 4" descr="Paveikslėlis, kuriame yra ekrano kopija, linija, Grafikas, diagrama&#10;&#10;Dirbtinio intelekto sugeneruotas turinys gali būti neteisingas.">
            <a:extLst>
              <a:ext uri="{FF2B5EF4-FFF2-40B4-BE49-F238E27FC236}">
                <a16:creationId xmlns:a16="http://schemas.microsoft.com/office/drawing/2014/main" id="{F3472EDE-874F-7742-60CD-42C6253A4E98}"/>
              </a:ext>
            </a:extLst>
          </p:cNvPr>
          <p:cNvPicPr>
            <a:picLocks noChangeAspect="1"/>
          </p:cNvPicPr>
          <p:nvPr/>
        </p:nvPicPr>
        <p:blipFill>
          <a:blip r:embed="rId2"/>
          <a:stretch>
            <a:fillRect/>
          </a:stretch>
        </p:blipFill>
        <p:spPr>
          <a:xfrm>
            <a:off x="1307270" y="2191055"/>
            <a:ext cx="3962822" cy="1924145"/>
          </a:xfrm>
          <a:prstGeom prst="rect">
            <a:avLst/>
          </a:prstGeom>
        </p:spPr>
      </p:pic>
      <p:pic>
        <p:nvPicPr>
          <p:cNvPr id="9" name="Paveikslėlis 8" descr="Paveikslėlis, kuriame yra linija, diagrama, Grafikas, ekrano kopija&#10;&#10;Dirbtinio intelekto sugeneruotas turinys gali būti neteisingas.">
            <a:extLst>
              <a:ext uri="{FF2B5EF4-FFF2-40B4-BE49-F238E27FC236}">
                <a16:creationId xmlns:a16="http://schemas.microsoft.com/office/drawing/2014/main" id="{1DA42632-C66E-5791-C344-06E365AFB603}"/>
              </a:ext>
            </a:extLst>
          </p:cNvPr>
          <p:cNvPicPr>
            <a:picLocks noChangeAspect="1"/>
          </p:cNvPicPr>
          <p:nvPr/>
        </p:nvPicPr>
        <p:blipFill>
          <a:blip r:embed="rId3"/>
          <a:stretch>
            <a:fillRect/>
          </a:stretch>
        </p:blipFill>
        <p:spPr>
          <a:xfrm>
            <a:off x="6527969" y="2316883"/>
            <a:ext cx="3363522" cy="1672490"/>
          </a:xfrm>
          <a:prstGeom prst="rect">
            <a:avLst/>
          </a:prstGeom>
        </p:spPr>
      </p:pic>
      <p:pic>
        <p:nvPicPr>
          <p:cNvPr id="11" name="Paveikslėlis 10" descr="Paveikslėlis, kuriame yra diagrama, linija, Grafikas, ekrano kopija&#10;&#10;Dirbtinio intelekto sugeneruotas turinys gali būti neteisingas.">
            <a:extLst>
              <a:ext uri="{FF2B5EF4-FFF2-40B4-BE49-F238E27FC236}">
                <a16:creationId xmlns:a16="http://schemas.microsoft.com/office/drawing/2014/main" id="{0549FA32-6461-4125-E530-A09B7CCDBDC0}"/>
              </a:ext>
            </a:extLst>
          </p:cNvPr>
          <p:cNvPicPr>
            <a:picLocks noChangeAspect="1"/>
          </p:cNvPicPr>
          <p:nvPr/>
        </p:nvPicPr>
        <p:blipFill>
          <a:blip r:embed="rId4"/>
          <a:stretch>
            <a:fillRect/>
          </a:stretch>
        </p:blipFill>
        <p:spPr>
          <a:xfrm>
            <a:off x="1152832" y="4396938"/>
            <a:ext cx="4599039" cy="2304641"/>
          </a:xfrm>
          <a:prstGeom prst="rect">
            <a:avLst/>
          </a:prstGeom>
        </p:spPr>
      </p:pic>
      <p:pic>
        <p:nvPicPr>
          <p:cNvPr id="13" name="Paveikslėlis 12" descr="Paveikslėlis, kuriame yra linija, ekrano kopija, diagrama, Grafikas&#10;&#10;Dirbtinio intelekto sugeneruotas turinys gali būti neteisingas.">
            <a:extLst>
              <a:ext uri="{FF2B5EF4-FFF2-40B4-BE49-F238E27FC236}">
                <a16:creationId xmlns:a16="http://schemas.microsoft.com/office/drawing/2014/main" id="{AFD1DC49-77C4-F423-F1E3-5D6E99A2C3BD}"/>
              </a:ext>
            </a:extLst>
          </p:cNvPr>
          <p:cNvPicPr>
            <a:picLocks noChangeAspect="1"/>
          </p:cNvPicPr>
          <p:nvPr/>
        </p:nvPicPr>
        <p:blipFill>
          <a:blip r:embed="rId5"/>
          <a:stretch>
            <a:fillRect/>
          </a:stretch>
        </p:blipFill>
        <p:spPr>
          <a:xfrm>
            <a:off x="6096000" y="4115200"/>
            <a:ext cx="4962922" cy="2589098"/>
          </a:xfrm>
          <a:prstGeom prst="rect">
            <a:avLst/>
          </a:prstGeom>
        </p:spPr>
      </p:pic>
    </p:spTree>
    <p:extLst>
      <p:ext uri="{BB962C8B-B14F-4D97-AF65-F5344CB8AC3E}">
        <p14:creationId xmlns:p14="http://schemas.microsoft.com/office/powerpoint/2010/main" val="3891738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5D0CF6B-4224-6D68-C465-499D0B98FA62}"/>
              </a:ext>
            </a:extLst>
          </p:cNvPr>
          <p:cNvSpPr>
            <a:spLocks noGrp="1"/>
          </p:cNvSpPr>
          <p:nvPr>
            <p:ph type="title"/>
          </p:nvPr>
        </p:nvSpPr>
        <p:spPr/>
        <p:txBody>
          <a:bodyPr/>
          <a:lstStyle/>
          <a:p>
            <a:r>
              <a:rPr lang="lt-LT" dirty="0"/>
              <a:t>K-MEANS CLUSTERING IN PYTHON</a:t>
            </a:r>
          </a:p>
        </p:txBody>
      </p:sp>
      <p:sp>
        <p:nvSpPr>
          <p:cNvPr id="4" name="TextBox 3">
            <a:extLst>
              <a:ext uri="{FF2B5EF4-FFF2-40B4-BE49-F238E27FC236}">
                <a16:creationId xmlns:a16="http://schemas.microsoft.com/office/drawing/2014/main" id="{C22D32A4-CF7B-D763-81A3-BCAB4936D28F}"/>
              </a:ext>
            </a:extLst>
          </p:cNvPr>
          <p:cNvSpPr txBox="1"/>
          <p:nvPr/>
        </p:nvSpPr>
        <p:spPr>
          <a:xfrm>
            <a:off x="1179870" y="1594125"/>
            <a:ext cx="9242323" cy="369332"/>
          </a:xfrm>
          <a:prstGeom prst="rect">
            <a:avLst/>
          </a:prstGeom>
          <a:noFill/>
        </p:spPr>
        <p:txBody>
          <a:bodyPr wrap="square">
            <a:spAutoFit/>
          </a:bodyPr>
          <a:lstStyle/>
          <a:p>
            <a:r>
              <a:rPr lang="en-US" dirty="0"/>
              <a:t>Use </a:t>
            </a:r>
            <a:r>
              <a:rPr lang="en-US" dirty="0" err="1"/>
              <a:t>sklearn’s</a:t>
            </a:r>
            <a:r>
              <a:rPr lang="en-US" dirty="0"/>
              <a:t> </a:t>
            </a:r>
            <a:r>
              <a:rPr lang="en-US" dirty="0" err="1"/>
              <a:t>KMeans</a:t>
            </a:r>
            <a:r>
              <a:rPr lang="en-US" dirty="0"/>
              <a:t>()function to perform K-Means Clustering</a:t>
            </a:r>
            <a:endParaRPr lang="lt-LT" dirty="0"/>
          </a:p>
        </p:txBody>
      </p:sp>
      <p:pic>
        <p:nvPicPr>
          <p:cNvPr id="6" name="Paveikslėlis 5" descr="Paveikslėlis, kuriame yra tekstas, Šriftas, linija, ekrano kopija&#10;&#10;Dirbtinio intelekto sugeneruotas turinys gali būti neteisingas.">
            <a:extLst>
              <a:ext uri="{FF2B5EF4-FFF2-40B4-BE49-F238E27FC236}">
                <a16:creationId xmlns:a16="http://schemas.microsoft.com/office/drawing/2014/main" id="{D0954B43-69D2-F082-4378-D94550D0A9F0}"/>
              </a:ext>
            </a:extLst>
          </p:cNvPr>
          <p:cNvPicPr>
            <a:picLocks noChangeAspect="1"/>
          </p:cNvPicPr>
          <p:nvPr/>
        </p:nvPicPr>
        <p:blipFill>
          <a:blip r:embed="rId2"/>
          <a:stretch>
            <a:fillRect/>
          </a:stretch>
        </p:blipFill>
        <p:spPr>
          <a:xfrm>
            <a:off x="1179870" y="2085947"/>
            <a:ext cx="9743441" cy="2991332"/>
          </a:xfrm>
          <a:prstGeom prst="rect">
            <a:avLst/>
          </a:prstGeom>
        </p:spPr>
      </p:pic>
      <p:sp>
        <p:nvSpPr>
          <p:cNvPr id="8" name="TextBox 7">
            <a:extLst>
              <a:ext uri="{FF2B5EF4-FFF2-40B4-BE49-F238E27FC236}">
                <a16:creationId xmlns:a16="http://schemas.microsoft.com/office/drawing/2014/main" id="{126797E9-6187-80B2-055A-5FCCB0E489E5}"/>
              </a:ext>
            </a:extLst>
          </p:cNvPr>
          <p:cNvSpPr txBox="1"/>
          <p:nvPr/>
        </p:nvSpPr>
        <p:spPr>
          <a:xfrm>
            <a:off x="1179870" y="5350048"/>
            <a:ext cx="6096000" cy="646331"/>
          </a:xfrm>
          <a:prstGeom prst="rect">
            <a:avLst/>
          </a:prstGeom>
          <a:noFill/>
        </p:spPr>
        <p:txBody>
          <a:bodyPr wrap="square">
            <a:spAutoFit/>
          </a:bodyPr>
          <a:lstStyle/>
          <a:p>
            <a:r>
              <a:rPr lang="en-US" dirty="0"/>
              <a:t>PRO TIP: It’s typically a good idea to start with 2 clusters and build up from there, comparing the results</a:t>
            </a:r>
            <a:endParaRPr lang="lt-LT" dirty="0"/>
          </a:p>
        </p:txBody>
      </p:sp>
    </p:spTree>
    <p:extLst>
      <p:ext uri="{BB962C8B-B14F-4D97-AF65-F5344CB8AC3E}">
        <p14:creationId xmlns:p14="http://schemas.microsoft.com/office/powerpoint/2010/main" val="26427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0492-C01B-5682-3F0E-91BE9631CE61}"/>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33FD68A1-921C-2840-0458-00CB41FF32DC}"/>
              </a:ext>
            </a:extLst>
          </p:cNvPr>
          <p:cNvSpPr>
            <a:spLocks noGrp="1"/>
          </p:cNvSpPr>
          <p:nvPr>
            <p:ph type="title"/>
          </p:nvPr>
        </p:nvSpPr>
        <p:spPr/>
        <p:txBody>
          <a:bodyPr/>
          <a:lstStyle/>
          <a:p>
            <a:r>
              <a:rPr lang="lt-LT" dirty="0"/>
              <a:t>K-MEANS CLUSTERING IN PYTHON</a:t>
            </a:r>
          </a:p>
        </p:txBody>
      </p:sp>
      <p:sp>
        <p:nvSpPr>
          <p:cNvPr id="4" name="TextBox 3">
            <a:extLst>
              <a:ext uri="{FF2B5EF4-FFF2-40B4-BE49-F238E27FC236}">
                <a16:creationId xmlns:a16="http://schemas.microsoft.com/office/drawing/2014/main" id="{046A233D-ABB8-D905-3BFC-DE1925D8513F}"/>
              </a:ext>
            </a:extLst>
          </p:cNvPr>
          <p:cNvSpPr txBox="1"/>
          <p:nvPr/>
        </p:nvSpPr>
        <p:spPr>
          <a:xfrm>
            <a:off x="1179870" y="1594125"/>
            <a:ext cx="9242323" cy="646331"/>
          </a:xfrm>
          <a:prstGeom prst="rect">
            <a:avLst/>
          </a:prstGeom>
          <a:noFill/>
        </p:spPr>
        <p:txBody>
          <a:bodyPr wrap="square">
            <a:spAutoFit/>
          </a:bodyPr>
          <a:lstStyle/>
          <a:p>
            <a:r>
              <a:rPr lang="en-US" dirty="0"/>
              <a:t>EXAMPLE: Clustering high school students based on entertainment preferences so the local library can use targeted ads to encourage teenagers to read more </a:t>
            </a:r>
            <a:endParaRPr lang="lt-LT" dirty="0"/>
          </a:p>
        </p:txBody>
      </p:sp>
      <p:pic>
        <p:nvPicPr>
          <p:cNvPr id="5" name="Paveikslėlis 4" descr="Paveikslėlis, kuriame yra tekstas, ekrano kopija, skaičius, Šriftas&#10;&#10;Dirbtinio intelekto sugeneruotas turinys gali būti neteisingas.">
            <a:extLst>
              <a:ext uri="{FF2B5EF4-FFF2-40B4-BE49-F238E27FC236}">
                <a16:creationId xmlns:a16="http://schemas.microsoft.com/office/drawing/2014/main" id="{6212FD80-6B39-1044-2B90-0521FB358BA8}"/>
              </a:ext>
            </a:extLst>
          </p:cNvPr>
          <p:cNvPicPr>
            <a:picLocks noChangeAspect="1"/>
          </p:cNvPicPr>
          <p:nvPr/>
        </p:nvPicPr>
        <p:blipFill>
          <a:blip r:embed="rId2"/>
          <a:stretch>
            <a:fillRect/>
          </a:stretch>
        </p:blipFill>
        <p:spPr>
          <a:xfrm>
            <a:off x="1109574" y="2294888"/>
            <a:ext cx="7868748" cy="4563112"/>
          </a:xfrm>
          <a:prstGeom prst="rect">
            <a:avLst/>
          </a:prstGeom>
        </p:spPr>
      </p:pic>
    </p:spTree>
    <p:extLst>
      <p:ext uri="{BB962C8B-B14F-4D97-AF65-F5344CB8AC3E}">
        <p14:creationId xmlns:p14="http://schemas.microsoft.com/office/powerpoint/2010/main" val="1327060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5E53-F462-ED1A-C419-8334D3C37828}"/>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C0577F2F-8D74-4FA9-8FE8-D1CC71560EDA}"/>
              </a:ext>
            </a:extLst>
          </p:cNvPr>
          <p:cNvSpPr>
            <a:spLocks noGrp="1"/>
          </p:cNvSpPr>
          <p:nvPr>
            <p:ph type="title"/>
          </p:nvPr>
        </p:nvSpPr>
        <p:spPr/>
        <p:txBody>
          <a:bodyPr/>
          <a:lstStyle/>
          <a:p>
            <a:r>
              <a:rPr lang="lt-LT" dirty="0"/>
              <a:t>K-MEANS CLUSTERING IN PYTHON</a:t>
            </a:r>
          </a:p>
        </p:txBody>
      </p:sp>
      <p:sp>
        <p:nvSpPr>
          <p:cNvPr id="4" name="TextBox 3">
            <a:extLst>
              <a:ext uri="{FF2B5EF4-FFF2-40B4-BE49-F238E27FC236}">
                <a16:creationId xmlns:a16="http://schemas.microsoft.com/office/drawing/2014/main" id="{8AEDC805-16A2-6096-E6D5-879E63DB7C57}"/>
              </a:ext>
            </a:extLst>
          </p:cNvPr>
          <p:cNvSpPr txBox="1"/>
          <p:nvPr/>
        </p:nvSpPr>
        <p:spPr>
          <a:xfrm>
            <a:off x="1179870" y="1594125"/>
            <a:ext cx="9242323" cy="646331"/>
          </a:xfrm>
          <a:prstGeom prst="rect">
            <a:avLst/>
          </a:prstGeom>
          <a:noFill/>
        </p:spPr>
        <p:txBody>
          <a:bodyPr wrap="square">
            <a:spAutoFit/>
          </a:bodyPr>
          <a:lstStyle/>
          <a:p>
            <a:r>
              <a:rPr lang="en-US" dirty="0"/>
              <a:t>EXAMPLE: Clustering high school students based on entertainment preferences so the local library can use targeted ads to encourage teenagers to read more </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E234CF78-CA99-D076-657A-11F19B956C95}"/>
              </a:ext>
            </a:extLst>
          </p:cNvPr>
          <p:cNvPicPr>
            <a:picLocks noChangeAspect="1"/>
          </p:cNvPicPr>
          <p:nvPr/>
        </p:nvPicPr>
        <p:blipFill>
          <a:blip r:embed="rId2"/>
          <a:stretch>
            <a:fillRect/>
          </a:stretch>
        </p:blipFill>
        <p:spPr>
          <a:xfrm>
            <a:off x="594544" y="1879260"/>
            <a:ext cx="11002911" cy="4896533"/>
          </a:xfrm>
          <a:prstGeom prst="rect">
            <a:avLst/>
          </a:prstGeom>
        </p:spPr>
      </p:pic>
    </p:spTree>
    <p:extLst>
      <p:ext uri="{BB962C8B-B14F-4D97-AF65-F5344CB8AC3E}">
        <p14:creationId xmlns:p14="http://schemas.microsoft.com/office/powerpoint/2010/main" val="2942241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CE97A88-4287-FFEA-CFFF-DD120083E313}"/>
              </a:ext>
            </a:extLst>
          </p:cNvPr>
          <p:cNvSpPr>
            <a:spLocks noGrp="1"/>
          </p:cNvSpPr>
          <p:nvPr>
            <p:ph type="title"/>
          </p:nvPr>
        </p:nvSpPr>
        <p:spPr/>
        <p:txBody>
          <a:bodyPr/>
          <a:lstStyle/>
          <a:p>
            <a:r>
              <a:rPr lang="lt-LT" dirty="0"/>
              <a:t>VISUALIZING K-MEANS CLUSTERING</a:t>
            </a:r>
          </a:p>
        </p:txBody>
      </p:sp>
      <p:sp>
        <p:nvSpPr>
          <p:cNvPr id="4" name="TextBox 3">
            <a:extLst>
              <a:ext uri="{FF2B5EF4-FFF2-40B4-BE49-F238E27FC236}">
                <a16:creationId xmlns:a16="http://schemas.microsoft.com/office/drawing/2014/main" id="{3A1ECAAE-BFCD-ED64-12D4-4C9285765BD0}"/>
              </a:ext>
            </a:extLst>
          </p:cNvPr>
          <p:cNvSpPr txBox="1"/>
          <p:nvPr/>
        </p:nvSpPr>
        <p:spPr>
          <a:xfrm>
            <a:off x="838199" y="1367522"/>
            <a:ext cx="10036277" cy="646331"/>
          </a:xfrm>
          <a:prstGeom prst="rect">
            <a:avLst/>
          </a:prstGeom>
          <a:noFill/>
        </p:spPr>
        <p:txBody>
          <a:bodyPr wrap="square">
            <a:spAutoFit/>
          </a:bodyPr>
          <a:lstStyle/>
          <a:p>
            <a:r>
              <a:rPr lang="en-US" dirty="0"/>
              <a:t>You can </a:t>
            </a:r>
            <a:r>
              <a:rPr lang="en-US" b="1" dirty="0"/>
              <a:t>visualize the results </a:t>
            </a:r>
            <a:r>
              <a:rPr lang="en-US" dirty="0"/>
              <a:t>of a K-Means model using the .labels_ attribute and data visualizations libraries in Python</a:t>
            </a:r>
            <a:endParaRPr lang="lt-LT" dirty="0"/>
          </a:p>
        </p:txBody>
      </p:sp>
      <p:pic>
        <p:nvPicPr>
          <p:cNvPr id="6" name="Paveikslėlis 5" descr="Paveikslėlis, kuriame yra tekstas, ekrano kopija, diagrama, linija&#10;&#10;Dirbtinio intelekto sugeneruotas turinys gali būti neteisingas.">
            <a:extLst>
              <a:ext uri="{FF2B5EF4-FFF2-40B4-BE49-F238E27FC236}">
                <a16:creationId xmlns:a16="http://schemas.microsoft.com/office/drawing/2014/main" id="{5498A004-69BF-0E41-5D45-E89D1B630955}"/>
              </a:ext>
            </a:extLst>
          </p:cNvPr>
          <p:cNvPicPr>
            <a:picLocks noChangeAspect="1"/>
          </p:cNvPicPr>
          <p:nvPr/>
        </p:nvPicPr>
        <p:blipFill>
          <a:blip r:embed="rId3"/>
          <a:stretch>
            <a:fillRect/>
          </a:stretch>
        </p:blipFill>
        <p:spPr>
          <a:xfrm>
            <a:off x="1151188" y="2182760"/>
            <a:ext cx="10066023" cy="4488427"/>
          </a:xfrm>
          <a:prstGeom prst="rect">
            <a:avLst/>
          </a:prstGeom>
        </p:spPr>
      </p:pic>
    </p:spTree>
    <p:extLst>
      <p:ext uri="{BB962C8B-B14F-4D97-AF65-F5344CB8AC3E}">
        <p14:creationId xmlns:p14="http://schemas.microsoft.com/office/powerpoint/2010/main" val="3360401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02EA5-E31A-5FBE-F751-06ACAF9DB98F}"/>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C4C09B4D-B335-BDB1-9BB3-9AD78E9FF03F}"/>
              </a:ext>
            </a:extLst>
          </p:cNvPr>
          <p:cNvSpPr>
            <a:spLocks noGrp="1"/>
          </p:cNvSpPr>
          <p:nvPr>
            <p:ph type="title"/>
          </p:nvPr>
        </p:nvSpPr>
        <p:spPr/>
        <p:txBody>
          <a:bodyPr/>
          <a:lstStyle/>
          <a:p>
            <a:r>
              <a:rPr lang="lt-LT" dirty="0"/>
              <a:t>VISUALIZING K-MEANS CLUSTERING</a:t>
            </a:r>
          </a:p>
        </p:txBody>
      </p:sp>
      <p:sp>
        <p:nvSpPr>
          <p:cNvPr id="4" name="TextBox 3">
            <a:extLst>
              <a:ext uri="{FF2B5EF4-FFF2-40B4-BE49-F238E27FC236}">
                <a16:creationId xmlns:a16="http://schemas.microsoft.com/office/drawing/2014/main" id="{3BEDC391-67A7-C2B3-DEAA-86D51A258D73}"/>
              </a:ext>
            </a:extLst>
          </p:cNvPr>
          <p:cNvSpPr txBox="1"/>
          <p:nvPr/>
        </p:nvSpPr>
        <p:spPr>
          <a:xfrm>
            <a:off x="838199" y="1367522"/>
            <a:ext cx="10036277" cy="646331"/>
          </a:xfrm>
          <a:prstGeom prst="rect">
            <a:avLst/>
          </a:prstGeom>
          <a:noFill/>
        </p:spPr>
        <p:txBody>
          <a:bodyPr wrap="square">
            <a:spAutoFit/>
          </a:bodyPr>
          <a:lstStyle/>
          <a:p>
            <a:r>
              <a:rPr lang="en-US" dirty="0"/>
              <a:t>You can </a:t>
            </a:r>
            <a:r>
              <a:rPr lang="en-US" b="1" dirty="0"/>
              <a:t>interpret  the results </a:t>
            </a:r>
            <a:r>
              <a:rPr lang="en-US" dirty="0"/>
              <a:t>of a K-Means model using the .</a:t>
            </a:r>
            <a:r>
              <a:rPr lang="en-US" dirty="0" err="1"/>
              <a:t>cluster_centers</a:t>
            </a:r>
            <a:r>
              <a:rPr lang="en-US" dirty="0"/>
              <a:t>_ attribute and data visualizations libraries in Python</a:t>
            </a:r>
            <a:endParaRPr lang="lt-LT" dirty="0"/>
          </a:p>
        </p:txBody>
      </p:sp>
      <p:pic>
        <p:nvPicPr>
          <p:cNvPr id="5" name="Paveikslėlis 4" descr="Paveikslėlis, kuriame yra tekstas, ekrano kopija, Šriftas&#10;&#10;Dirbtinio intelekto sugeneruotas turinys gali būti neteisingas.">
            <a:extLst>
              <a:ext uri="{FF2B5EF4-FFF2-40B4-BE49-F238E27FC236}">
                <a16:creationId xmlns:a16="http://schemas.microsoft.com/office/drawing/2014/main" id="{D2DE4365-8E75-F8E6-313F-0069D8BCE083}"/>
              </a:ext>
            </a:extLst>
          </p:cNvPr>
          <p:cNvPicPr>
            <a:picLocks noChangeAspect="1"/>
          </p:cNvPicPr>
          <p:nvPr/>
        </p:nvPicPr>
        <p:blipFill>
          <a:blip r:embed="rId2"/>
          <a:stretch>
            <a:fillRect/>
          </a:stretch>
        </p:blipFill>
        <p:spPr>
          <a:xfrm>
            <a:off x="914399" y="2109192"/>
            <a:ext cx="8840343" cy="4484606"/>
          </a:xfrm>
          <a:prstGeom prst="rect">
            <a:avLst/>
          </a:prstGeom>
        </p:spPr>
      </p:pic>
    </p:spTree>
    <p:extLst>
      <p:ext uri="{BB962C8B-B14F-4D97-AF65-F5344CB8AC3E}">
        <p14:creationId xmlns:p14="http://schemas.microsoft.com/office/powerpoint/2010/main" val="1700639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3EBA5-9C44-5D9B-4837-7025D149E6B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381839FE-FB96-F3C6-FE01-2E577780606E}"/>
              </a:ext>
            </a:extLst>
          </p:cNvPr>
          <p:cNvSpPr>
            <a:spLocks noGrp="1"/>
          </p:cNvSpPr>
          <p:nvPr>
            <p:ph type="title"/>
          </p:nvPr>
        </p:nvSpPr>
        <p:spPr/>
        <p:txBody>
          <a:bodyPr/>
          <a:lstStyle/>
          <a:p>
            <a:r>
              <a:rPr lang="lt-LT" dirty="0"/>
              <a:t>VISUALIZING K-MEANS CLUSTERING</a:t>
            </a:r>
          </a:p>
        </p:txBody>
      </p:sp>
      <p:sp>
        <p:nvSpPr>
          <p:cNvPr id="4" name="TextBox 3">
            <a:extLst>
              <a:ext uri="{FF2B5EF4-FFF2-40B4-BE49-F238E27FC236}">
                <a16:creationId xmlns:a16="http://schemas.microsoft.com/office/drawing/2014/main" id="{CBD74E27-F83E-A128-8685-EE6B4BD0E4B1}"/>
              </a:ext>
            </a:extLst>
          </p:cNvPr>
          <p:cNvSpPr txBox="1"/>
          <p:nvPr/>
        </p:nvSpPr>
        <p:spPr>
          <a:xfrm>
            <a:off x="838199" y="1367522"/>
            <a:ext cx="10036277" cy="369332"/>
          </a:xfrm>
          <a:prstGeom prst="rect">
            <a:avLst/>
          </a:prstGeom>
          <a:noFill/>
        </p:spPr>
        <p:txBody>
          <a:bodyPr wrap="square">
            <a:spAutoFit/>
          </a:bodyPr>
          <a:lstStyle/>
          <a:p>
            <a:r>
              <a:rPr lang="en-US" dirty="0"/>
              <a:t>Visualizing the cluster centers in a heat map can help interpret them</a:t>
            </a:r>
            <a:endParaRPr lang="lt-LT" dirty="0"/>
          </a:p>
        </p:txBody>
      </p:sp>
      <p:pic>
        <p:nvPicPr>
          <p:cNvPr id="6" name="Paveikslėlis 5" descr="Paveikslėlis, kuriame yra tekstas, ekrano kopija, programinė įranga, skaičius&#10;&#10;Dirbtinio intelekto sugeneruotas turinys gali būti neteisingas.">
            <a:extLst>
              <a:ext uri="{FF2B5EF4-FFF2-40B4-BE49-F238E27FC236}">
                <a16:creationId xmlns:a16="http://schemas.microsoft.com/office/drawing/2014/main" id="{CEDEF7B1-30DC-AC71-CCA6-C5A590B09244}"/>
              </a:ext>
            </a:extLst>
          </p:cNvPr>
          <p:cNvPicPr>
            <a:picLocks noChangeAspect="1"/>
          </p:cNvPicPr>
          <p:nvPr/>
        </p:nvPicPr>
        <p:blipFill>
          <a:blip r:embed="rId2"/>
          <a:stretch>
            <a:fillRect/>
          </a:stretch>
        </p:blipFill>
        <p:spPr>
          <a:xfrm>
            <a:off x="838199" y="1884154"/>
            <a:ext cx="9406391" cy="4608721"/>
          </a:xfrm>
          <a:prstGeom prst="rect">
            <a:avLst/>
          </a:prstGeom>
        </p:spPr>
      </p:pic>
    </p:spTree>
    <p:extLst>
      <p:ext uri="{BB962C8B-B14F-4D97-AF65-F5344CB8AC3E}">
        <p14:creationId xmlns:p14="http://schemas.microsoft.com/office/powerpoint/2010/main" val="144280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A796E91-7699-259C-5F7A-FFAEC17C8590}"/>
              </a:ext>
            </a:extLst>
          </p:cNvPr>
          <p:cNvSpPr>
            <a:spLocks noGrp="1"/>
          </p:cNvSpPr>
          <p:nvPr>
            <p:ph type="title"/>
          </p:nvPr>
        </p:nvSpPr>
        <p:spPr/>
        <p:txBody>
          <a:bodyPr/>
          <a:lstStyle/>
          <a:p>
            <a:r>
              <a:rPr lang="lt-LT" dirty="0"/>
              <a:t>INERTIA</a:t>
            </a:r>
          </a:p>
        </p:txBody>
      </p:sp>
      <p:sp>
        <p:nvSpPr>
          <p:cNvPr id="4" name="TextBox 3">
            <a:extLst>
              <a:ext uri="{FF2B5EF4-FFF2-40B4-BE49-F238E27FC236}">
                <a16:creationId xmlns:a16="http://schemas.microsoft.com/office/drawing/2014/main" id="{ABFE907B-C98C-B8BC-3E50-44FAB71D4A0B}"/>
              </a:ext>
            </a:extLst>
          </p:cNvPr>
          <p:cNvSpPr txBox="1"/>
          <p:nvPr/>
        </p:nvSpPr>
        <p:spPr>
          <a:xfrm>
            <a:off x="838199" y="1484275"/>
            <a:ext cx="10400071" cy="923330"/>
          </a:xfrm>
          <a:prstGeom prst="rect">
            <a:avLst/>
          </a:prstGeom>
          <a:noFill/>
        </p:spPr>
        <p:txBody>
          <a:bodyPr wrap="square">
            <a:spAutoFit/>
          </a:bodyPr>
          <a:lstStyle/>
          <a:p>
            <a:r>
              <a:rPr lang="en-US" dirty="0"/>
              <a:t>How do we know what’s the “right” number of clusters (K)? </a:t>
            </a:r>
          </a:p>
          <a:p>
            <a:r>
              <a:rPr lang="en-US" dirty="0"/>
              <a:t>	• While there is no “right” or “wrong” number of clusters, you can use the </a:t>
            </a:r>
            <a:r>
              <a:rPr lang="en-US" b="1" dirty="0"/>
              <a:t>inertia</a:t>
            </a:r>
            <a:r>
              <a:rPr lang="en-US" dirty="0"/>
              <a:t> (aka within-cluster sum of squares or WCSS) to help inform your decision </a:t>
            </a:r>
            <a:endParaRPr lang="lt-LT" dirty="0"/>
          </a:p>
        </p:txBody>
      </p:sp>
      <p:pic>
        <p:nvPicPr>
          <p:cNvPr id="6" name="Paveikslėlis 5" descr="Paveikslėlis, kuriame yra linija, diagrama, ekrano kopija, Grafikas&#10;&#10;Dirbtinio intelekto sugeneruotas turinys gali būti neteisingas.">
            <a:extLst>
              <a:ext uri="{FF2B5EF4-FFF2-40B4-BE49-F238E27FC236}">
                <a16:creationId xmlns:a16="http://schemas.microsoft.com/office/drawing/2014/main" id="{2B79EC6E-8762-23C2-41DA-4C68D3B29882}"/>
              </a:ext>
            </a:extLst>
          </p:cNvPr>
          <p:cNvPicPr>
            <a:picLocks noChangeAspect="1"/>
          </p:cNvPicPr>
          <p:nvPr/>
        </p:nvPicPr>
        <p:blipFill>
          <a:blip r:embed="rId2"/>
          <a:stretch>
            <a:fillRect/>
          </a:stretch>
        </p:blipFill>
        <p:spPr>
          <a:xfrm>
            <a:off x="484237" y="3314049"/>
            <a:ext cx="4788466" cy="2447438"/>
          </a:xfrm>
          <a:prstGeom prst="rect">
            <a:avLst/>
          </a:prstGeom>
        </p:spPr>
      </p:pic>
      <p:pic>
        <p:nvPicPr>
          <p:cNvPr id="7" name="Paveikslėlis 6" descr="Paveikslėlis, kuriame yra linija, diagrama, ekrano kopija, Grafikas&#10;&#10;Dirbtinio intelekto sugeneruotas turinys gali būti neteisingas.">
            <a:extLst>
              <a:ext uri="{FF2B5EF4-FFF2-40B4-BE49-F238E27FC236}">
                <a16:creationId xmlns:a16="http://schemas.microsoft.com/office/drawing/2014/main" id="{1F11D095-28E4-89CB-5E56-61CBA28469BA}"/>
              </a:ext>
            </a:extLst>
          </p:cNvPr>
          <p:cNvPicPr>
            <a:picLocks noChangeAspect="1"/>
          </p:cNvPicPr>
          <p:nvPr/>
        </p:nvPicPr>
        <p:blipFill>
          <a:blip r:embed="rId3"/>
          <a:stretch>
            <a:fillRect/>
          </a:stretch>
        </p:blipFill>
        <p:spPr>
          <a:xfrm>
            <a:off x="5871084" y="2970298"/>
            <a:ext cx="5367185" cy="2791189"/>
          </a:xfrm>
          <a:prstGeom prst="rect">
            <a:avLst/>
          </a:prstGeom>
        </p:spPr>
      </p:pic>
    </p:spTree>
    <p:extLst>
      <p:ext uri="{BB962C8B-B14F-4D97-AF65-F5344CB8AC3E}">
        <p14:creationId xmlns:p14="http://schemas.microsoft.com/office/powerpoint/2010/main" val="2058534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3980-CDC3-7AF0-375F-34893DF39538}"/>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FF9E681B-67E4-561A-E800-027CF845A179}"/>
              </a:ext>
            </a:extLst>
          </p:cNvPr>
          <p:cNvSpPr>
            <a:spLocks noGrp="1"/>
          </p:cNvSpPr>
          <p:nvPr>
            <p:ph type="title"/>
          </p:nvPr>
        </p:nvSpPr>
        <p:spPr/>
        <p:txBody>
          <a:bodyPr/>
          <a:lstStyle/>
          <a:p>
            <a:r>
              <a:rPr lang="lt-LT" dirty="0"/>
              <a:t>INERTIA</a:t>
            </a:r>
          </a:p>
        </p:txBody>
      </p:sp>
      <p:sp>
        <p:nvSpPr>
          <p:cNvPr id="4" name="TextBox 3">
            <a:extLst>
              <a:ext uri="{FF2B5EF4-FFF2-40B4-BE49-F238E27FC236}">
                <a16:creationId xmlns:a16="http://schemas.microsoft.com/office/drawing/2014/main" id="{FB9C145E-0A65-51F9-4A5E-FD8ACE5019A5}"/>
              </a:ext>
            </a:extLst>
          </p:cNvPr>
          <p:cNvSpPr txBox="1"/>
          <p:nvPr/>
        </p:nvSpPr>
        <p:spPr>
          <a:xfrm>
            <a:off x="838199" y="1484275"/>
            <a:ext cx="10400071" cy="923330"/>
          </a:xfrm>
          <a:prstGeom prst="rect">
            <a:avLst/>
          </a:prstGeom>
          <a:noFill/>
        </p:spPr>
        <p:txBody>
          <a:bodyPr wrap="square">
            <a:spAutoFit/>
          </a:bodyPr>
          <a:lstStyle/>
          <a:p>
            <a:r>
              <a:rPr lang="en-US" dirty="0"/>
              <a:t>How do we know what’s the “right” number of clusters (K)? </a:t>
            </a:r>
          </a:p>
          <a:p>
            <a:r>
              <a:rPr lang="en-US" dirty="0"/>
              <a:t>	• While there is no “right” or “wrong” number of clusters, you can use the </a:t>
            </a:r>
            <a:r>
              <a:rPr lang="en-US" b="1" dirty="0"/>
              <a:t>inertia</a:t>
            </a:r>
            <a:r>
              <a:rPr lang="en-US" dirty="0"/>
              <a:t> (aka within-cluster sum of squares or WCSS) to help inform your decision </a:t>
            </a:r>
            <a:endParaRPr lang="lt-LT" dirty="0"/>
          </a:p>
        </p:txBody>
      </p:sp>
      <p:pic>
        <p:nvPicPr>
          <p:cNvPr id="8" name="Paveikslėlis 7" descr="Paveikslėlis, kuriame yra linija, diagrama, Grafikas, tekstas&#10;&#10;Dirbtinio intelekto sugeneruotas turinys gali būti neteisingas.">
            <a:extLst>
              <a:ext uri="{FF2B5EF4-FFF2-40B4-BE49-F238E27FC236}">
                <a16:creationId xmlns:a16="http://schemas.microsoft.com/office/drawing/2014/main" id="{D965797A-7712-3FE9-A928-8B3FBC703A9A}"/>
              </a:ext>
            </a:extLst>
          </p:cNvPr>
          <p:cNvPicPr>
            <a:picLocks noChangeAspect="1"/>
          </p:cNvPicPr>
          <p:nvPr/>
        </p:nvPicPr>
        <p:blipFill>
          <a:blip r:embed="rId3"/>
          <a:stretch>
            <a:fillRect/>
          </a:stretch>
        </p:blipFill>
        <p:spPr>
          <a:xfrm>
            <a:off x="1113030" y="2675679"/>
            <a:ext cx="8321256" cy="3931564"/>
          </a:xfrm>
          <a:prstGeom prst="rect">
            <a:avLst/>
          </a:prstGeom>
        </p:spPr>
      </p:pic>
    </p:spTree>
    <p:extLst>
      <p:ext uri="{BB962C8B-B14F-4D97-AF65-F5344CB8AC3E}">
        <p14:creationId xmlns:p14="http://schemas.microsoft.com/office/powerpoint/2010/main" val="1352793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2037D-3165-3836-9EC0-AEBB60248F8F}"/>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67EB2E26-A22E-5F49-E3B4-812C1E6091B0}"/>
              </a:ext>
            </a:extLst>
          </p:cNvPr>
          <p:cNvSpPr>
            <a:spLocks noGrp="1"/>
          </p:cNvSpPr>
          <p:nvPr>
            <p:ph type="title"/>
          </p:nvPr>
        </p:nvSpPr>
        <p:spPr/>
        <p:txBody>
          <a:bodyPr/>
          <a:lstStyle/>
          <a:p>
            <a:r>
              <a:rPr lang="lt-LT" dirty="0"/>
              <a:t>INERTIA</a:t>
            </a:r>
          </a:p>
        </p:txBody>
      </p:sp>
      <p:sp>
        <p:nvSpPr>
          <p:cNvPr id="4" name="TextBox 3">
            <a:extLst>
              <a:ext uri="{FF2B5EF4-FFF2-40B4-BE49-F238E27FC236}">
                <a16:creationId xmlns:a16="http://schemas.microsoft.com/office/drawing/2014/main" id="{CEB35A6F-3430-EE55-8F46-09B468EFCF87}"/>
              </a:ext>
            </a:extLst>
          </p:cNvPr>
          <p:cNvSpPr txBox="1"/>
          <p:nvPr/>
        </p:nvSpPr>
        <p:spPr>
          <a:xfrm>
            <a:off x="838199" y="1484275"/>
            <a:ext cx="10400071" cy="923330"/>
          </a:xfrm>
          <a:prstGeom prst="rect">
            <a:avLst/>
          </a:prstGeom>
          <a:noFill/>
        </p:spPr>
        <p:txBody>
          <a:bodyPr wrap="square">
            <a:spAutoFit/>
          </a:bodyPr>
          <a:lstStyle/>
          <a:p>
            <a:r>
              <a:rPr lang="en-US" dirty="0"/>
              <a:t>How do we know what’s the “right” number of clusters (K)? </a:t>
            </a:r>
          </a:p>
          <a:p>
            <a:r>
              <a:rPr lang="en-US" dirty="0"/>
              <a:t>	• While there is no “right” or “wrong” number of clusters, you can use the </a:t>
            </a:r>
            <a:r>
              <a:rPr lang="en-US" b="1" dirty="0"/>
              <a:t>inertia</a:t>
            </a:r>
            <a:r>
              <a:rPr lang="en-US" dirty="0"/>
              <a:t> (aka within-cluster sum of squares or WCSS) to help inform your decision </a:t>
            </a:r>
            <a:endParaRPr lang="lt-LT" dirty="0"/>
          </a:p>
        </p:txBody>
      </p:sp>
      <p:pic>
        <p:nvPicPr>
          <p:cNvPr id="10" name="Paveikslėlis 9" descr="Paveikslėlis, kuriame yra tekstas, diagrama, linija, Grafikas&#10;&#10;Dirbtinio intelekto sugeneruotas turinys gali būti neteisingas.">
            <a:extLst>
              <a:ext uri="{FF2B5EF4-FFF2-40B4-BE49-F238E27FC236}">
                <a16:creationId xmlns:a16="http://schemas.microsoft.com/office/drawing/2014/main" id="{C357B8AB-47C6-091B-80FA-62B369B43E7D}"/>
              </a:ext>
            </a:extLst>
          </p:cNvPr>
          <p:cNvPicPr>
            <a:picLocks noChangeAspect="1"/>
          </p:cNvPicPr>
          <p:nvPr/>
        </p:nvPicPr>
        <p:blipFill>
          <a:blip r:embed="rId3"/>
          <a:stretch>
            <a:fillRect/>
          </a:stretch>
        </p:blipFill>
        <p:spPr>
          <a:xfrm>
            <a:off x="838198" y="2336176"/>
            <a:ext cx="10077484" cy="4521824"/>
          </a:xfrm>
          <a:prstGeom prst="rect">
            <a:avLst/>
          </a:prstGeom>
        </p:spPr>
      </p:pic>
    </p:spTree>
    <p:extLst>
      <p:ext uri="{BB962C8B-B14F-4D97-AF65-F5344CB8AC3E}">
        <p14:creationId xmlns:p14="http://schemas.microsoft.com/office/powerpoint/2010/main" val="1429282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855B2BB-0B76-236D-8EAB-44C86B7179BF}"/>
              </a:ext>
            </a:extLst>
          </p:cNvPr>
          <p:cNvSpPr>
            <a:spLocks noGrp="1"/>
          </p:cNvSpPr>
          <p:nvPr>
            <p:ph type="title"/>
          </p:nvPr>
        </p:nvSpPr>
        <p:spPr/>
        <p:txBody>
          <a:bodyPr/>
          <a:lstStyle/>
          <a:p>
            <a:r>
              <a:rPr lang="lt-LT" dirty="0"/>
              <a:t>PLOTTING INERTIA IN PYTHON</a:t>
            </a:r>
          </a:p>
        </p:txBody>
      </p:sp>
      <p:sp>
        <p:nvSpPr>
          <p:cNvPr id="4" name="TextBox 3">
            <a:extLst>
              <a:ext uri="{FF2B5EF4-FFF2-40B4-BE49-F238E27FC236}">
                <a16:creationId xmlns:a16="http://schemas.microsoft.com/office/drawing/2014/main" id="{D6C7D211-6C91-0373-CABA-32DCA86F725D}"/>
              </a:ext>
            </a:extLst>
          </p:cNvPr>
          <p:cNvSpPr txBox="1"/>
          <p:nvPr/>
        </p:nvSpPr>
        <p:spPr>
          <a:xfrm>
            <a:off x="838200" y="1347470"/>
            <a:ext cx="10124768" cy="646331"/>
          </a:xfrm>
          <a:prstGeom prst="rect">
            <a:avLst/>
          </a:prstGeom>
          <a:noFill/>
        </p:spPr>
        <p:txBody>
          <a:bodyPr wrap="square">
            <a:spAutoFit/>
          </a:bodyPr>
          <a:lstStyle/>
          <a:p>
            <a:r>
              <a:rPr lang="en-US" dirty="0"/>
              <a:t>You can </a:t>
            </a:r>
            <a:r>
              <a:rPr lang="en-US" b="1" dirty="0"/>
              <a:t>plot inertia </a:t>
            </a:r>
            <a:r>
              <a:rPr lang="en-US" dirty="0"/>
              <a:t>in Python by fitting K-Means models with different values for “k”, storing the inertia for each one, and visualizing the results</a:t>
            </a:r>
            <a:endParaRPr lang="lt-LT" dirty="0"/>
          </a:p>
        </p:txBody>
      </p:sp>
      <p:pic>
        <p:nvPicPr>
          <p:cNvPr id="6" name="Paveikslėlis 5" descr="Paveikslėlis, kuriame yra tekstas, Šriftas, linija, skaičius&#10;&#10;Dirbtinio intelekto sugeneruotas turinys gali būti neteisingas.">
            <a:extLst>
              <a:ext uri="{FF2B5EF4-FFF2-40B4-BE49-F238E27FC236}">
                <a16:creationId xmlns:a16="http://schemas.microsoft.com/office/drawing/2014/main" id="{AA53EEB3-49F4-0C56-8E21-67F81C472B43}"/>
              </a:ext>
            </a:extLst>
          </p:cNvPr>
          <p:cNvPicPr>
            <a:picLocks noChangeAspect="1"/>
          </p:cNvPicPr>
          <p:nvPr/>
        </p:nvPicPr>
        <p:blipFill>
          <a:blip r:embed="rId3"/>
          <a:stretch>
            <a:fillRect/>
          </a:stretch>
        </p:blipFill>
        <p:spPr>
          <a:xfrm>
            <a:off x="685045" y="1993801"/>
            <a:ext cx="10821910" cy="4725059"/>
          </a:xfrm>
          <a:prstGeom prst="rect">
            <a:avLst/>
          </a:prstGeom>
        </p:spPr>
      </p:pic>
    </p:spTree>
    <p:extLst>
      <p:ext uri="{BB962C8B-B14F-4D97-AF65-F5344CB8AC3E}">
        <p14:creationId xmlns:p14="http://schemas.microsoft.com/office/powerpoint/2010/main" val="29791771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B1A125B-FD9D-479B-2D08-17A46D2CAAFF}"/>
              </a:ext>
            </a:extLst>
          </p:cNvPr>
          <p:cNvSpPr>
            <a:spLocks noGrp="1"/>
          </p:cNvSpPr>
          <p:nvPr>
            <p:ph type="title"/>
          </p:nvPr>
        </p:nvSpPr>
        <p:spPr/>
        <p:txBody>
          <a:bodyPr/>
          <a:lstStyle/>
          <a:p>
            <a:r>
              <a:rPr lang="lt-LT" dirty="0"/>
              <a:t>TUNING A K-MEANS MODEL</a:t>
            </a:r>
          </a:p>
        </p:txBody>
      </p:sp>
      <p:sp>
        <p:nvSpPr>
          <p:cNvPr id="4" name="TextBox 3">
            <a:extLst>
              <a:ext uri="{FF2B5EF4-FFF2-40B4-BE49-F238E27FC236}">
                <a16:creationId xmlns:a16="http://schemas.microsoft.com/office/drawing/2014/main" id="{818242E3-85FB-0E08-0C5C-9388F51E86C4}"/>
              </a:ext>
            </a:extLst>
          </p:cNvPr>
          <p:cNvSpPr txBox="1"/>
          <p:nvPr/>
        </p:nvSpPr>
        <p:spPr>
          <a:xfrm>
            <a:off x="838199" y="1583445"/>
            <a:ext cx="10242756" cy="646331"/>
          </a:xfrm>
          <a:prstGeom prst="rect">
            <a:avLst/>
          </a:prstGeom>
          <a:noFill/>
        </p:spPr>
        <p:txBody>
          <a:bodyPr wrap="square">
            <a:spAutoFit/>
          </a:bodyPr>
          <a:lstStyle/>
          <a:p>
            <a:r>
              <a:rPr lang="en-US" dirty="0"/>
              <a:t>Part of the clustering workflow is to go back to various data prep and modeling steps to </a:t>
            </a:r>
            <a:r>
              <a:rPr lang="en-US" b="1" dirty="0"/>
              <a:t>tune a model </a:t>
            </a:r>
            <a:r>
              <a:rPr lang="en-US" dirty="0"/>
              <a:t>before selecting the best one</a:t>
            </a:r>
            <a:endParaRPr lang="lt-LT" dirty="0"/>
          </a:p>
        </p:txBody>
      </p:sp>
      <p:sp>
        <p:nvSpPr>
          <p:cNvPr id="6" name="TextBox 5">
            <a:extLst>
              <a:ext uri="{FF2B5EF4-FFF2-40B4-BE49-F238E27FC236}">
                <a16:creationId xmlns:a16="http://schemas.microsoft.com/office/drawing/2014/main" id="{98721C27-9D76-268A-00DC-A651EFAC97F0}"/>
              </a:ext>
            </a:extLst>
          </p:cNvPr>
          <p:cNvSpPr txBox="1"/>
          <p:nvPr/>
        </p:nvSpPr>
        <p:spPr>
          <a:xfrm>
            <a:off x="973393" y="2496149"/>
            <a:ext cx="9822425" cy="3416320"/>
          </a:xfrm>
          <a:prstGeom prst="rect">
            <a:avLst/>
          </a:prstGeom>
          <a:noFill/>
        </p:spPr>
        <p:txBody>
          <a:bodyPr wrap="square">
            <a:spAutoFit/>
          </a:bodyPr>
          <a:lstStyle/>
          <a:p>
            <a:r>
              <a:rPr lang="en-US" b="1" dirty="0"/>
              <a:t>Data Prep </a:t>
            </a:r>
          </a:p>
          <a:p>
            <a:r>
              <a:rPr lang="en-US" b="1" dirty="0"/>
              <a:t>• Data cleaning: </a:t>
            </a:r>
            <a:r>
              <a:rPr lang="en-US" dirty="0"/>
              <a:t>Removing outliers, etc. </a:t>
            </a:r>
          </a:p>
          <a:p>
            <a:r>
              <a:rPr lang="en-US" b="1" dirty="0"/>
              <a:t>• Feature engineering: </a:t>
            </a:r>
            <a:r>
              <a:rPr lang="en-US" dirty="0"/>
              <a:t>Creating relevant features, etc. </a:t>
            </a:r>
          </a:p>
          <a:p>
            <a:r>
              <a:rPr lang="en-US" b="1" dirty="0"/>
              <a:t>• Feature selection: </a:t>
            </a:r>
            <a:r>
              <a:rPr lang="en-US" dirty="0"/>
              <a:t>More features does not mean a better model! </a:t>
            </a:r>
          </a:p>
          <a:p>
            <a:r>
              <a:rPr lang="en-US" b="1" dirty="0"/>
              <a:t>• Scaling: </a:t>
            </a:r>
            <a:r>
              <a:rPr lang="en-US" dirty="0"/>
              <a:t>K-Means is a distance-based algorithm, so it’s a good idea to scale the data</a:t>
            </a:r>
          </a:p>
          <a:p>
            <a:endParaRPr lang="en-US" dirty="0"/>
          </a:p>
          <a:p>
            <a:r>
              <a:rPr lang="en-US" b="1" dirty="0"/>
              <a:t>Modeling</a:t>
            </a:r>
            <a:r>
              <a:rPr lang="en-US" dirty="0"/>
              <a:t> </a:t>
            </a:r>
          </a:p>
          <a:p>
            <a:r>
              <a:rPr lang="en-US" b="1" dirty="0"/>
              <a:t>• Trying a different number of clusters: </a:t>
            </a:r>
            <a:r>
              <a:rPr lang="en-US" dirty="0"/>
              <a:t>If your clusters are very different with each run, K-Means with that specific number of clusters may not be the best fit for your data, so try using a different number of clusters </a:t>
            </a:r>
          </a:p>
          <a:p>
            <a:r>
              <a:rPr lang="en-US" b="1" dirty="0"/>
              <a:t>• Trying other clustering models: </a:t>
            </a:r>
            <a:r>
              <a:rPr lang="en-US" dirty="0"/>
              <a:t>K-Means works best when the clusters are mostly circular in shape, but algorithms like </a:t>
            </a:r>
            <a:r>
              <a:rPr lang="en-US" i="1" dirty="0"/>
              <a:t>Hierarchical Clustering </a:t>
            </a:r>
            <a:r>
              <a:rPr lang="en-US" dirty="0"/>
              <a:t>can address this</a:t>
            </a:r>
            <a:endParaRPr lang="lt-LT" dirty="0"/>
          </a:p>
        </p:txBody>
      </p:sp>
    </p:spTree>
    <p:extLst>
      <p:ext uri="{BB962C8B-B14F-4D97-AF65-F5344CB8AC3E}">
        <p14:creationId xmlns:p14="http://schemas.microsoft.com/office/powerpoint/2010/main" val="2312604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9AC8A0B-79A6-B9BD-301E-EF5C3511508E}"/>
              </a:ext>
            </a:extLst>
          </p:cNvPr>
          <p:cNvSpPr>
            <a:spLocks noGrp="1"/>
          </p:cNvSpPr>
          <p:nvPr>
            <p:ph type="title"/>
          </p:nvPr>
        </p:nvSpPr>
        <p:spPr/>
        <p:txBody>
          <a:bodyPr/>
          <a:lstStyle/>
          <a:p>
            <a:r>
              <a:rPr lang="lt-LT" dirty="0"/>
              <a:t>SELECTING THE BEST MODEL</a:t>
            </a:r>
          </a:p>
        </p:txBody>
      </p:sp>
      <p:sp>
        <p:nvSpPr>
          <p:cNvPr id="6" name="TextBox 5">
            <a:extLst>
              <a:ext uri="{FF2B5EF4-FFF2-40B4-BE49-F238E27FC236}">
                <a16:creationId xmlns:a16="http://schemas.microsoft.com/office/drawing/2014/main" id="{EA8BC818-F127-C15F-5BE4-BA5D5729F3BD}"/>
              </a:ext>
            </a:extLst>
          </p:cNvPr>
          <p:cNvSpPr txBox="1"/>
          <p:nvPr/>
        </p:nvSpPr>
        <p:spPr>
          <a:xfrm>
            <a:off x="766916" y="1486292"/>
            <a:ext cx="10586884" cy="5262979"/>
          </a:xfrm>
          <a:prstGeom prst="rect">
            <a:avLst/>
          </a:prstGeom>
          <a:noFill/>
        </p:spPr>
        <p:txBody>
          <a:bodyPr wrap="square">
            <a:spAutoFit/>
          </a:bodyPr>
          <a:lstStyle/>
          <a:p>
            <a:r>
              <a:rPr lang="en-US" sz="2400" dirty="0"/>
              <a:t>There is no definitive best model when clustering, but a good model has clusters that </a:t>
            </a:r>
            <a:r>
              <a:rPr lang="en-US" sz="2400" b="1" dirty="0"/>
              <a:t>make sense, capture patterns, </a:t>
            </a:r>
            <a:r>
              <a:rPr lang="en-US" sz="2400" dirty="0"/>
              <a:t>and </a:t>
            </a:r>
            <a:r>
              <a:rPr lang="en-US" sz="2400" b="1" dirty="0"/>
              <a:t>help solve the business problem</a:t>
            </a:r>
            <a:endParaRPr lang="lt-LT" sz="2400" b="1" dirty="0"/>
          </a:p>
          <a:p>
            <a:endParaRPr lang="en-US" sz="2400" dirty="0"/>
          </a:p>
          <a:p>
            <a:r>
              <a:rPr lang="en-US" sz="2400" dirty="0"/>
              <a:t>Explore the clusters using data-based approaches such as</a:t>
            </a:r>
          </a:p>
          <a:p>
            <a:endParaRPr lang="en-US" sz="2400" dirty="0"/>
          </a:p>
          <a:p>
            <a:r>
              <a:rPr lang="en-US" sz="2400" dirty="0"/>
              <a:t>• Comparing the cluster assignments for the data set and individual rows of data </a:t>
            </a:r>
          </a:p>
          <a:p>
            <a:r>
              <a:rPr lang="en-US" sz="2400" dirty="0"/>
              <a:t>• Comparing metrics of the various models –</a:t>
            </a:r>
            <a:r>
              <a:rPr lang="en-US" sz="2400" b="1" dirty="0"/>
              <a:t> inertia, silhouette score, </a:t>
            </a:r>
            <a:r>
              <a:rPr lang="en-US" sz="2400" dirty="0"/>
              <a:t>etc. </a:t>
            </a:r>
          </a:p>
          <a:p>
            <a:r>
              <a:rPr lang="en-US" sz="2400" dirty="0"/>
              <a:t>• Testing the clustering models on unseen data</a:t>
            </a:r>
          </a:p>
          <a:p>
            <a:endParaRPr lang="en-US" sz="2400" dirty="0"/>
          </a:p>
          <a:p>
            <a:r>
              <a:rPr lang="en-US" sz="2400" b="1" dirty="0"/>
              <a:t>PRO TIP: </a:t>
            </a:r>
            <a:r>
              <a:rPr lang="en-US" sz="2400" dirty="0"/>
              <a:t>Sometimes the exact cluster assignments don’t matter as much as the actionable recommendations you can make based on the clustering models </a:t>
            </a:r>
            <a:endParaRPr lang="lt-LT" sz="2400" dirty="0"/>
          </a:p>
        </p:txBody>
      </p:sp>
    </p:spTree>
    <p:extLst>
      <p:ext uri="{BB962C8B-B14F-4D97-AF65-F5344CB8AC3E}">
        <p14:creationId xmlns:p14="http://schemas.microsoft.com/office/powerpoint/2010/main" val="3795805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1CDDBA5-9641-D7A2-4181-CC0A3CC887B7}"/>
              </a:ext>
            </a:extLst>
          </p:cNvPr>
          <p:cNvSpPr>
            <a:spLocks noGrp="1"/>
          </p:cNvSpPr>
          <p:nvPr>
            <p:ph type="title"/>
          </p:nvPr>
        </p:nvSpPr>
        <p:spPr/>
        <p:txBody>
          <a:bodyPr/>
          <a:lstStyle/>
          <a:p>
            <a:r>
              <a:rPr lang="lt-LT" dirty="0"/>
              <a:t>SELECTING THE BEST MODEL</a:t>
            </a:r>
          </a:p>
        </p:txBody>
      </p:sp>
      <p:sp>
        <p:nvSpPr>
          <p:cNvPr id="4" name="TextBox 3">
            <a:extLst>
              <a:ext uri="{FF2B5EF4-FFF2-40B4-BE49-F238E27FC236}">
                <a16:creationId xmlns:a16="http://schemas.microsoft.com/office/drawing/2014/main" id="{82B5542E-232A-9A68-7841-7DF570033165}"/>
              </a:ext>
            </a:extLst>
          </p:cNvPr>
          <p:cNvSpPr txBox="1"/>
          <p:nvPr/>
        </p:nvSpPr>
        <p:spPr>
          <a:xfrm>
            <a:off x="838200" y="1544116"/>
            <a:ext cx="10213258" cy="646331"/>
          </a:xfrm>
          <a:prstGeom prst="rect">
            <a:avLst/>
          </a:prstGeom>
          <a:noFill/>
        </p:spPr>
        <p:txBody>
          <a:bodyPr wrap="square">
            <a:spAutoFit/>
          </a:bodyPr>
          <a:lstStyle/>
          <a:p>
            <a:r>
              <a:rPr lang="en-US" dirty="0"/>
              <a:t>EXAMPLE: Clustering high school students based on entertainment preferences so the local library can use targeted ads to encourage teenagers to read more</a:t>
            </a:r>
            <a:endParaRPr lang="lt-LT" dirty="0"/>
          </a:p>
        </p:txBody>
      </p:sp>
      <p:pic>
        <p:nvPicPr>
          <p:cNvPr id="6" name="Paveikslėlis 5" descr="Paveikslėlis, kuriame yra tekstas, ekrano kopija, Šriftas, skaičius&#10;&#10;Dirbtinio intelekto sugeneruotas turinys gali būti neteisingas.">
            <a:extLst>
              <a:ext uri="{FF2B5EF4-FFF2-40B4-BE49-F238E27FC236}">
                <a16:creationId xmlns:a16="http://schemas.microsoft.com/office/drawing/2014/main" id="{E94D6A6D-BAAF-32D3-DB8B-FC0B2B477F9C}"/>
              </a:ext>
            </a:extLst>
          </p:cNvPr>
          <p:cNvPicPr>
            <a:picLocks noChangeAspect="1"/>
          </p:cNvPicPr>
          <p:nvPr/>
        </p:nvPicPr>
        <p:blipFill>
          <a:blip r:embed="rId2"/>
          <a:stretch>
            <a:fillRect/>
          </a:stretch>
        </p:blipFill>
        <p:spPr>
          <a:xfrm>
            <a:off x="838200" y="2190447"/>
            <a:ext cx="9533161" cy="4412308"/>
          </a:xfrm>
          <a:prstGeom prst="rect">
            <a:avLst/>
          </a:prstGeom>
        </p:spPr>
      </p:pic>
    </p:spTree>
    <p:extLst>
      <p:ext uri="{BB962C8B-B14F-4D97-AF65-F5344CB8AC3E}">
        <p14:creationId xmlns:p14="http://schemas.microsoft.com/office/powerpoint/2010/main" val="3712299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A472735-C09D-23F7-86DF-89051DED2421}"/>
              </a:ext>
            </a:extLst>
          </p:cNvPr>
          <p:cNvSpPr>
            <a:spLocks noGrp="1"/>
          </p:cNvSpPr>
          <p:nvPr>
            <p:ph type="title"/>
          </p:nvPr>
        </p:nvSpPr>
        <p:spPr/>
        <p:txBody>
          <a:bodyPr/>
          <a:lstStyle/>
          <a:p>
            <a:r>
              <a:rPr lang="lt-LT" dirty="0"/>
              <a:t>HIERARCHICAL CLUSTERING</a:t>
            </a:r>
          </a:p>
        </p:txBody>
      </p:sp>
      <p:sp>
        <p:nvSpPr>
          <p:cNvPr id="4" name="TextBox 3">
            <a:extLst>
              <a:ext uri="{FF2B5EF4-FFF2-40B4-BE49-F238E27FC236}">
                <a16:creationId xmlns:a16="http://schemas.microsoft.com/office/drawing/2014/main" id="{B4028A73-20D0-4878-A557-87BAB8790559}"/>
              </a:ext>
            </a:extLst>
          </p:cNvPr>
          <p:cNvSpPr txBox="1"/>
          <p:nvPr/>
        </p:nvSpPr>
        <p:spPr>
          <a:xfrm>
            <a:off x="953728" y="1574461"/>
            <a:ext cx="10776155" cy="646331"/>
          </a:xfrm>
          <a:prstGeom prst="rect">
            <a:avLst/>
          </a:prstGeom>
          <a:noFill/>
        </p:spPr>
        <p:txBody>
          <a:bodyPr wrap="square">
            <a:spAutoFit/>
          </a:bodyPr>
          <a:lstStyle/>
          <a:p>
            <a:r>
              <a:rPr lang="en-US" dirty="0"/>
              <a:t>Hierarchical Clustering is a clustering technique that creates clusters by grouping similar data points together</a:t>
            </a:r>
            <a:endParaRPr lang="lt-LT" dirty="0"/>
          </a:p>
        </p:txBody>
      </p:sp>
      <p:pic>
        <p:nvPicPr>
          <p:cNvPr id="6" name="Paveikslėlis 5" descr="Paveikslėlis, kuriame yra diagrama, Grafikas, linija&#10;&#10;Dirbtinio intelekto sugeneruotas turinys gali būti neteisingas.">
            <a:extLst>
              <a:ext uri="{FF2B5EF4-FFF2-40B4-BE49-F238E27FC236}">
                <a16:creationId xmlns:a16="http://schemas.microsoft.com/office/drawing/2014/main" id="{0FEF1508-E41E-409C-4BD6-248B763C89B4}"/>
              </a:ext>
            </a:extLst>
          </p:cNvPr>
          <p:cNvPicPr>
            <a:picLocks noChangeAspect="1"/>
          </p:cNvPicPr>
          <p:nvPr/>
        </p:nvPicPr>
        <p:blipFill>
          <a:blip r:embed="rId2"/>
          <a:stretch>
            <a:fillRect/>
          </a:stretch>
        </p:blipFill>
        <p:spPr>
          <a:xfrm>
            <a:off x="838200" y="2373110"/>
            <a:ext cx="10259857" cy="4353533"/>
          </a:xfrm>
          <a:prstGeom prst="rect">
            <a:avLst/>
          </a:prstGeom>
        </p:spPr>
      </p:pic>
    </p:spTree>
    <p:extLst>
      <p:ext uri="{BB962C8B-B14F-4D97-AF65-F5344CB8AC3E}">
        <p14:creationId xmlns:p14="http://schemas.microsoft.com/office/powerpoint/2010/main" val="2962463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B5DA111-459B-C98F-D38B-775F7E35CEE2}"/>
              </a:ext>
            </a:extLst>
          </p:cNvPr>
          <p:cNvSpPr>
            <a:spLocks noGrp="1"/>
          </p:cNvSpPr>
          <p:nvPr>
            <p:ph type="title"/>
          </p:nvPr>
        </p:nvSpPr>
        <p:spPr/>
        <p:txBody>
          <a:bodyPr/>
          <a:lstStyle/>
          <a:p>
            <a:r>
              <a:rPr lang="lt-LT" dirty="0"/>
              <a:t>HIERARCHICAL CLUSTERING</a:t>
            </a:r>
          </a:p>
        </p:txBody>
      </p:sp>
      <p:sp>
        <p:nvSpPr>
          <p:cNvPr id="8" name="TextBox 7">
            <a:extLst>
              <a:ext uri="{FF2B5EF4-FFF2-40B4-BE49-F238E27FC236}">
                <a16:creationId xmlns:a16="http://schemas.microsoft.com/office/drawing/2014/main" id="{61ECBF12-D65A-5450-420A-ED9A059BD6F4}"/>
              </a:ext>
            </a:extLst>
          </p:cNvPr>
          <p:cNvSpPr txBox="1"/>
          <p:nvPr/>
        </p:nvSpPr>
        <p:spPr>
          <a:xfrm>
            <a:off x="838200" y="1621078"/>
            <a:ext cx="9967452" cy="4524315"/>
          </a:xfrm>
          <a:prstGeom prst="rect">
            <a:avLst/>
          </a:prstGeom>
          <a:noFill/>
        </p:spPr>
        <p:txBody>
          <a:bodyPr wrap="square">
            <a:spAutoFit/>
          </a:bodyPr>
          <a:lstStyle/>
          <a:p>
            <a:r>
              <a:rPr lang="en-US" dirty="0"/>
              <a:t>Hierarchical Clustering is a clustering technique that creates clusters by grouping similar data points together*</a:t>
            </a:r>
            <a:endParaRPr lang="lt-LT" dirty="0"/>
          </a:p>
          <a:p>
            <a:endParaRPr lang="en-US" dirty="0"/>
          </a:p>
          <a:p>
            <a:r>
              <a:rPr lang="lt-LT" dirty="0" err="1"/>
              <a:t>Here’s</a:t>
            </a:r>
            <a:r>
              <a:rPr lang="lt-LT" dirty="0"/>
              <a:t> </a:t>
            </a:r>
            <a:r>
              <a:rPr lang="lt-LT" dirty="0" err="1"/>
              <a:t>how</a:t>
            </a:r>
            <a:r>
              <a:rPr lang="lt-LT" dirty="0"/>
              <a:t> it </a:t>
            </a:r>
            <a:r>
              <a:rPr lang="lt-LT" dirty="0" err="1"/>
              <a:t>works</a:t>
            </a:r>
            <a:r>
              <a:rPr lang="lt-LT" dirty="0"/>
              <a:t>:</a:t>
            </a:r>
            <a:endParaRPr lang="en-US" dirty="0"/>
          </a:p>
          <a:p>
            <a:pPr marL="342900" indent="-342900">
              <a:buAutoNum type="arabicPeriod"/>
            </a:pPr>
            <a:r>
              <a:rPr lang="en-US" dirty="0"/>
              <a:t>Within a scatter plot, find the </a:t>
            </a:r>
            <a:r>
              <a:rPr lang="en-US" dirty="0">
                <a:highlight>
                  <a:srgbClr val="FFFF00"/>
                </a:highlight>
              </a:rPr>
              <a:t>2 closest points, and group them into a cluster </a:t>
            </a:r>
          </a:p>
          <a:p>
            <a:pPr marL="342900" indent="-342900">
              <a:buAutoNum type="arabicPeriod"/>
            </a:pPr>
            <a:r>
              <a:rPr lang="en-US" dirty="0"/>
              <a:t>Then find the </a:t>
            </a:r>
            <a:r>
              <a:rPr lang="en-US" dirty="0">
                <a:highlight>
                  <a:srgbClr val="FFFF00"/>
                </a:highlight>
              </a:rPr>
              <a:t>next two closest points or clusters</a:t>
            </a:r>
            <a:r>
              <a:rPr lang="en-US" dirty="0"/>
              <a:t>, and group them to a cluster </a:t>
            </a:r>
          </a:p>
          <a:p>
            <a:pPr marL="342900" indent="-342900">
              <a:buAutoNum type="arabicPeriod"/>
            </a:pPr>
            <a:r>
              <a:rPr lang="en-US" dirty="0"/>
              <a:t>Repeat the process of combining the closest pairs of points or clusters until you eventually end up with one single cluster </a:t>
            </a:r>
          </a:p>
          <a:p>
            <a:pPr marL="342900" indent="-342900">
              <a:buAutoNum type="arabicPeriod"/>
            </a:pPr>
            <a:endParaRPr lang="en-US" dirty="0"/>
          </a:p>
          <a:p>
            <a:pPr marL="342900" indent="-342900">
              <a:buAutoNum type="arabicPeriod"/>
            </a:pPr>
            <a:endParaRPr lang="en-US" dirty="0"/>
          </a:p>
          <a:p>
            <a:r>
              <a:rPr lang="en-US" dirty="0"/>
              <a:t>This process is visualized using a tree diagram called a </a:t>
            </a:r>
            <a:r>
              <a:rPr lang="en-US" b="1" dirty="0"/>
              <a:t>dendrogram</a:t>
            </a:r>
            <a:r>
              <a:rPr lang="en-US" dirty="0"/>
              <a:t>, which shows the hierarchical relationship between clusters </a:t>
            </a:r>
          </a:p>
          <a:p>
            <a:endParaRPr lang="en-US" dirty="0"/>
          </a:p>
          <a:p>
            <a:r>
              <a:rPr lang="en-US" dirty="0"/>
              <a:t>*This is known as agglomerative or “bottom-up” clustering (vs. divisive or “top-down” clustering, which is much less common)</a:t>
            </a:r>
            <a:endParaRPr lang="lt-LT" dirty="0"/>
          </a:p>
          <a:p>
            <a:endParaRPr lang="lt-LT" dirty="0"/>
          </a:p>
        </p:txBody>
      </p:sp>
    </p:spTree>
    <p:extLst>
      <p:ext uri="{BB962C8B-B14F-4D97-AF65-F5344CB8AC3E}">
        <p14:creationId xmlns:p14="http://schemas.microsoft.com/office/powerpoint/2010/main" val="4029941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B0B69B4F-9CBB-2AF0-E678-3250208D5F72}"/>
              </a:ext>
            </a:extLst>
          </p:cNvPr>
          <p:cNvSpPr>
            <a:spLocks noGrp="1"/>
          </p:cNvSpPr>
          <p:nvPr>
            <p:ph type="title"/>
          </p:nvPr>
        </p:nvSpPr>
        <p:spPr/>
        <p:txBody>
          <a:bodyPr/>
          <a:lstStyle/>
          <a:p>
            <a:r>
              <a:rPr lang="lt-LT" dirty="0"/>
              <a:t>HIERARCHICAL CLUSTERING</a:t>
            </a:r>
          </a:p>
        </p:txBody>
      </p:sp>
      <p:sp>
        <p:nvSpPr>
          <p:cNvPr id="4" name="TextBox 3">
            <a:extLst>
              <a:ext uri="{FF2B5EF4-FFF2-40B4-BE49-F238E27FC236}">
                <a16:creationId xmlns:a16="http://schemas.microsoft.com/office/drawing/2014/main" id="{6A682F7D-69E7-CD0D-D40D-8B4156413FF8}"/>
              </a:ext>
            </a:extLst>
          </p:cNvPr>
          <p:cNvSpPr txBox="1"/>
          <p:nvPr/>
        </p:nvSpPr>
        <p:spPr>
          <a:xfrm>
            <a:off x="1278194" y="1574461"/>
            <a:ext cx="6096000" cy="646331"/>
          </a:xfrm>
          <a:prstGeom prst="rect">
            <a:avLst/>
          </a:prstGeom>
          <a:noFill/>
        </p:spPr>
        <p:txBody>
          <a:bodyPr wrap="square">
            <a:spAutoFit/>
          </a:bodyPr>
          <a:lstStyle/>
          <a:p>
            <a:r>
              <a:rPr lang="en-US" dirty="0"/>
              <a:t>STEP 1: Find the two closest points, and group them into a cluster </a:t>
            </a:r>
            <a:endParaRPr lang="lt-LT" dirty="0"/>
          </a:p>
        </p:txBody>
      </p:sp>
      <p:pic>
        <p:nvPicPr>
          <p:cNvPr id="6" name="Paveikslėlis 5" descr="Paveikslėlis, kuriame yra diagrama, linija, Grafikas&#10;&#10;Dirbtinio intelekto sugeneruotas turinys gali būti neteisingas.">
            <a:extLst>
              <a:ext uri="{FF2B5EF4-FFF2-40B4-BE49-F238E27FC236}">
                <a16:creationId xmlns:a16="http://schemas.microsoft.com/office/drawing/2014/main" id="{1551661E-4BD8-1A65-B7C0-943AD83F82E3}"/>
              </a:ext>
            </a:extLst>
          </p:cNvPr>
          <p:cNvPicPr>
            <a:picLocks noChangeAspect="1"/>
          </p:cNvPicPr>
          <p:nvPr/>
        </p:nvPicPr>
        <p:blipFill>
          <a:blip r:embed="rId2"/>
          <a:stretch>
            <a:fillRect/>
          </a:stretch>
        </p:blipFill>
        <p:spPr>
          <a:xfrm>
            <a:off x="731356" y="2220792"/>
            <a:ext cx="3151971" cy="2213556"/>
          </a:xfrm>
          <a:prstGeom prst="rect">
            <a:avLst/>
          </a:prstGeom>
        </p:spPr>
      </p:pic>
      <p:sp>
        <p:nvSpPr>
          <p:cNvPr id="8" name="TextBox 7">
            <a:extLst>
              <a:ext uri="{FF2B5EF4-FFF2-40B4-BE49-F238E27FC236}">
                <a16:creationId xmlns:a16="http://schemas.microsoft.com/office/drawing/2014/main" id="{B23EDD99-DBA2-9779-3E6F-30EF1243B9F0}"/>
              </a:ext>
            </a:extLst>
          </p:cNvPr>
          <p:cNvSpPr txBox="1"/>
          <p:nvPr/>
        </p:nvSpPr>
        <p:spPr>
          <a:xfrm>
            <a:off x="9468465" y="4595120"/>
            <a:ext cx="2261420" cy="369332"/>
          </a:xfrm>
          <a:prstGeom prst="rect">
            <a:avLst/>
          </a:prstGeom>
          <a:noFill/>
        </p:spPr>
        <p:txBody>
          <a:bodyPr wrap="square">
            <a:spAutoFit/>
          </a:bodyPr>
          <a:lstStyle/>
          <a:p>
            <a:r>
              <a:rPr lang="en-US" dirty="0"/>
              <a:t>Cosine distance</a:t>
            </a:r>
            <a:endParaRPr lang="lt-LT" dirty="0"/>
          </a:p>
        </p:txBody>
      </p:sp>
      <p:pic>
        <p:nvPicPr>
          <p:cNvPr id="10" name="Paveikslėlis 9" descr="Paveikslėlis, kuriame yra linija, diagrama, Grafikas, kvadrato formos&#10;&#10;Dirbtinio intelekto sugeneruotas turinys gali būti neteisingas.">
            <a:extLst>
              <a:ext uri="{FF2B5EF4-FFF2-40B4-BE49-F238E27FC236}">
                <a16:creationId xmlns:a16="http://schemas.microsoft.com/office/drawing/2014/main" id="{00B9DF78-BA21-3A8D-F199-B3F82D4350D2}"/>
              </a:ext>
            </a:extLst>
          </p:cNvPr>
          <p:cNvPicPr>
            <a:picLocks noChangeAspect="1"/>
          </p:cNvPicPr>
          <p:nvPr/>
        </p:nvPicPr>
        <p:blipFill>
          <a:blip r:embed="rId3"/>
          <a:stretch>
            <a:fillRect/>
          </a:stretch>
        </p:blipFill>
        <p:spPr>
          <a:xfrm>
            <a:off x="4520014" y="2220792"/>
            <a:ext cx="3151971" cy="2230116"/>
          </a:xfrm>
          <a:prstGeom prst="rect">
            <a:avLst/>
          </a:prstGeom>
        </p:spPr>
      </p:pic>
      <p:sp>
        <p:nvSpPr>
          <p:cNvPr id="12" name="TextBox 11">
            <a:extLst>
              <a:ext uri="{FF2B5EF4-FFF2-40B4-BE49-F238E27FC236}">
                <a16:creationId xmlns:a16="http://schemas.microsoft.com/office/drawing/2014/main" id="{57FF829E-8404-0273-28B4-6EFE8205BC5C}"/>
              </a:ext>
            </a:extLst>
          </p:cNvPr>
          <p:cNvSpPr txBox="1"/>
          <p:nvPr/>
        </p:nvSpPr>
        <p:spPr>
          <a:xfrm>
            <a:off x="1278194" y="4701128"/>
            <a:ext cx="2261420" cy="369332"/>
          </a:xfrm>
          <a:prstGeom prst="rect">
            <a:avLst/>
          </a:prstGeom>
          <a:noFill/>
        </p:spPr>
        <p:txBody>
          <a:bodyPr wrap="square">
            <a:spAutoFit/>
          </a:bodyPr>
          <a:lstStyle/>
          <a:p>
            <a:r>
              <a:rPr lang="en-US" dirty="0"/>
              <a:t>Euclidean distance </a:t>
            </a:r>
            <a:endParaRPr lang="lt-LT" dirty="0"/>
          </a:p>
        </p:txBody>
      </p:sp>
      <p:sp>
        <p:nvSpPr>
          <p:cNvPr id="14" name="TextBox 13">
            <a:extLst>
              <a:ext uri="{FF2B5EF4-FFF2-40B4-BE49-F238E27FC236}">
                <a16:creationId xmlns:a16="http://schemas.microsoft.com/office/drawing/2014/main" id="{F42C34B6-2F03-E8C8-C710-64EA196247D2}"/>
              </a:ext>
            </a:extLst>
          </p:cNvPr>
          <p:cNvSpPr txBox="1"/>
          <p:nvPr/>
        </p:nvSpPr>
        <p:spPr>
          <a:xfrm>
            <a:off x="5087047" y="4701694"/>
            <a:ext cx="2556387" cy="369332"/>
          </a:xfrm>
          <a:prstGeom prst="rect">
            <a:avLst/>
          </a:prstGeom>
          <a:noFill/>
        </p:spPr>
        <p:txBody>
          <a:bodyPr wrap="square">
            <a:spAutoFit/>
          </a:bodyPr>
          <a:lstStyle/>
          <a:p>
            <a:r>
              <a:rPr lang="en-US" dirty="0"/>
              <a:t>Manhattan distance </a:t>
            </a:r>
          </a:p>
        </p:txBody>
      </p:sp>
      <p:pic>
        <p:nvPicPr>
          <p:cNvPr id="16" name="Paveikslėlis 15" descr="Paveikslėlis, kuriame yra linija, diagrama, Grafikas, tekstas&#10;&#10;Dirbtinio intelekto sugeneruotas turinys gali būti neteisingas.">
            <a:extLst>
              <a:ext uri="{FF2B5EF4-FFF2-40B4-BE49-F238E27FC236}">
                <a16:creationId xmlns:a16="http://schemas.microsoft.com/office/drawing/2014/main" id="{E78290EA-8C3A-875B-11E7-4C95148920EB}"/>
              </a:ext>
            </a:extLst>
          </p:cNvPr>
          <p:cNvPicPr>
            <a:picLocks noChangeAspect="1"/>
          </p:cNvPicPr>
          <p:nvPr/>
        </p:nvPicPr>
        <p:blipFill>
          <a:blip r:embed="rId4"/>
          <a:stretch>
            <a:fillRect/>
          </a:stretch>
        </p:blipFill>
        <p:spPr>
          <a:xfrm>
            <a:off x="7921032" y="1735156"/>
            <a:ext cx="3754601" cy="2895440"/>
          </a:xfrm>
          <a:prstGeom prst="rect">
            <a:avLst/>
          </a:prstGeom>
        </p:spPr>
      </p:pic>
    </p:spTree>
    <p:extLst>
      <p:ext uri="{BB962C8B-B14F-4D97-AF65-F5344CB8AC3E}">
        <p14:creationId xmlns:p14="http://schemas.microsoft.com/office/powerpoint/2010/main" val="3235382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166E7-BDFD-C571-4B8B-C7C5D0A304A2}"/>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E9EC8A53-BDB0-32B7-1F4F-938B511CA623}"/>
              </a:ext>
            </a:extLst>
          </p:cNvPr>
          <p:cNvSpPr>
            <a:spLocks noGrp="1"/>
          </p:cNvSpPr>
          <p:nvPr>
            <p:ph type="title"/>
          </p:nvPr>
        </p:nvSpPr>
        <p:spPr/>
        <p:txBody>
          <a:bodyPr/>
          <a:lstStyle/>
          <a:p>
            <a:r>
              <a:rPr lang="lt-LT" dirty="0"/>
              <a:t>HIERARCHICAL CLUSTERING</a:t>
            </a:r>
          </a:p>
        </p:txBody>
      </p:sp>
      <p:sp>
        <p:nvSpPr>
          <p:cNvPr id="3" name="TextBox 2">
            <a:extLst>
              <a:ext uri="{FF2B5EF4-FFF2-40B4-BE49-F238E27FC236}">
                <a16:creationId xmlns:a16="http://schemas.microsoft.com/office/drawing/2014/main" id="{471C9680-F159-6CF8-E123-2B9500FC4BC3}"/>
              </a:ext>
            </a:extLst>
          </p:cNvPr>
          <p:cNvSpPr txBox="1"/>
          <p:nvPr/>
        </p:nvSpPr>
        <p:spPr>
          <a:xfrm>
            <a:off x="1278194" y="1365778"/>
            <a:ext cx="9006348" cy="369332"/>
          </a:xfrm>
          <a:prstGeom prst="rect">
            <a:avLst/>
          </a:prstGeom>
          <a:noFill/>
        </p:spPr>
        <p:txBody>
          <a:bodyPr wrap="square">
            <a:spAutoFit/>
          </a:bodyPr>
          <a:lstStyle/>
          <a:p>
            <a:r>
              <a:rPr lang="en-US" dirty="0"/>
              <a:t>STEP 1: Find the two closest points, and group them into a cluster </a:t>
            </a:r>
            <a:endParaRPr lang="lt-LT" dirty="0"/>
          </a:p>
        </p:txBody>
      </p:sp>
      <p:pic>
        <p:nvPicPr>
          <p:cNvPr id="7" name="Paveikslėlis 6" descr="Paveikslėlis, kuriame yra diagrama, linija, Techninis brėžinys, Planas&#10;&#10;Dirbtinio intelekto sugeneruotas turinys gali būti neteisingas.">
            <a:extLst>
              <a:ext uri="{FF2B5EF4-FFF2-40B4-BE49-F238E27FC236}">
                <a16:creationId xmlns:a16="http://schemas.microsoft.com/office/drawing/2014/main" id="{FF9A7603-CA81-9A4E-DD8E-9E1DB9FC0B5C}"/>
              </a:ext>
            </a:extLst>
          </p:cNvPr>
          <p:cNvPicPr>
            <a:picLocks noChangeAspect="1"/>
          </p:cNvPicPr>
          <p:nvPr/>
        </p:nvPicPr>
        <p:blipFill>
          <a:blip r:embed="rId2"/>
          <a:stretch>
            <a:fillRect/>
          </a:stretch>
        </p:blipFill>
        <p:spPr>
          <a:xfrm>
            <a:off x="285677" y="2996742"/>
            <a:ext cx="5299045" cy="2495480"/>
          </a:xfrm>
          <a:prstGeom prst="rect">
            <a:avLst/>
          </a:prstGeom>
        </p:spPr>
      </p:pic>
      <p:pic>
        <p:nvPicPr>
          <p:cNvPr id="10" name="Paveikslėlis 9" descr="Paveikslėlis, kuriame yra diagrama, linija, Grafikas, Planas&#10;&#10;Dirbtinio intelekto sugeneruotas turinys gali būti neteisingas.">
            <a:extLst>
              <a:ext uri="{FF2B5EF4-FFF2-40B4-BE49-F238E27FC236}">
                <a16:creationId xmlns:a16="http://schemas.microsoft.com/office/drawing/2014/main" id="{5248D59A-52AD-936A-B019-77E4E7F9F676}"/>
              </a:ext>
            </a:extLst>
          </p:cNvPr>
          <p:cNvPicPr>
            <a:picLocks noChangeAspect="1"/>
          </p:cNvPicPr>
          <p:nvPr/>
        </p:nvPicPr>
        <p:blipFill>
          <a:blip r:embed="rId3"/>
          <a:stretch>
            <a:fillRect/>
          </a:stretch>
        </p:blipFill>
        <p:spPr>
          <a:xfrm>
            <a:off x="5781368" y="2691341"/>
            <a:ext cx="6360254" cy="2824003"/>
          </a:xfrm>
          <a:prstGeom prst="rect">
            <a:avLst/>
          </a:prstGeom>
        </p:spPr>
      </p:pic>
    </p:spTree>
    <p:extLst>
      <p:ext uri="{BB962C8B-B14F-4D97-AF65-F5344CB8AC3E}">
        <p14:creationId xmlns:p14="http://schemas.microsoft.com/office/powerpoint/2010/main" val="3390553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0D2C9-76A0-ACDE-82F0-540BEE29FD7A}"/>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4F1CF4F3-FF73-21D6-B347-597729A7D9D2}"/>
              </a:ext>
            </a:extLst>
          </p:cNvPr>
          <p:cNvSpPr>
            <a:spLocks noGrp="1"/>
          </p:cNvSpPr>
          <p:nvPr>
            <p:ph type="title"/>
          </p:nvPr>
        </p:nvSpPr>
        <p:spPr/>
        <p:txBody>
          <a:bodyPr/>
          <a:lstStyle/>
          <a:p>
            <a:r>
              <a:rPr lang="lt-LT" dirty="0"/>
              <a:t>HIERARCHICAL CLUSTERING</a:t>
            </a:r>
          </a:p>
        </p:txBody>
      </p:sp>
      <p:sp>
        <p:nvSpPr>
          <p:cNvPr id="3" name="TextBox 2">
            <a:extLst>
              <a:ext uri="{FF2B5EF4-FFF2-40B4-BE49-F238E27FC236}">
                <a16:creationId xmlns:a16="http://schemas.microsoft.com/office/drawing/2014/main" id="{4593372F-5989-EF9B-A5AC-98780F96D83C}"/>
              </a:ext>
            </a:extLst>
          </p:cNvPr>
          <p:cNvSpPr txBox="1"/>
          <p:nvPr/>
        </p:nvSpPr>
        <p:spPr>
          <a:xfrm>
            <a:off x="1278194" y="1365778"/>
            <a:ext cx="9006348" cy="369332"/>
          </a:xfrm>
          <a:prstGeom prst="rect">
            <a:avLst/>
          </a:prstGeom>
          <a:noFill/>
        </p:spPr>
        <p:txBody>
          <a:bodyPr wrap="square">
            <a:spAutoFit/>
          </a:bodyPr>
          <a:lstStyle/>
          <a:p>
            <a:r>
              <a:rPr lang="en-US" dirty="0"/>
              <a:t>STEP 2: Find the next two closest points/clusters, and group them together</a:t>
            </a:r>
            <a:endParaRPr lang="lt-LT" dirty="0"/>
          </a:p>
        </p:txBody>
      </p:sp>
      <p:pic>
        <p:nvPicPr>
          <p:cNvPr id="10" name="Paveikslėlis 9" descr="Paveikslėlis, kuriame yra diagrama, linija, Grafikas, Planas&#10;&#10;Dirbtinio intelekto sugeneruotas turinys gali būti neteisingas.">
            <a:extLst>
              <a:ext uri="{FF2B5EF4-FFF2-40B4-BE49-F238E27FC236}">
                <a16:creationId xmlns:a16="http://schemas.microsoft.com/office/drawing/2014/main" id="{AAB6F483-7A92-EAB4-BBB9-9F52A69AB935}"/>
              </a:ext>
            </a:extLst>
          </p:cNvPr>
          <p:cNvPicPr>
            <a:picLocks noChangeAspect="1"/>
          </p:cNvPicPr>
          <p:nvPr/>
        </p:nvPicPr>
        <p:blipFill>
          <a:blip r:embed="rId2"/>
          <a:stretch>
            <a:fillRect/>
          </a:stretch>
        </p:blipFill>
        <p:spPr>
          <a:xfrm>
            <a:off x="403123" y="1714655"/>
            <a:ext cx="6360254" cy="2824003"/>
          </a:xfrm>
          <a:prstGeom prst="rect">
            <a:avLst/>
          </a:prstGeom>
        </p:spPr>
      </p:pic>
      <p:pic>
        <p:nvPicPr>
          <p:cNvPr id="5" name="Paveikslėlis 4" descr="Paveikslėlis, kuriame yra diagrama, linija, Grafikas, Planas&#10;&#10;Dirbtinio intelekto sugeneruotas turinys gali būti neteisingas.">
            <a:extLst>
              <a:ext uri="{FF2B5EF4-FFF2-40B4-BE49-F238E27FC236}">
                <a16:creationId xmlns:a16="http://schemas.microsoft.com/office/drawing/2014/main" id="{0E485099-FC21-C20C-99C0-56F4D16CFCE9}"/>
              </a:ext>
            </a:extLst>
          </p:cNvPr>
          <p:cNvPicPr>
            <a:picLocks noChangeAspect="1"/>
          </p:cNvPicPr>
          <p:nvPr/>
        </p:nvPicPr>
        <p:blipFill>
          <a:blip r:embed="rId3"/>
          <a:stretch>
            <a:fillRect/>
          </a:stretch>
        </p:blipFill>
        <p:spPr>
          <a:xfrm>
            <a:off x="5323834" y="4555129"/>
            <a:ext cx="5806525" cy="2302871"/>
          </a:xfrm>
          <a:prstGeom prst="rect">
            <a:avLst/>
          </a:prstGeom>
        </p:spPr>
      </p:pic>
    </p:spTree>
    <p:extLst>
      <p:ext uri="{BB962C8B-B14F-4D97-AF65-F5344CB8AC3E}">
        <p14:creationId xmlns:p14="http://schemas.microsoft.com/office/powerpoint/2010/main" val="4219988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502A3-846E-68EF-F986-8368843BE49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96FC6074-1C34-9BBA-A6FA-667C80C4D68C}"/>
              </a:ext>
            </a:extLst>
          </p:cNvPr>
          <p:cNvSpPr>
            <a:spLocks noGrp="1"/>
          </p:cNvSpPr>
          <p:nvPr>
            <p:ph type="title"/>
          </p:nvPr>
        </p:nvSpPr>
        <p:spPr/>
        <p:txBody>
          <a:bodyPr/>
          <a:lstStyle/>
          <a:p>
            <a:r>
              <a:rPr lang="lt-LT" dirty="0"/>
              <a:t>HIERARCHICAL CLUSTERING</a:t>
            </a:r>
          </a:p>
        </p:txBody>
      </p:sp>
      <p:sp>
        <p:nvSpPr>
          <p:cNvPr id="3" name="TextBox 2">
            <a:extLst>
              <a:ext uri="{FF2B5EF4-FFF2-40B4-BE49-F238E27FC236}">
                <a16:creationId xmlns:a16="http://schemas.microsoft.com/office/drawing/2014/main" id="{BA1B9D5D-B98D-7FD4-51C9-415858076301}"/>
              </a:ext>
            </a:extLst>
          </p:cNvPr>
          <p:cNvSpPr txBox="1"/>
          <p:nvPr/>
        </p:nvSpPr>
        <p:spPr>
          <a:xfrm>
            <a:off x="1278194" y="1365778"/>
            <a:ext cx="9006348" cy="369332"/>
          </a:xfrm>
          <a:prstGeom prst="rect">
            <a:avLst/>
          </a:prstGeom>
          <a:noFill/>
        </p:spPr>
        <p:txBody>
          <a:bodyPr wrap="square">
            <a:spAutoFit/>
          </a:bodyPr>
          <a:lstStyle/>
          <a:p>
            <a:r>
              <a:rPr lang="en-US" dirty="0"/>
              <a:t>STEP 3: Repeat the process until all points are part of the same cluster</a:t>
            </a:r>
            <a:endParaRPr lang="lt-LT" dirty="0"/>
          </a:p>
        </p:txBody>
      </p:sp>
      <p:pic>
        <p:nvPicPr>
          <p:cNvPr id="5" name="Paveikslėlis 4" descr="Paveikslėlis, kuriame yra diagrama, linija, Grafikas, Planas&#10;&#10;Dirbtinio intelekto sugeneruotas turinys gali būti neteisingas.">
            <a:extLst>
              <a:ext uri="{FF2B5EF4-FFF2-40B4-BE49-F238E27FC236}">
                <a16:creationId xmlns:a16="http://schemas.microsoft.com/office/drawing/2014/main" id="{D7B0CE85-24DA-C337-1158-6F9FC419FF71}"/>
              </a:ext>
            </a:extLst>
          </p:cNvPr>
          <p:cNvPicPr>
            <a:picLocks noChangeAspect="1"/>
          </p:cNvPicPr>
          <p:nvPr/>
        </p:nvPicPr>
        <p:blipFill>
          <a:blip r:embed="rId2"/>
          <a:stretch>
            <a:fillRect/>
          </a:stretch>
        </p:blipFill>
        <p:spPr>
          <a:xfrm>
            <a:off x="594517" y="2820020"/>
            <a:ext cx="5806525" cy="2302871"/>
          </a:xfrm>
          <a:prstGeom prst="rect">
            <a:avLst/>
          </a:prstGeom>
        </p:spPr>
      </p:pic>
      <p:pic>
        <p:nvPicPr>
          <p:cNvPr id="6" name="Paveikslėlis 5" descr="Paveikslėlis, kuriame yra diagrama, linija, Grafikas&#10;&#10;Dirbtinio intelekto sugeneruotas turinys gali būti neteisingas.">
            <a:extLst>
              <a:ext uri="{FF2B5EF4-FFF2-40B4-BE49-F238E27FC236}">
                <a16:creationId xmlns:a16="http://schemas.microsoft.com/office/drawing/2014/main" id="{5F001397-3286-990E-AC82-0C4B6C0E64E9}"/>
              </a:ext>
            </a:extLst>
          </p:cNvPr>
          <p:cNvPicPr>
            <a:picLocks noChangeAspect="1"/>
          </p:cNvPicPr>
          <p:nvPr/>
        </p:nvPicPr>
        <p:blipFill>
          <a:blip r:embed="rId3"/>
          <a:stretch>
            <a:fillRect/>
          </a:stretch>
        </p:blipFill>
        <p:spPr>
          <a:xfrm>
            <a:off x="6401042" y="2864442"/>
            <a:ext cx="5535324" cy="2246374"/>
          </a:xfrm>
          <a:prstGeom prst="rect">
            <a:avLst/>
          </a:prstGeom>
        </p:spPr>
      </p:pic>
    </p:spTree>
    <p:extLst>
      <p:ext uri="{BB962C8B-B14F-4D97-AF65-F5344CB8AC3E}">
        <p14:creationId xmlns:p14="http://schemas.microsoft.com/office/powerpoint/2010/main" val="3744405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BBC0-B3D5-4451-2491-ABE06C644C5E}"/>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32F934D7-98CD-2870-034A-217C8B545F72}"/>
              </a:ext>
            </a:extLst>
          </p:cNvPr>
          <p:cNvSpPr>
            <a:spLocks noGrp="1"/>
          </p:cNvSpPr>
          <p:nvPr>
            <p:ph type="title"/>
          </p:nvPr>
        </p:nvSpPr>
        <p:spPr>
          <a:xfrm>
            <a:off x="719514" y="40215"/>
            <a:ext cx="10515600" cy="1325563"/>
          </a:xfrm>
        </p:spPr>
        <p:txBody>
          <a:bodyPr/>
          <a:lstStyle/>
          <a:p>
            <a:r>
              <a:rPr lang="lt-LT" dirty="0"/>
              <a:t>HIERARCHICAL CLUSTERING</a:t>
            </a:r>
          </a:p>
        </p:txBody>
      </p:sp>
      <p:sp>
        <p:nvSpPr>
          <p:cNvPr id="3" name="TextBox 2">
            <a:extLst>
              <a:ext uri="{FF2B5EF4-FFF2-40B4-BE49-F238E27FC236}">
                <a16:creationId xmlns:a16="http://schemas.microsoft.com/office/drawing/2014/main" id="{9465ABC5-267A-F339-CD38-5996A170F05D}"/>
              </a:ext>
            </a:extLst>
          </p:cNvPr>
          <p:cNvSpPr txBox="1"/>
          <p:nvPr/>
        </p:nvSpPr>
        <p:spPr>
          <a:xfrm>
            <a:off x="1278194" y="1365778"/>
            <a:ext cx="9006348" cy="369332"/>
          </a:xfrm>
          <a:prstGeom prst="rect">
            <a:avLst/>
          </a:prstGeom>
          <a:noFill/>
        </p:spPr>
        <p:txBody>
          <a:bodyPr wrap="square">
            <a:spAutoFit/>
          </a:bodyPr>
          <a:lstStyle/>
          <a:p>
            <a:r>
              <a:rPr lang="en-US" dirty="0"/>
              <a:t>STEP 3: Repeat the process until all points are part of the same cluster</a:t>
            </a:r>
            <a:endParaRPr lang="lt-LT" dirty="0"/>
          </a:p>
        </p:txBody>
      </p:sp>
      <p:pic>
        <p:nvPicPr>
          <p:cNvPr id="7" name="Paveikslėlis 6" descr="Paveikslėlis, kuriame yra linija, diagrama, Grafikas&#10;&#10;Dirbtinio intelekto sugeneruotas turinys gali būti neteisingas.">
            <a:extLst>
              <a:ext uri="{FF2B5EF4-FFF2-40B4-BE49-F238E27FC236}">
                <a16:creationId xmlns:a16="http://schemas.microsoft.com/office/drawing/2014/main" id="{4A9CD59C-E5E5-0025-0D5E-50F3A3E63B48}"/>
              </a:ext>
            </a:extLst>
          </p:cNvPr>
          <p:cNvPicPr>
            <a:picLocks noChangeAspect="1"/>
          </p:cNvPicPr>
          <p:nvPr/>
        </p:nvPicPr>
        <p:blipFill>
          <a:blip r:embed="rId2"/>
          <a:stretch>
            <a:fillRect/>
          </a:stretch>
        </p:blipFill>
        <p:spPr>
          <a:xfrm>
            <a:off x="719514" y="1690688"/>
            <a:ext cx="3508357" cy="2497474"/>
          </a:xfrm>
          <a:prstGeom prst="rect">
            <a:avLst/>
          </a:prstGeom>
        </p:spPr>
      </p:pic>
      <p:pic>
        <p:nvPicPr>
          <p:cNvPr id="9" name="Paveikslėlis 8" descr="Paveikslėlis, kuriame yra linija, diagrama, Grafikas&#10;&#10;Dirbtinio intelekto sugeneruotas turinys gali būti neteisingas.">
            <a:extLst>
              <a:ext uri="{FF2B5EF4-FFF2-40B4-BE49-F238E27FC236}">
                <a16:creationId xmlns:a16="http://schemas.microsoft.com/office/drawing/2014/main" id="{E2C08539-FDC9-623B-EB9D-BC050C8672CB}"/>
              </a:ext>
            </a:extLst>
          </p:cNvPr>
          <p:cNvPicPr>
            <a:picLocks noChangeAspect="1"/>
          </p:cNvPicPr>
          <p:nvPr/>
        </p:nvPicPr>
        <p:blipFill>
          <a:blip r:embed="rId3"/>
          <a:stretch>
            <a:fillRect/>
          </a:stretch>
        </p:blipFill>
        <p:spPr>
          <a:xfrm>
            <a:off x="4439097" y="1668524"/>
            <a:ext cx="3193026" cy="2630554"/>
          </a:xfrm>
          <a:prstGeom prst="rect">
            <a:avLst/>
          </a:prstGeom>
        </p:spPr>
      </p:pic>
      <p:sp>
        <p:nvSpPr>
          <p:cNvPr id="11" name="TextBox 10">
            <a:extLst>
              <a:ext uri="{FF2B5EF4-FFF2-40B4-BE49-F238E27FC236}">
                <a16:creationId xmlns:a16="http://schemas.microsoft.com/office/drawing/2014/main" id="{F8B8DCD0-4FEA-E955-FB11-0FABF5A4F917}"/>
              </a:ext>
            </a:extLst>
          </p:cNvPr>
          <p:cNvSpPr txBox="1"/>
          <p:nvPr/>
        </p:nvSpPr>
        <p:spPr>
          <a:xfrm>
            <a:off x="8627806" y="4738549"/>
            <a:ext cx="3313471" cy="1754326"/>
          </a:xfrm>
          <a:prstGeom prst="rect">
            <a:avLst/>
          </a:prstGeom>
          <a:noFill/>
        </p:spPr>
        <p:txBody>
          <a:bodyPr wrap="square">
            <a:spAutoFit/>
          </a:bodyPr>
          <a:lstStyle/>
          <a:p>
            <a:r>
              <a:rPr lang="en-US" dirty="0"/>
              <a:t>How do you define distance between clusters? </a:t>
            </a:r>
          </a:p>
          <a:p>
            <a:r>
              <a:rPr lang="lt-LT" b="1" dirty="0" err="1"/>
              <a:t>Single</a:t>
            </a:r>
            <a:r>
              <a:rPr lang="lt-LT" b="1" dirty="0"/>
              <a:t> </a:t>
            </a:r>
            <a:r>
              <a:rPr lang="lt-LT" b="1" dirty="0" err="1"/>
              <a:t>linkage</a:t>
            </a:r>
            <a:r>
              <a:rPr lang="lt-LT" b="1" dirty="0"/>
              <a:t> (</a:t>
            </a:r>
            <a:r>
              <a:rPr lang="lt-LT" b="1" dirty="0" err="1"/>
              <a:t>closest</a:t>
            </a:r>
            <a:r>
              <a:rPr lang="lt-LT" b="1" dirty="0"/>
              <a:t>) </a:t>
            </a:r>
            <a:endParaRPr lang="en-US" b="1" dirty="0"/>
          </a:p>
          <a:p>
            <a:r>
              <a:rPr lang="lt-LT" b="1" dirty="0" err="1"/>
              <a:t>Complete</a:t>
            </a:r>
            <a:r>
              <a:rPr lang="lt-LT" b="1" dirty="0"/>
              <a:t> </a:t>
            </a:r>
            <a:r>
              <a:rPr lang="lt-LT" b="1" dirty="0" err="1"/>
              <a:t>linkage</a:t>
            </a:r>
            <a:r>
              <a:rPr lang="lt-LT" b="1" dirty="0"/>
              <a:t> (</a:t>
            </a:r>
            <a:r>
              <a:rPr lang="lt-LT" b="1" dirty="0" err="1"/>
              <a:t>furthest</a:t>
            </a:r>
            <a:r>
              <a:rPr lang="lt-LT" b="1" dirty="0"/>
              <a:t>)</a:t>
            </a:r>
            <a:endParaRPr lang="en-US" b="1" dirty="0"/>
          </a:p>
          <a:p>
            <a:r>
              <a:rPr lang="lt-LT" b="1" dirty="0" err="1"/>
              <a:t>Average</a:t>
            </a:r>
            <a:r>
              <a:rPr lang="lt-LT" b="1" dirty="0"/>
              <a:t> </a:t>
            </a:r>
            <a:r>
              <a:rPr lang="lt-LT" b="1" dirty="0" err="1"/>
              <a:t>linkage</a:t>
            </a:r>
            <a:r>
              <a:rPr lang="lt-LT" b="1" dirty="0"/>
              <a:t> (</a:t>
            </a:r>
            <a:r>
              <a:rPr lang="lt-LT" b="1" dirty="0" err="1"/>
              <a:t>all</a:t>
            </a:r>
            <a:r>
              <a:rPr lang="lt-LT" b="1" dirty="0"/>
              <a:t> pairs) </a:t>
            </a:r>
            <a:endParaRPr lang="en-US" b="1" dirty="0"/>
          </a:p>
          <a:p>
            <a:r>
              <a:rPr lang="lt-LT" b="1" dirty="0" err="1"/>
              <a:t>Ward’s</a:t>
            </a:r>
            <a:r>
              <a:rPr lang="lt-LT" b="1" dirty="0"/>
              <a:t> </a:t>
            </a:r>
            <a:r>
              <a:rPr lang="lt-LT" b="1" dirty="0" err="1"/>
              <a:t>method</a:t>
            </a:r>
            <a:r>
              <a:rPr lang="lt-LT" b="1" dirty="0"/>
              <a:t> (</a:t>
            </a:r>
            <a:r>
              <a:rPr lang="lt-LT" b="1" dirty="0" err="1"/>
              <a:t>variance</a:t>
            </a:r>
            <a:r>
              <a:rPr lang="lt-LT" b="1" dirty="0"/>
              <a:t>)</a:t>
            </a:r>
          </a:p>
        </p:txBody>
      </p:sp>
      <p:pic>
        <p:nvPicPr>
          <p:cNvPr id="13" name="Paveikslėlis 12" descr="Paveikslėlis, kuriame yra linija, diagrama, Grafikas&#10;&#10;Dirbtinio intelekto sugeneruotas turinys gali būti neteisingas.">
            <a:extLst>
              <a:ext uri="{FF2B5EF4-FFF2-40B4-BE49-F238E27FC236}">
                <a16:creationId xmlns:a16="http://schemas.microsoft.com/office/drawing/2014/main" id="{CD35F254-E931-6FEB-FFCE-FE424335407F}"/>
              </a:ext>
            </a:extLst>
          </p:cNvPr>
          <p:cNvPicPr>
            <a:picLocks noChangeAspect="1"/>
          </p:cNvPicPr>
          <p:nvPr/>
        </p:nvPicPr>
        <p:blipFill>
          <a:blip r:embed="rId4"/>
          <a:stretch>
            <a:fillRect/>
          </a:stretch>
        </p:blipFill>
        <p:spPr>
          <a:xfrm>
            <a:off x="7811025" y="1605881"/>
            <a:ext cx="3508357" cy="2626610"/>
          </a:xfrm>
          <a:prstGeom prst="rect">
            <a:avLst/>
          </a:prstGeom>
        </p:spPr>
      </p:pic>
      <p:pic>
        <p:nvPicPr>
          <p:cNvPr id="15" name="Paveikslėlis 14" descr="Paveikslėlis, kuriame yra diagrama, linija, Grafikas&#10;&#10;Dirbtinio intelekto sugeneruotas turinys gali būti neteisingas.">
            <a:extLst>
              <a:ext uri="{FF2B5EF4-FFF2-40B4-BE49-F238E27FC236}">
                <a16:creationId xmlns:a16="http://schemas.microsoft.com/office/drawing/2014/main" id="{8AD658BC-94DC-76AE-D738-AF041DB213D1}"/>
              </a:ext>
            </a:extLst>
          </p:cNvPr>
          <p:cNvPicPr>
            <a:picLocks noChangeAspect="1"/>
          </p:cNvPicPr>
          <p:nvPr/>
        </p:nvPicPr>
        <p:blipFill>
          <a:blip r:embed="rId5"/>
          <a:stretch>
            <a:fillRect/>
          </a:stretch>
        </p:blipFill>
        <p:spPr>
          <a:xfrm>
            <a:off x="719514" y="4330833"/>
            <a:ext cx="3330667" cy="2322778"/>
          </a:xfrm>
          <a:prstGeom prst="rect">
            <a:avLst/>
          </a:prstGeom>
        </p:spPr>
      </p:pic>
      <p:pic>
        <p:nvPicPr>
          <p:cNvPr id="17" name="Paveikslėlis 16" descr="Paveikslėlis, kuriame yra linija, diagrama, Grafikas&#10;&#10;Dirbtinio intelekto sugeneruotas turinys gali būti neteisingas.">
            <a:extLst>
              <a:ext uri="{FF2B5EF4-FFF2-40B4-BE49-F238E27FC236}">
                <a16:creationId xmlns:a16="http://schemas.microsoft.com/office/drawing/2014/main" id="{07F7BACF-03C8-CC94-BF1F-BD713418DA52}"/>
              </a:ext>
            </a:extLst>
          </p:cNvPr>
          <p:cNvPicPr>
            <a:picLocks noChangeAspect="1"/>
          </p:cNvPicPr>
          <p:nvPr/>
        </p:nvPicPr>
        <p:blipFill>
          <a:blip r:embed="rId6"/>
          <a:stretch>
            <a:fillRect/>
          </a:stretch>
        </p:blipFill>
        <p:spPr>
          <a:xfrm>
            <a:off x="4667865" y="4012163"/>
            <a:ext cx="3781039" cy="2735500"/>
          </a:xfrm>
          <a:prstGeom prst="rect">
            <a:avLst/>
          </a:prstGeom>
        </p:spPr>
      </p:pic>
    </p:spTree>
    <p:extLst>
      <p:ext uri="{BB962C8B-B14F-4D97-AF65-F5344CB8AC3E}">
        <p14:creationId xmlns:p14="http://schemas.microsoft.com/office/powerpoint/2010/main" val="1392712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3A423-53CE-AE3F-CD7B-39ED72B25AA5}"/>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72FD4828-CDD4-78FE-A7A8-821BF0B56DB6}"/>
              </a:ext>
            </a:extLst>
          </p:cNvPr>
          <p:cNvSpPr>
            <a:spLocks noGrp="1"/>
          </p:cNvSpPr>
          <p:nvPr>
            <p:ph type="title"/>
          </p:nvPr>
        </p:nvSpPr>
        <p:spPr/>
        <p:txBody>
          <a:bodyPr/>
          <a:lstStyle/>
          <a:p>
            <a:r>
              <a:rPr lang="lt-LT" dirty="0"/>
              <a:t>HIERARCHICAL CLUSTERING</a:t>
            </a:r>
          </a:p>
        </p:txBody>
      </p:sp>
      <p:sp>
        <p:nvSpPr>
          <p:cNvPr id="3" name="TextBox 2">
            <a:extLst>
              <a:ext uri="{FF2B5EF4-FFF2-40B4-BE49-F238E27FC236}">
                <a16:creationId xmlns:a16="http://schemas.microsoft.com/office/drawing/2014/main" id="{E1C243FF-C402-C2B5-AAE2-68FFCE245E07}"/>
              </a:ext>
            </a:extLst>
          </p:cNvPr>
          <p:cNvSpPr txBox="1"/>
          <p:nvPr/>
        </p:nvSpPr>
        <p:spPr>
          <a:xfrm>
            <a:off x="1278194" y="1365778"/>
            <a:ext cx="9006348" cy="369332"/>
          </a:xfrm>
          <a:prstGeom prst="rect">
            <a:avLst/>
          </a:prstGeom>
          <a:noFill/>
        </p:spPr>
        <p:txBody>
          <a:bodyPr wrap="square">
            <a:spAutoFit/>
          </a:bodyPr>
          <a:lstStyle/>
          <a:p>
            <a:r>
              <a:rPr lang="en-US" dirty="0"/>
              <a:t>STEP 3: Repeat the process until all points are part of the same cluster</a:t>
            </a:r>
            <a:endParaRPr lang="lt-LT" dirty="0"/>
          </a:p>
        </p:txBody>
      </p:sp>
      <p:pic>
        <p:nvPicPr>
          <p:cNvPr id="7" name="Paveikslėlis 6" descr="Paveikslėlis, kuriame yra diagrama, linija, Grafikas&#10;&#10;Dirbtinio intelekto sugeneruotas turinys gali būti neteisingas.">
            <a:extLst>
              <a:ext uri="{FF2B5EF4-FFF2-40B4-BE49-F238E27FC236}">
                <a16:creationId xmlns:a16="http://schemas.microsoft.com/office/drawing/2014/main" id="{7CFF806A-F565-21CF-76C3-4BE22404D921}"/>
              </a:ext>
            </a:extLst>
          </p:cNvPr>
          <p:cNvPicPr>
            <a:picLocks noChangeAspect="1"/>
          </p:cNvPicPr>
          <p:nvPr/>
        </p:nvPicPr>
        <p:blipFill>
          <a:blip r:embed="rId2"/>
          <a:stretch>
            <a:fillRect/>
          </a:stretch>
        </p:blipFill>
        <p:spPr>
          <a:xfrm>
            <a:off x="118662" y="1828801"/>
            <a:ext cx="5807051" cy="2448231"/>
          </a:xfrm>
          <a:prstGeom prst="rect">
            <a:avLst/>
          </a:prstGeom>
        </p:spPr>
      </p:pic>
      <p:pic>
        <p:nvPicPr>
          <p:cNvPr id="9" name="Paveikslėlis 8" descr="Paveikslėlis, kuriame yra diagrama, dizainas&#10;&#10;Dirbtinio intelekto sugeneruotas turinys gali būti neteisingas.">
            <a:extLst>
              <a:ext uri="{FF2B5EF4-FFF2-40B4-BE49-F238E27FC236}">
                <a16:creationId xmlns:a16="http://schemas.microsoft.com/office/drawing/2014/main" id="{0BFD8B8C-9EC0-2702-D01F-10A75994B7E2}"/>
              </a:ext>
            </a:extLst>
          </p:cNvPr>
          <p:cNvPicPr>
            <a:picLocks noChangeAspect="1"/>
          </p:cNvPicPr>
          <p:nvPr/>
        </p:nvPicPr>
        <p:blipFill>
          <a:blip r:embed="rId3"/>
          <a:stretch>
            <a:fillRect/>
          </a:stretch>
        </p:blipFill>
        <p:spPr>
          <a:xfrm>
            <a:off x="6266289" y="1735110"/>
            <a:ext cx="5725466" cy="2580968"/>
          </a:xfrm>
          <a:prstGeom prst="rect">
            <a:avLst/>
          </a:prstGeom>
        </p:spPr>
      </p:pic>
    </p:spTree>
    <p:extLst>
      <p:ext uri="{BB962C8B-B14F-4D97-AF65-F5344CB8AC3E}">
        <p14:creationId xmlns:p14="http://schemas.microsoft.com/office/powerpoint/2010/main" val="393224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21CA7C5-4363-1E8F-5D83-A36A41D371AC}"/>
              </a:ext>
            </a:extLst>
          </p:cNvPr>
          <p:cNvSpPr>
            <a:spLocks noGrp="1"/>
          </p:cNvSpPr>
          <p:nvPr>
            <p:ph type="title"/>
          </p:nvPr>
        </p:nvSpPr>
        <p:spPr/>
        <p:txBody>
          <a:bodyPr/>
          <a:lstStyle/>
          <a:p>
            <a:r>
              <a:rPr lang="lt-LT" dirty="0"/>
              <a:t>DENDROGRAMS IN PYTHON </a:t>
            </a:r>
          </a:p>
        </p:txBody>
      </p:sp>
      <p:sp>
        <p:nvSpPr>
          <p:cNvPr id="4" name="TextBox 3">
            <a:extLst>
              <a:ext uri="{FF2B5EF4-FFF2-40B4-BE49-F238E27FC236}">
                <a16:creationId xmlns:a16="http://schemas.microsoft.com/office/drawing/2014/main" id="{256BC30C-F2CE-7293-B979-624C5F56F990}"/>
              </a:ext>
            </a:extLst>
          </p:cNvPr>
          <p:cNvSpPr txBox="1"/>
          <p:nvPr/>
        </p:nvSpPr>
        <p:spPr>
          <a:xfrm>
            <a:off x="838199" y="1367522"/>
            <a:ext cx="10645877" cy="646331"/>
          </a:xfrm>
          <a:prstGeom prst="rect">
            <a:avLst/>
          </a:prstGeom>
          <a:noFill/>
        </p:spPr>
        <p:txBody>
          <a:bodyPr wrap="square">
            <a:spAutoFit/>
          </a:bodyPr>
          <a:lstStyle/>
          <a:p>
            <a:r>
              <a:rPr lang="en-US" dirty="0"/>
              <a:t>The </a:t>
            </a:r>
            <a:r>
              <a:rPr lang="en-US" b="1" dirty="0"/>
              <a:t>dendrogram() </a:t>
            </a:r>
            <a:r>
              <a:rPr lang="en-US" dirty="0"/>
              <a:t>function within the </a:t>
            </a:r>
            <a:r>
              <a:rPr lang="en-US" b="1" dirty="0" err="1"/>
              <a:t>scipy</a:t>
            </a:r>
            <a:r>
              <a:rPr lang="en-US" dirty="0"/>
              <a:t> library in Python allows you to visualize Hierarchical Clustering clusters </a:t>
            </a:r>
            <a:endParaRPr lang="lt-LT" dirty="0"/>
          </a:p>
        </p:txBody>
      </p:sp>
      <p:pic>
        <p:nvPicPr>
          <p:cNvPr id="6" name="Paveikslėlis 5" descr="Paveikslėlis, kuriame yra tekstas, ekrano kopija, diagrama, linija&#10;&#10;Dirbtinio intelekto sugeneruotas turinys gali būti neteisingas.">
            <a:extLst>
              <a:ext uri="{FF2B5EF4-FFF2-40B4-BE49-F238E27FC236}">
                <a16:creationId xmlns:a16="http://schemas.microsoft.com/office/drawing/2014/main" id="{DEE37971-D8D8-D9F8-B396-45DFE2FA7F25}"/>
              </a:ext>
            </a:extLst>
          </p:cNvPr>
          <p:cNvPicPr>
            <a:picLocks noChangeAspect="1"/>
          </p:cNvPicPr>
          <p:nvPr/>
        </p:nvPicPr>
        <p:blipFill>
          <a:blip r:embed="rId2"/>
          <a:stretch>
            <a:fillRect/>
          </a:stretch>
        </p:blipFill>
        <p:spPr>
          <a:xfrm>
            <a:off x="838199" y="2228213"/>
            <a:ext cx="9231552" cy="4040334"/>
          </a:xfrm>
          <a:prstGeom prst="rect">
            <a:avLst/>
          </a:prstGeom>
        </p:spPr>
      </p:pic>
    </p:spTree>
    <p:extLst>
      <p:ext uri="{BB962C8B-B14F-4D97-AF65-F5344CB8AC3E}">
        <p14:creationId xmlns:p14="http://schemas.microsoft.com/office/powerpoint/2010/main" val="2063568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FDB91C5-5208-9422-BE85-3DF31D6610B7}"/>
              </a:ext>
            </a:extLst>
          </p:cNvPr>
          <p:cNvSpPr>
            <a:spLocks noGrp="1"/>
          </p:cNvSpPr>
          <p:nvPr>
            <p:ph type="title"/>
          </p:nvPr>
        </p:nvSpPr>
        <p:spPr/>
        <p:txBody>
          <a:bodyPr/>
          <a:lstStyle/>
          <a:p>
            <a:r>
              <a:rPr lang="lt-LT" dirty="0"/>
              <a:t>AGGLOMERATIVE CLUSTERING IN PYTHON</a:t>
            </a:r>
          </a:p>
        </p:txBody>
      </p:sp>
      <p:sp>
        <p:nvSpPr>
          <p:cNvPr id="4" name="TextBox 3">
            <a:extLst>
              <a:ext uri="{FF2B5EF4-FFF2-40B4-BE49-F238E27FC236}">
                <a16:creationId xmlns:a16="http://schemas.microsoft.com/office/drawing/2014/main" id="{E48729BB-E3D7-CAFA-DE47-9A00D14CFDD6}"/>
              </a:ext>
            </a:extLst>
          </p:cNvPr>
          <p:cNvSpPr txBox="1"/>
          <p:nvPr/>
        </p:nvSpPr>
        <p:spPr>
          <a:xfrm>
            <a:off x="838199" y="1426128"/>
            <a:ext cx="10704871" cy="646331"/>
          </a:xfrm>
          <a:prstGeom prst="rect">
            <a:avLst/>
          </a:prstGeom>
          <a:noFill/>
        </p:spPr>
        <p:txBody>
          <a:bodyPr wrap="square">
            <a:spAutoFit/>
          </a:bodyPr>
          <a:lstStyle/>
          <a:p>
            <a:r>
              <a:rPr lang="en-US" dirty="0"/>
              <a:t>The </a:t>
            </a:r>
            <a:r>
              <a:rPr lang="en-US" dirty="0" err="1"/>
              <a:t>AgglomerativeClustering</a:t>
            </a:r>
            <a:r>
              <a:rPr lang="en-US" dirty="0"/>
              <a:t>() function within </a:t>
            </a:r>
            <a:r>
              <a:rPr lang="en-US" dirty="0" err="1"/>
              <a:t>sklearn’s</a:t>
            </a:r>
            <a:r>
              <a:rPr lang="en-US" dirty="0"/>
              <a:t> cluster module allows you to perform Hierarchical Clustering in Python </a:t>
            </a:r>
            <a:endParaRPr lang="lt-LT" dirty="0"/>
          </a:p>
        </p:txBody>
      </p:sp>
      <p:pic>
        <p:nvPicPr>
          <p:cNvPr id="6" name="Paveikslėlis 5" descr="Paveikslėlis, kuriame yra tekstas, ekrano kopija, Šriftas, Tinklalapis&#10;&#10;Dirbtinio intelekto sugeneruotas turinys gali būti neteisingas.">
            <a:extLst>
              <a:ext uri="{FF2B5EF4-FFF2-40B4-BE49-F238E27FC236}">
                <a16:creationId xmlns:a16="http://schemas.microsoft.com/office/drawing/2014/main" id="{FC9A0CA0-EA64-F3D4-E724-6FB9B7BCA995}"/>
              </a:ext>
            </a:extLst>
          </p:cNvPr>
          <p:cNvPicPr>
            <a:picLocks noChangeAspect="1"/>
          </p:cNvPicPr>
          <p:nvPr/>
        </p:nvPicPr>
        <p:blipFill>
          <a:blip r:embed="rId2"/>
          <a:stretch>
            <a:fillRect/>
          </a:stretch>
        </p:blipFill>
        <p:spPr>
          <a:xfrm>
            <a:off x="755863" y="1996448"/>
            <a:ext cx="10869542" cy="4496427"/>
          </a:xfrm>
          <a:prstGeom prst="rect">
            <a:avLst/>
          </a:prstGeom>
        </p:spPr>
      </p:pic>
    </p:spTree>
    <p:extLst>
      <p:ext uri="{BB962C8B-B14F-4D97-AF65-F5344CB8AC3E}">
        <p14:creationId xmlns:p14="http://schemas.microsoft.com/office/powerpoint/2010/main" val="4248007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C91A-F034-FD85-0807-32BC815C0C76}"/>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9E69E1BE-E79C-AE7D-9E6F-E162E5D0A36D}"/>
              </a:ext>
            </a:extLst>
          </p:cNvPr>
          <p:cNvSpPr>
            <a:spLocks noGrp="1"/>
          </p:cNvSpPr>
          <p:nvPr>
            <p:ph type="title"/>
          </p:nvPr>
        </p:nvSpPr>
        <p:spPr/>
        <p:txBody>
          <a:bodyPr/>
          <a:lstStyle/>
          <a:p>
            <a:r>
              <a:rPr lang="lt-LT" dirty="0"/>
              <a:t>AGGLOMERATIVE CLUSTERING IN PYTHON</a:t>
            </a:r>
          </a:p>
        </p:txBody>
      </p:sp>
      <p:sp>
        <p:nvSpPr>
          <p:cNvPr id="4" name="TextBox 3">
            <a:extLst>
              <a:ext uri="{FF2B5EF4-FFF2-40B4-BE49-F238E27FC236}">
                <a16:creationId xmlns:a16="http://schemas.microsoft.com/office/drawing/2014/main" id="{656385F6-759D-F8AE-BB27-8BE9291328F5}"/>
              </a:ext>
            </a:extLst>
          </p:cNvPr>
          <p:cNvSpPr txBox="1"/>
          <p:nvPr/>
        </p:nvSpPr>
        <p:spPr>
          <a:xfrm>
            <a:off x="838199" y="1426128"/>
            <a:ext cx="10704871" cy="646331"/>
          </a:xfrm>
          <a:prstGeom prst="rect">
            <a:avLst/>
          </a:prstGeom>
          <a:noFill/>
        </p:spPr>
        <p:txBody>
          <a:bodyPr wrap="square">
            <a:spAutoFit/>
          </a:bodyPr>
          <a:lstStyle/>
          <a:p>
            <a:r>
              <a:rPr lang="en-US" dirty="0"/>
              <a:t>The </a:t>
            </a:r>
            <a:r>
              <a:rPr lang="en-US" dirty="0" err="1"/>
              <a:t>AgglomerativeClustering</a:t>
            </a:r>
            <a:r>
              <a:rPr lang="en-US" dirty="0"/>
              <a:t>() function within </a:t>
            </a:r>
            <a:r>
              <a:rPr lang="en-US" dirty="0" err="1"/>
              <a:t>sklearn’s</a:t>
            </a:r>
            <a:r>
              <a:rPr lang="en-US" dirty="0"/>
              <a:t> cluster module allows to perform Hierarchical Clustering in Python </a:t>
            </a:r>
            <a:endParaRPr lang="lt-LT" dirty="0"/>
          </a:p>
        </p:txBody>
      </p:sp>
      <p:pic>
        <p:nvPicPr>
          <p:cNvPr id="5" name="Paveikslėlis 4" descr="Paveikslėlis, kuriame yra tekstas, elektronika, ekrano kopija, Šriftas&#10;&#10;Dirbtinio intelekto sugeneruotas turinys gali būti neteisingas.">
            <a:extLst>
              <a:ext uri="{FF2B5EF4-FFF2-40B4-BE49-F238E27FC236}">
                <a16:creationId xmlns:a16="http://schemas.microsoft.com/office/drawing/2014/main" id="{B68B2520-5C96-6A36-BDD5-CEB8EC93846E}"/>
              </a:ext>
            </a:extLst>
          </p:cNvPr>
          <p:cNvPicPr>
            <a:picLocks noChangeAspect="1"/>
          </p:cNvPicPr>
          <p:nvPr/>
        </p:nvPicPr>
        <p:blipFill>
          <a:blip r:embed="rId2"/>
          <a:stretch>
            <a:fillRect/>
          </a:stretch>
        </p:blipFill>
        <p:spPr>
          <a:xfrm>
            <a:off x="838198" y="2072459"/>
            <a:ext cx="9387350" cy="4436252"/>
          </a:xfrm>
          <a:prstGeom prst="rect">
            <a:avLst/>
          </a:prstGeom>
        </p:spPr>
      </p:pic>
    </p:spTree>
    <p:extLst>
      <p:ext uri="{BB962C8B-B14F-4D97-AF65-F5344CB8AC3E}">
        <p14:creationId xmlns:p14="http://schemas.microsoft.com/office/powerpoint/2010/main" val="4278369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E036C17-8412-B1C6-75C3-89C3F5BD6E06}"/>
              </a:ext>
            </a:extLst>
          </p:cNvPr>
          <p:cNvSpPr>
            <a:spLocks noGrp="1"/>
          </p:cNvSpPr>
          <p:nvPr>
            <p:ph type="title"/>
          </p:nvPr>
        </p:nvSpPr>
        <p:spPr/>
        <p:txBody>
          <a:bodyPr/>
          <a:lstStyle/>
          <a:p>
            <a:r>
              <a:rPr lang="lt-LT" dirty="0"/>
              <a:t>CLUSTER MAPS IN PYTHON</a:t>
            </a:r>
          </a:p>
        </p:txBody>
      </p:sp>
      <p:sp>
        <p:nvSpPr>
          <p:cNvPr id="4" name="TextBox 3">
            <a:extLst>
              <a:ext uri="{FF2B5EF4-FFF2-40B4-BE49-F238E27FC236}">
                <a16:creationId xmlns:a16="http://schemas.microsoft.com/office/drawing/2014/main" id="{D63405BE-4A7E-799D-9D05-E06662A060BD}"/>
              </a:ext>
            </a:extLst>
          </p:cNvPr>
          <p:cNvSpPr txBox="1"/>
          <p:nvPr/>
        </p:nvSpPr>
        <p:spPr>
          <a:xfrm>
            <a:off x="914400" y="1544964"/>
            <a:ext cx="10726994" cy="646331"/>
          </a:xfrm>
          <a:prstGeom prst="rect">
            <a:avLst/>
          </a:prstGeom>
          <a:noFill/>
        </p:spPr>
        <p:txBody>
          <a:bodyPr wrap="square">
            <a:spAutoFit/>
          </a:bodyPr>
          <a:lstStyle/>
          <a:p>
            <a:r>
              <a:rPr lang="en-US" dirty="0"/>
              <a:t>Seaborn’s </a:t>
            </a:r>
            <a:r>
              <a:rPr lang="en-US" b="1" dirty="0" err="1"/>
              <a:t>clustermap</a:t>
            </a:r>
            <a:r>
              <a:rPr lang="en-US" b="1" dirty="0"/>
              <a:t>() </a:t>
            </a:r>
            <a:r>
              <a:rPr lang="en-US" dirty="0"/>
              <a:t>function adds a heatmap on top of the dendrogram, which helps visually interpret each cluster </a:t>
            </a:r>
            <a:endParaRPr lang="lt-LT" dirty="0"/>
          </a:p>
        </p:txBody>
      </p:sp>
      <p:pic>
        <p:nvPicPr>
          <p:cNvPr id="6" name="Paveikslėlis 5" descr="Paveikslėlis, kuriame yra tekstas, ekrano kopija, programinė įranga, Tinklalapis&#10;&#10;Dirbtinio intelekto sugeneruotas turinys gali būti neteisingas.">
            <a:extLst>
              <a:ext uri="{FF2B5EF4-FFF2-40B4-BE49-F238E27FC236}">
                <a16:creationId xmlns:a16="http://schemas.microsoft.com/office/drawing/2014/main" id="{26B2CA58-E01B-C9E3-2A15-8FCB56F57D00}"/>
              </a:ext>
            </a:extLst>
          </p:cNvPr>
          <p:cNvPicPr>
            <a:picLocks noChangeAspect="1"/>
          </p:cNvPicPr>
          <p:nvPr/>
        </p:nvPicPr>
        <p:blipFill>
          <a:blip r:embed="rId2"/>
          <a:stretch>
            <a:fillRect/>
          </a:stretch>
        </p:blipFill>
        <p:spPr>
          <a:xfrm>
            <a:off x="1160207" y="2212244"/>
            <a:ext cx="8762926" cy="4595296"/>
          </a:xfrm>
          <a:prstGeom prst="rect">
            <a:avLst/>
          </a:prstGeom>
        </p:spPr>
      </p:pic>
    </p:spTree>
    <p:extLst>
      <p:ext uri="{BB962C8B-B14F-4D97-AF65-F5344CB8AC3E}">
        <p14:creationId xmlns:p14="http://schemas.microsoft.com/office/powerpoint/2010/main" val="2462840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CBDB04B-DD0C-ED4B-4E15-07B93652846D}"/>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DC11BE6B-2879-DF16-72FA-586A0D5D155C}"/>
              </a:ext>
            </a:extLst>
          </p:cNvPr>
          <p:cNvSpPr txBox="1"/>
          <p:nvPr/>
        </p:nvSpPr>
        <p:spPr>
          <a:xfrm>
            <a:off x="838199" y="1563780"/>
            <a:ext cx="10940845" cy="646331"/>
          </a:xfrm>
          <a:prstGeom prst="rect">
            <a:avLst/>
          </a:prstGeom>
          <a:noFill/>
        </p:spPr>
        <p:txBody>
          <a:bodyPr wrap="square">
            <a:spAutoFit/>
          </a:bodyPr>
          <a:lstStyle/>
          <a:p>
            <a:r>
              <a:rPr lang="en-US" dirty="0"/>
              <a:t>DBSCAN (Density-Based Spatial Clustering of Applications with Noise) is a clustering technique that identifies clusters based on the density of data points</a:t>
            </a:r>
            <a:endParaRPr lang="lt-LT" dirty="0"/>
          </a:p>
        </p:txBody>
      </p:sp>
      <p:pic>
        <p:nvPicPr>
          <p:cNvPr id="6" name="Paveikslėlis 5" descr="Paveikslėlis, kuriame yra diagrama&#10;&#10;Dirbtinio intelekto sugeneruotas turinys gali būti neteisingas.">
            <a:extLst>
              <a:ext uri="{FF2B5EF4-FFF2-40B4-BE49-F238E27FC236}">
                <a16:creationId xmlns:a16="http://schemas.microsoft.com/office/drawing/2014/main" id="{A83D2D06-0B43-DBD6-3248-8B129993C909}"/>
              </a:ext>
            </a:extLst>
          </p:cNvPr>
          <p:cNvPicPr>
            <a:picLocks noChangeAspect="1"/>
          </p:cNvPicPr>
          <p:nvPr/>
        </p:nvPicPr>
        <p:blipFill>
          <a:blip r:embed="rId2"/>
          <a:stretch>
            <a:fillRect/>
          </a:stretch>
        </p:blipFill>
        <p:spPr>
          <a:xfrm>
            <a:off x="2564221" y="2520396"/>
            <a:ext cx="6611273" cy="3972479"/>
          </a:xfrm>
          <a:prstGeom prst="rect">
            <a:avLst/>
          </a:prstGeom>
        </p:spPr>
      </p:pic>
    </p:spTree>
    <p:extLst>
      <p:ext uri="{BB962C8B-B14F-4D97-AF65-F5344CB8AC3E}">
        <p14:creationId xmlns:p14="http://schemas.microsoft.com/office/powerpoint/2010/main" val="808778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7571F-0F9C-1FF7-DA0F-59A84B371DBD}"/>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22493602-4431-BC83-6346-34D727D6087B}"/>
              </a:ext>
            </a:extLst>
          </p:cNvPr>
          <p:cNvSpPr>
            <a:spLocks noGrp="1"/>
          </p:cNvSpPr>
          <p:nvPr>
            <p:ph type="title"/>
          </p:nvPr>
        </p:nvSpPr>
        <p:spPr/>
        <p:txBody>
          <a:bodyPr/>
          <a:lstStyle/>
          <a:p>
            <a:r>
              <a:rPr lang="lt-LT" dirty="0"/>
              <a:t>DBSCAN</a:t>
            </a:r>
          </a:p>
        </p:txBody>
      </p:sp>
      <p:sp>
        <p:nvSpPr>
          <p:cNvPr id="5" name="TextBox 4">
            <a:extLst>
              <a:ext uri="{FF2B5EF4-FFF2-40B4-BE49-F238E27FC236}">
                <a16:creationId xmlns:a16="http://schemas.microsoft.com/office/drawing/2014/main" id="{97750201-ADEC-5E2D-1BA6-2E8493E9649D}"/>
              </a:ext>
            </a:extLst>
          </p:cNvPr>
          <p:cNvSpPr txBox="1"/>
          <p:nvPr/>
        </p:nvSpPr>
        <p:spPr>
          <a:xfrm>
            <a:off x="838198" y="1582255"/>
            <a:ext cx="8809703" cy="4524315"/>
          </a:xfrm>
          <a:prstGeom prst="rect">
            <a:avLst/>
          </a:prstGeom>
          <a:noFill/>
        </p:spPr>
        <p:txBody>
          <a:bodyPr wrap="square">
            <a:spAutoFit/>
          </a:bodyPr>
          <a:lstStyle/>
          <a:p>
            <a:r>
              <a:rPr lang="en-US" dirty="0"/>
              <a:t>DBSCAN (Density-Based Spatial Clustering of Applications with Noise) is a clustering technique that identifies clusters based on the density of data points</a:t>
            </a:r>
            <a:endParaRPr lang="lt-LT" dirty="0"/>
          </a:p>
          <a:p>
            <a:endParaRPr lang="en-US" dirty="0"/>
          </a:p>
          <a:p>
            <a:r>
              <a:rPr lang="lt-LT" dirty="0" err="1"/>
              <a:t>Here’s</a:t>
            </a:r>
            <a:r>
              <a:rPr lang="lt-LT" dirty="0"/>
              <a:t> </a:t>
            </a:r>
            <a:r>
              <a:rPr lang="lt-LT" dirty="0" err="1"/>
              <a:t>how</a:t>
            </a:r>
            <a:r>
              <a:rPr lang="lt-LT" dirty="0"/>
              <a:t> it </a:t>
            </a:r>
            <a:r>
              <a:rPr lang="lt-LT" dirty="0" err="1"/>
              <a:t>works</a:t>
            </a:r>
            <a:r>
              <a:rPr lang="lt-LT" dirty="0"/>
              <a:t>:</a:t>
            </a:r>
            <a:endParaRPr lang="en-US" dirty="0"/>
          </a:p>
          <a:p>
            <a:pPr marL="342900" indent="-342900">
              <a:buAutoNum type="arabicPeriod"/>
            </a:pPr>
            <a:r>
              <a:rPr lang="en-US" dirty="0"/>
              <a:t>Select </a:t>
            </a:r>
            <a:r>
              <a:rPr lang="en-US" b="1" dirty="0"/>
              <a:t>a radius (eps) </a:t>
            </a:r>
            <a:r>
              <a:rPr lang="en-US" dirty="0"/>
              <a:t>and a </a:t>
            </a:r>
            <a:r>
              <a:rPr lang="en-US" dirty="0">
                <a:highlight>
                  <a:srgbClr val="FFFF00"/>
                </a:highlight>
              </a:rPr>
              <a:t>minimum number of points (</a:t>
            </a:r>
            <a:r>
              <a:rPr lang="en-US" dirty="0" err="1">
                <a:highlight>
                  <a:srgbClr val="FFFF00"/>
                </a:highlight>
              </a:rPr>
              <a:t>min_samples</a:t>
            </a:r>
            <a:r>
              <a:rPr lang="en-US" dirty="0">
                <a:highlight>
                  <a:srgbClr val="FFFF00"/>
                </a:highlight>
              </a:rPr>
              <a:t>) </a:t>
            </a:r>
          </a:p>
          <a:p>
            <a:pPr marL="342900" indent="-342900">
              <a:buAutoNum type="arabicPeriod"/>
            </a:pPr>
            <a:r>
              <a:rPr lang="en-US" dirty="0"/>
              <a:t>Within a scatter plot, label each point as one of the following: 	</a:t>
            </a:r>
          </a:p>
          <a:p>
            <a:pPr lvl="1"/>
            <a:r>
              <a:rPr lang="en-US" dirty="0"/>
              <a:t>• </a:t>
            </a:r>
            <a:r>
              <a:rPr lang="en-US" dirty="0">
                <a:highlight>
                  <a:srgbClr val="FFFF00"/>
                </a:highlight>
              </a:rPr>
              <a:t>Core point </a:t>
            </a:r>
            <a:r>
              <a:rPr lang="en-US" dirty="0"/>
              <a:t>– has the minimum number of points within its radius (in a dense region) </a:t>
            </a:r>
          </a:p>
          <a:p>
            <a:pPr lvl="1"/>
            <a:r>
              <a:rPr lang="en-US" dirty="0"/>
              <a:t>• </a:t>
            </a:r>
            <a:r>
              <a:rPr lang="en-US" dirty="0">
                <a:highlight>
                  <a:srgbClr val="FFFF00"/>
                </a:highlight>
              </a:rPr>
              <a:t>Border point </a:t>
            </a:r>
            <a:r>
              <a:rPr lang="en-US" dirty="0"/>
              <a:t>– does not have the minimum number of points within its radius, but has at least one core point within its radius (on the outskirts of clusters) </a:t>
            </a:r>
          </a:p>
          <a:p>
            <a:pPr lvl="1"/>
            <a:r>
              <a:rPr lang="en-US" dirty="0"/>
              <a:t>• </a:t>
            </a:r>
            <a:r>
              <a:rPr lang="en-US" dirty="0">
                <a:highlight>
                  <a:srgbClr val="FFFF00"/>
                </a:highlight>
              </a:rPr>
              <a:t>Noise point (outlier) </a:t>
            </a:r>
            <a:r>
              <a:rPr lang="en-US" dirty="0"/>
              <a:t>– does not have a core point within its radius (isolated points)</a:t>
            </a:r>
          </a:p>
          <a:p>
            <a:pPr lvl="1"/>
            <a:endParaRPr lang="en-US" dirty="0"/>
          </a:p>
          <a:p>
            <a:pPr lvl="1"/>
            <a:endParaRPr lang="en-US" dirty="0"/>
          </a:p>
          <a:p>
            <a:pPr lvl="1"/>
            <a:r>
              <a:rPr lang="en-US" dirty="0"/>
              <a:t>DBSCAN allows for irregular-shaped clusters and can also identify outliers</a:t>
            </a:r>
            <a:endParaRPr lang="lt-LT" dirty="0"/>
          </a:p>
          <a:p>
            <a:pPr lvl="1"/>
            <a:r>
              <a:rPr lang="en-US" dirty="0"/>
              <a:t> </a:t>
            </a:r>
          </a:p>
          <a:p>
            <a:pPr lvl="1"/>
            <a:endParaRPr lang="lt-LT" dirty="0"/>
          </a:p>
        </p:txBody>
      </p:sp>
    </p:spTree>
    <p:extLst>
      <p:ext uri="{BB962C8B-B14F-4D97-AF65-F5344CB8AC3E}">
        <p14:creationId xmlns:p14="http://schemas.microsoft.com/office/powerpoint/2010/main" val="42682151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176676F-BB1C-435C-C0BD-C652A2641654}"/>
              </a:ext>
            </a:extLst>
          </p:cNvPr>
          <p:cNvSpPr>
            <a:spLocks noGrp="1"/>
          </p:cNvSpPr>
          <p:nvPr>
            <p:ph type="title"/>
          </p:nvPr>
        </p:nvSpPr>
        <p:spPr/>
        <p:txBody>
          <a:bodyPr/>
          <a:lstStyle/>
          <a:p>
            <a:r>
              <a:rPr lang="lt-LT" dirty="0"/>
              <a:t>DBSCAN DETAILED STEPS</a:t>
            </a:r>
          </a:p>
        </p:txBody>
      </p:sp>
      <p:sp>
        <p:nvSpPr>
          <p:cNvPr id="4" name="TextBox 3">
            <a:extLst>
              <a:ext uri="{FF2B5EF4-FFF2-40B4-BE49-F238E27FC236}">
                <a16:creationId xmlns:a16="http://schemas.microsoft.com/office/drawing/2014/main" id="{792FDB52-AB1E-AB26-B67A-79DD245D0DB1}"/>
              </a:ext>
            </a:extLst>
          </p:cNvPr>
          <p:cNvSpPr txBox="1"/>
          <p:nvPr/>
        </p:nvSpPr>
        <p:spPr>
          <a:xfrm>
            <a:off x="1002890" y="1551911"/>
            <a:ext cx="10943303" cy="4247317"/>
          </a:xfrm>
          <a:prstGeom prst="rect">
            <a:avLst/>
          </a:prstGeom>
          <a:noFill/>
        </p:spPr>
        <p:txBody>
          <a:bodyPr wrap="square">
            <a:spAutoFit/>
          </a:bodyPr>
          <a:lstStyle/>
          <a:p>
            <a:r>
              <a:rPr lang="en-US" dirty="0"/>
              <a:t>Here are some more detailed steps of how DBSCAN works: </a:t>
            </a:r>
            <a:endParaRPr lang="lt-LT" dirty="0"/>
          </a:p>
          <a:p>
            <a:pPr marL="342900" indent="-342900">
              <a:buAutoNum type="arabicPeriod"/>
            </a:pPr>
            <a:r>
              <a:rPr lang="en-US" dirty="0"/>
              <a:t>Select a </a:t>
            </a:r>
            <a:r>
              <a:rPr lang="en-US" b="1" dirty="0"/>
              <a:t>radius (eps) </a:t>
            </a:r>
            <a:r>
              <a:rPr lang="en-US" dirty="0"/>
              <a:t>and a </a:t>
            </a:r>
            <a:r>
              <a:rPr lang="en-US" b="1" dirty="0"/>
              <a:t>minimum number of points (</a:t>
            </a:r>
            <a:r>
              <a:rPr lang="en-US" b="1" dirty="0" err="1"/>
              <a:t>min_samples</a:t>
            </a:r>
            <a:r>
              <a:rPr lang="en-US" b="1" dirty="0"/>
              <a:t>) </a:t>
            </a:r>
            <a:endParaRPr lang="lt-LT" b="1" dirty="0"/>
          </a:p>
          <a:p>
            <a:pPr marL="342900" indent="-342900">
              <a:buAutoNum type="arabicPeriod"/>
            </a:pPr>
            <a:r>
              <a:rPr lang="en-US" dirty="0"/>
              <a:t> Within a scatterplot</a:t>
            </a:r>
            <a:r>
              <a:rPr lang="en-US" b="1" dirty="0"/>
              <a:t>, select a point at random</a:t>
            </a:r>
            <a:r>
              <a:rPr lang="en-US" dirty="0"/>
              <a:t> and count the points within its radius </a:t>
            </a:r>
            <a:endParaRPr lang="lt-LT" dirty="0"/>
          </a:p>
          <a:p>
            <a:r>
              <a:rPr lang="lt-LT" dirty="0"/>
              <a:t>	</a:t>
            </a:r>
            <a:r>
              <a:rPr lang="en-US" dirty="0"/>
              <a:t>• If it’s greater than or equal to the “</a:t>
            </a:r>
            <a:r>
              <a:rPr lang="en-US" dirty="0" err="1"/>
              <a:t>min_samples</a:t>
            </a:r>
            <a:r>
              <a:rPr lang="en-US" dirty="0"/>
              <a:t>”, then start a cluster, label the point as a core point, and mark the points within its radius as a neighbor </a:t>
            </a:r>
            <a:endParaRPr lang="lt-LT" dirty="0"/>
          </a:p>
          <a:p>
            <a:r>
              <a:rPr lang="lt-LT" dirty="0"/>
              <a:t>	</a:t>
            </a:r>
            <a:r>
              <a:rPr lang="en-US" dirty="0"/>
              <a:t>• If it’s less than the “</a:t>
            </a:r>
            <a:r>
              <a:rPr lang="en-US" dirty="0" err="1"/>
              <a:t>min_samples</a:t>
            </a:r>
            <a:r>
              <a:rPr lang="en-US" dirty="0"/>
              <a:t>”, label the point as a noise point and move to step 5 </a:t>
            </a:r>
            <a:endParaRPr lang="lt-LT" dirty="0"/>
          </a:p>
          <a:p>
            <a:endParaRPr lang="lt-LT" dirty="0"/>
          </a:p>
          <a:p>
            <a:r>
              <a:rPr lang="en-US" dirty="0"/>
              <a:t>3. Move to a neighbor and count the points within its radius </a:t>
            </a:r>
            <a:endParaRPr lang="lt-LT" dirty="0"/>
          </a:p>
          <a:p>
            <a:r>
              <a:rPr lang="lt-LT" dirty="0"/>
              <a:t>	</a:t>
            </a:r>
            <a:r>
              <a:rPr lang="en-US" dirty="0"/>
              <a:t>• If it’s greater than or equal to the “</a:t>
            </a:r>
            <a:r>
              <a:rPr lang="en-US" dirty="0" err="1"/>
              <a:t>min_samples</a:t>
            </a:r>
            <a:r>
              <a:rPr lang="en-US" dirty="0"/>
              <a:t>”, label it as a core point, and mark its neighbors </a:t>
            </a:r>
            <a:endParaRPr lang="lt-LT" dirty="0"/>
          </a:p>
          <a:p>
            <a:r>
              <a:rPr lang="lt-LT" dirty="0"/>
              <a:t>	</a:t>
            </a:r>
            <a:r>
              <a:rPr lang="en-US" dirty="0"/>
              <a:t>• If it’s less than the “</a:t>
            </a:r>
            <a:r>
              <a:rPr lang="en-US" dirty="0" err="1"/>
              <a:t>min_samples</a:t>
            </a:r>
            <a:r>
              <a:rPr lang="en-US" dirty="0"/>
              <a:t>”, but at least one of them is a core point, label it as a border point </a:t>
            </a:r>
            <a:r>
              <a:rPr lang="lt-LT" dirty="0"/>
              <a:t>	</a:t>
            </a:r>
            <a:r>
              <a:rPr lang="en-US" dirty="0"/>
              <a:t>• If it’s less than the “</a:t>
            </a:r>
            <a:r>
              <a:rPr lang="en-US" dirty="0" err="1"/>
              <a:t>min_samples</a:t>
            </a:r>
            <a:r>
              <a:rPr lang="en-US" dirty="0"/>
              <a:t>”, and none of them is a core point, label it as a noise point </a:t>
            </a:r>
            <a:endParaRPr lang="lt-LT" dirty="0"/>
          </a:p>
          <a:p>
            <a:endParaRPr lang="lt-LT" dirty="0"/>
          </a:p>
          <a:p>
            <a:r>
              <a:rPr lang="en-US" dirty="0"/>
              <a:t>4. Continue with another neighbor until all the points are labeled within the cluster </a:t>
            </a:r>
            <a:endParaRPr lang="lt-LT" dirty="0"/>
          </a:p>
          <a:p>
            <a:endParaRPr lang="lt-LT" dirty="0"/>
          </a:p>
          <a:p>
            <a:r>
              <a:rPr lang="en-US" dirty="0"/>
              <a:t>5. Move on to another random point and repeat the same steps</a:t>
            </a:r>
            <a:endParaRPr lang="lt-LT" dirty="0"/>
          </a:p>
        </p:txBody>
      </p:sp>
    </p:spTree>
    <p:extLst>
      <p:ext uri="{BB962C8B-B14F-4D97-AF65-F5344CB8AC3E}">
        <p14:creationId xmlns:p14="http://schemas.microsoft.com/office/powerpoint/2010/main" val="41469868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535628E2-8046-2CCB-3479-3C7F5DB8E185}"/>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D15A410D-517C-D44B-1DA3-7189D0E508E8}"/>
              </a:ext>
            </a:extLst>
          </p:cNvPr>
          <p:cNvSpPr txBox="1"/>
          <p:nvPr/>
        </p:nvSpPr>
        <p:spPr>
          <a:xfrm>
            <a:off x="838199" y="1466306"/>
            <a:ext cx="9416845" cy="369332"/>
          </a:xfrm>
          <a:prstGeom prst="rect">
            <a:avLst/>
          </a:prstGeom>
          <a:noFill/>
        </p:spPr>
        <p:txBody>
          <a:bodyPr wrap="square">
            <a:spAutoFit/>
          </a:bodyPr>
          <a:lstStyle/>
          <a:p>
            <a:r>
              <a:rPr lang="en-US" b="1" dirty="0"/>
              <a:t>STEP 1: </a:t>
            </a:r>
            <a:r>
              <a:rPr lang="en-US" dirty="0"/>
              <a:t>Select a radius (eps) and minimum number of points (</a:t>
            </a:r>
            <a:r>
              <a:rPr lang="en-US" dirty="0" err="1"/>
              <a:t>min_samples</a:t>
            </a:r>
            <a:r>
              <a:rPr lang="en-US" dirty="0"/>
              <a:t>) </a:t>
            </a:r>
            <a:endParaRPr lang="lt-LT" dirty="0"/>
          </a:p>
        </p:txBody>
      </p:sp>
      <p:pic>
        <p:nvPicPr>
          <p:cNvPr id="6" name="Paveikslėlis 5" descr="Paveikslėlis, kuriame yra ekrano kopija, diagrama, linija, tekstas&#10;&#10;Dirbtinio intelekto sugeneruotas turinys gali būti neteisingas.">
            <a:extLst>
              <a:ext uri="{FF2B5EF4-FFF2-40B4-BE49-F238E27FC236}">
                <a16:creationId xmlns:a16="http://schemas.microsoft.com/office/drawing/2014/main" id="{133DD8C0-8DF6-B94F-6657-2E82680C3A9D}"/>
              </a:ext>
            </a:extLst>
          </p:cNvPr>
          <p:cNvPicPr>
            <a:picLocks noChangeAspect="1"/>
          </p:cNvPicPr>
          <p:nvPr/>
        </p:nvPicPr>
        <p:blipFill>
          <a:blip r:embed="rId2"/>
          <a:stretch>
            <a:fillRect/>
          </a:stretch>
        </p:blipFill>
        <p:spPr>
          <a:xfrm>
            <a:off x="3149004" y="2715539"/>
            <a:ext cx="5893992" cy="2998819"/>
          </a:xfrm>
          <a:prstGeom prst="rect">
            <a:avLst/>
          </a:prstGeom>
        </p:spPr>
      </p:pic>
    </p:spTree>
    <p:extLst>
      <p:ext uri="{BB962C8B-B14F-4D97-AF65-F5344CB8AC3E}">
        <p14:creationId xmlns:p14="http://schemas.microsoft.com/office/powerpoint/2010/main" val="208460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2960F-77B6-94C5-C7F5-9AB4D386D98A}"/>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79CA5748-765A-4CD6-B791-87D88535CF0E}"/>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6309D777-DC19-84EA-BA1E-8F3485352B99}"/>
              </a:ext>
            </a:extLst>
          </p:cNvPr>
          <p:cNvSpPr txBox="1"/>
          <p:nvPr/>
        </p:nvSpPr>
        <p:spPr>
          <a:xfrm>
            <a:off x="838199" y="1466306"/>
            <a:ext cx="9416845" cy="861774"/>
          </a:xfrm>
          <a:prstGeom prst="rect">
            <a:avLst/>
          </a:prstGeom>
          <a:noFill/>
        </p:spPr>
        <p:txBody>
          <a:bodyPr wrap="square">
            <a:spAutoFit/>
          </a:bodyPr>
          <a:lstStyle/>
          <a:p>
            <a:r>
              <a:rPr lang="en-US" dirty="0"/>
              <a:t>STEP 2: Select a point at random and count the points within its radius </a:t>
            </a:r>
          </a:p>
          <a:p>
            <a:r>
              <a:rPr lang="en-US" dirty="0"/>
              <a:t>	</a:t>
            </a:r>
            <a:r>
              <a:rPr lang="en-US" sz="1400" dirty="0"/>
              <a:t>• If it’s greater than or equal to the “</a:t>
            </a:r>
            <a:r>
              <a:rPr lang="en-US" sz="1400" dirty="0" err="1"/>
              <a:t>min_samples</a:t>
            </a:r>
            <a:r>
              <a:rPr lang="en-US" sz="1400" dirty="0"/>
              <a:t>”, then start a cluster, label the point as a core point, and mark the points within its radius as a neighbor</a:t>
            </a:r>
            <a:endParaRPr lang="lt-LT" sz="1400" dirty="0"/>
          </a:p>
        </p:txBody>
      </p:sp>
      <p:pic>
        <p:nvPicPr>
          <p:cNvPr id="5" name="Paveikslėlis 4" descr="Paveikslėlis, kuriame yra ekrano kopija, diagrama, Grafikas&#10;&#10;Dirbtinio intelekto sugeneruotas turinys gali būti neteisingas.">
            <a:extLst>
              <a:ext uri="{FF2B5EF4-FFF2-40B4-BE49-F238E27FC236}">
                <a16:creationId xmlns:a16="http://schemas.microsoft.com/office/drawing/2014/main" id="{A7BDD2CC-D047-A941-23EE-448C71FF3E86}"/>
              </a:ext>
            </a:extLst>
          </p:cNvPr>
          <p:cNvPicPr>
            <a:picLocks noChangeAspect="1"/>
          </p:cNvPicPr>
          <p:nvPr/>
        </p:nvPicPr>
        <p:blipFill>
          <a:blip r:embed="rId2"/>
          <a:stretch>
            <a:fillRect/>
          </a:stretch>
        </p:blipFill>
        <p:spPr>
          <a:xfrm>
            <a:off x="108825" y="2445774"/>
            <a:ext cx="6231612" cy="3063876"/>
          </a:xfrm>
          <a:prstGeom prst="rect">
            <a:avLst/>
          </a:prstGeom>
        </p:spPr>
      </p:pic>
      <p:pic>
        <p:nvPicPr>
          <p:cNvPr id="8" name="Paveikslėlis 7" descr="Paveikslėlis, kuriame yra diagrama, ekrano kopija, Grafikas, linija&#10;&#10;Dirbtinio intelekto sugeneruotas turinys gali būti neteisingas.">
            <a:extLst>
              <a:ext uri="{FF2B5EF4-FFF2-40B4-BE49-F238E27FC236}">
                <a16:creationId xmlns:a16="http://schemas.microsoft.com/office/drawing/2014/main" id="{3D52CFF3-7A8D-C6A7-B21E-4A25CA6782A0}"/>
              </a:ext>
            </a:extLst>
          </p:cNvPr>
          <p:cNvPicPr>
            <a:picLocks noChangeAspect="1"/>
          </p:cNvPicPr>
          <p:nvPr/>
        </p:nvPicPr>
        <p:blipFill>
          <a:blip r:embed="rId3"/>
          <a:stretch>
            <a:fillRect/>
          </a:stretch>
        </p:blipFill>
        <p:spPr>
          <a:xfrm>
            <a:off x="6604592" y="2664507"/>
            <a:ext cx="5587408" cy="2727187"/>
          </a:xfrm>
          <a:prstGeom prst="rect">
            <a:avLst/>
          </a:prstGeom>
        </p:spPr>
      </p:pic>
    </p:spTree>
    <p:extLst>
      <p:ext uri="{BB962C8B-B14F-4D97-AF65-F5344CB8AC3E}">
        <p14:creationId xmlns:p14="http://schemas.microsoft.com/office/powerpoint/2010/main" val="1484229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811A2-78D6-9137-09CA-DD85EE028D24}"/>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D35EB2AE-DF5D-45D1-B903-9223A88C5320}"/>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9FC852DA-7E12-1597-B7B0-BA61EE0872A4}"/>
              </a:ext>
            </a:extLst>
          </p:cNvPr>
          <p:cNvSpPr txBox="1"/>
          <p:nvPr/>
        </p:nvSpPr>
        <p:spPr>
          <a:xfrm>
            <a:off x="838199" y="1466306"/>
            <a:ext cx="9416845" cy="584775"/>
          </a:xfrm>
          <a:prstGeom prst="rect">
            <a:avLst/>
          </a:prstGeom>
          <a:noFill/>
        </p:spPr>
        <p:txBody>
          <a:bodyPr wrap="square">
            <a:spAutoFit/>
          </a:bodyPr>
          <a:lstStyle/>
          <a:p>
            <a:r>
              <a:rPr lang="en-US" dirty="0"/>
              <a:t>STEP 3: Move to a neighbor and count the points within its radius</a:t>
            </a:r>
          </a:p>
          <a:p>
            <a:pPr marL="285750" indent="-285750">
              <a:buFont typeface="Arial" panose="020B0604020202020204" pitchFamily="34" charset="0"/>
              <a:buChar char="•"/>
            </a:pPr>
            <a:r>
              <a:rPr lang="en-US" sz="1400" dirty="0"/>
              <a:t>If it’s greater than or equal to the “</a:t>
            </a:r>
            <a:r>
              <a:rPr lang="en-US" sz="1400" dirty="0" err="1"/>
              <a:t>min_samples</a:t>
            </a:r>
            <a:r>
              <a:rPr lang="en-US" sz="1400" dirty="0"/>
              <a:t>”, label it as a core point, and mark its </a:t>
            </a:r>
            <a:r>
              <a:rPr lang="en-US" sz="1400" i="1" dirty="0"/>
              <a:t>neighbors</a:t>
            </a:r>
            <a:endParaRPr lang="lt-LT" sz="1400" i="1" dirty="0"/>
          </a:p>
        </p:txBody>
      </p:sp>
      <p:pic>
        <p:nvPicPr>
          <p:cNvPr id="5" name="Paveikslėlis 4" descr="Paveikslėlis, kuriame yra ekrano kopija, diagrama, Grafikas&#10;&#10;Dirbtinio intelekto sugeneruotas turinys gali būti neteisingas.">
            <a:extLst>
              <a:ext uri="{FF2B5EF4-FFF2-40B4-BE49-F238E27FC236}">
                <a16:creationId xmlns:a16="http://schemas.microsoft.com/office/drawing/2014/main" id="{1C7BF3D0-D233-A0E0-7135-3A262AE61CB8}"/>
              </a:ext>
            </a:extLst>
          </p:cNvPr>
          <p:cNvPicPr>
            <a:picLocks noChangeAspect="1"/>
          </p:cNvPicPr>
          <p:nvPr/>
        </p:nvPicPr>
        <p:blipFill>
          <a:blip r:embed="rId2"/>
          <a:stretch>
            <a:fillRect/>
          </a:stretch>
        </p:blipFill>
        <p:spPr>
          <a:xfrm>
            <a:off x="108825" y="2445774"/>
            <a:ext cx="6231612" cy="3063876"/>
          </a:xfrm>
          <a:prstGeom prst="rect">
            <a:avLst/>
          </a:prstGeom>
        </p:spPr>
      </p:pic>
      <p:pic>
        <p:nvPicPr>
          <p:cNvPr id="8" name="Paveikslėlis 7" descr="Paveikslėlis, kuriame yra diagrama, ekrano kopija, Grafikas, linija&#10;&#10;Dirbtinio intelekto sugeneruotas turinys gali būti neteisingas.">
            <a:extLst>
              <a:ext uri="{FF2B5EF4-FFF2-40B4-BE49-F238E27FC236}">
                <a16:creationId xmlns:a16="http://schemas.microsoft.com/office/drawing/2014/main" id="{0CE7DB59-26C4-280D-87B2-95FD8E0F7768}"/>
              </a:ext>
            </a:extLst>
          </p:cNvPr>
          <p:cNvPicPr>
            <a:picLocks noChangeAspect="1"/>
          </p:cNvPicPr>
          <p:nvPr/>
        </p:nvPicPr>
        <p:blipFill>
          <a:blip r:embed="rId3"/>
          <a:stretch>
            <a:fillRect/>
          </a:stretch>
        </p:blipFill>
        <p:spPr>
          <a:xfrm>
            <a:off x="6604592" y="2664507"/>
            <a:ext cx="5587408" cy="2727187"/>
          </a:xfrm>
          <a:prstGeom prst="rect">
            <a:avLst/>
          </a:prstGeom>
        </p:spPr>
      </p:pic>
    </p:spTree>
    <p:extLst>
      <p:ext uri="{BB962C8B-B14F-4D97-AF65-F5344CB8AC3E}">
        <p14:creationId xmlns:p14="http://schemas.microsoft.com/office/powerpoint/2010/main" val="3751456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36026-EC1A-FAAF-5123-BA0BA12811C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79ABBC73-2115-B7F4-7344-C37D7B5FEFB0}"/>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D0AAC6A1-5526-6B2F-79EF-107F6CBDF4A2}"/>
              </a:ext>
            </a:extLst>
          </p:cNvPr>
          <p:cNvSpPr txBox="1"/>
          <p:nvPr/>
        </p:nvSpPr>
        <p:spPr>
          <a:xfrm>
            <a:off x="838199" y="1466306"/>
            <a:ext cx="9416845" cy="584775"/>
          </a:xfrm>
          <a:prstGeom prst="rect">
            <a:avLst/>
          </a:prstGeom>
          <a:noFill/>
        </p:spPr>
        <p:txBody>
          <a:bodyPr wrap="square">
            <a:spAutoFit/>
          </a:bodyPr>
          <a:lstStyle/>
          <a:p>
            <a:r>
              <a:rPr lang="en-US" dirty="0"/>
              <a:t>STEP 3: Move to a neighbor and count the points within its radius</a:t>
            </a:r>
          </a:p>
          <a:p>
            <a:pPr marL="285750" indent="-285750">
              <a:buFont typeface="Arial" panose="020B0604020202020204" pitchFamily="34" charset="0"/>
              <a:buChar char="•"/>
            </a:pPr>
            <a:r>
              <a:rPr lang="en-US" sz="1400" dirty="0"/>
              <a:t>• If it’s less than “</a:t>
            </a:r>
            <a:r>
              <a:rPr lang="en-US" sz="1400" dirty="0" err="1"/>
              <a:t>min_samples</a:t>
            </a:r>
            <a:r>
              <a:rPr lang="en-US" sz="1400" dirty="0"/>
              <a:t>”, but at least one of them is a core point, label it as a </a:t>
            </a:r>
            <a:r>
              <a:rPr lang="en-US" sz="1400" i="1" dirty="0"/>
              <a:t>border point</a:t>
            </a:r>
            <a:endParaRPr lang="lt-LT" sz="1400" i="1" dirty="0"/>
          </a:p>
        </p:txBody>
      </p:sp>
      <p:pic>
        <p:nvPicPr>
          <p:cNvPr id="6" name="Paveikslėlis 5" descr="Paveikslėlis, kuriame yra ekrano kopija, diagrama, Grafikas, apskritimas&#10;&#10;Dirbtinio intelekto sugeneruotas turinys gali būti neteisingas.">
            <a:extLst>
              <a:ext uri="{FF2B5EF4-FFF2-40B4-BE49-F238E27FC236}">
                <a16:creationId xmlns:a16="http://schemas.microsoft.com/office/drawing/2014/main" id="{3A414F76-9832-E2D1-A408-04536C8697AA}"/>
              </a:ext>
            </a:extLst>
          </p:cNvPr>
          <p:cNvPicPr>
            <a:picLocks noChangeAspect="1"/>
          </p:cNvPicPr>
          <p:nvPr/>
        </p:nvPicPr>
        <p:blipFill>
          <a:blip r:embed="rId2"/>
          <a:stretch>
            <a:fillRect/>
          </a:stretch>
        </p:blipFill>
        <p:spPr>
          <a:xfrm>
            <a:off x="373072" y="2682848"/>
            <a:ext cx="4718440" cy="2410261"/>
          </a:xfrm>
          <a:prstGeom prst="rect">
            <a:avLst/>
          </a:prstGeom>
        </p:spPr>
      </p:pic>
      <p:pic>
        <p:nvPicPr>
          <p:cNvPr id="9" name="Paveikslėlis 8" descr="Paveikslėlis, kuriame yra ekrano kopija, diagrama, apskritimas, Grafikas&#10;&#10;Dirbtinio intelekto sugeneruotas turinys gali būti neteisingas.">
            <a:extLst>
              <a:ext uri="{FF2B5EF4-FFF2-40B4-BE49-F238E27FC236}">
                <a16:creationId xmlns:a16="http://schemas.microsoft.com/office/drawing/2014/main" id="{201F6879-662A-3D88-E207-E038F07DC895}"/>
              </a:ext>
            </a:extLst>
          </p:cNvPr>
          <p:cNvPicPr>
            <a:picLocks noChangeAspect="1"/>
          </p:cNvPicPr>
          <p:nvPr/>
        </p:nvPicPr>
        <p:blipFill>
          <a:blip r:embed="rId3"/>
          <a:stretch>
            <a:fillRect/>
          </a:stretch>
        </p:blipFill>
        <p:spPr>
          <a:xfrm>
            <a:off x="5742998" y="2713703"/>
            <a:ext cx="5342049" cy="2547160"/>
          </a:xfrm>
          <a:prstGeom prst="rect">
            <a:avLst/>
          </a:prstGeom>
        </p:spPr>
      </p:pic>
    </p:spTree>
    <p:extLst>
      <p:ext uri="{BB962C8B-B14F-4D97-AF65-F5344CB8AC3E}">
        <p14:creationId xmlns:p14="http://schemas.microsoft.com/office/powerpoint/2010/main" val="4170673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52EA-0ACD-F2B5-2168-4787724CDD36}"/>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AE3DE394-0DFD-BEFA-7F27-8D9EAD592729}"/>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BE8C8EFC-5339-1551-1155-1717994369EE}"/>
              </a:ext>
            </a:extLst>
          </p:cNvPr>
          <p:cNvSpPr txBox="1"/>
          <p:nvPr/>
        </p:nvSpPr>
        <p:spPr>
          <a:xfrm>
            <a:off x="838199" y="1466306"/>
            <a:ext cx="9416845" cy="646331"/>
          </a:xfrm>
          <a:prstGeom prst="rect">
            <a:avLst/>
          </a:prstGeom>
          <a:noFill/>
        </p:spPr>
        <p:txBody>
          <a:bodyPr wrap="square">
            <a:spAutoFit/>
          </a:bodyPr>
          <a:lstStyle/>
          <a:p>
            <a:r>
              <a:rPr lang="en-US" dirty="0"/>
              <a:t>STEP 4: Move on to another neighbor and continue this process until all the points are labeled within the cluster</a:t>
            </a:r>
            <a:endParaRPr lang="lt-LT" sz="1400" i="1" dirty="0"/>
          </a:p>
        </p:txBody>
      </p:sp>
      <p:pic>
        <p:nvPicPr>
          <p:cNvPr id="6" name="Paveikslėlis 5" descr="Paveikslėlis, kuriame yra ekrano kopija, diagrama, Grafikas, apskritimas&#10;&#10;Dirbtinio intelekto sugeneruotas turinys gali būti neteisingas.">
            <a:extLst>
              <a:ext uri="{FF2B5EF4-FFF2-40B4-BE49-F238E27FC236}">
                <a16:creationId xmlns:a16="http://schemas.microsoft.com/office/drawing/2014/main" id="{A603BB5A-4483-8017-0C20-148994E923F3}"/>
              </a:ext>
            </a:extLst>
          </p:cNvPr>
          <p:cNvPicPr>
            <a:picLocks noChangeAspect="1"/>
          </p:cNvPicPr>
          <p:nvPr/>
        </p:nvPicPr>
        <p:blipFill>
          <a:blip r:embed="rId2"/>
          <a:stretch>
            <a:fillRect/>
          </a:stretch>
        </p:blipFill>
        <p:spPr>
          <a:xfrm>
            <a:off x="838199" y="2408904"/>
            <a:ext cx="3360175" cy="1643652"/>
          </a:xfrm>
          <a:prstGeom prst="rect">
            <a:avLst/>
          </a:prstGeom>
        </p:spPr>
      </p:pic>
      <p:pic>
        <p:nvPicPr>
          <p:cNvPr id="9" name="Paveikslėlis 8" descr="Paveikslėlis, kuriame yra diagrama, ekrano kopija, Grafikas, apskritimas&#10;&#10;Dirbtinio intelekto sugeneruotas turinys gali būti neteisingas.">
            <a:extLst>
              <a:ext uri="{FF2B5EF4-FFF2-40B4-BE49-F238E27FC236}">
                <a16:creationId xmlns:a16="http://schemas.microsoft.com/office/drawing/2014/main" id="{BE602276-6098-0AE8-1DFC-327D580A9E75}"/>
              </a:ext>
            </a:extLst>
          </p:cNvPr>
          <p:cNvPicPr>
            <a:picLocks noChangeAspect="1"/>
          </p:cNvPicPr>
          <p:nvPr/>
        </p:nvPicPr>
        <p:blipFill>
          <a:blip r:embed="rId3"/>
          <a:stretch>
            <a:fillRect/>
          </a:stretch>
        </p:blipFill>
        <p:spPr>
          <a:xfrm>
            <a:off x="4494999" y="2315142"/>
            <a:ext cx="3831317" cy="1797352"/>
          </a:xfrm>
          <a:prstGeom prst="rect">
            <a:avLst/>
          </a:prstGeom>
        </p:spPr>
      </p:pic>
      <p:pic>
        <p:nvPicPr>
          <p:cNvPr id="11" name="Paveikslėlis 10" descr="Paveikslėlis, kuriame yra ekrano kopija, diagrama, apskritimas, Grafikas&#10;&#10;Dirbtinio intelekto sugeneruotas turinys gali būti neteisingas.">
            <a:extLst>
              <a:ext uri="{FF2B5EF4-FFF2-40B4-BE49-F238E27FC236}">
                <a16:creationId xmlns:a16="http://schemas.microsoft.com/office/drawing/2014/main" id="{08216BD9-D552-C028-E96A-13887926FE41}"/>
              </a:ext>
            </a:extLst>
          </p:cNvPr>
          <p:cNvPicPr>
            <a:picLocks noChangeAspect="1"/>
          </p:cNvPicPr>
          <p:nvPr/>
        </p:nvPicPr>
        <p:blipFill>
          <a:blip r:embed="rId4"/>
          <a:stretch>
            <a:fillRect/>
          </a:stretch>
        </p:blipFill>
        <p:spPr>
          <a:xfrm>
            <a:off x="8768730" y="2112637"/>
            <a:ext cx="4544148" cy="2173980"/>
          </a:xfrm>
          <a:prstGeom prst="rect">
            <a:avLst/>
          </a:prstGeom>
        </p:spPr>
      </p:pic>
      <p:pic>
        <p:nvPicPr>
          <p:cNvPr id="13" name="Paveikslėlis 12" descr="Paveikslėlis, kuriame yra ekrano kopija, diagrama, Grafikas, linija&#10;&#10;Dirbtinio intelekto sugeneruotas turinys gali būti neteisingas.">
            <a:extLst>
              <a:ext uri="{FF2B5EF4-FFF2-40B4-BE49-F238E27FC236}">
                <a16:creationId xmlns:a16="http://schemas.microsoft.com/office/drawing/2014/main" id="{9AE360B9-3F23-7600-3770-D079725403FB}"/>
              </a:ext>
            </a:extLst>
          </p:cNvPr>
          <p:cNvPicPr>
            <a:picLocks noChangeAspect="1"/>
          </p:cNvPicPr>
          <p:nvPr/>
        </p:nvPicPr>
        <p:blipFill>
          <a:blip r:embed="rId5"/>
          <a:stretch>
            <a:fillRect/>
          </a:stretch>
        </p:blipFill>
        <p:spPr>
          <a:xfrm>
            <a:off x="541573" y="4559710"/>
            <a:ext cx="3953426" cy="2005292"/>
          </a:xfrm>
          <a:prstGeom prst="rect">
            <a:avLst/>
          </a:prstGeom>
        </p:spPr>
      </p:pic>
      <p:pic>
        <p:nvPicPr>
          <p:cNvPr id="15" name="Paveikslėlis 14" descr="Paveikslėlis, kuriame yra diagrama, ekrano kopija, linija, Grafikas&#10;&#10;Dirbtinio intelekto sugeneruotas turinys gali būti neteisingas.">
            <a:extLst>
              <a:ext uri="{FF2B5EF4-FFF2-40B4-BE49-F238E27FC236}">
                <a16:creationId xmlns:a16="http://schemas.microsoft.com/office/drawing/2014/main" id="{5FE797D1-9982-216D-8F6B-70A7A2DB75D3}"/>
              </a:ext>
            </a:extLst>
          </p:cNvPr>
          <p:cNvPicPr>
            <a:picLocks noChangeAspect="1"/>
          </p:cNvPicPr>
          <p:nvPr/>
        </p:nvPicPr>
        <p:blipFill>
          <a:blip r:embed="rId6"/>
          <a:stretch>
            <a:fillRect/>
          </a:stretch>
        </p:blipFill>
        <p:spPr>
          <a:xfrm>
            <a:off x="4494999" y="4330886"/>
            <a:ext cx="4544148" cy="2234116"/>
          </a:xfrm>
          <a:prstGeom prst="rect">
            <a:avLst/>
          </a:prstGeom>
        </p:spPr>
      </p:pic>
      <p:pic>
        <p:nvPicPr>
          <p:cNvPr id="17" name="Paveikslėlis 16" descr="Paveikslėlis, kuriame yra diagrama, ekrano kopija, Grafikas, linija&#10;&#10;Dirbtinio intelekto sugeneruotas turinys gali būti neteisingas.">
            <a:extLst>
              <a:ext uri="{FF2B5EF4-FFF2-40B4-BE49-F238E27FC236}">
                <a16:creationId xmlns:a16="http://schemas.microsoft.com/office/drawing/2014/main" id="{F4FC3BD9-B6AD-AD24-0515-7F783A65A0ED}"/>
              </a:ext>
            </a:extLst>
          </p:cNvPr>
          <p:cNvPicPr>
            <a:picLocks noChangeAspect="1"/>
          </p:cNvPicPr>
          <p:nvPr/>
        </p:nvPicPr>
        <p:blipFill>
          <a:blip r:embed="rId7"/>
          <a:stretch>
            <a:fillRect/>
          </a:stretch>
        </p:blipFill>
        <p:spPr>
          <a:xfrm>
            <a:off x="8768730" y="4500821"/>
            <a:ext cx="4224019" cy="2064181"/>
          </a:xfrm>
          <a:prstGeom prst="rect">
            <a:avLst/>
          </a:prstGeom>
        </p:spPr>
      </p:pic>
    </p:spTree>
    <p:extLst>
      <p:ext uri="{BB962C8B-B14F-4D97-AF65-F5344CB8AC3E}">
        <p14:creationId xmlns:p14="http://schemas.microsoft.com/office/powerpoint/2010/main" val="1833631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80FFC-88B8-0834-CE7E-4EF45D535AAC}"/>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2538CA1C-5BEB-CEB5-6397-97DE611B5949}"/>
              </a:ext>
            </a:extLst>
          </p:cNvPr>
          <p:cNvSpPr>
            <a:spLocks noGrp="1"/>
          </p:cNvSpPr>
          <p:nvPr>
            <p:ph type="title"/>
          </p:nvPr>
        </p:nvSpPr>
        <p:spPr/>
        <p:txBody>
          <a:bodyPr/>
          <a:lstStyle/>
          <a:p>
            <a:r>
              <a:rPr lang="lt-LT" dirty="0"/>
              <a:t>DBSCAN</a:t>
            </a:r>
          </a:p>
        </p:txBody>
      </p:sp>
      <p:sp>
        <p:nvSpPr>
          <p:cNvPr id="4" name="TextBox 3">
            <a:extLst>
              <a:ext uri="{FF2B5EF4-FFF2-40B4-BE49-F238E27FC236}">
                <a16:creationId xmlns:a16="http://schemas.microsoft.com/office/drawing/2014/main" id="{B2591AA7-42B1-DC4D-C286-829CCD5F36D4}"/>
              </a:ext>
            </a:extLst>
          </p:cNvPr>
          <p:cNvSpPr txBox="1"/>
          <p:nvPr/>
        </p:nvSpPr>
        <p:spPr>
          <a:xfrm>
            <a:off x="838199" y="1466306"/>
            <a:ext cx="9416845" cy="369332"/>
          </a:xfrm>
          <a:prstGeom prst="rect">
            <a:avLst/>
          </a:prstGeom>
          <a:noFill/>
        </p:spPr>
        <p:txBody>
          <a:bodyPr wrap="square">
            <a:spAutoFit/>
          </a:bodyPr>
          <a:lstStyle/>
          <a:p>
            <a:r>
              <a:rPr lang="en-US" dirty="0"/>
              <a:t>STEP 5: Move on to another random point and repeat the same steps</a:t>
            </a:r>
            <a:endParaRPr lang="lt-LT" sz="1400" i="1" dirty="0"/>
          </a:p>
        </p:txBody>
      </p:sp>
      <p:pic>
        <p:nvPicPr>
          <p:cNvPr id="5" name="Paveikslėlis 4" descr="Paveikslėlis, kuriame yra ekrano kopija, tekstas, diagrama, apskritimas&#10;&#10;Dirbtinio intelekto sugeneruotas turinys gali būti neteisingas.">
            <a:extLst>
              <a:ext uri="{FF2B5EF4-FFF2-40B4-BE49-F238E27FC236}">
                <a16:creationId xmlns:a16="http://schemas.microsoft.com/office/drawing/2014/main" id="{2ED21B55-5132-50FD-66CC-29674802EF5B}"/>
              </a:ext>
            </a:extLst>
          </p:cNvPr>
          <p:cNvPicPr>
            <a:picLocks noChangeAspect="1"/>
          </p:cNvPicPr>
          <p:nvPr/>
        </p:nvPicPr>
        <p:blipFill>
          <a:blip r:embed="rId2"/>
          <a:stretch>
            <a:fillRect/>
          </a:stretch>
        </p:blipFill>
        <p:spPr>
          <a:xfrm>
            <a:off x="0" y="1796656"/>
            <a:ext cx="4473677" cy="2564237"/>
          </a:xfrm>
          <a:prstGeom prst="rect">
            <a:avLst/>
          </a:prstGeom>
        </p:spPr>
      </p:pic>
      <p:pic>
        <p:nvPicPr>
          <p:cNvPr id="8" name="Paveikslėlis 7" descr="Paveikslėlis, kuriame yra piešimas, diagrama, tekstas, Vaikų piešiniai&#10;&#10;Dirbtinio intelekto sugeneruotas turinys gali būti neteisingas.">
            <a:extLst>
              <a:ext uri="{FF2B5EF4-FFF2-40B4-BE49-F238E27FC236}">
                <a16:creationId xmlns:a16="http://schemas.microsoft.com/office/drawing/2014/main" id="{F1A8F662-F371-C83F-9C4E-F12D0B7BA587}"/>
              </a:ext>
            </a:extLst>
          </p:cNvPr>
          <p:cNvPicPr>
            <a:picLocks noChangeAspect="1"/>
          </p:cNvPicPr>
          <p:nvPr/>
        </p:nvPicPr>
        <p:blipFill>
          <a:blip r:embed="rId3"/>
          <a:stretch>
            <a:fillRect/>
          </a:stretch>
        </p:blipFill>
        <p:spPr>
          <a:xfrm>
            <a:off x="5546621" y="2192594"/>
            <a:ext cx="6312984" cy="3836656"/>
          </a:xfrm>
          <a:prstGeom prst="rect">
            <a:avLst/>
          </a:prstGeom>
        </p:spPr>
      </p:pic>
    </p:spTree>
    <p:extLst>
      <p:ext uri="{BB962C8B-B14F-4D97-AF65-F5344CB8AC3E}">
        <p14:creationId xmlns:p14="http://schemas.microsoft.com/office/powerpoint/2010/main" val="257077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D776B05-9987-D7A0-55CA-64782C279577}"/>
              </a:ext>
            </a:extLst>
          </p:cNvPr>
          <p:cNvSpPr>
            <a:spLocks noGrp="1"/>
          </p:cNvSpPr>
          <p:nvPr>
            <p:ph type="title"/>
          </p:nvPr>
        </p:nvSpPr>
        <p:spPr/>
        <p:txBody>
          <a:bodyPr/>
          <a:lstStyle/>
          <a:p>
            <a:r>
              <a:rPr lang="lt-LT" dirty="0"/>
              <a:t>DBSCAN IN PYTHON</a:t>
            </a:r>
          </a:p>
        </p:txBody>
      </p:sp>
      <p:sp>
        <p:nvSpPr>
          <p:cNvPr id="4" name="TextBox 3">
            <a:extLst>
              <a:ext uri="{FF2B5EF4-FFF2-40B4-BE49-F238E27FC236}">
                <a16:creationId xmlns:a16="http://schemas.microsoft.com/office/drawing/2014/main" id="{8B27BDD3-7386-5F83-E60F-2517615F75F2}"/>
              </a:ext>
            </a:extLst>
          </p:cNvPr>
          <p:cNvSpPr txBox="1"/>
          <p:nvPr/>
        </p:nvSpPr>
        <p:spPr>
          <a:xfrm>
            <a:off x="993057" y="1367522"/>
            <a:ext cx="9399639" cy="369332"/>
          </a:xfrm>
          <a:prstGeom prst="rect">
            <a:avLst/>
          </a:prstGeom>
          <a:noFill/>
        </p:spPr>
        <p:txBody>
          <a:bodyPr wrap="square">
            <a:spAutoFit/>
          </a:bodyPr>
          <a:lstStyle/>
          <a:p>
            <a:r>
              <a:rPr lang="lt-LT" dirty="0" err="1"/>
              <a:t>Use</a:t>
            </a:r>
            <a:r>
              <a:rPr lang="lt-LT" dirty="0"/>
              <a:t> </a:t>
            </a:r>
            <a:r>
              <a:rPr lang="en-US" dirty="0" err="1"/>
              <a:t>sklearn’s</a:t>
            </a:r>
            <a:r>
              <a:rPr lang="en-US" dirty="0"/>
              <a:t> </a:t>
            </a:r>
            <a:r>
              <a:rPr lang="en-US" b="1" dirty="0"/>
              <a:t>DBSCAN() </a:t>
            </a:r>
            <a:r>
              <a:rPr lang="en-US" dirty="0"/>
              <a:t>to perform DBSCAN clustering in Python</a:t>
            </a:r>
            <a:endParaRPr lang="lt-LT" dirty="0"/>
          </a:p>
        </p:txBody>
      </p:sp>
      <p:pic>
        <p:nvPicPr>
          <p:cNvPr id="6" name="Paveikslėlis 5" descr="Paveikslėlis, kuriame yra tekstas, ekrano kopija, Šriftas&#10;&#10;Dirbtinio intelekto sugeneruotas turinys gali būti neteisingas.">
            <a:extLst>
              <a:ext uri="{FF2B5EF4-FFF2-40B4-BE49-F238E27FC236}">
                <a16:creationId xmlns:a16="http://schemas.microsoft.com/office/drawing/2014/main" id="{2B3840AF-D482-5850-98DF-A3510361128A}"/>
              </a:ext>
            </a:extLst>
          </p:cNvPr>
          <p:cNvPicPr>
            <a:picLocks noChangeAspect="1"/>
          </p:cNvPicPr>
          <p:nvPr/>
        </p:nvPicPr>
        <p:blipFill>
          <a:blip r:embed="rId2"/>
          <a:stretch>
            <a:fillRect/>
          </a:stretch>
        </p:blipFill>
        <p:spPr>
          <a:xfrm>
            <a:off x="2304521" y="1799997"/>
            <a:ext cx="7582958" cy="3258005"/>
          </a:xfrm>
          <a:prstGeom prst="rect">
            <a:avLst/>
          </a:prstGeom>
        </p:spPr>
      </p:pic>
      <p:sp>
        <p:nvSpPr>
          <p:cNvPr id="8" name="TextBox 7">
            <a:extLst>
              <a:ext uri="{FF2B5EF4-FFF2-40B4-BE49-F238E27FC236}">
                <a16:creationId xmlns:a16="http://schemas.microsoft.com/office/drawing/2014/main" id="{1D347892-B63E-AB66-AFAA-21C5D7B2AB22}"/>
              </a:ext>
            </a:extLst>
          </p:cNvPr>
          <p:cNvSpPr txBox="1"/>
          <p:nvPr/>
        </p:nvSpPr>
        <p:spPr>
          <a:xfrm>
            <a:off x="1229032" y="5237655"/>
            <a:ext cx="9399638" cy="1477328"/>
          </a:xfrm>
          <a:prstGeom prst="rect">
            <a:avLst/>
          </a:prstGeom>
          <a:noFill/>
        </p:spPr>
        <p:txBody>
          <a:bodyPr wrap="square">
            <a:spAutoFit/>
          </a:bodyPr>
          <a:lstStyle/>
          <a:p>
            <a:r>
              <a:rPr lang="en-US" dirty="0"/>
              <a:t>You may have noticed that there is </a:t>
            </a:r>
            <a:r>
              <a:rPr lang="en-US" b="1" dirty="0"/>
              <a:t>no </a:t>
            </a:r>
            <a:r>
              <a:rPr lang="en-US" b="1" dirty="0" err="1"/>
              <a:t>random_state</a:t>
            </a:r>
            <a:r>
              <a:rPr lang="en-US" b="1" dirty="0"/>
              <a:t> parameter</a:t>
            </a:r>
            <a:r>
              <a:rPr lang="en-US" dirty="0"/>
              <a:t>, even though DBSCAN starts at a random point. </a:t>
            </a:r>
            <a:r>
              <a:rPr lang="en-US" dirty="0">
                <a:highlight>
                  <a:srgbClr val="FFFF00"/>
                </a:highlight>
              </a:rPr>
              <a:t>This is because </a:t>
            </a:r>
            <a:r>
              <a:rPr lang="en-US" dirty="0" err="1">
                <a:highlight>
                  <a:srgbClr val="FFFF00"/>
                </a:highlight>
              </a:rPr>
              <a:t>sklearn’s</a:t>
            </a:r>
            <a:r>
              <a:rPr lang="en-US" dirty="0">
                <a:highlight>
                  <a:srgbClr val="FFFF00"/>
                </a:highlight>
              </a:rPr>
              <a:t> implementation of DBSCAN starts at the first point in the data set and moves on from there</a:t>
            </a:r>
            <a:r>
              <a:rPr lang="en-US" dirty="0"/>
              <a:t>. You could attempt to get different labels by shuffling the data, but DBSCAN’s labels don’t vary as much as K-Mean Clustering’s labels, so this isn’t as big of an issue.</a:t>
            </a:r>
            <a:endParaRPr lang="lt-LT" dirty="0"/>
          </a:p>
        </p:txBody>
      </p:sp>
    </p:spTree>
    <p:extLst>
      <p:ext uri="{BB962C8B-B14F-4D97-AF65-F5344CB8AC3E}">
        <p14:creationId xmlns:p14="http://schemas.microsoft.com/office/powerpoint/2010/main" val="4177498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E0416-7B41-299A-77D7-C67590E29812}"/>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18476CC0-765F-DB88-9EC4-A4A95970D842}"/>
              </a:ext>
            </a:extLst>
          </p:cNvPr>
          <p:cNvSpPr>
            <a:spLocks noGrp="1"/>
          </p:cNvSpPr>
          <p:nvPr>
            <p:ph type="title"/>
          </p:nvPr>
        </p:nvSpPr>
        <p:spPr/>
        <p:txBody>
          <a:bodyPr/>
          <a:lstStyle/>
          <a:p>
            <a:r>
              <a:rPr lang="lt-LT" dirty="0"/>
              <a:t>DBSCAN IN PYTHON</a:t>
            </a:r>
          </a:p>
        </p:txBody>
      </p:sp>
      <p:sp>
        <p:nvSpPr>
          <p:cNvPr id="4" name="TextBox 3">
            <a:extLst>
              <a:ext uri="{FF2B5EF4-FFF2-40B4-BE49-F238E27FC236}">
                <a16:creationId xmlns:a16="http://schemas.microsoft.com/office/drawing/2014/main" id="{D77D7E79-F033-9DA6-B3AA-44E95A295062}"/>
              </a:ext>
            </a:extLst>
          </p:cNvPr>
          <p:cNvSpPr txBox="1"/>
          <p:nvPr/>
        </p:nvSpPr>
        <p:spPr>
          <a:xfrm>
            <a:off x="993057" y="1367522"/>
            <a:ext cx="9399639" cy="369332"/>
          </a:xfrm>
          <a:prstGeom prst="rect">
            <a:avLst/>
          </a:prstGeom>
          <a:noFill/>
        </p:spPr>
        <p:txBody>
          <a:bodyPr wrap="square">
            <a:spAutoFit/>
          </a:bodyPr>
          <a:lstStyle/>
          <a:p>
            <a:r>
              <a:rPr lang="lt-LT" dirty="0" err="1"/>
              <a:t>Use</a:t>
            </a:r>
            <a:r>
              <a:rPr lang="lt-LT" dirty="0"/>
              <a:t> </a:t>
            </a:r>
            <a:r>
              <a:rPr lang="en-US" dirty="0" err="1"/>
              <a:t>sklearn’s</a:t>
            </a:r>
            <a:r>
              <a:rPr lang="en-US" dirty="0"/>
              <a:t> DBSCAN() to perform DBSCAN clustering in Python</a:t>
            </a:r>
            <a:endParaRPr lang="lt-LT" dirty="0"/>
          </a:p>
        </p:txBody>
      </p:sp>
      <p:pic>
        <p:nvPicPr>
          <p:cNvPr id="5" name="Paveikslėlis 4" descr="Paveikslėlis, kuriame yra tekstas, ekrano kopija, Šriftas, skaičius&#10;&#10;Dirbtinio intelekto sugeneruotas turinys gali būti neteisingas.">
            <a:extLst>
              <a:ext uri="{FF2B5EF4-FFF2-40B4-BE49-F238E27FC236}">
                <a16:creationId xmlns:a16="http://schemas.microsoft.com/office/drawing/2014/main" id="{2E0D52E3-4400-081F-3C62-7EAFC31E8991}"/>
              </a:ext>
            </a:extLst>
          </p:cNvPr>
          <p:cNvPicPr>
            <a:picLocks noChangeAspect="1"/>
          </p:cNvPicPr>
          <p:nvPr/>
        </p:nvPicPr>
        <p:blipFill>
          <a:blip r:embed="rId2"/>
          <a:stretch>
            <a:fillRect/>
          </a:stretch>
        </p:blipFill>
        <p:spPr>
          <a:xfrm>
            <a:off x="838200" y="2013493"/>
            <a:ext cx="9010084" cy="4479382"/>
          </a:xfrm>
          <a:prstGeom prst="rect">
            <a:avLst/>
          </a:prstGeom>
        </p:spPr>
      </p:pic>
    </p:spTree>
    <p:extLst>
      <p:ext uri="{BB962C8B-B14F-4D97-AF65-F5344CB8AC3E}">
        <p14:creationId xmlns:p14="http://schemas.microsoft.com/office/powerpoint/2010/main" val="4092941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1165D6C-1F32-202B-2BC1-EBCE3762B6D2}"/>
              </a:ext>
            </a:extLst>
          </p:cNvPr>
          <p:cNvSpPr>
            <a:spLocks noGrp="1"/>
          </p:cNvSpPr>
          <p:nvPr>
            <p:ph type="title"/>
          </p:nvPr>
        </p:nvSpPr>
        <p:spPr/>
        <p:txBody>
          <a:bodyPr/>
          <a:lstStyle/>
          <a:p>
            <a:r>
              <a:rPr lang="lt-LT" dirty="0"/>
              <a:t>SILHOUETTE SCORE</a:t>
            </a:r>
          </a:p>
        </p:txBody>
      </p:sp>
      <p:sp>
        <p:nvSpPr>
          <p:cNvPr id="4" name="TextBox 3">
            <a:extLst>
              <a:ext uri="{FF2B5EF4-FFF2-40B4-BE49-F238E27FC236}">
                <a16:creationId xmlns:a16="http://schemas.microsoft.com/office/drawing/2014/main" id="{6F275729-3194-EB5A-53C6-C5D73030D6C3}"/>
              </a:ext>
            </a:extLst>
          </p:cNvPr>
          <p:cNvSpPr txBox="1"/>
          <p:nvPr/>
        </p:nvSpPr>
        <p:spPr>
          <a:xfrm>
            <a:off x="973393" y="1674674"/>
            <a:ext cx="9812594" cy="1200329"/>
          </a:xfrm>
          <a:prstGeom prst="rect">
            <a:avLst/>
          </a:prstGeom>
          <a:noFill/>
        </p:spPr>
        <p:txBody>
          <a:bodyPr wrap="square">
            <a:spAutoFit/>
          </a:bodyPr>
          <a:lstStyle/>
          <a:p>
            <a:r>
              <a:rPr lang="en-US" dirty="0"/>
              <a:t>While intuition is a large part of comparing clustering models, you can also use metrics like silhouette score to help compare models </a:t>
            </a:r>
            <a:endParaRPr lang="lt-LT" dirty="0"/>
          </a:p>
          <a:p>
            <a:r>
              <a:rPr lang="lt-LT" dirty="0"/>
              <a:t>	</a:t>
            </a:r>
            <a:r>
              <a:rPr lang="en-US" dirty="0"/>
              <a:t>• Scores range from -1 to +1, with higher values meaning data points are highly matched to their own cluster and poorly matched to other clusters (which is a good thing!)</a:t>
            </a:r>
            <a:endParaRPr lang="lt-LT" dirty="0"/>
          </a:p>
        </p:txBody>
      </p:sp>
      <p:pic>
        <p:nvPicPr>
          <p:cNvPr id="6" name="Paveikslėlis 5" descr="Paveikslėlis, kuriame yra tekstas, ekrano kopija, Šriftas, dizainas&#10;&#10;Dirbtinio intelekto sugeneruotas turinys gali būti neteisingas.">
            <a:extLst>
              <a:ext uri="{FF2B5EF4-FFF2-40B4-BE49-F238E27FC236}">
                <a16:creationId xmlns:a16="http://schemas.microsoft.com/office/drawing/2014/main" id="{299A265D-340A-C0F7-2241-34137EA7644B}"/>
              </a:ext>
            </a:extLst>
          </p:cNvPr>
          <p:cNvPicPr>
            <a:picLocks noChangeAspect="1"/>
          </p:cNvPicPr>
          <p:nvPr/>
        </p:nvPicPr>
        <p:blipFill>
          <a:blip r:embed="rId2"/>
          <a:stretch>
            <a:fillRect/>
          </a:stretch>
        </p:blipFill>
        <p:spPr>
          <a:xfrm>
            <a:off x="973393" y="2875003"/>
            <a:ext cx="10170728" cy="3790598"/>
          </a:xfrm>
          <a:prstGeom prst="rect">
            <a:avLst/>
          </a:prstGeom>
        </p:spPr>
      </p:pic>
    </p:spTree>
    <p:extLst>
      <p:ext uri="{BB962C8B-B14F-4D97-AF65-F5344CB8AC3E}">
        <p14:creationId xmlns:p14="http://schemas.microsoft.com/office/powerpoint/2010/main" val="19387196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7FF44-2D0E-0646-8148-6320BD5C056F}"/>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3A9F20E3-6D68-3BD8-714D-65D7BBD572E6}"/>
              </a:ext>
            </a:extLst>
          </p:cNvPr>
          <p:cNvSpPr>
            <a:spLocks noGrp="1"/>
          </p:cNvSpPr>
          <p:nvPr>
            <p:ph type="title"/>
          </p:nvPr>
        </p:nvSpPr>
        <p:spPr/>
        <p:txBody>
          <a:bodyPr/>
          <a:lstStyle/>
          <a:p>
            <a:r>
              <a:rPr lang="lt-LT" dirty="0"/>
              <a:t>SILHOUETTE SCORE</a:t>
            </a:r>
          </a:p>
        </p:txBody>
      </p:sp>
      <p:sp>
        <p:nvSpPr>
          <p:cNvPr id="4" name="TextBox 3">
            <a:extLst>
              <a:ext uri="{FF2B5EF4-FFF2-40B4-BE49-F238E27FC236}">
                <a16:creationId xmlns:a16="http://schemas.microsoft.com/office/drawing/2014/main" id="{1CBF9AD5-D7E0-9267-8AE6-2F660EA3F5F8}"/>
              </a:ext>
            </a:extLst>
          </p:cNvPr>
          <p:cNvSpPr txBox="1"/>
          <p:nvPr/>
        </p:nvSpPr>
        <p:spPr>
          <a:xfrm>
            <a:off x="973393" y="1674674"/>
            <a:ext cx="9812594" cy="369332"/>
          </a:xfrm>
          <a:prstGeom prst="rect">
            <a:avLst/>
          </a:prstGeom>
          <a:noFill/>
        </p:spPr>
        <p:txBody>
          <a:bodyPr wrap="square">
            <a:spAutoFit/>
          </a:bodyPr>
          <a:lstStyle/>
          <a:p>
            <a:r>
              <a:rPr lang="en-US" dirty="0"/>
              <a:t>Formula is used to calculate the silhouette score for each data point:</a:t>
            </a:r>
            <a:endParaRPr lang="lt-LT" dirty="0"/>
          </a:p>
        </p:txBody>
      </p:sp>
      <p:pic>
        <p:nvPicPr>
          <p:cNvPr id="5" name="Paveikslėlis 4" descr="Paveikslėlis, kuriame yra tekstas, ekrano kopija, Šriftas, linija&#10;&#10;Dirbtinio intelekto sugeneruotas turinys gali būti neteisingas.">
            <a:extLst>
              <a:ext uri="{FF2B5EF4-FFF2-40B4-BE49-F238E27FC236}">
                <a16:creationId xmlns:a16="http://schemas.microsoft.com/office/drawing/2014/main" id="{A85245FC-0E05-C26D-6E75-276BFC81B012}"/>
              </a:ext>
            </a:extLst>
          </p:cNvPr>
          <p:cNvPicPr>
            <a:picLocks noChangeAspect="1"/>
          </p:cNvPicPr>
          <p:nvPr/>
        </p:nvPicPr>
        <p:blipFill>
          <a:blip r:embed="rId2"/>
          <a:stretch>
            <a:fillRect/>
          </a:stretch>
        </p:blipFill>
        <p:spPr>
          <a:xfrm>
            <a:off x="973393" y="2358315"/>
            <a:ext cx="8836732" cy="4499685"/>
          </a:xfrm>
          <a:prstGeom prst="rect">
            <a:avLst/>
          </a:prstGeom>
        </p:spPr>
      </p:pic>
    </p:spTree>
    <p:extLst>
      <p:ext uri="{BB962C8B-B14F-4D97-AF65-F5344CB8AC3E}">
        <p14:creationId xmlns:p14="http://schemas.microsoft.com/office/powerpoint/2010/main" val="2460476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A2ECB-5B88-A45E-CBB2-80E8985C18AD}"/>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E3C3CBE7-991A-2860-62E4-FF7CA8B039EA}"/>
              </a:ext>
            </a:extLst>
          </p:cNvPr>
          <p:cNvSpPr>
            <a:spLocks noGrp="1"/>
          </p:cNvSpPr>
          <p:nvPr>
            <p:ph type="title"/>
          </p:nvPr>
        </p:nvSpPr>
        <p:spPr/>
        <p:txBody>
          <a:bodyPr/>
          <a:lstStyle/>
          <a:p>
            <a:r>
              <a:rPr lang="lt-LT" dirty="0"/>
              <a:t>SILHOUETTE SCORE IN PYTHON</a:t>
            </a:r>
          </a:p>
        </p:txBody>
      </p:sp>
      <p:sp>
        <p:nvSpPr>
          <p:cNvPr id="4" name="TextBox 3">
            <a:extLst>
              <a:ext uri="{FF2B5EF4-FFF2-40B4-BE49-F238E27FC236}">
                <a16:creationId xmlns:a16="http://schemas.microsoft.com/office/drawing/2014/main" id="{25E39EF3-F521-84B2-DC8D-EA4BE1CC1D69}"/>
              </a:ext>
            </a:extLst>
          </p:cNvPr>
          <p:cNvSpPr txBox="1"/>
          <p:nvPr/>
        </p:nvSpPr>
        <p:spPr>
          <a:xfrm>
            <a:off x="973393" y="1674674"/>
            <a:ext cx="9812594" cy="646331"/>
          </a:xfrm>
          <a:prstGeom prst="rect">
            <a:avLst/>
          </a:prstGeom>
          <a:noFill/>
        </p:spPr>
        <p:txBody>
          <a:bodyPr wrap="square">
            <a:spAutoFit/>
          </a:bodyPr>
          <a:lstStyle/>
          <a:p>
            <a:r>
              <a:rPr lang="en-US" dirty="0"/>
              <a:t>Use </a:t>
            </a:r>
            <a:r>
              <a:rPr lang="en-US" dirty="0" err="1"/>
              <a:t>sklearn’s</a:t>
            </a:r>
            <a:r>
              <a:rPr lang="en-US" dirty="0"/>
              <a:t> </a:t>
            </a:r>
            <a:r>
              <a:rPr lang="en-US" b="1" dirty="0" err="1"/>
              <a:t>silhouette_score</a:t>
            </a:r>
            <a:r>
              <a:rPr lang="en-US" b="1" dirty="0"/>
              <a:t>() </a:t>
            </a:r>
            <a:r>
              <a:rPr lang="en-US" dirty="0"/>
              <a:t>function to calculate the silhouette score for the results of a clustering model in Python</a:t>
            </a:r>
            <a:endParaRPr lang="lt-LT" dirty="0"/>
          </a:p>
        </p:txBody>
      </p:sp>
      <p:pic>
        <p:nvPicPr>
          <p:cNvPr id="6" name="Paveikslėlis 5" descr="Paveikslėlis, kuriame yra tekstas, Šriftas, linija, ekrano kopija&#10;&#10;Dirbtinio intelekto sugeneruotas turinys gali būti neteisingas.">
            <a:extLst>
              <a:ext uri="{FF2B5EF4-FFF2-40B4-BE49-F238E27FC236}">
                <a16:creationId xmlns:a16="http://schemas.microsoft.com/office/drawing/2014/main" id="{964C63AF-097C-C15E-DF60-3C476C78FB3C}"/>
              </a:ext>
            </a:extLst>
          </p:cNvPr>
          <p:cNvPicPr>
            <a:picLocks noChangeAspect="1"/>
          </p:cNvPicPr>
          <p:nvPr/>
        </p:nvPicPr>
        <p:blipFill>
          <a:blip r:embed="rId2"/>
          <a:stretch>
            <a:fillRect/>
          </a:stretch>
        </p:blipFill>
        <p:spPr>
          <a:xfrm>
            <a:off x="370502" y="2444776"/>
            <a:ext cx="11745964" cy="3305636"/>
          </a:xfrm>
          <a:prstGeom prst="rect">
            <a:avLst/>
          </a:prstGeom>
        </p:spPr>
      </p:pic>
    </p:spTree>
    <p:extLst>
      <p:ext uri="{BB962C8B-B14F-4D97-AF65-F5344CB8AC3E}">
        <p14:creationId xmlns:p14="http://schemas.microsoft.com/office/powerpoint/2010/main" val="4070000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A49250A-D19A-2823-5627-921BFB3E6D9A}"/>
              </a:ext>
            </a:extLst>
          </p:cNvPr>
          <p:cNvSpPr>
            <a:spLocks noGrp="1"/>
          </p:cNvSpPr>
          <p:nvPr>
            <p:ph type="title"/>
          </p:nvPr>
        </p:nvSpPr>
        <p:spPr/>
        <p:txBody>
          <a:bodyPr/>
          <a:lstStyle/>
          <a:p>
            <a:r>
              <a:rPr lang="lt-LT" dirty="0"/>
              <a:t>CLUSTERING ALGORITHMS RECAP</a:t>
            </a:r>
          </a:p>
        </p:txBody>
      </p:sp>
      <p:pic>
        <p:nvPicPr>
          <p:cNvPr id="4" name="Paveikslėlis 3" descr="Paveikslėlis, kuriame yra tekstas, Šriftas, skaičius, ekrano kopija&#10;&#10;Dirbtinio intelekto sugeneruotas turinys gali būti neteisingas.">
            <a:extLst>
              <a:ext uri="{FF2B5EF4-FFF2-40B4-BE49-F238E27FC236}">
                <a16:creationId xmlns:a16="http://schemas.microsoft.com/office/drawing/2014/main" id="{809CD1B9-B85B-8F74-5C5F-00437D3851BC}"/>
              </a:ext>
            </a:extLst>
          </p:cNvPr>
          <p:cNvPicPr>
            <a:picLocks noChangeAspect="1"/>
          </p:cNvPicPr>
          <p:nvPr/>
        </p:nvPicPr>
        <p:blipFill>
          <a:blip r:embed="rId2"/>
          <a:stretch>
            <a:fillRect/>
          </a:stretch>
        </p:blipFill>
        <p:spPr>
          <a:xfrm>
            <a:off x="323044" y="1399892"/>
            <a:ext cx="11545911" cy="4058216"/>
          </a:xfrm>
          <a:prstGeom prst="rect">
            <a:avLst/>
          </a:prstGeom>
        </p:spPr>
      </p:pic>
    </p:spTree>
    <p:extLst>
      <p:ext uri="{BB962C8B-B14F-4D97-AF65-F5344CB8AC3E}">
        <p14:creationId xmlns:p14="http://schemas.microsoft.com/office/powerpoint/2010/main" val="1399009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758BF-B5AB-5FC7-BC6A-251F183DC02D}"/>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294E8DA5-763D-4023-FB5F-B713A4F816FE}"/>
              </a:ext>
            </a:extLst>
          </p:cNvPr>
          <p:cNvSpPr>
            <a:spLocks noGrp="1"/>
          </p:cNvSpPr>
          <p:nvPr>
            <p:ph type="title"/>
          </p:nvPr>
        </p:nvSpPr>
        <p:spPr/>
        <p:txBody>
          <a:bodyPr/>
          <a:lstStyle/>
          <a:p>
            <a:r>
              <a:rPr lang="lt-LT" dirty="0"/>
              <a:t>CLUSTERING ALGORITHMS RECAP</a:t>
            </a:r>
          </a:p>
        </p:txBody>
      </p:sp>
      <p:sp>
        <p:nvSpPr>
          <p:cNvPr id="5" name="TextBox 4">
            <a:extLst>
              <a:ext uri="{FF2B5EF4-FFF2-40B4-BE49-F238E27FC236}">
                <a16:creationId xmlns:a16="http://schemas.microsoft.com/office/drawing/2014/main" id="{CFC5789A-4747-C8C5-5D86-D89EA4F91739}"/>
              </a:ext>
            </a:extLst>
          </p:cNvPr>
          <p:cNvSpPr txBox="1"/>
          <p:nvPr/>
        </p:nvSpPr>
        <p:spPr>
          <a:xfrm>
            <a:off x="838200" y="1690688"/>
            <a:ext cx="9996948" cy="369332"/>
          </a:xfrm>
          <a:prstGeom prst="rect">
            <a:avLst/>
          </a:prstGeom>
          <a:noFill/>
        </p:spPr>
        <p:txBody>
          <a:bodyPr wrap="square">
            <a:spAutoFit/>
          </a:bodyPr>
          <a:lstStyle/>
          <a:p>
            <a:r>
              <a:rPr lang="en-US" dirty="0"/>
              <a:t>How each clustering algorithms compares on different data sets:</a:t>
            </a:r>
            <a:endParaRPr lang="lt-LT" dirty="0"/>
          </a:p>
        </p:txBody>
      </p:sp>
      <p:pic>
        <p:nvPicPr>
          <p:cNvPr id="7" name="Paveikslėlis 6" descr="Paveikslėlis, kuriame yra tekstas, Šriftas, Grafika, dizainas&#10;&#10;Dirbtinio intelekto sugeneruotas turinys gali būti neteisingas.">
            <a:extLst>
              <a:ext uri="{FF2B5EF4-FFF2-40B4-BE49-F238E27FC236}">
                <a16:creationId xmlns:a16="http://schemas.microsoft.com/office/drawing/2014/main" id="{E09649E4-A201-B5C1-142B-3FA4436D7231}"/>
              </a:ext>
            </a:extLst>
          </p:cNvPr>
          <p:cNvPicPr>
            <a:picLocks noChangeAspect="1"/>
          </p:cNvPicPr>
          <p:nvPr/>
        </p:nvPicPr>
        <p:blipFill>
          <a:blip r:embed="rId2"/>
          <a:stretch>
            <a:fillRect/>
          </a:stretch>
        </p:blipFill>
        <p:spPr>
          <a:xfrm>
            <a:off x="1100508" y="2503484"/>
            <a:ext cx="9472332" cy="4221366"/>
          </a:xfrm>
          <a:prstGeom prst="rect">
            <a:avLst/>
          </a:prstGeom>
        </p:spPr>
      </p:pic>
    </p:spTree>
    <p:extLst>
      <p:ext uri="{BB962C8B-B14F-4D97-AF65-F5344CB8AC3E}">
        <p14:creationId xmlns:p14="http://schemas.microsoft.com/office/powerpoint/2010/main" val="35587544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1757395-A39E-882C-6FA3-9E9C0C19A16B}"/>
              </a:ext>
            </a:extLst>
          </p:cNvPr>
          <p:cNvSpPr>
            <a:spLocks noGrp="1"/>
          </p:cNvSpPr>
          <p:nvPr>
            <p:ph type="title"/>
          </p:nvPr>
        </p:nvSpPr>
        <p:spPr/>
        <p:txBody>
          <a:bodyPr/>
          <a:lstStyle/>
          <a:p>
            <a:r>
              <a:rPr lang="lt-LT" dirty="0"/>
              <a:t>CLUSTERING NEXT STEPS</a:t>
            </a:r>
          </a:p>
        </p:txBody>
      </p:sp>
      <p:sp>
        <p:nvSpPr>
          <p:cNvPr id="4" name="TextBox 3">
            <a:extLst>
              <a:ext uri="{FF2B5EF4-FFF2-40B4-BE49-F238E27FC236}">
                <a16:creationId xmlns:a16="http://schemas.microsoft.com/office/drawing/2014/main" id="{5FD86AA9-4A40-24A3-8D97-1F944AE745A4}"/>
              </a:ext>
            </a:extLst>
          </p:cNvPr>
          <p:cNvSpPr txBox="1"/>
          <p:nvPr/>
        </p:nvSpPr>
        <p:spPr>
          <a:xfrm>
            <a:off x="1219201" y="1573271"/>
            <a:ext cx="8131277" cy="4524315"/>
          </a:xfrm>
          <a:prstGeom prst="rect">
            <a:avLst/>
          </a:prstGeom>
          <a:noFill/>
        </p:spPr>
        <p:txBody>
          <a:bodyPr wrap="square">
            <a:spAutoFit/>
          </a:bodyPr>
          <a:lstStyle/>
          <a:p>
            <a:r>
              <a:rPr lang="en-US" dirty="0"/>
              <a:t>Once you’ve fit &amp; interpreted your initial models, the potential next steps are to: </a:t>
            </a:r>
          </a:p>
          <a:p>
            <a:r>
              <a:rPr lang="en-US" b="1" dirty="0"/>
              <a:t> 1. Compare clustering models </a:t>
            </a:r>
          </a:p>
          <a:p>
            <a:r>
              <a:rPr lang="en-US" dirty="0"/>
              <a:t>	</a:t>
            </a:r>
            <a:r>
              <a:rPr lang="en-US" b="1" dirty="0"/>
              <a:t>• Silhouette Score: </a:t>
            </a:r>
            <a:r>
              <a:rPr lang="en-US" dirty="0"/>
              <a:t>Higher scores closer to 1 mean that clusters are better defined </a:t>
            </a:r>
          </a:p>
          <a:p>
            <a:r>
              <a:rPr lang="en-US" dirty="0"/>
              <a:t>	</a:t>
            </a:r>
            <a:r>
              <a:rPr lang="en-US" b="1" dirty="0"/>
              <a:t>• Intuition: </a:t>
            </a:r>
            <a:r>
              <a:rPr lang="en-US" dirty="0"/>
              <a:t>At the end of the day, the main objective is to answer your business question, so you want to pick the clusters that make the most sense for you to make decisions </a:t>
            </a:r>
          </a:p>
          <a:p>
            <a:r>
              <a:rPr lang="en-US" b="1" dirty="0"/>
              <a:t>2. Label unseen data </a:t>
            </a:r>
          </a:p>
          <a:p>
            <a:r>
              <a:rPr lang="en-US" dirty="0"/>
              <a:t>	</a:t>
            </a:r>
            <a:r>
              <a:rPr lang="en-US" b="1" dirty="0"/>
              <a:t>• Data Prep</a:t>
            </a:r>
            <a:r>
              <a:rPr lang="en-US" dirty="0"/>
              <a:t>: Before labeling unseen data, you must apply the same transformations you applied to the original data set (feature scaling, etc.) when creating the clusters </a:t>
            </a:r>
          </a:p>
          <a:p>
            <a:r>
              <a:rPr lang="en-US" dirty="0"/>
              <a:t>	</a:t>
            </a:r>
            <a:r>
              <a:rPr lang="en-US" b="1" dirty="0"/>
              <a:t>• K-Means Clustering: </a:t>
            </a:r>
            <a:r>
              <a:rPr lang="en-US" dirty="0"/>
              <a:t>The </a:t>
            </a:r>
            <a:r>
              <a:rPr lang="en-US" b="1" dirty="0"/>
              <a:t>.predict </a:t>
            </a:r>
            <a:r>
              <a:rPr lang="en-US" dirty="0"/>
              <a:t>method lets you assign unseen data points to a cluster </a:t>
            </a:r>
          </a:p>
          <a:p>
            <a:r>
              <a:rPr lang="en-US" dirty="0"/>
              <a:t>	</a:t>
            </a:r>
            <a:r>
              <a:rPr lang="en-US" b="1" dirty="0"/>
              <a:t>• Hierarchical Clustering &amp; DBSCAN: </a:t>
            </a:r>
            <a:r>
              <a:rPr lang="en-US" dirty="0"/>
              <a:t>While </a:t>
            </a:r>
            <a:r>
              <a:rPr lang="en-US" dirty="0">
                <a:highlight>
                  <a:srgbClr val="FFFF00"/>
                </a:highlight>
              </a:rPr>
              <a:t>there is no .predict method f</a:t>
            </a:r>
            <a:r>
              <a:rPr lang="en-US" dirty="0"/>
              <a:t>or these, you can label unseen data points by re-fitting the models (you may need to update the parameters)</a:t>
            </a:r>
            <a:endParaRPr lang="lt-LT" dirty="0"/>
          </a:p>
        </p:txBody>
      </p:sp>
    </p:spTree>
    <p:extLst>
      <p:ext uri="{BB962C8B-B14F-4D97-AF65-F5344CB8AC3E}">
        <p14:creationId xmlns:p14="http://schemas.microsoft.com/office/powerpoint/2010/main" val="42518153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FFB7A386-CD3B-3D5C-3777-F12ED5D1AF37}"/>
              </a:ext>
            </a:extLst>
          </p:cNvPr>
          <p:cNvSpPr>
            <a:spLocks noGrp="1"/>
          </p:cNvSpPr>
          <p:nvPr>
            <p:ph type="title"/>
          </p:nvPr>
        </p:nvSpPr>
        <p:spPr/>
        <p:txBody>
          <a:bodyPr/>
          <a:lstStyle/>
          <a:p>
            <a:r>
              <a:rPr lang="lt-LT" dirty="0"/>
              <a:t>KEY TAKEAWAYS</a:t>
            </a:r>
          </a:p>
        </p:txBody>
      </p:sp>
      <p:pic>
        <p:nvPicPr>
          <p:cNvPr id="4" name="Paveikslėlis 3" descr="Paveikslėlis, kuriame yra tekstas, ekrano kopija, Šriftas&#10;&#10;Dirbtinio intelekto sugeneruotas turinys gali būti neteisingas.">
            <a:extLst>
              <a:ext uri="{FF2B5EF4-FFF2-40B4-BE49-F238E27FC236}">
                <a16:creationId xmlns:a16="http://schemas.microsoft.com/office/drawing/2014/main" id="{8B13C123-467F-1EC9-34D9-B243C5732953}"/>
              </a:ext>
            </a:extLst>
          </p:cNvPr>
          <p:cNvPicPr>
            <a:picLocks noChangeAspect="1"/>
          </p:cNvPicPr>
          <p:nvPr/>
        </p:nvPicPr>
        <p:blipFill>
          <a:blip r:embed="rId2"/>
          <a:stretch>
            <a:fillRect/>
          </a:stretch>
        </p:blipFill>
        <p:spPr>
          <a:xfrm>
            <a:off x="261994" y="2487561"/>
            <a:ext cx="11930005" cy="3774914"/>
          </a:xfrm>
          <a:prstGeom prst="rect">
            <a:avLst/>
          </a:prstGeom>
        </p:spPr>
      </p:pic>
    </p:spTree>
    <p:extLst>
      <p:ext uri="{BB962C8B-B14F-4D97-AF65-F5344CB8AC3E}">
        <p14:creationId xmlns:p14="http://schemas.microsoft.com/office/powerpoint/2010/main" val="1266178217"/>
      </p:ext>
    </p:extLst>
  </p:cSld>
  <p:clrMapOvr>
    <a:masterClrMapping/>
  </p:clrMapOvr>
</p:sld>
</file>

<file path=ppt/theme/theme1.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TaxCatchAll xmlns="eb74e56a-683e-4ac4-9917-2810b22b5cab" xsi:nil="true"/>
    <AppVersion xmlns="662e3587-765d-4918-9d92-5b93275042d2" xsi:nil="true"/>
    <Self_Registration_Enabled xmlns="662e3587-765d-4918-9d92-5b93275042d2" xsi:nil="true"/>
    <Has_Teacher_Only_SectionGroup xmlns="662e3587-765d-4918-9d92-5b93275042d2" xsi:nil="true"/>
    <lcf76f155ced4ddcb4097134ff3c332f xmlns="662e3587-765d-4918-9d92-5b93275042d2">
      <Terms xmlns="http://schemas.microsoft.com/office/infopath/2007/PartnerControls"/>
    </lcf76f155ced4ddcb4097134ff3c332f>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BB865AAF-2500-4549-9CE0-23DC60C9A1AF}"/>
</file>

<file path=customXml/itemProps2.xml><?xml version="1.0" encoding="utf-8"?>
<ds:datastoreItem xmlns:ds="http://schemas.openxmlformats.org/officeDocument/2006/customXml" ds:itemID="{71E9ABF6-47D7-4DCE-BAD2-73368848D47D}"/>
</file>

<file path=customXml/itemProps3.xml><?xml version="1.0" encoding="utf-8"?>
<ds:datastoreItem xmlns:ds="http://schemas.openxmlformats.org/officeDocument/2006/customXml" ds:itemID="{43EB5C8F-C902-4B53-B592-EDC85BAD8FF4}"/>
</file>

<file path=docProps/app.xml><?xml version="1.0" encoding="utf-8"?>
<Properties xmlns="http://schemas.openxmlformats.org/officeDocument/2006/extended-properties" xmlns:vt="http://schemas.openxmlformats.org/officeDocument/2006/docPropsVTypes">
  <TotalTime>1218</TotalTime>
  <Words>2524</Words>
  <Application>Microsoft Office PowerPoint</Application>
  <PresentationFormat>Plačiaekranė</PresentationFormat>
  <Paragraphs>210</Paragraphs>
  <Slides>58</Slides>
  <Notes>6</Notes>
  <HiddenSlides>0</HiddenSlides>
  <MMClips>0</MMClips>
  <ScaleCrop>false</ScaleCrop>
  <HeadingPairs>
    <vt:vector size="6" baseType="variant">
      <vt:variant>
        <vt:lpstr>Naudojami šriftai</vt:lpstr>
      </vt:variant>
      <vt:variant>
        <vt:i4>3</vt:i4>
      </vt:variant>
      <vt:variant>
        <vt:lpstr>Tema</vt:lpstr>
      </vt:variant>
      <vt:variant>
        <vt:i4>1</vt:i4>
      </vt:variant>
      <vt:variant>
        <vt:lpstr>Skaidrių pavadinimai</vt:lpstr>
      </vt:variant>
      <vt:variant>
        <vt:i4>58</vt:i4>
      </vt:variant>
    </vt:vector>
  </HeadingPairs>
  <TitlesOfParts>
    <vt:vector size="62" baseType="lpstr">
      <vt:lpstr>Aptos</vt:lpstr>
      <vt:lpstr>Aptos Display</vt:lpstr>
      <vt:lpstr>Arial</vt:lpstr>
      <vt:lpstr>„Office“ tema</vt:lpstr>
      <vt:lpstr>  Python Machine Learning</vt:lpstr>
      <vt:lpstr>Common machine learning algorithms</vt:lpstr>
      <vt:lpstr>UNSUPERVISED LEARNING 101</vt:lpstr>
      <vt:lpstr>UNSUPERVISED LEARNING TECHNIQUES</vt:lpstr>
      <vt:lpstr>UNSUPERVISED LEARNING APPLICATIONS</vt:lpstr>
      <vt:lpstr>Unsupervised learning techniques &amp; applications</vt:lpstr>
      <vt:lpstr>CLUSTERING</vt:lpstr>
      <vt:lpstr>CLUSTERING BASICS</vt:lpstr>
      <vt:lpstr>CLUSTERING WORKFLOW</vt:lpstr>
      <vt:lpstr>K-MEANS CLUSTERING</vt:lpstr>
      <vt:lpstr>K-MEANS CLUSTERING</vt:lpstr>
      <vt:lpstr>K-MEANS CLUSTERING</vt:lpstr>
      <vt:lpstr>K-MEANS CLUSTERING</vt:lpstr>
      <vt:lpstr>K-MEANS CLUSTERING</vt:lpstr>
      <vt:lpstr>K-MEANS CLUSTERING</vt:lpstr>
      <vt:lpstr>K-MEANS CLUSTERING IN PYTHON</vt:lpstr>
      <vt:lpstr>K-MEANS CLUSTERING IN PYTHON</vt:lpstr>
      <vt:lpstr>K-MEANS CLUSTERING IN PYTHON</vt:lpstr>
      <vt:lpstr>VISUALIZING K-MEANS CLUSTERING</vt:lpstr>
      <vt:lpstr>VISUALIZING K-MEANS CLUSTERING</vt:lpstr>
      <vt:lpstr>VISUALIZING K-MEANS CLUSTERING</vt:lpstr>
      <vt:lpstr>INERTIA</vt:lpstr>
      <vt:lpstr>INERTIA</vt:lpstr>
      <vt:lpstr>INERTIA</vt:lpstr>
      <vt:lpstr>PLOTTING INERTIA IN PYTHON</vt:lpstr>
      <vt:lpstr>TUNING A K-MEANS MODEL</vt:lpstr>
      <vt:lpstr>SELECTING THE BEST MODEL</vt:lpstr>
      <vt:lpstr>SELECTING THE BEST MODEL</vt:lpstr>
      <vt:lpstr>HIERARCHICAL CLUSTERING</vt:lpstr>
      <vt:lpstr>HIERARCHICAL CLUSTERING</vt:lpstr>
      <vt:lpstr>HIERARCHICAL CLUSTERING</vt:lpstr>
      <vt:lpstr>HIERARCHICAL CLUSTERING</vt:lpstr>
      <vt:lpstr>HIERARCHICAL CLUSTERING</vt:lpstr>
      <vt:lpstr>HIERARCHICAL CLUSTERING</vt:lpstr>
      <vt:lpstr>HIERARCHICAL CLUSTERING</vt:lpstr>
      <vt:lpstr>HIERARCHICAL CLUSTERING</vt:lpstr>
      <vt:lpstr>DENDROGRAMS IN PYTHON </vt:lpstr>
      <vt:lpstr>AGGLOMERATIVE CLUSTERING IN PYTHON</vt:lpstr>
      <vt:lpstr>AGGLOMERATIVE CLUSTERING IN PYTHON</vt:lpstr>
      <vt:lpstr>CLUSTER MAPS IN PYTHON</vt:lpstr>
      <vt:lpstr>DBSCAN</vt:lpstr>
      <vt:lpstr>DBSCAN</vt:lpstr>
      <vt:lpstr>DBSCAN DETAILED STEPS</vt:lpstr>
      <vt:lpstr>DBSCAN</vt:lpstr>
      <vt:lpstr>DBSCAN</vt:lpstr>
      <vt:lpstr>DBSCAN</vt:lpstr>
      <vt:lpstr>DBSCAN</vt:lpstr>
      <vt:lpstr>DBSCAN</vt:lpstr>
      <vt:lpstr>DBSCAN</vt:lpstr>
      <vt:lpstr>DBSCAN IN PYTHON</vt:lpstr>
      <vt:lpstr>DBSCAN IN PYTHON</vt:lpstr>
      <vt:lpstr>SILHOUETTE SCORE</vt:lpstr>
      <vt:lpstr>SILHOUETTE SCORE</vt:lpstr>
      <vt:lpstr>SILHOUETTE SCORE IN PYTHON</vt:lpstr>
      <vt:lpstr>CLUSTERING ALGORITHMS RECAP</vt:lpstr>
      <vt:lpstr>CLUSTERING ALGORITHMS RECAP</vt:lpstr>
      <vt:lpstr>CLUSTERING NEXT STEPS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Žydrūnė Kelpšaitė</dc:creator>
  <cp:lastModifiedBy>Žydrūnė Kelpšaitė</cp:lastModifiedBy>
  <cp:revision>3</cp:revision>
  <dcterms:created xsi:type="dcterms:W3CDTF">2026-02-13T17:06:51Z</dcterms:created>
  <dcterms:modified xsi:type="dcterms:W3CDTF">2026-03-16T13:09:49Z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