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62" r:id="rId5"/>
    <p:sldId id="265" r:id="rId6"/>
    <p:sldId id="266" r:id="rId7"/>
    <p:sldId id="267" r:id="rId8"/>
    <p:sldId id="268" r:id="rId9"/>
    <p:sldId id="294" r:id="rId10"/>
    <p:sldId id="328" r:id="rId11"/>
    <p:sldId id="329" r:id="rId12"/>
    <p:sldId id="330" r:id="rId13"/>
    <p:sldId id="331" r:id="rId14"/>
    <p:sldId id="332" r:id="rId15"/>
    <p:sldId id="333" r:id="rId16"/>
    <p:sldId id="334" r:id="rId17"/>
    <p:sldId id="335" r:id="rId18"/>
    <p:sldId id="337" r:id="rId19"/>
    <p:sldId id="336" r:id="rId20"/>
    <p:sldId id="338" r:id="rId21"/>
    <p:sldId id="339" r:id="rId22"/>
    <p:sldId id="340" r:id="rId23"/>
    <p:sldId id="341" r:id="rId24"/>
    <p:sldId id="39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7" r:id="rId40"/>
    <p:sldId id="356" r:id="rId41"/>
    <p:sldId id="358" r:id="rId42"/>
    <p:sldId id="359" r:id="rId43"/>
    <p:sldId id="360" r:id="rId44"/>
    <p:sldId id="361" r:id="rId45"/>
    <p:sldId id="363" r:id="rId46"/>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8CFCCB-D7B1-42E9-ABE3-65C48971661D}" v="13" dt="2026-03-05T10:17:5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08" autoAdjust="0"/>
    <p:restoredTop sz="91283" autoAdjust="0"/>
  </p:normalViewPr>
  <p:slideViewPr>
    <p:cSldViewPr snapToGrid="0">
      <p:cViewPr varScale="1">
        <p:scale>
          <a:sx n="93" d="100"/>
          <a:sy n="93" d="100"/>
        </p:scale>
        <p:origin x="72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undo custSel addSld delSld modSld">
      <pc:chgData name="Žydrūnė Kelpšaitė" userId="e943768126acec1d" providerId="LiveId" clId="{31712FD7-FA85-48BA-9D35-5382388CFC74}" dt="2026-03-05T12:54:56.057" v="198" actId="13926"/>
      <pc:docMkLst>
        <pc:docMk/>
      </pc:docMkLst>
      <pc:sldChg chg="addSp delSp modSp mod">
        <pc:chgData name="Žydrūnė Kelpšaitė" userId="e943768126acec1d" providerId="LiveId" clId="{31712FD7-FA85-48BA-9D35-5382388CFC74}" dt="2026-02-10T16:54:04.972" v="32" actId="20577"/>
        <pc:sldMkLst>
          <pc:docMk/>
          <pc:sldMk cId="4182519725" sldId="256"/>
        </pc:sldMkLst>
        <pc:spChg chg="mod">
          <ac:chgData name="Žydrūnė Kelpšaitė" userId="e943768126acec1d" providerId="LiveId" clId="{31712FD7-FA85-48BA-9D35-5382388CFC74}" dt="2026-02-10T16:54:04.972" v="32" actId="20577"/>
          <ac:spMkLst>
            <pc:docMk/>
            <pc:sldMk cId="4182519725" sldId="256"/>
            <ac:spMk id="2" creationId="{551DE627-F873-EE20-9A3B-D8D2E34FDCCE}"/>
          </ac:spMkLst>
        </pc:spChg>
        <pc:picChg chg="add mod">
          <ac:chgData name="Žydrūnė Kelpšaitė" userId="e943768126acec1d" providerId="LiveId" clId="{31712FD7-FA85-48BA-9D35-5382388CFC74}" dt="2026-02-10T16:53:52.163" v="11" actId="1076"/>
          <ac:picMkLst>
            <pc:docMk/>
            <pc:sldMk cId="4182519725" sldId="256"/>
            <ac:picMk id="4" creationId="{CE8CC486-66A9-21A8-50D5-63FAF7DB1278}"/>
          </ac:picMkLst>
        </pc:picChg>
      </pc:sldChg>
      <pc:sldChg chg="addSp delSp modSp mod">
        <pc:chgData name="Žydrūnė Kelpšaitė" userId="e943768126acec1d" providerId="LiveId" clId="{31712FD7-FA85-48BA-9D35-5382388CFC74}" dt="2026-03-04T15:25:53.559" v="122"/>
        <pc:sldMkLst>
          <pc:docMk/>
          <pc:sldMk cId="293037335" sldId="328"/>
        </pc:sldMkLst>
        <pc:picChg chg="add mod">
          <ac:chgData name="Žydrūnė Kelpšaitė" userId="e943768126acec1d" providerId="LiveId" clId="{31712FD7-FA85-48BA-9D35-5382388CFC74}" dt="2026-03-04T15:25:53.559" v="122"/>
          <ac:picMkLst>
            <pc:docMk/>
            <pc:sldMk cId="293037335" sldId="328"/>
            <ac:picMk id="3" creationId="{123D9692-12F7-6769-012C-17220A8DDBFD}"/>
          </ac:picMkLst>
        </pc:picChg>
        <pc:picChg chg="mod">
          <ac:chgData name="Žydrūnė Kelpšaitė" userId="e943768126acec1d" providerId="LiveId" clId="{31712FD7-FA85-48BA-9D35-5382388CFC74}" dt="2026-02-10T16:53:41.108" v="8" actId="1076"/>
          <ac:picMkLst>
            <pc:docMk/>
            <pc:sldMk cId="293037335" sldId="328"/>
            <ac:picMk id="6" creationId="{A04F8CB6-F1F0-6B7C-77FE-FC771023D075}"/>
          </ac:picMkLst>
        </pc:picChg>
      </pc:sldChg>
      <pc:sldChg chg="modSp mod">
        <pc:chgData name="Žydrūnė Kelpšaitė" userId="e943768126acec1d" providerId="LiveId" clId="{31712FD7-FA85-48BA-9D35-5382388CFC74}" dt="2026-03-05T11:10:18.105" v="196" actId="113"/>
        <pc:sldMkLst>
          <pc:docMk/>
          <pc:sldMk cId="3026772491" sldId="329"/>
        </pc:sldMkLst>
        <pc:spChg chg="mod">
          <ac:chgData name="Žydrūnė Kelpšaitė" userId="e943768126acec1d" providerId="LiveId" clId="{31712FD7-FA85-48BA-9D35-5382388CFC74}" dt="2026-03-05T11:10:18.105" v="196" actId="113"/>
          <ac:spMkLst>
            <pc:docMk/>
            <pc:sldMk cId="3026772491" sldId="329"/>
            <ac:spMk id="4" creationId="{FA23A86E-9B19-2EC3-3673-5E51E22DDB80}"/>
          </ac:spMkLst>
        </pc:spChg>
      </pc:sldChg>
      <pc:sldChg chg="modSp mod">
        <pc:chgData name="Žydrūnė Kelpšaitė" userId="e943768126acec1d" providerId="LiveId" clId="{31712FD7-FA85-48BA-9D35-5382388CFC74}" dt="2026-02-11T07:57:05.757" v="117" actId="13926"/>
        <pc:sldMkLst>
          <pc:docMk/>
          <pc:sldMk cId="1554315041" sldId="330"/>
        </pc:sldMkLst>
        <pc:spChg chg="mod">
          <ac:chgData name="Žydrūnė Kelpšaitė" userId="e943768126acec1d" providerId="LiveId" clId="{31712FD7-FA85-48BA-9D35-5382388CFC74}" dt="2026-02-11T07:57:05.757" v="117" actId="13926"/>
          <ac:spMkLst>
            <pc:docMk/>
            <pc:sldMk cId="1554315041" sldId="330"/>
            <ac:spMk id="6" creationId="{7F8CD3B4-BA17-2D24-04C0-BC9EA94EC6C6}"/>
          </ac:spMkLst>
        </pc:spChg>
      </pc:sldChg>
      <pc:sldChg chg="modSp mod">
        <pc:chgData name="Žydrūnė Kelpšaitė" userId="e943768126acec1d" providerId="LiveId" clId="{31712FD7-FA85-48BA-9D35-5382388CFC74}" dt="2026-02-10T18:21:39.538" v="39" actId="1076"/>
        <pc:sldMkLst>
          <pc:docMk/>
          <pc:sldMk cId="1146689194" sldId="333"/>
        </pc:sldMkLst>
        <pc:picChg chg="mod">
          <ac:chgData name="Žydrūnė Kelpšaitė" userId="e943768126acec1d" providerId="LiveId" clId="{31712FD7-FA85-48BA-9D35-5382388CFC74}" dt="2026-02-10T18:21:34.357" v="37" actId="1076"/>
          <ac:picMkLst>
            <pc:docMk/>
            <pc:sldMk cId="1146689194" sldId="333"/>
            <ac:picMk id="5" creationId="{4A06B99A-DA66-D799-7F4D-A5BC98AB5EA6}"/>
          </ac:picMkLst>
        </pc:picChg>
        <pc:picChg chg="mod">
          <ac:chgData name="Žydrūnė Kelpšaitė" userId="e943768126acec1d" providerId="LiveId" clId="{31712FD7-FA85-48BA-9D35-5382388CFC74}" dt="2026-02-10T18:21:36.643" v="38" actId="1076"/>
          <ac:picMkLst>
            <pc:docMk/>
            <pc:sldMk cId="1146689194" sldId="333"/>
            <ac:picMk id="10" creationId="{EB138B93-D287-1470-F851-FD33343BD11B}"/>
          </ac:picMkLst>
        </pc:picChg>
        <pc:picChg chg="mod">
          <ac:chgData name="Žydrūnė Kelpšaitė" userId="e943768126acec1d" providerId="LiveId" clId="{31712FD7-FA85-48BA-9D35-5382388CFC74}" dt="2026-02-10T18:21:39.538" v="39" actId="1076"/>
          <ac:picMkLst>
            <pc:docMk/>
            <pc:sldMk cId="1146689194" sldId="333"/>
            <ac:picMk id="12" creationId="{2AB98D97-9EB1-D483-6110-04E3E3B8D0A0}"/>
          </ac:picMkLst>
        </pc:picChg>
      </pc:sldChg>
      <pc:sldChg chg="modNotesTx">
        <pc:chgData name="Žydrūnė Kelpšaitė" userId="e943768126acec1d" providerId="LiveId" clId="{31712FD7-FA85-48BA-9D35-5382388CFC74}" dt="2026-02-10T18:23:47.851" v="51" actId="20577"/>
        <pc:sldMkLst>
          <pc:docMk/>
          <pc:sldMk cId="3901129581" sldId="334"/>
        </pc:sldMkLst>
      </pc:sldChg>
      <pc:sldChg chg="modSp mod modNotesTx">
        <pc:chgData name="Žydrūnė Kelpšaitė" userId="e943768126acec1d" providerId="LiveId" clId="{31712FD7-FA85-48BA-9D35-5382388CFC74}" dt="2026-03-05T09:04:26.924" v="133" actId="113"/>
        <pc:sldMkLst>
          <pc:docMk/>
          <pc:sldMk cId="2886313030" sldId="335"/>
        </pc:sldMkLst>
        <pc:spChg chg="mod">
          <ac:chgData name="Žydrūnė Kelpšaitė" userId="e943768126acec1d" providerId="LiveId" clId="{31712FD7-FA85-48BA-9D35-5382388CFC74}" dt="2026-03-05T09:04:26.924" v="133" actId="113"/>
          <ac:spMkLst>
            <pc:docMk/>
            <pc:sldMk cId="2886313030" sldId="335"/>
            <ac:spMk id="4" creationId="{26F9A440-5629-6F3B-6245-104DF4709EA2}"/>
          </ac:spMkLst>
        </pc:spChg>
      </pc:sldChg>
      <pc:sldChg chg="modSp mod modNotesTx">
        <pc:chgData name="Žydrūnė Kelpšaitė" userId="e943768126acec1d" providerId="LiveId" clId="{31712FD7-FA85-48BA-9D35-5382388CFC74}" dt="2026-03-05T09:07:06.190" v="144" actId="20577"/>
        <pc:sldMkLst>
          <pc:docMk/>
          <pc:sldMk cId="1210471782" sldId="337"/>
        </pc:sldMkLst>
        <pc:spChg chg="mod">
          <ac:chgData name="Žydrūnė Kelpšaitė" userId="e943768126acec1d" providerId="LiveId" clId="{31712FD7-FA85-48BA-9D35-5382388CFC74}" dt="2026-03-04T15:55:15.135" v="125" actId="113"/>
          <ac:spMkLst>
            <pc:docMk/>
            <pc:sldMk cId="1210471782" sldId="337"/>
            <ac:spMk id="4" creationId="{2BAE21C0-4D5D-C4F0-5244-EA413AEFF0A5}"/>
          </ac:spMkLst>
        </pc:spChg>
      </pc:sldChg>
      <pc:sldChg chg="modSp mod">
        <pc:chgData name="Žydrūnė Kelpšaitė" userId="e943768126acec1d" providerId="LiveId" clId="{31712FD7-FA85-48BA-9D35-5382388CFC74}" dt="2026-03-05T09:23:18.775" v="146" actId="1076"/>
        <pc:sldMkLst>
          <pc:docMk/>
          <pc:sldMk cId="1545700645" sldId="340"/>
        </pc:sldMkLst>
        <pc:spChg chg="mod">
          <ac:chgData name="Žydrūnė Kelpšaitė" userId="e943768126acec1d" providerId="LiveId" clId="{31712FD7-FA85-48BA-9D35-5382388CFC74}" dt="2026-03-05T09:23:18.775" v="146" actId="1076"/>
          <ac:spMkLst>
            <pc:docMk/>
            <pc:sldMk cId="1545700645" sldId="340"/>
            <ac:spMk id="6" creationId="{038260D7-CA4E-3DD1-F0E5-66F7324C095C}"/>
          </ac:spMkLst>
        </pc:spChg>
        <pc:picChg chg="mod">
          <ac:chgData name="Žydrūnė Kelpšaitė" userId="e943768126acec1d" providerId="LiveId" clId="{31712FD7-FA85-48BA-9D35-5382388CFC74}" dt="2026-03-05T09:23:09.015" v="145" actId="1076"/>
          <ac:picMkLst>
            <pc:docMk/>
            <pc:sldMk cId="1545700645" sldId="340"/>
            <ac:picMk id="4" creationId="{94B0967D-6701-413F-C2E8-A953472D22B8}"/>
          </ac:picMkLst>
        </pc:picChg>
      </pc:sldChg>
      <pc:sldChg chg="modSp mod">
        <pc:chgData name="Žydrūnė Kelpšaitė" userId="e943768126acec1d" providerId="LiveId" clId="{31712FD7-FA85-48BA-9D35-5382388CFC74}" dt="2026-03-05T11:33:44.170" v="197" actId="13926"/>
        <pc:sldMkLst>
          <pc:docMk/>
          <pc:sldMk cId="1621943759" sldId="342"/>
        </pc:sldMkLst>
        <pc:spChg chg="mod">
          <ac:chgData name="Žydrūnė Kelpšaitė" userId="e943768126acec1d" providerId="LiveId" clId="{31712FD7-FA85-48BA-9D35-5382388CFC74}" dt="2026-03-05T11:33:44.170" v="197" actId="13926"/>
          <ac:spMkLst>
            <pc:docMk/>
            <pc:sldMk cId="1621943759" sldId="342"/>
            <ac:spMk id="6" creationId="{7152D5ED-AD80-947B-15D7-1C55E2B73A3D}"/>
          </ac:spMkLst>
        </pc:spChg>
      </pc:sldChg>
      <pc:sldChg chg="modSp mod">
        <pc:chgData name="Žydrūnė Kelpšaitė" userId="e943768126acec1d" providerId="LiveId" clId="{31712FD7-FA85-48BA-9D35-5382388CFC74}" dt="2026-03-05T09:25:25.847" v="148" actId="113"/>
        <pc:sldMkLst>
          <pc:docMk/>
          <pc:sldMk cId="4236745067" sldId="343"/>
        </pc:sldMkLst>
        <pc:spChg chg="mod">
          <ac:chgData name="Žydrūnė Kelpšaitė" userId="e943768126acec1d" providerId="LiveId" clId="{31712FD7-FA85-48BA-9D35-5382388CFC74}" dt="2026-03-05T09:25:25.847" v="148" actId="113"/>
          <ac:spMkLst>
            <pc:docMk/>
            <pc:sldMk cId="4236745067" sldId="343"/>
            <ac:spMk id="4" creationId="{EB820235-28AD-E3E4-FF8F-8A7AF7DF2002}"/>
          </ac:spMkLst>
        </pc:spChg>
      </pc:sldChg>
      <pc:sldChg chg="modSp mod">
        <pc:chgData name="Žydrūnė Kelpšaitė" userId="e943768126acec1d" providerId="LiveId" clId="{31712FD7-FA85-48BA-9D35-5382388CFC74}" dt="2026-03-05T09:29:57.955" v="152" actId="113"/>
        <pc:sldMkLst>
          <pc:docMk/>
          <pc:sldMk cId="3826291501" sldId="344"/>
        </pc:sldMkLst>
        <pc:spChg chg="mod">
          <ac:chgData name="Žydrūnė Kelpšaitė" userId="e943768126acec1d" providerId="LiveId" clId="{31712FD7-FA85-48BA-9D35-5382388CFC74}" dt="2026-03-05T09:29:57.955" v="152" actId="113"/>
          <ac:spMkLst>
            <pc:docMk/>
            <pc:sldMk cId="3826291501" sldId="344"/>
            <ac:spMk id="4" creationId="{F94C95F5-8E8B-F0AC-9D4C-C4386FB28CD5}"/>
          </ac:spMkLst>
        </pc:spChg>
        <pc:spChg chg="mod">
          <ac:chgData name="Žydrūnė Kelpšaitė" userId="e943768126acec1d" providerId="LiveId" clId="{31712FD7-FA85-48BA-9D35-5382388CFC74}" dt="2026-02-10T19:06:50.287" v="75" actId="20577"/>
          <ac:spMkLst>
            <pc:docMk/>
            <pc:sldMk cId="3826291501" sldId="344"/>
            <ac:spMk id="8" creationId="{8CF8E45F-5920-6B45-4FB5-367495BC09D1}"/>
          </ac:spMkLst>
        </pc:spChg>
      </pc:sldChg>
      <pc:sldChg chg="modSp mod">
        <pc:chgData name="Žydrūnė Kelpšaitė" userId="e943768126acec1d" providerId="LiveId" clId="{31712FD7-FA85-48BA-9D35-5382388CFC74}" dt="2026-03-05T09:31:01.049" v="155" actId="113"/>
        <pc:sldMkLst>
          <pc:docMk/>
          <pc:sldMk cId="2483596865" sldId="345"/>
        </pc:sldMkLst>
        <pc:spChg chg="mod">
          <ac:chgData name="Žydrūnė Kelpšaitė" userId="e943768126acec1d" providerId="LiveId" clId="{31712FD7-FA85-48BA-9D35-5382388CFC74}" dt="2026-03-05T09:31:01.049" v="155" actId="113"/>
          <ac:spMkLst>
            <pc:docMk/>
            <pc:sldMk cId="2483596865" sldId="345"/>
            <ac:spMk id="4" creationId="{89A30154-521A-8CD0-F7C6-60FFE2C355DB}"/>
          </ac:spMkLst>
        </pc:spChg>
      </pc:sldChg>
      <pc:sldChg chg="modSp mod">
        <pc:chgData name="Žydrūnė Kelpšaitė" userId="e943768126acec1d" providerId="LiveId" clId="{31712FD7-FA85-48BA-9D35-5382388CFC74}" dt="2026-03-05T09:38:08.655" v="159" actId="113"/>
        <pc:sldMkLst>
          <pc:docMk/>
          <pc:sldMk cId="2473098667" sldId="346"/>
        </pc:sldMkLst>
        <pc:spChg chg="mod">
          <ac:chgData name="Žydrūnė Kelpšaitė" userId="e943768126acec1d" providerId="LiveId" clId="{31712FD7-FA85-48BA-9D35-5382388CFC74}" dt="2026-03-05T09:38:08.655" v="159" actId="113"/>
          <ac:spMkLst>
            <pc:docMk/>
            <pc:sldMk cId="2473098667" sldId="346"/>
            <ac:spMk id="4" creationId="{28883DCD-C44A-F4F2-C8A0-47FAC8B89983}"/>
          </ac:spMkLst>
        </pc:spChg>
      </pc:sldChg>
      <pc:sldChg chg="modSp mod">
        <pc:chgData name="Žydrūnė Kelpšaitė" userId="e943768126acec1d" providerId="LiveId" clId="{31712FD7-FA85-48BA-9D35-5382388CFC74}" dt="2026-03-05T09:46:26.322" v="167" actId="114"/>
        <pc:sldMkLst>
          <pc:docMk/>
          <pc:sldMk cId="2584135767" sldId="347"/>
        </pc:sldMkLst>
        <pc:spChg chg="mod">
          <ac:chgData name="Žydrūnė Kelpšaitė" userId="e943768126acec1d" providerId="LiveId" clId="{31712FD7-FA85-48BA-9D35-5382388CFC74}" dt="2026-03-05T09:46:26.322" v="167" actId="114"/>
          <ac:spMkLst>
            <pc:docMk/>
            <pc:sldMk cId="2584135767" sldId="347"/>
            <ac:spMk id="4" creationId="{52289802-152D-3BEF-F619-4E1D68C12B0F}"/>
          </ac:spMkLst>
        </pc:spChg>
      </pc:sldChg>
      <pc:sldChg chg="modSp mod">
        <pc:chgData name="Žydrūnė Kelpšaitė" userId="e943768126acec1d" providerId="LiveId" clId="{31712FD7-FA85-48BA-9D35-5382388CFC74}" dt="2026-03-05T09:48:50.568" v="168" actId="113"/>
        <pc:sldMkLst>
          <pc:docMk/>
          <pc:sldMk cId="1421445879" sldId="348"/>
        </pc:sldMkLst>
        <pc:spChg chg="mod">
          <ac:chgData name="Žydrūnė Kelpšaitė" userId="e943768126acec1d" providerId="LiveId" clId="{31712FD7-FA85-48BA-9D35-5382388CFC74}" dt="2026-03-05T09:48:50.568" v="168" actId="113"/>
          <ac:spMkLst>
            <pc:docMk/>
            <pc:sldMk cId="1421445879" sldId="348"/>
            <ac:spMk id="4" creationId="{2BF5912C-C642-3F40-A6D4-AA5B1572848F}"/>
          </ac:spMkLst>
        </pc:spChg>
      </pc:sldChg>
      <pc:sldChg chg="modSp mod">
        <pc:chgData name="Žydrūnė Kelpšaitė" userId="e943768126acec1d" providerId="LiveId" clId="{31712FD7-FA85-48BA-9D35-5382388CFC74}" dt="2026-03-05T09:49:39.359" v="169" actId="113"/>
        <pc:sldMkLst>
          <pc:docMk/>
          <pc:sldMk cId="1056769543" sldId="349"/>
        </pc:sldMkLst>
        <pc:spChg chg="mod">
          <ac:chgData name="Žydrūnė Kelpšaitė" userId="e943768126acec1d" providerId="LiveId" clId="{31712FD7-FA85-48BA-9D35-5382388CFC74}" dt="2026-03-05T09:49:39.359" v="169" actId="113"/>
          <ac:spMkLst>
            <pc:docMk/>
            <pc:sldMk cId="1056769543" sldId="349"/>
            <ac:spMk id="4" creationId="{38425441-AF2B-629B-9C46-F4ED94118789}"/>
          </ac:spMkLst>
        </pc:spChg>
      </pc:sldChg>
      <pc:sldChg chg="modSp mod">
        <pc:chgData name="Žydrūnė Kelpšaitė" userId="e943768126acec1d" providerId="LiveId" clId="{31712FD7-FA85-48BA-9D35-5382388CFC74}" dt="2026-03-05T09:51:58.284" v="170" actId="113"/>
        <pc:sldMkLst>
          <pc:docMk/>
          <pc:sldMk cId="1885121649" sldId="350"/>
        </pc:sldMkLst>
        <pc:spChg chg="mod">
          <ac:chgData name="Žydrūnė Kelpšaitė" userId="e943768126acec1d" providerId="LiveId" clId="{31712FD7-FA85-48BA-9D35-5382388CFC74}" dt="2026-03-05T09:51:58.284" v="170" actId="113"/>
          <ac:spMkLst>
            <pc:docMk/>
            <pc:sldMk cId="1885121649" sldId="350"/>
            <ac:spMk id="4" creationId="{ED390346-B3B2-1B8E-E5F5-D7053A6FBECB}"/>
          </ac:spMkLst>
        </pc:spChg>
      </pc:sldChg>
      <pc:sldChg chg="modSp mod">
        <pc:chgData name="Žydrūnė Kelpšaitė" userId="e943768126acec1d" providerId="LiveId" clId="{31712FD7-FA85-48BA-9D35-5382388CFC74}" dt="2026-03-05T10:01:34.517" v="171" actId="113"/>
        <pc:sldMkLst>
          <pc:docMk/>
          <pc:sldMk cId="1280086832" sldId="353"/>
        </pc:sldMkLst>
        <pc:spChg chg="mod">
          <ac:chgData name="Žydrūnė Kelpšaitė" userId="e943768126acec1d" providerId="LiveId" clId="{31712FD7-FA85-48BA-9D35-5382388CFC74}" dt="2026-03-05T10:01:34.517" v="171" actId="113"/>
          <ac:spMkLst>
            <pc:docMk/>
            <pc:sldMk cId="1280086832" sldId="353"/>
            <ac:spMk id="4" creationId="{0D12038C-5C68-BCE7-8430-6FC462EC18EE}"/>
          </ac:spMkLst>
        </pc:spChg>
      </pc:sldChg>
      <pc:sldChg chg="addSp modSp mod">
        <pc:chgData name="Žydrūnė Kelpšaitė" userId="e943768126acec1d" providerId="LiveId" clId="{31712FD7-FA85-48BA-9D35-5382388CFC74}" dt="2026-03-05T10:02:05.536" v="173" actId="113"/>
        <pc:sldMkLst>
          <pc:docMk/>
          <pc:sldMk cId="2194091859" sldId="354"/>
        </pc:sldMkLst>
        <pc:spChg chg="mod">
          <ac:chgData name="Žydrūnė Kelpšaitė" userId="e943768126acec1d" providerId="LiveId" clId="{31712FD7-FA85-48BA-9D35-5382388CFC74}" dt="2026-03-05T10:02:05.536" v="173" actId="113"/>
          <ac:spMkLst>
            <pc:docMk/>
            <pc:sldMk cId="2194091859" sldId="354"/>
            <ac:spMk id="4" creationId="{5D2121DA-7F8C-D8E4-1C8A-F3A1F322E9A7}"/>
          </ac:spMkLst>
        </pc:spChg>
      </pc:sldChg>
      <pc:sldChg chg="modSp mod modNotesTx">
        <pc:chgData name="Žydrūnė Kelpšaitė" userId="e943768126acec1d" providerId="LiveId" clId="{31712FD7-FA85-48BA-9D35-5382388CFC74}" dt="2026-03-05T10:17:51.475" v="194" actId="20577"/>
        <pc:sldMkLst>
          <pc:docMk/>
          <pc:sldMk cId="3398738179" sldId="355"/>
        </pc:sldMkLst>
        <pc:spChg chg="mod">
          <ac:chgData name="Žydrūnė Kelpšaitė" userId="e943768126acec1d" providerId="LiveId" clId="{31712FD7-FA85-48BA-9D35-5382388CFC74}" dt="2026-03-05T10:02:22.042" v="175" actId="113"/>
          <ac:spMkLst>
            <pc:docMk/>
            <pc:sldMk cId="3398738179" sldId="355"/>
            <ac:spMk id="4" creationId="{AA6E53FE-DD77-E33D-375A-D8F55C5B71A8}"/>
          </ac:spMkLst>
        </pc:spChg>
      </pc:sldChg>
      <pc:sldChg chg="modSp mod">
        <pc:chgData name="Žydrūnė Kelpšaitė" userId="e943768126acec1d" providerId="LiveId" clId="{31712FD7-FA85-48BA-9D35-5382388CFC74}" dt="2026-03-05T10:22:32.191" v="195" actId="13926"/>
        <pc:sldMkLst>
          <pc:docMk/>
          <pc:sldMk cId="1011194686" sldId="358"/>
        </pc:sldMkLst>
        <pc:spChg chg="mod">
          <ac:chgData name="Žydrūnė Kelpšaitė" userId="e943768126acec1d" providerId="LiveId" clId="{31712FD7-FA85-48BA-9D35-5382388CFC74}" dt="2026-03-05T10:22:32.191" v="195" actId="13926"/>
          <ac:spMkLst>
            <pc:docMk/>
            <pc:sldMk cId="1011194686" sldId="358"/>
            <ac:spMk id="4" creationId="{A5246DC2-B5F6-E111-3174-890D268C30FA}"/>
          </ac:spMkLst>
        </pc:spChg>
      </pc:sldChg>
      <pc:sldChg chg="modSp mod">
        <pc:chgData name="Žydrūnė Kelpšaitė" userId="e943768126acec1d" providerId="LiveId" clId="{31712FD7-FA85-48BA-9D35-5382388CFC74}" dt="2026-03-05T12:54:56.057" v="198" actId="13926"/>
        <pc:sldMkLst>
          <pc:docMk/>
          <pc:sldMk cId="749357615" sldId="360"/>
        </pc:sldMkLst>
        <pc:spChg chg="mod">
          <ac:chgData name="Žydrūnė Kelpšaitė" userId="e943768126acec1d" providerId="LiveId" clId="{31712FD7-FA85-48BA-9D35-5382388CFC74}" dt="2026-03-05T12:54:56.057" v="198" actId="13926"/>
          <ac:spMkLst>
            <pc:docMk/>
            <pc:sldMk cId="749357615" sldId="360"/>
            <ac:spMk id="4" creationId="{09046EA2-E6A3-15D8-ED33-4246AE64D8DD}"/>
          </ac:spMkLst>
        </pc:spChg>
      </pc:sldChg>
      <pc:sldChg chg="addSp modSp new mod">
        <pc:chgData name="Žydrūnė Kelpšaitė" userId="e943768126acec1d" providerId="LiveId" clId="{31712FD7-FA85-48BA-9D35-5382388CFC74}" dt="2026-03-04T15:58:03.709" v="131" actId="14100"/>
        <pc:sldMkLst>
          <pc:docMk/>
          <pc:sldMk cId="4135916511" sldId="391"/>
        </pc:sldMkLst>
        <pc:spChg chg="mod">
          <ac:chgData name="Žydrūnė Kelpšaitė" userId="e943768126acec1d" providerId="LiveId" clId="{31712FD7-FA85-48BA-9D35-5382388CFC74}" dt="2026-02-10T18:59:11.966" v="69" actId="20577"/>
          <ac:spMkLst>
            <pc:docMk/>
            <pc:sldMk cId="4135916511" sldId="391"/>
            <ac:spMk id="2" creationId="{99821D5F-ECEB-DC15-A655-C543D466B49F}"/>
          </ac:spMkLst>
        </pc:spChg>
        <pc:picChg chg="add mod">
          <ac:chgData name="Žydrūnė Kelpšaitė" userId="e943768126acec1d" providerId="LiveId" clId="{31712FD7-FA85-48BA-9D35-5382388CFC74}" dt="2026-03-04T15:57:51.524" v="126" actId="1076"/>
          <ac:picMkLst>
            <pc:docMk/>
            <pc:sldMk cId="4135916511" sldId="391"/>
            <ac:picMk id="1026" creationId="{3D262B33-AE16-9804-34CD-2A3CF5585B98}"/>
          </ac:picMkLst>
        </pc:picChg>
        <pc:picChg chg="add mod">
          <ac:chgData name="Žydrūnė Kelpšaitė" userId="e943768126acec1d" providerId="LiveId" clId="{31712FD7-FA85-48BA-9D35-5382388CFC74}" dt="2026-03-04T15:57:58.260" v="129" actId="1076"/>
          <ac:picMkLst>
            <pc:docMk/>
            <pc:sldMk cId="4135916511" sldId="391"/>
            <ac:picMk id="1030" creationId="{D5C57747-74CB-800C-CA8E-D8BD981E93DE}"/>
          </ac:picMkLst>
        </pc:picChg>
        <pc:picChg chg="add mod">
          <ac:chgData name="Žydrūnė Kelpšaitė" userId="e943768126acec1d" providerId="LiveId" clId="{31712FD7-FA85-48BA-9D35-5382388CFC74}" dt="2026-03-04T15:58:03.709" v="131" actId="14100"/>
          <ac:picMkLst>
            <pc:docMk/>
            <pc:sldMk cId="4135916511" sldId="391"/>
            <ac:picMk id="1032" creationId="{92CFF15F-3CBB-6207-E610-507BE01A504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ntraštės vietos rezervavimo ženklas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os vietos rezervavimo ženklas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46B55-7A00-4B37-9506-452FC9AB5533}" type="datetimeFigureOut">
              <a:rPr lang="lt-LT" smtClean="0"/>
              <a:t>2026-03-05</a:t>
            </a:fld>
            <a:endParaRPr lang="lt-LT"/>
          </a:p>
        </p:txBody>
      </p:sp>
      <p:sp>
        <p:nvSpPr>
          <p:cNvPr id="4" name="Skaidrės vaizdo vietos rezervavimo ženkla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Pastabų vietos rezervavimo ženkl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6" name="Poraštės vietos rezervavimo ženklas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kaidrės numerio vietos rezervavimo ženklas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20F9B-62D3-43B3-992C-41AE816F1A60}" type="slidenum">
              <a:rPr lang="lt-LT" smtClean="0"/>
              <a:t>‹#›</a:t>
            </a:fld>
            <a:endParaRPr lang="lt-LT"/>
          </a:p>
        </p:txBody>
      </p:sp>
    </p:spTree>
    <p:extLst>
      <p:ext uri="{BB962C8B-B14F-4D97-AF65-F5344CB8AC3E}">
        <p14:creationId xmlns:p14="http://schemas.microsoft.com/office/powerpoint/2010/main" val="116868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numpy/numpy/blob/v2.4.0/numpy/_core/function_base.py#L27-L188"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endParaRPr lang="lt-LT" dirty="0"/>
          </a:p>
        </p:txBody>
      </p:sp>
      <p:sp>
        <p:nvSpPr>
          <p:cNvPr id="4" name="Skaidrės numerio vietos rezervavimo ženklas 3"/>
          <p:cNvSpPr>
            <a:spLocks noGrp="1"/>
          </p:cNvSpPr>
          <p:nvPr>
            <p:ph type="sldNum" sz="quarter" idx="5"/>
          </p:nvPr>
        </p:nvSpPr>
        <p:spPr/>
        <p:txBody>
          <a:bodyPr/>
          <a:lstStyle/>
          <a:p>
            <a:fld id="{08420F9B-62D3-43B3-992C-41AE816F1A60}" type="slidenum">
              <a:rPr lang="lt-LT" smtClean="0"/>
              <a:t>15</a:t>
            </a:fld>
            <a:endParaRPr lang="lt-LT"/>
          </a:p>
        </p:txBody>
      </p:sp>
    </p:spTree>
    <p:extLst>
      <p:ext uri="{BB962C8B-B14F-4D97-AF65-F5344CB8AC3E}">
        <p14:creationId xmlns:p14="http://schemas.microsoft.com/office/powerpoint/2010/main" val="328373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err="1"/>
              <a:t>Intercept</a:t>
            </a:r>
            <a:r>
              <a:rPr lang="lt-LT" dirty="0"/>
              <a:t> 0</a:t>
            </a:r>
          </a:p>
        </p:txBody>
      </p:sp>
      <p:sp>
        <p:nvSpPr>
          <p:cNvPr id="4" name="Skaidrės numerio vietos rezervavimo ženklas 3"/>
          <p:cNvSpPr>
            <a:spLocks noGrp="1"/>
          </p:cNvSpPr>
          <p:nvPr>
            <p:ph type="sldNum" sz="quarter" idx="5"/>
          </p:nvPr>
        </p:nvSpPr>
        <p:spPr/>
        <p:txBody>
          <a:bodyPr/>
          <a:lstStyle/>
          <a:p>
            <a:fld id="{08420F9B-62D3-43B3-992C-41AE816F1A60}" type="slidenum">
              <a:rPr lang="lt-LT" smtClean="0"/>
              <a:t>16</a:t>
            </a:fld>
            <a:endParaRPr lang="lt-LT"/>
          </a:p>
        </p:txBody>
      </p:sp>
    </p:spTree>
    <p:extLst>
      <p:ext uri="{BB962C8B-B14F-4D97-AF65-F5344CB8AC3E}">
        <p14:creationId xmlns:p14="http://schemas.microsoft.com/office/powerpoint/2010/main" val="2339487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Tikėtinumas – ne tikimybė</a:t>
            </a:r>
          </a:p>
          <a:p>
            <a:r>
              <a:rPr lang="lt-LT" b="1" dirty="0"/>
              <a:t>Tikimybė</a:t>
            </a:r>
            <a:r>
              <a:rPr lang="lt-LT" dirty="0"/>
              <a:t> – P(duomenys | parametrai žinomi)</a:t>
            </a:r>
          </a:p>
          <a:p>
            <a:r>
              <a:rPr lang="lt-LT" b="1" dirty="0"/>
              <a:t>Tikėtinumas</a:t>
            </a:r>
            <a:r>
              <a:rPr lang="lt-LT" dirty="0"/>
              <a:t> – L(parametrai | duomenys fiksuoti)</a:t>
            </a:r>
          </a:p>
          <a:p>
            <a:endParaRPr lang="lt-LT" dirty="0"/>
          </a:p>
          <a:p>
            <a:r>
              <a:rPr lang="lt-LT" dirty="0"/>
              <a:t>Logistinėje regresijoje:</a:t>
            </a:r>
          </a:p>
          <a:p>
            <a:r>
              <a:rPr lang="lt-LT" dirty="0"/>
              <a:t>Maksimizuojamas </a:t>
            </a:r>
            <a:r>
              <a:rPr lang="lt-LT" b="1" dirty="0"/>
              <a:t>tikėtinumas</a:t>
            </a:r>
            <a:endParaRPr lang="lt-LT" dirty="0"/>
          </a:p>
          <a:p>
            <a:r>
              <a:rPr lang="lt-LT" dirty="0"/>
              <a:t>Arba minimizuojamas </a:t>
            </a:r>
            <a:r>
              <a:rPr lang="lt-LT" b="1" dirty="0"/>
              <a:t>neigiamas </a:t>
            </a:r>
            <a:r>
              <a:rPr lang="lt-LT" b="1" dirty="0" err="1"/>
              <a:t>log</a:t>
            </a:r>
            <a:r>
              <a:rPr lang="lt-LT" b="1" dirty="0"/>
              <a:t> tikėtinumas (</a:t>
            </a:r>
            <a:r>
              <a:rPr lang="lt-LT" b="1" dirty="0" err="1"/>
              <a:t>log</a:t>
            </a:r>
            <a:r>
              <a:rPr lang="lt-LT" b="1" dirty="0"/>
              <a:t> </a:t>
            </a:r>
            <a:r>
              <a:rPr lang="lt-LT" b="1" dirty="0" err="1"/>
              <a:t>loss</a:t>
            </a:r>
            <a:r>
              <a:rPr lang="lt-LT" b="1" dirty="0"/>
              <a:t>)</a:t>
            </a:r>
            <a:endParaRPr lang="lt-LT" dirty="0"/>
          </a:p>
          <a:p>
            <a:endParaRPr lang="lt-LT" dirty="0"/>
          </a:p>
        </p:txBody>
      </p:sp>
      <p:sp>
        <p:nvSpPr>
          <p:cNvPr id="4" name="Skaidrės numerio vietos rezervavimo ženklas 3"/>
          <p:cNvSpPr>
            <a:spLocks noGrp="1"/>
          </p:cNvSpPr>
          <p:nvPr>
            <p:ph type="sldNum" sz="quarter" idx="5"/>
          </p:nvPr>
        </p:nvSpPr>
        <p:spPr/>
        <p:txBody>
          <a:bodyPr/>
          <a:lstStyle/>
          <a:p>
            <a:fld id="{08420F9B-62D3-43B3-992C-41AE816F1A60}" type="slidenum">
              <a:rPr lang="lt-LT" smtClean="0"/>
              <a:t>17</a:t>
            </a:fld>
            <a:endParaRPr lang="lt-LT"/>
          </a:p>
        </p:txBody>
      </p:sp>
    </p:spTree>
    <p:extLst>
      <p:ext uri="{BB962C8B-B14F-4D97-AF65-F5344CB8AC3E}">
        <p14:creationId xmlns:p14="http://schemas.microsoft.com/office/powerpoint/2010/main" val="3409911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b="1" dirty="0" err="1"/>
              <a:t>Likelihood</a:t>
            </a:r>
            <a:r>
              <a:rPr lang="lt-LT" b="1" dirty="0"/>
              <a:t> </a:t>
            </a:r>
            <a:r>
              <a:rPr lang="lt-LT" b="1" dirty="0" err="1"/>
              <a:t>funkcij</a:t>
            </a:r>
            <a:r>
              <a:rPr lang="en-US" b="1" dirty="0" err="1"/>
              <a:t>os</a:t>
            </a:r>
            <a:r>
              <a:rPr lang="en-US" b="1" dirty="0"/>
              <a:t> </a:t>
            </a:r>
            <a:r>
              <a:rPr lang="en-US" b="1" dirty="0" err="1"/>
              <a:t>lygtis</a:t>
            </a:r>
            <a:endParaRPr lang="lt-LT" dirty="0"/>
          </a:p>
          <a:p>
            <a:r>
              <a:rPr lang="lt-LT" sz="1200" kern="1200" dirty="0" err="1">
                <a:solidFill>
                  <a:schemeClr val="tx1"/>
                </a:solidFill>
                <a:latin typeface="+mn-lt"/>
                <a:ea typeface="+mn-ea"/>
                <a:cs typeface="+mn-cs"/>
              </a:rPr>
              <a:t>output</a:t>
            </a:r>
            <a:r>
              <a:rPr lang="lt-LT" dirty="0"/>
              <a:t> – modelio prognozuota tikimybė (0–1)</a:t>
            </a:r>
          </a:p>
          <a:p>
            <a:r>
              <a:rPr lang="lt-LT" sz="1200" kern="1200" dirty="0">
                <a:solidFill>
                  <a:schemeClr val="tx1"/>
                </a:solidFill>
                <a:latin typeface="+mn-lt"/>
                <a:ea typeface="+mn-ea"/>
                <a:cs typeface="+mn-cs"/>
              </a:rPr>
              <a:t>y</a:t>
            </a:r>
            <a:r>
              <a:rPr lang="lt-LT" dirty="0"/>
              <a:t> – tikroji klasė (0 arba 1)</a:t>
            </a:r>
          </a:p>
          <a:p>
            <a:r>
              <a:rPr lang="lt-LT" dirty="0"/>
              <a:t>Formulė parenka </a:t>
            </a:r>
            <a:r>
              <a:rPr lang="lt-LT" b="1" dirty="0"/>
              <a:t>teisingą tikimybę pagal tikrą klasę</a:t>
            </a:r>
            <a:r>
              <a:rPr lang="lt-LT" dirty="0"/>
              <a:t>:</a:t>
            </a:r>
          </a:p>
          <a:p>
            <a:r>
              <a:rPr lang="lt-LT" dirty="0"/>
              <a:t>jei </a:t>
            </a:r>
            <a:r>
              <a:rPr lang="lt-LT" b="1" dirty="0"/>
              <a:t>y = 1</a:t>
            </a:r>
            <a:r>
              <a:rPr lang="lt-LT" dirty="0"/>
              <a:t>, lieka </a:t>
            </a:r>
            <a:r>
              <a:rPr lang="lt-LT" sz="1200" kern="1200" dirty="0" err="1">
                <a:solidFill>
                  <a:schemeClr val="tx1"/>
                </a:solidFill>
                <a:latin typeface="+mn-lt"/>
                <a:ea typeface="+mn-ea"/>
                <a:cs typeface="+mn-cs"/>
              </a:rPr>
              <a:t>output</a:t>
            </a:r>
            <a:endParaRPr lang="lt-LT" dirty="0"/>
          </a:p>
          <a:p>
            <a:r>
              <a:rPr lang="lt-LT" dirty="0"/>
              <a:t>jei </a:t>
            </a:r>
            <a:r>
              <a:rPr lang="lt-LT" b="1" dirty="0"/>
              <a:t>y = 0</a:t>
            </a:r>
            <a:r>
              <a:rPr lang="lt-LT" dirty="0"/>
              <a:t>, lieka </a:t>
            </a:r>
            <a:r>
              <a:rPr lang="lt-LT" sz="1200" kern="1200" dirty="0">
                <a:solidFill>
                  <a:schemeClr val="tx1"/>
                </a:solidFill>
                <a:latin typeface="+mn-lt"/>
                <a:ea typeface="+mn-ea"/>
                <a:cs typeface="+mn-cs"/>
              </a:rPr>
              <a:t>1 − </a:t>
            </a:r>
            <a:r>
              <a:rPr lang="lt-LT" sz="1200" kern="1200" dirty="0" err="1">
                <a:solidFill>
                  <a:schemeClr val="tx1"/>
                </a:solidFill>
                <a:latin typeface="+mn-lt"/>
                <a:ea typeface="+mn-ea"/>
                <a:cs typeface="+mn-cs"/>
              </a:rPr>
              <a:t>output</a:t>
            </a:r>
            <a:endParaRPr lang="lt-LT" dirty="0"/>
          </a:p>
          <a:p>
            <a:r>
              <a:rPr lang="lt-LT" b="1" dirty="0"/>
              <a:t>Idėja:</a:t>
            </a:r>
            <a:r>
              <a:rPr lang="lt-LT" dirty="0"/>
              <a:t> modelis mokosi taip, kad </a:t>
            </a:r>
            <a:r>
              <a:rPr lang="lt-LT" b="1" dirty="0"/>
              <a:t>tikriems įvykiams priskirtų dideles tikimybes</a:t>
            </a:r>
            <a:r>
              <a:rPr lang="lt-LT" dirty="0"/>
              <a:t>, o </a:t>
            </a:r>
            <a:r>
              <a:rPr lang="lt-LT" b="1" dirty="0" err="1"/>
              <a:t>neįvykiams</a:t>
            </a:r>
            <a:r>
              <a:rPr lang="lt-LT" b="1" dirty="0"/>
              <a:t> – mažas</a:t>
            </a:r>
            <a:r>
              <a:rPr lang="lt-LT" dirty="0"/>
              <a:t>.</a:t>
            </a:r>
          </a:p>
          <a:p>
            <a:endParaRPr lang="lt-LT" dirty="0"/>
          </a:p>
        </p:txBody>
      </p:sp>
      <p:sp>
        <p:nvSpPr>
          <p:cNvPr id="4" name="Skaidrės numerio vietos rezervavimo ženklas 3"/>
          <p:cNvSpPr>
            <a:spLocks noGrp="1"/>
          </p:cNvSpPr>
          <p:nvPr>
            <p:ph type="sldNum" sz="quarter" idx="5"/>
          </p:nvPr>
        </p:nvSpPr>
        <p:spPr/>
        <p:txBody>
          <a:bodyPr/>
          <a:lstStyle/>
          <a:p>
            <a:fld id="{08420F9B-62D3-43B3-992C-41AE816F1A60}" type="slidenum">
              <a:rPr lang="lt-LT" smtClean="0"/>
              <a:t>18</a:t>
            </a:fld>
            <a:endParaRPr lang="lt-LT"/>
          </a:p>
        </p:txBody>
      </p:sp>
    </p:spTree>
    <p:extLst>
      <p:ext uri="{BB962C8B-B14F-4D97-AF65-F5344CB8AC3E}">
        <p14:creationId xmlns:p14="http://schemas.microsoft.com/office/powerpoint/2010/main" val="1252571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b="1" dirty="0" err="1"/>
              <a:t>LogisticRegression</a:t>
            </a:r>
            <a:r>
              <a:rPr lang="lt-LT" b="1" dirty="0"/>
              <a:t>(C=1.0, </a:t>
            </a:r>
            <a:r>
              <a:rPr lang="lt-LT" b="1" dirty="0" err="1"/>
              <a:t>penalty</a:t>
            </a:r>
            <a:r>
              <a:rPr lang="lt-LT" b="1" dirty="0"/>
              <a:t>='l2', </a:t>
            </a:r>
            <a:r>
              <a:rPr lang="lt-LT" b="1" dirty="0" err="1"/>
              <a:t>solver</a:t>
            </a:r>
            <a:r>
              <a:rPr lang="lt-LT" b="1" dirty="0"/>
              <a:t>="saga")</a:t>
            </a:r>
            <a:endParaRPr lang="lt-LT" dirty="0"/>
          </a:p>
          <a:p>
            <a:r>
              <a:rPr lang="lt-LT" b="1" dirty="0"/>
              <a:t>C = 1.0</a:t>
            </a:r>
            <a:r>
              <a:rPr lang="lt-LT" dirty="0"/>
              <a:t> – reguliacijos stiprumas. Kuo </a:t>
            </a:r>
            <a:r>
              <a:rPr lang="lt-LT" b="1" dirty="0"/>
              <a:t>mažesnė C </a:t>
            </a:r>
            <a:r>
              <a:rPr lang="en-US" b="1" dirty="0" err="1"/>
              <a:t>parametro</a:t>
            </a:r>
            <a:r>
              <a:rPr lang="en-US" b="1" dirty="0"/>
              <a:t> </a:t>
            </a:r>
            <a:r>
              <a:rPr lang="lt-LT" b="1" dirty="0"/>
              <a:t>reikšmė</a:t>
            </a:r>
            <a:r>
              <a:rPr lang="lt-LT" dirty="0"/>
              <a:t>, tuo </a:t>
            </a:r>
            <a:r>
              <a:rPr lang="lt-LT" b="1" dirty="0"/>
              <a:t>stipresnė reguliacija</a:t>
            </a:r>
            <a:r>
              <a:rPr lang="lt-LT" dirty="0"/>
              <a:t> (modelis labiau riboja koeficientus ir mažina </a:t>
            </a:r>
            <a:r>
              <a:rPr lang="lt-LT" dirty="0" err="1"/>
              <a:t>overfitting</a:t>
            </a:r>
            <a:r>
              <a:rPr lang="lt-LT" dirty="0"/>
              <a:t>).</a:t>
            </a:r>
          </a:p>
          <a:p>
            <a:r>
              <a:rPr lang="lt-LT" b="1" dirty="0" err="1"/>
              <a:t>penalty</a:t>
            </a:r>
            <a:r>
              <a:rPr lang="lt-LT" b="1" dirty="0"/>
              <a:t> = 'l2'</a:t>
            </a:r>
            <a:r>
              <a:rPr lang="lt-LT" dirty="0"/>
              <a:t> – </a:t>
            </a:r>
            <a:r>
              <a:rPr lang="lt-LT" b="1" dirty="0"/>
              <a:t>L2 reguliacija (</a:t>
            </a:r>
            <a:r>
              <a:rPr lang="lt-LT" b="1" dirty="0" err="1"/>
              <a:t>Ridge</a:t>
            </a:r>
            <a:r>
              <a:rPr lang="lt-LT" b="1" dirty="0"/>
              <a:t>)</a:t>
            </a:r>
            <a:r>
              <a:rPr lang="lt-LT" dirty="0"/>
              <a:t>. Ji </a:t>
            </a:r>
            <a:r>
              <a:rPr lang="lt-LT" b="1" dirty="0"/>
              <a:t>baudžia didelius koeficientus</a:t>
            </a:r>
            <a:r>
              <a:rPr lang="lt-LT" dirty="0"/>
              <a:t>, todėl modelis tampa stabilesnis ir mažiau linkęs per daug prisitaikyti prie treniravimo duomenų.</a:t>
            </a:r>
          </a:p>
          <a:p>
            <a:r>
              <a:rPr lang="lt-LT" b="1" dirty="0" err="1"/>
              <a:t>solver</a:t>
            </a:r>
            <a:r>
              <a:rPr lang="lt-LT" b="1" dirty="0"/>
              <a:t> = "saga"</a:t>
            </a:r>
            <a:r>
              <a:rPr lang="lt-LT" dirty="0"/>
              <a:t> – optimizavimo algoritmas, kuris </a:t>
            </a:r>
            <a:r>
              <a:rPr lang="lt-LT" b="1" dirty="0"/>
              <a:t>randa geriausius modelio koeficientus</a:t>
            </a:r>
            <a:r>
              <a:rPr lang="lt-LT" dirty="0"/>
              <a:t>. </a:t>
            </a:r>
            <a:r>
              <a:rPr lang="lt-LT" sz="1200" kern="1200" dirty="0">
                <a:solidFill>
                  <a:schemeClr val="tx1"/>
                </a:solidFill>
                <a:latin typeface="+mn-lt"/>
                <a:ea typeface="+mn-ea"/>
                <a:cs typeface="+mn-cs"/>
              </a:rPr>
              <a:t>saga</a:t>
            </a:r>
            <a:r>
              <a:rPr lang="lt-LT" dirty="0"/>
              <a:t> gerai veikia su </a:t>
            </a:r>
            <a:r>
              <a:rPr lang="lt-LT" b="1" dirty="0"/>
              <a:t>didesniais duomenų rinkiniais</a:t>
            </a:r>
            <a:r>
              <a:rPr lang="lt-LT" dirty="0"/>
              <a:t> ir palaiko įvairius reguliacijos tipus.</a:t>
            </a:r>
            <a:endParaRPr lang="en-US" dirty="0"/>
          </a:p>
          <a:p>
            <a:endParaRPr lang="en-US" dirty="0"/>
          </a:p>
          <a:p>
            <a:r>
              <a:rPr lang="lt-LT" dirty="0"/>
              <a:t>Logistinėje regresijoje yra </a:t>
            </a:r>
            <a:r>
              <a:rPr lang="lt-LT" b="1" dirty="0"/>
              <a:t>keli </a:t>
            </a:r>
            <a:r>
              <a:rPr lang="lt-LT" b="1" dirty="0" err="1"/>
              <a:t>solveriai</a:t>
            </a:r>
            <a:r>
              <a:rPr lang="lt-LT" dirty="0"/>
              <a:t> (pvz., </a:t>
            </a:r>
            <a:r>
              <a:rPr lang="lt-LT" sz="1200" kern="1200" dirty="0" err="1">
                <a:solidFill>
                  <a:schemeClr val="tx1"/>
                </a:solidFill>
                <a:latin typeface="+mn-lt"/>
                <a:ea typeface="+mn-ea"/>
                <a:cs typeface="+mn-cs"/>
              </a:rPr>
              <a:t>liblinear</a:t>
            </a:r>
            <a:r>
              <a:rPr lang="lt-LT" dirty="0"/>
              <a:t>, </a:t>
            </a:r>
            <a:r>
              <a:rPr lang="lt-LT" sz="1200" kern="1200" dirty="0" err="1">
                <a:solidFill>
                  <a:schemeClr val="tx1"/>
                </a:solidFill>
                <a:latin typeface="+mn-lt"/>
                <a:ea typeface="+mn-ea"/>
                <a:cs typeface="+mn-cs"/>
              </a:rPr>
              <a:t>lbfgs</a:t>
            </a:r>
            <a:r>
              <a:rPr lang="lt-LT" dirty="0"/>
              <a:t>, </a:t>
            </a:r>
            <a:r>
              <a:rPr lang="lt-LT" sz="1200" kern="1200" dirty="0">
                <a:solidFill>
                  <a:schemeClr val="tx1"/>
                </a:solidFill>
                <a:latin typeface="+mn-lt"/>
                <a:ea typeface="+mn-ea"/>
                <a:cs typeface="+mn-cs"/>
              </a:rPr>
              <a:t>saga</a:t>
            </a:r>
            <a:r>
              <a:rPr lang="lt-LT" dirty="0"/>
              <a:t>).</a:t>
            </a:r>
          </a:p>
          <a:p>
            <a:r>
              <a:rPr lang="lt-LT" dirty="0"/>
              <a:t>Jie visi daro tą patį – </a:t>
            </a:r>
            <a:r>
              <a:rPr lang="lt-LT" b="1" dirty="0"/>
              <a:t>padeda modeliui išmokti parametrus</a:t>
            </a:r>
            <a:r>
              <a:rPr lang="lt-LT" dirty="0"/>
              <a:t>, tik naudoja </a:t>
            </a:r>
            <a:r>
              <a:rPr lang="lt-LT" b="1" dirty="0"/>
              <a:t>skirtingą skaičiavimo būdą</a:t>
            </a:r>
            <a:r>
              <a:rPr lang="lt-LT" dirty="0"/>
              <a:t>.</a:t>
            </a:r>
            <a:endParaRPr lang="en-US" dirty="0"/>
          </a:p>
          <a:p>
            <a:endParaRPr lang="en-US" dirty="0"/>
          </a:p>
          <a:p>
            <a:endParaRPr lang="en-US" dirty="0"/>
          </a:p>
          <a:p>
            <a:r>
              <a:rPr lang="en-US" sz="1200" b="1" i="0" kern="1200" dirty="0" err="1">
                <a:solidFill>
                  <a:schemeClr val="tx1"/>
                </a:solidFill>
                <a:effectLst/>
                <a:latin typeface="+mn-lt"/>
                <a:ea typeface="+mn-ea"/>
                <a:cs typeface="+mn-cs"/>
              </a:rPr>
              <a:t>numpy.linspace</a:t>
            </a:r>
            <a:r>
              <a:rPr lang="en-US" sz="1200" b="1" i="0"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start</a:t>
            </a:r>
            <a:r>
              <a:rPr lang="en-US" sz="1200" b="1"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stop</a:t>
            </a:r>
            <a:r>
              <a:rPr lang="en-US" sz="1200" b="1"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num</a:t>
            </a:r>
            <a:r>
              <a:rPr lang="en-US" sz="1200" b="0" i="1" kern="1200" dirty="0">
                <a:solidFill>
                  <a:schemeClr val="tx1"/>
                </a:solidFill>
                <a:effectLst/>
                <a:latin typeface="+mn-lt"/>
                <a:ea typeface="+mn-ea"/>
                <a:cs typeface="+mn-cs"/>
              </a:rPr>
              <a:t>=50</a:t>
            </a:r>
            <a:r>
              <a:rPr lang="en-US" sz="1200" b="1"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endpoint</a:t>
            </a:r>
            <a:r>
              <a:rPr lang="en-US" sz="1200" b="0" i="1" kern="1200" dirty="0">
                <a:solidFill>
                  <a:schemeClr val="tx1"/>
                </a:solidFill>
                <a:effectLst/>
                <a:latin typeface="+mn-lt"/>
                <a:ea typeface="+mn-ea"/>
                <a:cs typeface="+mn-cs"/>
              </a:rPr>
              <a:t>=True</a:t>
            </a:r>
            <a:r>
              <a:rPr lang="en-US" sz="1200" b="1" i="0"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retstep</a:t>
            </a:r>
            <a:r>
              <a:rPr lang="en-US" sz="1200" b="0" i="1" kern="1200" dirty="0">
                <a:solidFill>
                  <a:schemeClr val="tx1"/>
                </a:solidFill>
                <a:effectLst/>
                <a:latin typeface="+mn-lt"/>
                <a:ea typeface="+mn-ea"/>
                <a:cs typeface="+mn-cs"/>
              </a:rPr>
              <a:t>=False</a:t>
            </a:r>
            <a:r>
              <a:rPr lang="en-US" sz="1200" b="1" i="0"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dtype</a:t>
            </a:r>
            <a:r>
              <a:rPr lang="en-US" sz="1200" b="0" i="1" kern="1200" dirty="0">
                <a:solidFill>
                  <a:schemeClr val="tx1"/>
                </a:solidFill>
                <a:effectLst/>
                <a:latin typeface="+mn-lt"/>
                <a:ea typeface="+mn-ea"/>
                <a:cs typeface="+mn-cs"/>
              </a:rPr>
              <a:t>=None</a:t>
            </a:r>
            <a:r>
              <a:rPr lang="en-US" sz="1200" b="1"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axis</a:t>
            </a:r>
            <a:r>
              <a:rPr lang="en-US" sz="1200" b="0" i="1" kern="1200" dirty="0">
                <a:solidFill>
                  <a:schemeClr val="tx1"/>
                </a:solidFill>
                <a:effectLst/>
                <a:latin typeface="+mn-lt"/>
                <a:ea typeface="+mn-ea"/>
                <a:cs typeface="+mn-cs"/>
              </a:rPr>
              <a:t>=0</a:t>
            </a:r>
            <a:r>
              <a:rPr lang="en-US" sz="1200" b="1"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device</a:t>
            </a:r>
            <a:r>
              <a:rPr lang="en-US" sz="1200" b="0" i="1" kern="1200" dirty="0">
                <a:solidFill>
                  <a:schemeClr val="tx1"/>
                </a:solidFill>
                <a:effectLst/>
                <a:latin typeface="+mn-lt"/>
                <a:ea typeface="+mn-ea"/>
                <a:cs typeface="+mn-cs"/>
              </a:rPr>
              <a:t>=None</a:t>
            </a:r>
            <a:r>
              <a:rPr lang="en-US" sz="1200" b="1"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hlinkClick r:id="rId3"/>
              </a:rPr>
              <a:t>[source]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Return evenly spaced numbers over a specified interval.</a:t>
            </a:r>
          </a:p>
          <a:p>
            <a:endParaRPr lang="lt-LT" dirty="0"/>
          </a:p>
          <a:p>
            <a:endParaRPr lang="lt-LT" dirty="0"/>
          </a:p>
        </p:txBody>
      </p:sp>
      <p:sp>
        <p:nvSpPr>
          <p:cNvPr id="4" name="Skaidrės numerio vietos rezervavimo ženklas 3"/>
          <p:cNvSpPr>
            <a:spLocks noGrp="1"/>
          </p:cNvSpPr>
          <p:nvPr>
            <p:ph type="sldNum" sz="quarter" idx="5"/>
          </p:nvPr>
        </p:nvSpPr>
        <p:spPr/>
        <p:txBody>
          <a:bodyPr/>
          <a:lstStyle/>
          <a:p>
            <a:fld id="{08420F9B-62D3-43B3-992C-41AE816F1A60}" type="slidenum">
              <a:rPr lang="lt-LT" smtClean="0"/>
              <a:t>38</a:t>
            </a:fld>
            <a:endParaRPr lang="lt-LT"/>
          </a:p>
        </p:txBody>
      </p:sp>
    </p:spTree>
    <p:extLst>
      <p:ext uri="{BB962C8B-B14F-4D97-AF65-F5344CB8AC3E}">
        <p14:creationId xmlns:p14="http://schemas.microsoft.com/office/powerpoint/2010/main" val="570390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avadinimo skaidr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FF23B2B-6DF0-175D-6F6E-CE8F2CE9DB50}"/>
              </a:ext>
            </a:extLst>
          </p:cNvPr>
          <p:cNvSpPr>
            <a:spLocks noGrp="1"/>
          </p:cNvSpPr>
          <p:nvPr>
            <p:ph type="ctrTitle"/>
          </p:nvPr>
        </p:nvSpPr>
        <p:spPr>
          <a:xfrm>
            <a:off x="1524000" y="1122363"/>
            <a:ext cx="9144000" cy="2387600"/>
          </a:xfrm>
        </p:spPr>
        <p:txBody>
          <a:bodyPr anchor="b"/>
          <a:lstStyle>
            <a:lvl1pPr algn="ctr">
              <a:defRPr sz="6000"/>
            </a:lvl1pPr>
          </a:lstStyle>
          <a:p>
            <a:r>
              <a:rPr lang="lt-LT"/>
              <a:t>Spustelėję redaguokite stilių</a:t>
            </a:r>
          </a:p>
        </p:txBody>
      </p:sp>
      <p:sp>
        <p:nvSpPr>
          <p:cNvPr id="3" name="Antrinis pavadinimas 2">
            <a:extLst>
              <a:ext uri="{FF2B5EF4-FFF2-40B4-BE49-F238E27FC236}">
                <a16:creationId xmlns:a16="http://schemas.microsoft.com/office/drawing/2014/main" id="{C75A578B-F822-121B-70DE-26A285B38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lt-LT"/>
              <a:t>Spustelėkite norėdami redaguoti šablono paantraštės stilių</a:t>
            </a:r>
          </a:p>
        </p:txBody>
      </p:sp>
      <p:sp>
        <p:nvSpPr>
          <p:cNvPr id="4" name="Datos vietos rezervavimo ženklas 3">
            <a:extLst>
              <a:ext uri="{FF2B5EF4-FFF2-40B4-BE49-F238E27FC236}">
                <a16:creationId xmlns:a16="http://schemas.microsoft.com/office/drawing/2014/main" id="{9798A619-D9CD-8486-1DC0-79713FFEA471}"/>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66049E90-79EE-7ACA-0605-40F877213268}"/>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B4DF3385-9C80-DE8D-BE89-0A8081174F5C}"/>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42140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avadinimas ir turiny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00DA10F-7DE5-8E08-D2DF-569F9733802C}"/>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22ACF2B9-7FD9-3715-E634-C4247F953996}"/>
              </a:ext>
            </a:extLst>
          </p:cNvPr>
          <p:cNvSpPr>
            <a:spLocks noGrp="1"/>
          </p:cNvSpPr>
          <p:nvPr>
            <p:ph idx="1"/>
          </p:nvPr>
        </p:nvSpPr>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8940070A-7201-ADA4-2E46-40D45C1E59C7}"/>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61392D72-6405-3B12-7EE4-70A999A53F16}"/>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8818D59A-34AB-A34D-CD51-8FE8D8D2C3E9}"/>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2725789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kcijos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050FADE-5EF0-36BC-C3EA-7F86A8991B81}"/>
              </a:ext>
            </a:extLst>
          </p:cNvPr>
          <p:cNvSpPr>
            <a:spLocks noGrp="1"/>
          </p:cNvSpPr>
          <p:nvPr>
            <p:ph type="title"/>
          </p:nvPr>
        </p:nvSpPr>
        <p:spPr>
          <a:xfrm>
            <a:off x="831850" y="1709738"/>
            <a:ext cx="10515600" cy="2852737"/>
          </a:xfrm>
        </p:spPr>
        <p:txBody>
          <a:bodyPr anchor="b"/>
          <a:lstStyle>
            <a:lvl1pPr>
              <a:defRPr sz="6000"/>
            </a:lvl1pPr>
          </a:lstStyle>
          <a:p>
            <a:r>
              <a:rPr lang="lt-LT"/>
              <a:t>Spustelėję redaguokite stilių</a:t>
            </a:r>
          </a:p>
        </p:txBody>
      </p:sp>
      <p:sp>
        <p:nvSpPr>
          <p:cNvPr id="3" name="Teksto vietos rezervavimo ženklas 2">
            <a:extLst>
              <a:ext uri="{FF2B5EF4-FFF2-40B4-BE49-F238E27FC236}">
                <a16:creationId xmlns:a16="http://schemas.microsoft.com/office/drawing/2014/main" id="{9F741CF4-BBD5-1985-15AD-2BAEC6B5CD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lt-LT"/>
              <a:t>Spustelėkite, kad galėtumėte redaguoti šablono teksto stilius</a:t>
            </a:r>
          </a:p>
        </p:txBody>
      </p:sp>
      <p:sp>
        <p:nvSpPr>
          <p:cNvPr id="4" name="Datos vietos rezervavimo ženklas 3">
            <a:extLst>
              <a:ext uri="{FF2B5EF4-FFF2-40B4-BE49-F238E27FC236}">
                <a16:creationId xmlns:a16="http://schemas.microsoft.com/office/drawing/2014/main" id="{C78235FD-80C3-ACCC-16CA-8E70FC8B96FB}"/>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BE900B73-AFB8-B971-5294-D1F2FD674D30}"/>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2189D49C-A340-BE8F-4EB5-B101EEB39D0A}"/>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3413041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 turiniai">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0777C39-3AD9-649B-3BD3-F28FA01E1F0F}"/>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1462FCAC-6E24-EC66-2CD0-773345DFCA35}"/>
              </a:ext>
            </a:extLst>
          </p:cNvPr>
          <p:cNvSpPr>
            <a:spLocks noGrp="1"/>
          </p:cNvSpPr>
          <p:nvPr>
            <p:ph sz="half" idx="1"/>
          </p:nvPr>
        </p:nvSpPr>
        <p:spPr>
          <a:xfrm>
            <a:off x="838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urinio vietos rezervavimo ženklas 3">
            <a:extLst>
              <a:ext uri="{FF2B5EF4-FFF2-40B4-BE49-F238E27FC236}">
                <a16:creationId xmlns:a16="http://schemas.microsoft.com/office/drawing/2014/main" id="{10C02487-C43C-FC2A-F5A6-B65C88F9D647}"/>
              </a:ext>
            </a:extLst>
          </p:cNvPr>
          <p:cNvSpPr>
            <a:spLocks noGrp="1"/>
          </p:cNvSpPr>
          <p:nvPr>
            <p:ph sz="half" idx="2"/>
          </p:nvPr>
        </p:nvSpPr>
        <p:spPr>
          <a:xfrm>
            <a:off x="6172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Datos vietos rezervavimo ženklas 4">
            <a:extLst>
              <a:ext uri="{FF2B5EF4-FFF2-40B4-BE49-F238E27FC236}">
                <a16:creationId xmlns:a16="http://schemas.microsoft.com/office/drawing/2014/main" id="{BF069540-A376-A842-1AD6-5167E6580744}"/>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6" name="Poraštės vietos rezervavimo ženklas 5">
            <a:extLst>
              <a:ext uri="{FF2B5EF4-FFF2-40B4-BE49-F238E27FC236}">
                <a16:creationId xmlns:a16="http://schemas.microsoft.com/office/drawing/2014/main" id="{0B2B084F-5195-DD8D-BD70-C4EE3F5988F4}"/>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F0DA0A15-7B7C-C71D-FF66-074AC3611804}"/>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233043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Lyg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39C4366-1858-A9F4-A10A-D884818900B1}"/>
              </a:ext>
            </a:extLst>
          </p:cNvPr>
          <p:cNvSpPr>
            <a:spLocks noGrp="1"/>
          </p:cNvSpPr>
          <p:nvPr>
            <p:ph type="title"/>
          </p:nvPr>
        </p:nvSpPr>
        <p:spPr>
          <a:xfrm>
            <a:off x="839788" y="365125"/>
            <a:ext cx="10515600" cy="1325563"/>
          </a:xfrm>
        </p:spPr>
        <p:txBody>
          <a:bodyPr/>
          <a:lstStyle/>
          <a:p>
            <a:r>
              <a:rPr lang="lt-LT"/>
              <a:t>Spustelėję redaguokite stilių</a:t>
            </a:r>
          </a:p>
        </p:txBody>
      </p:sp>
      <p:sp>
        <p:nvSpPr>
          <p:cNvPr id="3" name="Teksto vietos rezervavimo ženklas 2">
            <a:extLst>
              <a:ext uri="{FF2B5EF4-FFF2-40B4-BE49-F238E27FC236}">
                <a16:creationId xmlns:a16="http://schemas.microsoft.com/office/drawing/2014/main" id="{CA90D789-1FE7-D7A4-05B8-F056B4698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4" name="Turinio vietos rezervavimo ženklas 3">
            <a:extLst>
              <a:ext uri="{FF2B5EF4-FFF2-40B4-BE49-F238E27FC236}">
                <a16:creationId xmlns:a16="http://schemas.microsoft.com/office/drawing/2014/main" id="{37F8B964-F0A8-9701-7719-DF154857FF58}"/>
              </a:ext>
            </a:extLst>
          </p:cNvPr>
          <p:cNvSpPr>
            <a:spLocks noGrp="1"/>
          </p:cNvSpPr>
          <p:nvPr>
            <p:ph sz="half" idx="2"/>
          </p:nvPr>
        </p:nvSpPr>
        <p:spPr>
          <a:xfrm>
            <a:off x="839788" y="2505075"/>
            <a:ext cx="5157787"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Teksto vietos rezervavimo ženklas 4">
            <a:extLst>
              <a:ext uri="{FF2B5EF4-FFF2-40B4-BE49-F238E27FC236}">
                <a16:creationId xmlns:a16="http://schemas.microsoft.com/office/drawing/2014/main" id="{E5B193D5-9106-3337-97DF-F9D75052E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6" name="Turinio vietos rezervavimo ženklas 5">
            <a:extLst>
              <a:ext uri="{FF2B5EF4-FFF2-40B4-BE49-F238E27FC236}">
                <a16:creationId xmlns:a16="http://schemas.microsoft.com/office/drawing/2014/main" id="{BCA516B4-5CFB-2F5A-CDA8-8842992A08AC}"/>
              </a:ext>
            </a:extLst>
          </p:cNvPr>
          <p:cNvSpPr>
            <a:spLocks noGrp="1"/>
          </p:cNvSpPr>
          <p:nvPr>
            <p:ph sz="quarter" idx="4"/>
          </p:nvPr>
        </p:nvSpPr>
        <p:spPr>
          <a:xfrm>
            <a:off x="6172200" y="2505075"/>
            <a:ext cx="5183188"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7" name="Datos vietos rezervavimo ženklas 6">
            <a:extLst>
              <a:ext uri="{FF2B5EF4-FFF2-40B4-BE49-F238E27FC236}">
                <a16:creationId xmlns:a16="http://schemas.microsoft.com/office/drawing/2014/main" id="{40DE2203-0ABA-7C0D-5290-65701035F969}"/>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8" name="Poraštės vietos rezervavimo ženklas 7">
            <a:extLst>
              <a:ext uri="{FF2B5EF4-FFF2-40B4-BE49-F238E27FC236}">
                <a16:creationId xmlns:a16="http://schemas.microsoft.com/office/drawing/2014/main" id="{F5E4E0A0-0F8B-D0E2-4A30-3CFDDAAC19B9}"/>
              </a:ext>
            </a:extLst>
          </p:cNvPr>
          <p:cNvSpPr>
            <a:spLocks noGrp="1"/>
          </p:cNvSpPr>
          <p:nvPr>
            <p:ph type="ftr" sz="quarter" idx="11"/>
          </p:nvPr>
        </p:nvSpPr>
        <p:spPr/>
        <p:txBody>
          <a:bodyPr/>
          <a:lstStyle/>
          <a:p>
            <a:endParaRPr lang="lt-LT"/>
          </a:p>
        </p:txBody>
      </p:sp>
      <p:sp>
        <p:nvSpPr>
          <p:cNvPr id="9" name="Skaidrės numerio vietos rezervavimo ženklas 8">
            <a:extLst>
              <a:ext uri="{FF2B5EF4-FFF2-40B4-BE49-F238E27FC236}">
                <a16:creationId xmlns:a16="http://schemas.microsoft.com/office/drawing/2014/main" id="{0BDA7F05-D49D-3718-F9C6-F6C71BBDB575}"/>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3061953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k pavad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B2AA7C0-5FC7-A453-FB73-56671A068521}"/>
              </a:ext>
            </a:extLst>
          </p:cNvPr>
          <p:cNvSpPr>
            <a:spLocks noGrp="1"/>
          </p:cNvSpPr>
          <p:nvPr>
            <p:ph type="title"/>
          </p:nvPr>
        </p:nvSpPr>
        <p:spPr/>
        <p:txBody>
          <a:bodyPr/>
          <a:lstStyle/>
          <a:p>
            <a:r>
              <a:rPr lang="lt-LT"/>
              <a:t>Spustelėję redaguokite stilių</a:t>
            </a:r>
          </a:p>
        </p:txBody>
      </p:sp>
      <p:sp>
        <p:nvSpPr>
          <p:cNvPr id="3" name="Datos vietos rezervavimo ženklas 2">
            <a:extLst>
              <a:ext uri="{FF2B5EF4-FFF2-40B4-BE49-F238E27FC236}">
                <a16:creationId xmlns:a16="http://schemas.microsoft.com/office/drawing/2014/main" id="{58A32CF7-85D3-D965-BCCF-67BA5BF9D8AD}"/>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4" name="Poraštės vietos rezervavimo ženklas 3">
            <a:extLst>
              <a:ext uri="{FF2B5EF4-FFF2-40B4-BE49-F238E27FC236}">
                <a16:creationId xmlns:a16="http://schemas.microsoft.com/office/drawing/2014/main" id="{CF2C3D1A-943A-E6D9-CD04-3A79B881A63C}"/>
              </a:ext>
            </a:extLst>
          </p:cNvPr>
          <p:cNvSpPr>
            <a:spLocks noGrp="1"/>
          </p:cNvSpPr>
          <p:nvPr>
            <p:ph type="ftr" sz="quarter" idx="11"/>
          </p:nvPr>
        </p:nvSpPr>
        <p:spPr/>
        <p:txBody>
          <a:bodyPr/>
          <a:lstStyle/>
          <a:p>
            <a:endParaRPr lang="lt-LT"/>
          </a:p>
        </p:txBody>
      </p:sp>
      <p:sp>
        <p:nvSpPr>
          <p:cNvPr id="5" name="Skaidrės numerio vietos rezervavimo ženklas 4">
            <a:extLst>
              <a:ext uri="{FF2B5EF4-FFF2-40B4-BE49-F238E27FC236}">
                <a16:creationId xmlns:a16="http://schemas.microsoft.com/office/drawing/2014/main" id="{1F1F76B4-F2F3-D9C1-D8F9-3BBD6CD00D01}"/>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811751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uščia">
    <p:spTree>
      <p:nvGrpSpPr>
        <p:cNvPr id="1" name=""/>
        <p:cNvGrpSpPr/>
        <p:nvPr/>
      </p:nvGrpSpPr>
      <p:grpSpPr>
        <a:xfrm>
          <a:off x="0" y="0"/>
          <a:ext cx="0" cy="0"/>
          <a:chOff x="0" y="0"/>
          <a:chExt cx="0" cy="0"/>
        </a:xfrm>
      </p:grpSpPr>
      <p:sp>
        <p:nvSpPr>
          <p:cNvPr id="2" name="Datos vietos rezervavimo ženklas 1">
            <a:extLst>
              <a:ext uri="{FF2B5EF4-FFF2-40B4-BE49-F238E27FC236}">
                <a16:creationId xmlns:a16="http://schemas.microsoft.com/office/drawing/2014/main" id="{D783999A-9246-2411-6587-EE4F6C903E1C}"/>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3" name="Poraštės vietos rezervavimo ženklas 2">
            <a:extLst>
              <a:ext uri="{FF2B5EF4-FFF2-40B4-BE49-F238E27FC236}">
                <a16:creationId xmlns:a16="http://schemas.microsoft.com/office/drawing/2014/main" id="{13EA9F26-13B4-BBC8-195E-4AB54EB04235}"/>
              </a:ext>
            </a:extLst>
          </p:cNvPr>
          <p:cNvSpPr>
            <a:spLocks noGrp="1"/>
          </p:cNvSpPr>
          <p:nvPr>
            <p:ph type="ftr" sz="quarter" idx="11"/>
          </p:nvPr>
        </p:nvSpPr>
        <p:spPr/>
        <p:txBody>
          <a:bodyPr/>
          <a:lstStyle/>
          <a:p>
            <a:endParaRPr lang="lt-LT"/>
          </a:p>
        </p:txBody>
      </p:sp>
      <p:sp>
        <p:nvSpPr>
          <p:cNvPr id="4" name="Skaidrės numerio vietos rezervavimo ženklas 3">
            <a:extLst>
              <a:ext uri="{FF2B5EF4-FFF2-40B4-BE49-F238E27FC236}">
                <a16:creationId xmlns:a16="http://schemas.microsoft.com/office/drawing/2014/main" id="{45C5C349-5250-7091-A06F-4AEAC028649A}"/>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3810039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uriny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CB23AA8-C804-B3C2-2490-A2D737B991F9}"/>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Turinio vietos rezervavimo ženklas 2">
            <a:extLst>
              <a:ext uri="{FF2B5EF4-FFF2-40B4-BE49-F238E27FC236}">
                <a16:creationId xmlns:a16="http://schemas.microsoft.com/office/drawing/2014/main" id="{5AE34D72-2FF6-C20E-C3FC-3BBE7E9A67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eksto vietos rezervavimo ženklas 3">
            <a:extLst>
              <a:ext uri="{FF2B5EF4-FFF2-40B4-BE49-F238E27FC236}">
                <a16:creationId xmlns:a16="http://schemas.microsoft.com/office/drawing/2014/main" id="{DF5CA703-3860-0159-E180-30BE05C8C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7EED5426-2ADD-4E29-C2C9-7EC436ED712E}"/>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6" name="Poraštės vietos rezervavimo ženklas 5">
            <a:extLst>
              <a:ext uri="{FF2B5EF4-FFF2-40B4-BE49-F238E27FC236}">
                <a16:creationId xmlns:a16="http://schemas.microsoft.com/office/drawing/2014/main" id="{0E538187-9957-56D4-611D-4E09B9935BA3}"/>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BDB356E4-A00E-1D4C-BF2B-A7086646D91D}"/>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1878498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aveikslėli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10F380E-1DB8-492B-C418-1D8FCCF0E45F}"/>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Paveikslėlio vietos rezervavimo ženklas 2">
            <a:extLst>
              <a:ext uri="{FF2B5EF4-FFF2-40B4-BE49-F238E27FC236}">
                <a16:creationId xmlns:a16="http://schemas.microsoft.com/office/drawing/2014/main" id="{468F16F3-1DB1-C3E8-D41A-5C134F80E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t-LT"/>
          </a:p>
        </p:txBody>
      </p:sp>
      <p:sp>
        <p:nvSpPr>
          <p:cNvPr id="4" name="Teksto vietos rezervavimo ženklas 3">
            <a:extLst>
              <a:ext uri="{FF2B5EF4-FFF2-40B4-BE49-F238E27FC236}">
                <a16:creationId xmlns:a16="http://schemas.microsoft.com/office/drawing/2014/main" id="{F2D24081-1A7A-1755-AF94-AD1935E4A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4366CCFD-1C41-8B32-4E18-922AA0E35CCB}"/>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6" name="Poraštės vietos rezervavimo ženklas 5">
            <a:extLst>
              <a:ext uri="{FF2B5EF4-FFF2-40B4-BE49-F238E27FC236}">
                <a16:creationId xmlns:a16="http://schemas.microsoft.com/office/drawing/2014/main" id="{F8829BBD-7A0C-3A8A-6E73-87E9A5603C64}"/>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1452F694-ADC4-BD77-8C6C-0FDF3C6986AC}"/>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1631313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Pavadinimas ir vertikalus tekst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B7C4613-D8CE-D01C-CD29-79CF1DFF5AF8}"/>
              </a:ext>
            </a:extLst>
          </p:cNvPr>
          <p:cNvSpPr>
            <a:spLocks noGrp="1"/>
          </p:cNvSpPr>
          <p:nvPr>
            <p:ph type="title"/>
          </p:nvPr>
        </p:nvSpPr>
        <p:spPr/>
        <p:txBody>
          <a:bodyPr/>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4B836B87-E486-833A-0C52-F7A4C9C1D391}"/>
              </a:ext>
            </a:extLst>
          </p:cNvPr>
          <p:cNvSpPr>
            <a:spLocks noGrp="1"/>
          </p:cNvSpPr>
          <p:nvPr>
            <p:ph type="body" orient="vert" idx="1"/>
          </p:nvPr>
        </p:nvSpPr>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A102C01B-698D-E13F-4BAB-ADE838EB7E33}"/>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CD3C4F44-20F5-426B-D2A1-80FC22A076F0}"/>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D6102B95-CB11-37E8-07B4-99932A9F4ED7}"/>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941882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us pavadinimas ir tekstas">
    <p:spTree>
      <p:nvGrpSpPr>
        <p:cNvPr id="1" name=""/>
        <p:cNvGrpSpPr/>
        <p:nvPr/>
      </p:nvGrpSpPr>
      <p:grpSpPr>
        <a:xfrm>
          <a:off x="0" y="0"/>
          <a:ext cx="0" cy="0"/>
          <a:chOff x="0" y="0"/>
          <a:chExt cx="0" cy="0"/>
        </a:xfrm>
      </p:grpSpPr>
      <p:sp>
        <p:nvSpPr>
          <p:cNvPr id="2" name="Vertikalus pavadinimas 1">
            <a:extLst>
              <a:ext uri="{FF2B5EF4-FFF2-40B4-BE49-F238E27FC236}">
                <a16:creationId xmlns:a16="http://schemas.microsoft.com/office/drawing/2014/main" id="{9E5BF722-BC1F-DD1B-FA56-BD293B7757C7}"/>
              </a:ext>
            </a:extLst>
          </p:cNvPr>
          <p:cNvSpPr>
            <a:spLocks noGrp="1"/>
          </p:cNvSpPr>
          <p:nvPr>
            <p:ph type="title" orient="vert"/>
          </p:nvPr>
        </p:nvSpPr>
        <p:spPr>
          <a:xfrm>
            <a:off x="8724900" y="365125"/>
            <a:ext cx="2628900" cy="5811838"/>
          </a:xfrm>
        </p:spPr>
        <p:txBody>
          <a:bodyPr vert="eaVert"/>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1BCA8742-C01C-6A2B-6A42-898E5FB007C2}"/>
              </a:ext>
            </a:extLst>
          </p:cNvPr>
          <p:cNvSpPr>
            <a:spLocks noGrp="1"/>
          </p:cNvSpPr>
          <p:nvPr>
            <p:ph type="body" orient="vert" idx="1"/>
          </p:nvPr>
        </p:nvSpPr>
        <p:spPr>
          <a:xfrm>
            <a:off x="838200" y="365125"/>
            <a:ext cx="7734300" cy="5811838"/>
          </a:xfrm>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5F5B6D0E-BF40-62B0-94D2-8DEC7D24EA12}"/>
              </a:ext>
            </a:extLst>
          </p:cNvPr>
          <p:cNvSpPr>
            <a:spLocks noGrp="1"/>
          </p:cNvSpPr>
          <p:nvPr>
            <p:ph type="dt" sz="half" idx="10"/>
          </p:nvPr>
        </p:nvSpPr>
        <p:spPr/>
        <p:txBody>
          <a:body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410BC458-E30B-A687-AE1E-4CBAEBA804C4}"/>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0D628726-4ECB-2BC4-1C4E-71D264BA1AFF}"/>
              </a:ext>
            </a:extLst>
          </p:cNvPr>
          <p:cNvSpPr>
            <a:spLocks noGrp="1"/>
          </p:cNvSpPr>
          <p:nvPr>
            <p:ph type="sldNum" sz="quarter" idx="12"/>
          </p:nvPr>
        </p:nvSpPr>
        <p:spPr/>
        <p:txBody>
          <a:bodyPr/>
          <a:lstStyle/>
          <a:p>
            <a:fld id="{024FD129-C667-400B-87FB-8C7B423A0E4D}" type="slidenum">
              <a:rPr lang="lt-LT" smtClean="0"/>
              <a:t>‹#›</a:t>
            </a:fld>
            <a:endParaRPr lang="lt-LT"/>
          </a:p>
        </p:txBody>
      </p:sp>
    </p:spTree>
    <p:extLst>
      <p:ext uri="{BB962C8B-B14F-4D97-AF65-F5344CB8AC3E}">
        <p14:creationId xmlns:p14="http://schemas.microsoft.com/office/powerpoint/2010/main" val="154937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avadinimo vietos rezervavimo ženklas 1">
            <a:extLst>
              <a:ext uri="{FF2B5EF4-FFF2-40B4-BE49-F238E27FC236}">
                <a16:creationId xmlns:a16="http://schemas.microsoft.com/office/drawing/2014/main" id="{D830CC69-8704-A741-0A56-13DE30CE2D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lt-LT"/>
              <a:t>Spustelėję redaguokite stilių</a:t>
            </a:r>
          </a:p>
        </p:txBody>
      </p:sp>
      <p:sp>
        <p:nvSpPr>
          <p:cNvPr id="3" name="Teksto vietos rezervavimo ženklas 2">
            <a:extLst>
              <a:ext uri="{FF2B5EF4-FFF2-40B4-BE49-F238E27FC236}">
                <a16:creationId xmlns:a16="http://schemas.microsoft.com/office/drawing/2014/main" id="{BF147A68-0A73-8E5B-48C8-00CB25E623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6172387A-EF59-6D90-DE3B-A0D6815EDC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02CE24-FAE1-4818-8ED4-B2CFCD047904}" type="datetimeFigureOut">
              <a:rPr lang="lt-LT" smtClean="0"/>
              <a:t>2026-03-05</a:t>
            </a:fld>
            <a:endParaRPr lang="lt-LT"/>
          </a:p>
        </p:txBody>
      </p:sp>
      <p:sp>
        <p:nvSpPr>
          <p:cNvPr id="5" name="Poraštės vietos rezervavimo ženklas 4">
            <a:extLst>
              <a:ext uri="{FF2B5EF4-FFF2-40B4-BE49-F238E27FC236}">
                <a16:creationId xmlns:a16="http://schemas.microsoft.com/office/drawing/2014/main" id="{C420A185-1A5A-B7DA-0F28-147161077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t-LT"/>
          </a:p>
        </p:txBody>
      </p:sp>
      <p:sp>
        <p:nvSpPr>
          <p:cNvPr id="6" name="Skaidrės numerio vietos rezervavimo ženklas 5">
            <a:extLst>
              <a:ext uri="{FF2B5EF4-FFF2-40B4-BE49-F238E27FC236}">
                <a16:creationId xmlns:a16="http://schemas.microsoft.com/office/drawing/2014/main" id="{093544D2-EBF7-1807-A47D-2AB218DF46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4FD129-C667-400B-87FB-8C7B423A0E4D}" type="slidenum">
              <a:rPr lang="lt-LT" smtClean="0"/>
              <a:t>‹#›</a:t>
            </a:fld>
            <a:endParaRPr lang="lt-LT"/>
          </a:p>
        </p:txBody>
      </p:sp>
    </p:spTree>
    <p:extLst>
      <p:ext uri="{BB962C8B-B14F-4D97-AF65-F5344CB8AC3E}">
        <p14:creationId xmlns:p14="http://schemas.microsoft.com/office/powerpoint/2010/main" val="4286153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gif"/></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51DE627-F873-EE20-9A3B-D8D2E34FDCCE}"/>
              </a:ext>
            </a:extLst>
          </p:cNvPr>
          <p:cNvSpPr>
            <a:spLocks noGrp="1"/>
          </p:cNvSpPr>
          <p:nvPr>
            <p:ph type="ctrTitle"/>
          </p:nvPr>
        </p:nvSpPr>
        <p:spPr/>
        <p:txBody>
          <a:bodyPr/>
          <a:lstStyle/>
          <a:p>
            <a:r>
              <a:rPr lang="en-US" dirty="0"/>
              <a:t>Python Machine Learning:</a:t>
            </a:r>
            <a:br>
              <a:rPr lang="en-US" dirty="0"/>
            </a:br>
            <a:r>
              <a:rPr lang="en-US" dirty="0"/>
              <a:t>Logistic Regression</a:t>
            </a:r>
            <a:endParaRPr lang="lt-LT" dirty="0"/>
          </a:p>
        </p:txBody>
      </p:sp>
      <p:sp>
        <p:nvSpPr>
          <p:cNvPr id="3" name="Antrinis pavadinimas 2">
            <a:extLst>
              <a:ext uri="{FF2B5EF4-FFF2-40B4-BE49-F238E27FC236}">
                <a16:creationId xmlns:a16="http://schemas.microsoft.com/office/drawing/2014/main" id="{DF5DE917-4BE6-0DC6-27ED-48EBAD1754DC}"/>
              </a:ext>
            </a:extLst>
          </p:cNvPr>
          <p:cNvSpPr>
            <a:spLocks noGrp="1"/>
          </p:cNvSpPr>
          <p:nvPr>
            <p:ph type="subTitle" idx="1"/>
          </p:nvPr>
        </p:nvSpPr>
        <p:spPr/>
        <p:txBody>
          <a:bodyPr/>
          <a:lstStyle/>
          <a:p>
            <a:r>
              <a:rPr lang="lt-LT" dirty="0"/>
              <a:t>Žydrūnė Kelpšaitė</a:t>
            </a:r>
          </a:p>
          <a:p>
            <a:r>
              <a:rPr lang="lt-LT" dirty="0"/>
              <a:t>Data </a:t>
            </a:r>
            <a:r>
              <a:rPr lang="lt-LT" dirty="0" err="1"/>
              <a:t>Analyst</a:t>
            </a:r>
            <a:endParaRPr lang="lt-LT" dirty="0"/>
          </a:p>
        </p:txBody>
      </p:sp>
      <p:pic>
        <p:nvPicPr>
          <p:cNvPr id="4" name="Paveikslėlis 3" descr="Paveikslėlis, kuriame yra Šriftas, Grafika, grafinis dizainas, ekrano kopija&#10;&#10;Dirbtinio intelekto sugeneruotas turinys gali būti neteisingas.">
            <a:extLst>
              <a:ext uri="{FF2B5EF4-FFF2-40B4-BE49-F238E27FC236}">
                <a16:creationId xmlns:a16="http://schemas.microsoft.com/office/drawing/2014/main" id="{CE8CC486-66A9-21A8-50D5-63FAF7DB1278}"/>
              </a:ext>
            </a:extLst>
          </p:cNvPr>
          <p:cNvPicPr>
            <a:picLocks noChangeAspect="1"/>
          </p:cNvPicPr>
          <p:nvPr/>
        </p:nvPicPr>
        <p:blipFill>
          <a:blip r:embed="rId2"/>
          <a:stretch>
            <a:fillRect/>
          </a:stretch>
        </p:blipFill>
        <p:spPr>
          <a:xfrm>
            <a:off x="1294730" y="282592"/>
            <a:ext cx="9602540" cy="1219370"/>
          </a:xfrm>
          <a:prstGeom prst="rect">
            <a:avLst/>
          </a:prstGeom>
        </p:spPr>
      </p:pic>
    </p:spTree>
    <p:extLst>
      <p:ext uri="{BB962C8B-B14F-4D97-AF65-F5344CB8AC3E}">
        <p14:creationId xmlns:p14="http://schemas.microsoft.com/office/powerpoint/2010/main" val="418251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236BC7F-33D0-0B12-7202-12ECC509D205}"/>
              </a:ext>
            </a:extLst>
          </p:cNvPr>
          <p:cNvSpPr>
            <a:spLocks noGrp="1"/>
          </p:cNvSpPr>
          <p:nvPr>
            <p:ph type="title"/>
          </p:nvPr>
        </p:nvSpPr>
        <p:spPr/>
        <p:txBody>
          <a:bodyPr/>
          <a:lstStyle/>
          <a:p>
            <a:r>
              <a:rPr lang="lt-LT" dirty="0"/>
              <a:t>WHAT IS DATA SCIENCE?</a:t>
            </a:r>
          </a:p>
        </p:txBody>
      </p:sp>
      <p:pic>
        <p:nvPicPr>
          <p:cNvPr id="4" name="Paveikslėlis 3" descr="Paveikslėlis, kuriame yra tekstas, ekrano kopija, Šriftas&#10;&#10;Dirbtinio intelekto sugeneruotas turinys gali būti neteisingas.">
            <a:extLst>
              <a:ext uri="{FF2B5EF4-FFF2-40B4-BE49-F238E27FC236}">
                <a16:creationId xmlns:a16="http://schemas.microsoft.com/office/drawing/2014/main" id="{8392A17A-B0D7-1D08-E520-1955E4FEE3F7}"/>
              </a:ext>
            </a:extLst>
          </p:cNvPr>
          <p:cNvPicPr>
            <a:picLocks noChangeAspect="1"/>
          </p:cNvPicPr>
          <p:nvPr/>
        </p:nvPicPr>
        <p:blipFill>
          <a:blip r:embed="rId2"/>
          <a:stretch>
            <a:fillRect/>
          </a:stretch>
        </p:blipFill>
        <p:spPr>
          <a:xfrm>
            <a:off x="1799303" y="1547241"/>
            <a:ext cx="8886025" cy="4876085"/>
          </a:xfrm>
          <a:prstGeom prst="rect">
            <a:avLst/>
          </a:prstGeom>
        </p:spPr>
      </p:pic>
    </p:spTree>
    <p:extLst>
      <p:ext uri="{BB962C8B-B14F-4D97-AF65-F5344CB8AC3E}">
        <p14:creationId xmlns:p14="http://schemas.microsoft.com/office/powerpoint/2010/main" val="54216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DABA132-3969-2C1F-649A-A733DE7DDB0C}"/>
              </a:ext>
            </a:extLst>
          </p:cNvPr>
          <p:cNvSpPr>
            <a:spLocks noGrp="1"/>
          </p:cNvSpPr>
          <p:nvPr>
            <p:ph type="title"/>
          </p:nvPr>
        </p:nvSpPr>
        <p:spPr/>
        <p:txBody>
          <a:bodyPr/>
          <a:lstStyle/>
          <a:p>
            <a:r>
              <a:rPr lang="en-US" dirty="0"/>
              <a:t>C</a:t>
            </a:r>
            <a:r>
              <a:rPr lang="lt-LT" dirty="0" err="1"/>
              <a:t>ommon</a:t>
            </a:r>
            <a:r>
              <a:rPr lang="lt-LT" dirty="0"/>
              <a:t> </a:t>
            </a:r>
            <a:r>
              <a:rPr lang="lt-LT" dirty="0" err="1"/>
              <a:t>machine</a:t>
            </a:r>
            <a:r>
              <a:rPr lang="lt-LT" dirty="0"/>
              <a:t> </a:t>
            </a:r>
            <a:r>
              <a:rPr lang="lt-LT" dirty="0" err="1"/>
              <a:t>learning</a:t>
            </a:r>
            <a:r>
              <a:rPr lang="lt-LT" dirty="0"/>
              <a:t> </a:t>
            </a:r>
            <a:r>
              <a:rPr lang="lt-LT" dirty="0" err="1"/>
              <a:t>algorithms</a:t>
            </a:r>
            <a:endParaRPr lang="lt-LT" dirty="0"/>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5DD8A479-8FC6-C9BE-EF4C-F964D5FA4F16}"/>
              </a:ext>
            </a:extLst>
          </p:cNvPr>
          <p:cNvPicPr>
            <a:picLocks noChangeAspect="1"/>
          </p:cNvPicPr>
          <p:nvPr/>
        </p:nvPicPr>
        <p:blipFill>
          <a:blip r:embed="rId2"/>
          <a:stretch>
            <a:fillRect/>
          </a:stretch>
        </p:blipFill>
        <p:spPr>
          <a:xfrm>
            <a:off x="2942087" y="1690688"/>
            <a:ext cx="7487695" cy="4344006"/>
          </a:xfrm>
          <a:prstGeom prst="rect">
            <a:avLst/>
          </a:prstGeom>
        </p:spPr>
      </p:pic>
    </p:spTree>
    <p:extLst>
      <p:ext uri="{BB962C8B-B14F-4D97-AF65-F5344CB8AC3E}">
        <p14:creationId xmlns:p14="http://schemas.microsoft.com/office/powerpoint/2010/main" val="3911068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1784170-4FC7-343C-B77B-8C7D88C39E38}"/>
              </a:ext>
            </a:extLst>
          </p:cNvPr>
          <p:cNvSpPr>
            <a:spLocks noGrp="1"/>
          </p:cNvSpPr>
          <p:nvPr>
            <p:ph type="title"/>
          </p:nvPr>
        </p:nvSpPr>
        <p:spPr/>
        <p:txBody>
          <a:bodyPr/>
          <a:lstStyle/>
          <a:p>
            <a:r>
              <a:rPr lang="lt-LT" dirty="0"/>
              <a:t>CLASSIFICATION 101</a:t>
            </a:r>
          </a:p>
        </p:txBody>
      </p:sp>
      <p:sp>
        <p:nvSpPr>
          <p:cNvPr id="4" name="TextBox 3">
            <a:extLst>
              <a:ext uri="{FF2B5EF4-FFF2-40B4-BE49-F238E27FC236}">
                <a16:creationId xmlns:a16="http://schemas.microsoft.com/office/drawing/2014/main" id="{5EE40FBD-BC00-F59B-E673-AD47AF60ABC2}"/>
              </a:ext>
            </a:extLst>
          </p:cNvPr>
          <p:cNvSpPr txBox="1"/>
          <p:nvPr/>
        </p:nvSpPr>
        <p:spPr>
          <a:xfrm>
            <a:off x="983226" y="1406464"/>
            <a:ext cx="10370574" cy="646331"/>
          </a:xfrm>
          <a:prstGeom prst="rect">
            <a:avLst/>
          </a:prstGeom>
          <a:noFill/>
        </p:spPr>
        <p:txBody>
          <a:bodyPr wrap="square">
            <a:spAutoFit/>
          </a:bodyPr>
          <a:lstStyle/>
          <a:p>
            <a:r>
              <a:rPr lang="en-US" dirty="0"/>
              <a:t>Classification analysis is a supervised learning technique used to predict a categorical variable (target) by modeling its relationship with other variables (features)</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806887F6-2856-EB0F-88AA-0A17D2E76535}"/>
              </a:ext>
            </a:extLst>
          </p:cNvPr>
          <p:cNvPicPr>
            <a:picLocks noChangeAspect="1"/>
          </p:cNvPicPr>
          <p:nvPr/>
        </p:nvPicPr>
        <p:blipFill>
          <a:blip r:embed="rId2"/>
          <a:stretch>
            <a:fillRect/>
          </a:stretch>
        </p:blipFill>
        <p:spPr>
          <a:xfrm>
            <a:off x="381268" y="2238213"/>
            <a:ext cx="11574490" cy="4525006"/>
          </a:xfrm>
          <a:prstGeom prst="rect">
            <a:avLst/>
          </a:prstGeom>
        </p:spPr>
      </p:pic>
    </p:spTree>
    <p:extLst>
      <p:ext uri="{BB962C8B-B14F-4D97-AF65-F5344CB8AC3E}">
        <p14:creationId xmlns:p14="http://schemas.microsoft.com/office/powerpoint/2010/main" val="3825342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A909FBD-9E33-EC2F-F802-A6C3AC53AE75}"/>
              </a:ext>
            </a:extLst>
          </p:cNvPr>
          <p:cNvSpPr>
            <a:spLocks noGrp="1"/>
          </p:cNvSpPr>
          <p:nvPr>
            <p:ph type="title"/>
          </p:nvPr>
        </p:nvSpPr>
        <p:spPr/>
        <p:txBody>
          <a:bodyPr/>
          <a:lstStyle/>
          <a:p>
            <a:r>
              <a:rPr lang="lt-LT" dirty="0"/>
              <a:t>GOALS OF CLASSIFICATION</a:t>
            </a:r>
          </a:p>
        </p:txBody>
      </p:sp>
      <p:pic>
        <p:nvPicPr>
          <p:cNvPr id="4" name="Paveikslėlis 3" descr="Paveikslėlis, kuriame yra tekstas, ekrano kopija, Šriftas&#10;&#10;Dirbtinio intelekto sugeneruotas turinys gali būti neteisingas.">
            <a:extLst>
              <a:ext uri="{FF2B5EF4-FFF2-40B4-BE49-F238E27FC236}">
                <a16:creationId xmlns:a16="http://schemas.microsoft.com/office/drawing/2014/main" id="{3E9AEB4A-3E45-29A2-C8FD-DBC9D8EBCC03}"/>
              </a:ext>
            </a:extLst>
          </p:cNvPr>
          <p:cNvPicPr>
            <a:picLocks noChangeAspect="1"/>
          </p:cNvPicPr>
          <p:nvPr/>
        </p:nvPicPr>
        <p:blipFill>
          <a:blip r:embed="rId2"/>
          <a:stretch>
            <a:fillRect/>
          </a:stretch>
        </p:blipFill>
        <p:spPr>
          <a:xfrm>
            <a:off x="688258" y="1445808"/>
            <a:ext cx="9314403" cy="3966383"/>
          </a:xfrm>
          <a:prstGeom prst="rect">
            <a:avLst/>
          </a:prstGeom>
        </p:spPr>
      </p:pic>
      <p:sp>
        <p:nvSpPr>
          <p:cNvPr id="6" name="TextBox 5">
            <a:extLst>
              <a:ext uri="{FF2B5EF4-FFF2-40B4-BE49-F238E27FC236}">
                <a16:creationId xmlns:a16="http://schemas.microsoft.com/office/drawing/2014/main" id="{59FD2334-7B13-5FD1-6F4D-ABAB381839ED}"/>
              </a:ext>
            </a:extLst>
          </p:cNvPr>
          <p:cNvSpPr txBox="1"/>
          <p:nvPr/>
        </p:nvSpPr>
        <p:spPr>
          <a:xfrm>
            <a:off x="1337187" y="5657997"/>
            <a:ext cx="8917858" cy="923330"/>
          </a:xfrm>
          <a:prstGeom prst="rect">
            <a:avLst/>
          </a:prstGeom>
          <a:noFill/>
        </p:spPr>
        <p:txBody>
          <a:bodyPr wrap="square">
            <a:spAutoFit/>
          </a:bodyPr>
          <a:lstStyle/>
          <a:p>
            <a:r>
              <a:rPr lang="en-US" dirty="0"/>
              <a:t>You often need to strike a balance between these goals – a model that is very inaccurate won’t be too trustworthy for inference, and understanding the impact that variables have on predictions can help make them more accurate</a:t>
            </a:r>
            <a:endParaRPr lang="lt-LT" dirty="0"/>
          </a:p>
        </p:txBody>
      </p:sp>
    </p:spTree>
    <p:extLst>
      <p:ext uri="{BB962C8B-B14F-4D97-AF65-F5344CB8AC3E}">
        <p14:creationId xmlns:p14="http://schemas.microsoft.com/office/powerpoint/2010/main" val="1800178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62E8BD6-D48B-FB80-1352-DCAB90D887E0}"/>
              </a:ext>
            </a:extLst>
          </p:cNvPr>
          <p:cNvSpPr>
            <a:spLocks noGrp="1"/>
          </p:cNvSpPr>
          <p:nvPr>
            <p:ph type="title"/>
          </p:nvPr>
        </p:nvSpPr>
        <p:spPr/>
        <p:txBody>
          <a:bodyPr/>
          <a:lstStyle/>
          <a:p>
            <a:r>
              <a:rPr lang="lt-LT" dirty="0"/>
              <a:t>TYPES OF CLASSIFICATION</a:t>
            </a:r>
          </a:p>
        </p:txBody>
      </p:sp>
      <p:sp>
        <p:nvSpPr>
          <p:cNvPr id="4" name="TextBox 3">
            <a:extLst>
              <a:ext uri="{FF2B5EF4-FFF2-40B4-BE49-F238E27FC236}">
                <a16:creationId xmlns:a16="http://schemas.microsoft.com/office/drawing/2014/main" id="{05F2CE08-343A-5F68-0102-81761BC7500B}"/>
              </a:ext>
            </a:extLst>
          </p:cNvPr>
          <p:cNvSpPr txBox="1"/>
          <p:nvPr/>
        </p:nvSpPr>
        <p:spPr>
          <a:xfrm>
            <a:off x="838199" y="1367522"/>
            <a:ext cx="8954729" cy="369332"/>
          </a:xfrm>
          <a:prstGeom prst="rect">
            <a:avLst/>
          </a:prstGeom>
          <a:noFill/>
        </p:spPr>
        <p:txBody>
          <a:bodyPr wrap="square">
            <a:spAutoFit/>
          </a:bodyPr>
          <a:lstStyle/>
          <a:p>
            <a:r>
              <a:rPr lang="en-US" dirty="0"/>
              <a:t>These are some of the most common types of classification modeling techniques:</a:t>
            </a:r>
            <a:endParaRPr lang="lt-LT" dirty="0"/>
          </a:p>
        </p:txBody>
      </p:sp>
      <p:pic>
        <p:nvPicPr>
          <p:cNvPr id="6" name="Paveikslėlis 5" descr="Paveikslėlis, kuriame yra tekstas, ekrano kopija, diagrama, Šriftas&#10;&#10;Dirbtinio intelekto sugeneruotas turinys gali būti neteisingas.">
            <a:extLst>
              <a:ext uri="{FF2B5EF4-FFF2-40B4-BE49-F238E27FC236}">
                <a16:creationId xmlns:a16="http://schemas.microsoft.com/office/drawing/2014/main" id="{C47C26F0-5627-0974-6193-CA5381BE4794}"/>
              </a:ext>
            </a:extLst>
          </p:cNvPr>
          <p:cNvPicPr>
            <a:picLocks noChangeAspect="1"/>
          </p:cNvPicPr>
          <p:nvPr/>
        </p:nvPicPr>
        <p:blipFill>
          <a:blip r:embed="rId2"/>
          <a:stretch>
            <a:fillRect/>
          </a:stretch>
        </p:blipFill>
        <p:spPr>
          <a:xfrm>
            <a:off x="361149" y="2108774"/>
            <a:ext cx="11469701" cy="3505689"/>
          </a:xfrm>
          <a:prstGeom prst="rect">
            <a:avLst/>
          </a:prstGeom>
        </p:spPr>
      </p:pic>
      <p:sp>
        <p:nvSpPr>
          <p:cNvPr id="5" name="TextBox 4">
            <a:extLst>
              <a:ext uri="{FF2B5EF4-FFF2-40B4-BE49-F238E27FC236}">
                <a16:creationId xmlns:a16="http://schemas.microsoft.com/office/drawing/2014/main" id="{59AE1349-787D-BF0E-21E5-D5EC4FD987A2}"/>
              </a:ext>
            </a:extLst>
          </p:cNvPr>
          <p:cNvSpPr txBox="1"/>
          <p:nvPr/>
        </p:nvSpPr>
        <p:spPr>
          <a:xfrm>
            <a:off x="3047999" y="5847883"/>
            <a:ext cx="6096000" cy="646331"/>
          </a:xfrm>
          <a:prstGeom prst="rect">
            <a:avLst/>
          </a:prstGeom>
          <a:noFill/>
        </p:spPr>
        <p:txBody>
          <a:bodyPr wrap="square">
            <a:spAutoFit/>
          </a:bodyPr>
          <a:lstStyle/>
          <a:p>
            <a:r>
              <a:rPr lang="en-US" dirty="0">
                <a:solidFill>
                  <a:srgbClr val="00B0F0"/>
                </a:solidFill>
              </a:rPr>
              <a:t>All models are wrong, but some are useful</a:t>
            </a:r>
          </a:p>
          <a:p>
            <a:r>
              <a:rPr lang="lt-LT" dirty="0"/>
              <a:t>George </a:t>
            </a:r>
            <a:r>
              <a:rPr lang="lt-LT" dirty="0" err="1"/>
              <a:t>Box</a:t>
            </a:r>
            <a:endParaRPr lang="lt-LT" dirty="0">
              <a:solidFill>
                <a:srgbClr val="00B0F0"/>
              </a:solidFill>
            </a:endParaRPr>
          </a:p>
        </p:txBody>
      </p:sp>
    </p:spTree>
    <p:extLst>
      <p:ext uri="{BB962C8B-B14F-4D97-AF65-F5344CB8AC3E}">
        <p14:creationId xmlns:p14="http://schemas.microsoft.com/office/powerpoint/2010/main" val="4014627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845D11B-20C4-BB10-70C7-079C8110E056}"/>
              </a:ext>
            </a:extLst>
          </p:cNvPr>
          <p:cNvSpPr>
            <a:spLocks noGrp="1"/>
          </p:cNvSpPr>
          <p:nvPr>
            <p:ph type="title"/>
          </p:nvPr>
        </p:nvSpPr>
        <p:spPr/>
        <p:txBody>
          <a:bodyPr/>
          <a:lstStyle/>
          <a:p>
            <a:r>
              <a:rPr lang="lt-LT" dirty="0"/>
              <a:t>CLASSIFICATION MODELING WORKFLOW</a:t>
            </a:r>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52E1401B-9B90-F8A8-41C6-13480464D1B9}"/>
              </a:ext>
            </a:extLst>
          </p:cNvPr>
          <p:cNvPicPr>
            <a:picLocks noChangeAspect="1"/>
          </p:cNvPicPr>
          <p:nvPr/>
        </p:nvPicPr>
        <p:blipFill>
          <a:blip r:embed="rId2"/>
          <a:stretch>
            <a:fillRect/>
          </a:stretch>
        </p:blipFill>
        <p:spPr>
          <a:xfrm>
            <a:off x="1386348" y="1561169"/>
            <a:ext cx="9048801" cy="4931706"/>
          </a:xfrm>
          <a:prstGeom prst="rect">
            <a:avLst/>
          </a:prstGeom>
        </p:spPr>
      </p:pic>
    </p:spTree>
    <p:extLst>
      <p:ext uri="{BB962C8B-B14F-4D97-AF65-F5344CB8AC3E}">
        <p14:creationId xmlns:p14="http://schemas.microsoft.com/office/powerpoint/2010/main" val="1353019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2DA4BA8-721E-4448-2176-B30FA85358D0}"/>
              </a:ext>
            </a:extLst>
          </p:cNvPr>
          <p:cNvSpPr>
            <a:spLocks noGrp="1"/>
          </p:cNvSpPr>
          <p:nvPr>
            <p:ph type="title"/>
          </p:nvPr>
        </p:nvSpPr>
        <p:spPr/>
        <p:txBody>
          <a:bodyPr/>
          <a:lstStyle/>
          <a:p>
            <a:r>
              <a:rPr lang="lt-LT" dirty="0"/>
              <a:t>KEY TAKEAWAYS</a:t>
            </a:r>
          </a:p>
        </p:txBody>
      </p:sp>
      <p:pic>
        <p:nvPicPr>
          <p:cNvPr id="4" name="Paveikslėlis 3" descr="Paveikslėlis, kuriame yra tekstas, ekrano kopija, Šriftas&#10;&#10;Dirbtinio intelekto sugeneruotas turinys gali būti neteisingas.">
            <a:extLst>
              <a:ext uri="{FF2B5EF4-FFF2-40B4-BE49-F238E27FC236}">
                <a16:creationId xmlns:a16="http://schemas.microsoft.com/office/drawing/2014/main" id="{F818AFA9-5DCE-6270-1284-5496D83B7F13}"/>
              </a:ext>
            </a:extLst>
          </p:cNvPr>
          <p:cNvPicPr>
            <a:picLocks noChangeAspect="1"/>
          </p:cNvPicPr>
          <p:nvPr/>
        </p:nvPicPr>
        <p:blipFill>
          <a:blip r:embed="rId2"/>
          <a:stretch>
            <a:fillRect/>
          </a:stretch>
        </p:blipFill>
        <p:spPr>
          <a:xfrm>
            <a:off x="1276128" y="1690688"/>
            <a:ext cx="9942478" cy="4493235"/>
          </a:xfrm>
          <a:prstGeom prst="rect">
            <a:avLst/>
          </a:prstGeom>
        </p:spPr>
      </p:pic>
    </p:spTree>
    <p:extLst>
      <p:ext uri="{BB962C8B-B14F-4D97-AF65-F5344CB8AC3E}">
        <p14:creationId xmlns:p14="http://schemas.microsoft.com/office/powerpoint/2010/main" val="144027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A36C90B-8A89-A90D-6443-FE75C24B4E87}"/>
              </a:ext>
            </a:extLst>
          </p:cNvPr>
          <p:cNvSpPr>
            <a:spLocks noGrp="1"/>
          </p:cNvSpPr>
          <p:nvPr>
            <p:ph type="title"/>
          </p:nvPr>
        </p:nvSpPr>
        <p:spPr/>
        <p:txBody>
          <a:bodyPr/>
          <a:lstStyle/>
          <a:p>
            <a:r>
              <a:rPr lang="lt-LT" dirty="0"/>
              <a:t>K-NEAREST NEIGHBORS (KNN)</a:t>
            </a:r>
          </a:p>
        </p:txBody>
      </p:sp>
      <p:sp>
        <p:nvSpPr>
          <p:cNvPr id="4" name="TextBox 3">
            <a:extLst>
              <a:ext uri="{FF2B5EF4-FFF2-40B4-BE49-F238E27FC236}">
                <a16:creationId xmlns:a16="http://schemas.microsoft.com/office/drawing/2014/main" id="{534E520F-0275-2CA6-85A0-AAD3A1895D90}"/>
              </a:ext>
            </a:extLst>
          </p:cNvPr>
          <p:cNvSpPr txBox="1"/>
          <p:nvPr/>
        </p:nvSpPr>
        <p:spPr>
          <a:xfrm>
            <a:off x="838200" y="2295265"/>
            <a:ext cx="9220200" cy="3693319"/>
          </a:xfrm>
          <a:prstGeom prst="rect">
            <a:avLst/>
          </a:prstGeom>
          <a:noFill/>
        </p:spPr>
        <p:txBody>
          <a:bodyPr wrap="square">
            <a:spAutoFit/>
          </a:bodyPr>
          <a:lstStyle/>
          <a:p>
            <a:r>
              <a:rPr lang="en-US" sz="2800" b="1" dirty="0"/>
              <a:t>K-Nearest Neighbors (KNN) </a:t>
            </a:r>
            <a:r>
              <a:rPr lang="en-US" sz="2800" dirty="0"/>
              <a:t>is a classification technique designed to predict outcomes based on similar observed values </a:t>
            </a:r>
          </a:p>
          <a:p>
            <a:r>
              <a:rPr lang="en-US" dirty="0"/>
              <a:t>	• In its simplest form, KNN creates a scatter plot with training data, plots a new unobserved value, and assigns a target class based on the classes of nearby points </a:t>
            </a:r>
          </a:p>
          <a:p>
            <a:r>
              <a:rPr lang="en-US" dirty="0"/>
              <a:t>	• </a:t>
            </a:r>
            <a:r>
              <a:rPr lang="en-US" sz="2400" b="1" dirty="0"/>
              <a:t>K </a:t>
            </a:r>
            <a:r>
              <a:rPr lang="en-US" dirty="0"/>
              <a:t>represents the number of nearby points (or “neighbors”) the model will consider when making a prediction </a:t>
            </a:r>
          </a:p>
          <a:p>
            <a:endParaRPr lang="en-US" b="1" dirty="0"/>
          </a:p>
          <a:p>
            <a:r>
              <a:rPr lang="en-US" b="1" dirty="0"/>
              <a:t>Example use cases: </a:t>
            </a:r>
          </a:p>
          <a:p>
            <a:r>
              <a:rPr lang="en-US" dirty="0"/>
              <a:t>	• Predicting which customers will purchase a product based on demographics </a:t>
            </a:r>
          </a:p>
          <a:p>
            <a:r>
              <a:rPr lang="en-US" dirty="0"/>
              <a:t>	• Classifying customers into pre-existing clusters or segments</a:t>
            </a:r>
            <a:endParaRPr lang="lt-LT" dirty="0"/>
          </a:p>
        </p:txBody>
      </p:sp>
    </p:spTree>
    <p:extLst>
      <p:ext uri="{BB962C8B-B14F-4D97-AF65-F5344CB8AC3E}">
        <p14:creationId xmlns:p14="http://schemas.microsoft.com/office/powerpoint/2010/main" val="3084376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9A3A355-98B0-8C20-DB79-50589D5118D7}"/>
              </a:ext>
            </a:extLst>
          </p:cNvPr>
          <p:cNvSpPr>
            <a:spLocks noGrp="1"/>
          </p:cNvSpPr>
          <p:nvPr>
            <p:ph type="title"/>
          </p:nvPr>
        </p:nvSpPr>
        <p:spPr/>
        <p:txBody>
          <a:bodyPr/>
          <a:lstStyle/>
          <a:p>
            <a:r>
              <a:rPr lang="lt-LT" dirty="0"/>
              <a:t>LOGISTIC REGRESSION</a:t>
            </a:r>
          </a:p>
        </p:txBody>
      </p:sp>
      <p:pic>
        <p:nvPicPr>
          <p:cNvPr id="6" name="Paveikslėlis 5" descr="Paveikslėlis, kuriame yra tekstas, ekrano kopija, Šriftas, Stačiakampis&#10;&#10;Dirbtinio intelekto sugeneruotas turinys gali būti neteisingas.">
            <a:extLst>
              <a:ext uri="{FF2B5EF4-FFF2-40B4-BE49-F238E27FC236}">
                <a16:creationId xmlns:a16="http://schemas.microsoft.com/office/drawing/2014/main" id="{A04F8CB6-F1F0-6B7C-77FE-FC771023D075}"/>
              </a:ext>
            </a:extLst>
          </p:cNvPr>
          <p:cNvPicPr>
            <a:picLocks noChangeAspect="1"/>
          </p:cNvPicPr>
          <p:nvPr/>
        </p:nvPicPr>
        <p:blipFill>
          <a:blip r:embed="rId2"/>
          <a:stretch>
            <a:fillRect/>
          </a:stretch>
        </p:blipFill>
        <p:spPr>
          <a:xfrm>
            <a:off x="2795607" y="1855923"/>
            <a:ext cx="6325483" cy="3639058"/>
          </a:xfrm>
          <a:prstGeom prst="rect">
            <a:avLst/>
          </a:prstGeom>
        </p:spPr>
      </p:pic>
      <p:pic>
        <p:nvPicPr>
          <p:cNvPr id="3" name="Paveikslėlis 2" descr="Paveikslėlis, kuriame yra apskritimas, diagrama, Grafika, dizainas&#10;&#10;Dirbtinio intelekto sugeneruotas turinys gali būti neteisingas.">
            <a:extLst>
              <a:ext uri="{FF2B5EF4-FFF2-40B4-BE49-F238E27FC236}">
                <a16:creationId xmlns:a16="http://schemas.microsoft.com/office/drawing/2014/main" id="{123D9692-12F7-6769-012C-17220A8DDBFD}"/>
              </a:ext>
            </a:extLst>
          </p:cNvPr>
          <p:cNvPicPr>
            <a:picLocks noChangeAspect="1"/>
          </p:cNvPicPr>
          <p:nvPr/>
        </p:nvPicPr>
        <p:blipFill>
          <a:blip r:embed="rId3"/>
          <a:stretch>
            <a:fillRect/>
          </a:stretch>
        </p:blipFill>
        <p:spPr>
          <a:xfrm>
            <a:off x="9810018" y="1917194"/>
            <a:ext cx="1676634" cy="1371791"/>
          </a:xfrm>
          <a:prstGeom prst="rect">
            <a:avLst/>
          </a:prstGeom>
        </p:spPr>
      </p:pic>
    </p:spTree>
    <p:extLst>
      <p:ext uri="{BB962C8B-B14F-4D97-AF65-F5344CB8AC3E}">
        <p14:creationId xmlns:p14="http://schemas.microsoft.com/office/powerpoint/2010/main" val="293037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243A32E-97CD-2DA0-4291-4F4B03B24C66}"/>
              </a:ext>
            </a:extLst>
          </p:cNvPr>
          <p:cNvSpPr>
            <a:spLocks noGrp="1"/>
          </p:cNvSpPr>
          <p:nvPr>
            <p:ph type="title"/>
          </p:nvPr>
        </p:nvSpPr>
        <p:spPr/>
        <p:txBody>
          <a:bodyPr/>
          <a:lstStyle/>
          <a:p>
            <a:r>
              <a:rPr lang="lt-LT" dirty="0"/>
              <a:t>LOGISTIC REGRESSION</a:t>
            </a:r>
          </a:p>
        </p:txBody>
      </p:sp>
      <p:sp>
        <p:nvSpPr>
          <p:cNvPr id="4" name="TextBox 3">
            <a:extLst>
              <a:ext uri="{FF2B5EF4-FFF2-40B4-BE49-F238E27FC236}">
                <a16:creationId xmlns:a16="http://schemas.microsoft.com/office/drawing/2014/main" id="{FA23A86E-9B19-2EC3-3673-5E51E22DDB80}"/>
              </a:ext>
            </a:extLst>
          </p:cNvPr>
          <p:cNvSpPr txBox="1"/>
          <p:nvPr/>
        </p:nvSpPr>
        <p:spPr>
          <a:xfrm>
            <a:off x="934065" y="1803652"/>
            <a:ext cx="8209935" cy="4247317"/>
          </a:xfrm>
          <a:prstGeom prst="rect">
            <a:avLst/>
          </a:prstGeom>
          <a:noFill/>
        </p:spPr>
        <p:txBody>
          <a:bodyPr wrap="square">
            <a:spAutoFit/>
          </a:bodyPr>
          <a:lstStyle/>
          <a:p>
            <a:r>
              <a:rPr lang="en-US" b="1" dirty="0">
                <a:solidFill>
                  <a:srgbClr val="00B0F0"/>
                </a:solidFill>
              </a:rPr>
              <a:t>Logistic Regression </a:t>
            </a:r>
            <a:r>
              <a:rPr lang="en-US" dirty="0"/>
              <a:t>is a classification technique used to predict the probability of a binary (</a:t>
            </a:r>
            <a:r>
              <a:rPr lang="en-US" b="1" dirty="0"/>
              <a:t>true/false</a:t>
            </a:r>
            <a:r>
              <a:rPr lang="en-US" dirty="0"/>
              <a:t>) outcome </a:t>
            </a:r>
          </a:p>
          <a:p>
            <a:r>
              <a:rPr lang="en-US" dirty="0"/>
              <a:t>• In its simplest form, logistic regression forms an </a:t>
            </a:r>
            <a:r>
              <a:rPr lang="en-US" b="1" dirty="0"/>
              <a:t>S-shaped (sigmoid) curve between 0 and 1, </a:t>
            </a:r>
            <a:r>
              <a:rPr lang="en-US" dirty="0"/>
              <a:t>which represents the probability of a TRUE outcome for any given value of X </a:t>
            </a:r>
          </a:p>
          <a:p>
            <a:r>
              <a:rPr lang="en-US" dirty="0"/>
              <a:t>• The </a:t>
            </a:r>
            <a:r>
              <a:rPr lang="en-US" dirty="0">
                <a:highlight>
                  <a:srgbClr val="FFFF00"/>
                </a:highlight>
              </a:rPr>
              <a:t>likelihood function </a:t>
            </a:r>
            <a:r>
              <a:rPr lang="en-US" dirty="0"/>
              <a:t>measures how accurately a model predicts outcomes, and is used to optimize the “shape” of the curve </a:t>
            </a:r>
          </a:p>
          <a:p>
            <a:r>
              <a:rPr lang="en-US" dirty="0"/>
              <a:t>• Although it has the word “regression” in its name, </a:t>
            </a:r>
            <a:r>
              <a:rPr lang="en-US" b="1" dirty="0">
                <a:highlight>
                  <a:srgbClr val="00FFFF"/>
                </a:highlight>
              </a:rPr>
              <a:t>logistic regression is not used for predicting numeric variables</a:t>
            </a:r>
          </a:p>
          <a:p>
            <a:endParaRPr lang="en-US" dirty="0"/>
          </a:p>
          <a:p>
            <a:endParaRPr lang="en-US" dirty="0"/>
          </a:p>
          <a:p>
            <a:endParaRPr lang="en-US" dirty="0"/>
          </a:p>
          <a:p>
            <a:r>
              <a:rPr lang="en-US" dirty="0"/>
              <a:t>Example use cases: </a:t>
            </a:r>
          </a:p>
          <a:p>
            <a:r>
              <a:rPr lang="en-US" dirty="0"/>
              <a:t>• Flagging spam emails or fraudulent credit card transactions </a:t>
            </a:r>
          </a:p>
          <a:p>
            <a:r>
              <a:rPr lang="en-US" dirty="0"/>
              <a:t>• Determining whether to serve a particular ad to a website visitor</a:t>
            </a:r>
            <a:endParaRPr lang="lt-LT" dirty="0"/>
          </a:p>
        </p:txBody>
      </p:sp>
      <p:pic>
        <p:nvPicPr>
          <p:cNvPr id="6" name="Paveikslėlis 5" descr="Paveikslėlis, kuriame yra apskritimas, diagrama, Grafika, dizainas&#10;&#10;Dirbtinio intelekto sugeneruotas turinys gali būti neteisingas.">
            <a:extLst>
              <a:ext uri="{FF2B5EF4-FFF2-40B4-BE49-F238E27FC236}">
                <a16:creationId xmlns:a16="http://schemas.microsoft.com/office/drawing/2014/main" id="{51298312-24E2-9221-1A4B-1024E55850CA}"/>
              </a:ext>
            </a:extLst>
          </p:cNvPr>
          <p:cNvPicPr>
            <a:picLocks noChangeAspect="1"/>
          </p:cNvPicPr>
          <p:nvPr/>
        </p:nvPicPr>
        <p:blipFill>
          <a:blip r:embed="rId2"/>
          <a:stretch>
            <a:fillRect/>
          </a:stretch>
        </p:blipFill>
        <p:spPr>
          <a:xfrm>
            <a:off x="9810018" y="1917194"/>
            <a:ext cx="1676634" cy="1371791"/>
          </a:xfrm>
          <a:prstGeom prst="rect">
            <a:avLst/>
          </a:prstGeom>
        </p:spPr>
      </p:pic>
    </p:spTree>
    <p:extLst>
      <p:ext uri="{BB962C8B-B14F-4D97-AF65-F5344CB8AC3E}">
        <p14:creationId xmlns:p14="http://schemas.microsoft.com/office/powerpoint/2010/main" val="3026772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493A092-28DE-2741-1850-109D9387B494}"/>
              </a:ext>
            </a:extLst>
          </p:cNvPr>
          <p:cNvSpPr>
            <a:spLocks noGrp="1"/>
          </p:cNvSpPr>
          <p:nvPr>
            <p:ph type="title"/>
          </p:nvPr>
        </p:nvSpPr>
        <p:spPr/>
        <p:txBody>
          <a:bodyPr/>
          <a:lstStyle/>
          <a:p>
            <a:r>
              <a:rPr lang="lt-LT" dirty="0"/>
              <a:t>LOGISTIC REGRESSION</a:t>
            </a:r>
          </a:p>
        </p:txBody>
      </p:sp>
      <p:pic>
        <p:nvPicPr>
          <p:cNvPr id="4" name="Paveikslėlis 3" descr="Paveikslėlis, kuriame yra tekstas, Grafikas, linija, diagrama&#10;&#10;Dirbtinio intelekto sugeneruotas turinys gali būti neteisingas.">
            <a:extLst>
              <a:ext uri="{FF2B5EF4-FFF2-40B4-BE49-F238E27FC236}">
                <a16:creationId xmlns:a16="http://schemas.microsoft.com/office/drawing/2014/main" id="{E0EF812E-99C7-BF2B-2048-ED8168B894E0}"/>
              </a:ext>
            </a:extLst>
          </p:cNvPr>
          <p:cNvPicPr>
            <a:picLocks noChangeAspect="1"/>
          </p:cNvPicPr>
          <p:nvPr/>
        </p:nvPicPr>
        <p:blipFill>
          <a:blip r:embed="rId2"/>
          <a:stretch>
            <a:fillRect/>
          </a:stretch>
        </p:blipFill>
        <p:spPr>
          <a:xfrm>
            <a:off x="601356" y="1465615"/>
            <a:ext cx="8059275" cy="4477375"/>
          </a:xfrm>
          <a:prstGeom prst="rect">
            <a:avLst/>
          </a:prstGeom>
        </p:spPr>
      </p:pic>
      <p:sp>
        <p:nvSpPr>
          <p:cNvPr id="6" name="TextBox 5">
            <a:extLst>
              <a:ext uri="{FF2B5EF4-FFF2-40B4-BE49-F238E27FC236}">
                <a16:creationId xmlns:a16="http://schemas.microsoft.com/office/drawing/2014/main" id="{7F8CD3B4-BA17-2D24-04C0-BC9EA94EC6C6}"/>
              </a:ext>
            </a:extLst>
          </p:cNvPr>
          <p:cNvSpPr txBox="1"/>
          <p:nvPr/>
        </p:nvSpPr>
        <p:spPr>
          <a:xfrm>
            <a:off x="2172929" y="5703161"/>
            <a:ext cx="6096000" cy="923330"/>
          </a:xfrm>
          <a:prstGeom prst="rect">
            <a:avLst/>
          </a:prstGeom>
          <a:noFill/>
        </p:spPr>
        <p:txBody>
          <a:bodyPr wrap="square">
            <a:spAutoFit/>
          </a:bodyPr>
          <a:lstStyle/>
          <a:p>
            <a:r>
              <a:rPr lang="en-US" dirty="0"/>
              <a:t>Logistic regression plots the best-fitting curve between 0 and 1, which tells us the probability of </a:t>
            </a:r>
            <a:r>
              <a:rPr lang="en-US" dirty="0">
                <a:highlight>
                  <a:srgbClr val="FFFF00"/>
                </a:highlight>
              </a:rPr>
              <a:t>Y</a:t>
            </a:r>
            <a:r>
              <a:rPr lang="en-US" dirty="0"/>
              <a:t> being TRUE for any given value of X1</a:t>
            </a:r>
            <a:endParaRPr lang="lt-LT" dirty="0"/>
          </a:p>
        </p:txBody>
      </p:sp>
    </p:spTree>
    <p:extLst>
      <p:ext uri="{BB962C8B-B14F-4D97-AF65-F5344CB8AC3E}">
        <p14:creationId xmlns:p14="http://schemas.microsoft.com/office/powerpoint/2010/main" val="1554315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0DB2CA0-967D-1924-1EF2-4D66087204A2}"/>
              </a:ext>
            </a:extLst>
          </p:cNvPr>
          <p:cNvSpPr>
            <a:spLocks noGrp="1"/>
          </p:cNvSpPr>
          <p:nvPr>
            <p:ph type="title"/>
          </p:nvPr>
        </p:nvSpPr>
        <p:spPr/>
        <p:txBody>
          <a:bodyPr/>
          <a:lstStyle/>
          <a:p>
            <a:r>
              <a:rPr lang="lt-LT" dirty="0"/>
              <a:t>LOGISTIC VS LINEAR REGRESSION</a:t>
            </a:r>
          </a:p>
        </p:txBody>
      </p:sp>
      <p:sp>
        <p:nvSpPr>
          <p:cNvPr id="4" name="TextBox 3">
            <a:extLst>
              <a:ext uri="{FF2B5EF4-FFF2-40B4-BE49-F238E27FC236}">
                <a16:creationId xmlns:a16="http://schemas.microsoft.com/office/drawing/2014/main" id="{25CFE0FC-1C6E-8A64-78A3-5915F4B0F445}"/>
              </a:ext>
            </a:extLst>
          </p:cNvPr>
          <p:cNvSpPr txBox="1"/>
          <p:nvPr/>
        </p:nvSpPr>
        <p:spPr>
          <a:xfrm>
            <a:off x="1415846" y="1523605"/>
            <a:ext cx="9193160" cy="923330"/>
          </a:xfrm>
          <a:prstGeom prst="rect">
            <a:avLst/>
          </a:prstGeom>
          <a:noFill/>
        </p:spPr>
        <p:txBody>
          <a:bodyPr wrap="square">
            <a:spAutoFit/>
          </a:bodyPr>
          <a:lstStyle/>
          <a:p>
            <a:r>
              <a:rPr lang="en-US" dirty="0"/>
              <a:t>Logistic regression and linear regression are both linear models, but logistic regression outputs probability, which is bounded by 0 and 1 </a:t>
            </a:r>
          </a:p>
          <a:p>
            <a:r>
              <a:rPr lang="en-US" dirty="0"/>
              <a:t>	• The logit transformation helps convert linear model outputs to probabilities</a:t>
            </a:r>
            <a:endParaRPr lang="lt-LT" dirty="0"/>
          </a:p>
        </p:txBody>
      </p:sp>
      <p:sp>
        <p:nvSpPr>
          <p:cNvPr id="6" name="TextBox 5">
            <a:extLst>
              <a:ext uri="{FF2B5EF4-FFF2-40B4-BE49-F238E27FC236}">
                <a16:creationId xmlns:a16="http://schemas.microsoft.com/office/drawing/2014/main" id="{E9FF0DA4-E82E-6D71-11C1-9CAA50B25B5A}"/>
              </a:ext>
            </a:extLst>
          </p:cNvPr>
          <p:cNvSpPr txBox="1"/>
          <p:nvPr/>
        </p:nvSpPr>
        <p:spPr>
          <a:xfrm>
            <a:off x="2094270" y="5771987"/>
            <a:ext cx="8790039" cy="646331"/>
          </a:xfrm>
          <a:prstGeom prst="rect">
            <a:avLst/>
          </a:prstGeom>
          <a:noFill/>
        </p:spPr>
        <p:txBody>
          <a:bodyPr wrap="square">
            <a:spAutoFit/>
          </a:bodyPr>
          <a:lstStyle/>
          <a:p>
            <a:r>
              <a:rPr lang="en-US" dirty="0"/>
              <a:t>Log Odds (The Logit Function) links probability to a linear combination of features which has an output between 0 and 1</a:t>
            </a:r>
            <a:endParaRPr lang="lt-LT" dirty="0"/>
          </a:p>
        </p:txBody>
      </p:sp>
      <p:pic>
        <p:nvPicPr>
          <p:cNvPr id="8" name="Paveikslėlis 7" descr="Paveikslėlis, kuriame yra tekstas, ekrano kopija, Šriftas, skaičius&#10;&#10;Dirbtinio intelekto sugeneruotas turinys gali būti neteisingas.">
            <a:extLst>
              <a:ext uri="{FF2B5EF4-FFF2-40B4-BE49-F238E27FC236}">
                <a16:creationId xmlns:a16="http://schemas.microsoft.com/office/drawing/2014/main" id="{DEFCB5F5-7FD5-8212-3FE2-908336A42513}"/>
              </a:ext>
            </a:extLst>
          </p:cNvPr>
          <p:cNvPicPr>
            <a:picLocks noChangeAspect="1"/>
          </p:cNvPicPr>
          <p:nvPr/>
        </p:nvPicPr>
        <p:blipFill>
          <a:blip r:embed="rId2"/>
          <a:stretch>
            <a:fillRect/>
          </a:stretch>
        </p:blipFill>
        <p:spPr>
          <a:xfrm>
            <a:off x="1691148" y="2625727"/>
            <a:ext cx="9193161" cy="2967467"/>
          </a:xfrm>
          <a:prstGeom prst="rect">
            <a:avLst/>
          </a:prstGeom>
        </p:spPr>
      </p:pic>
    </p:spTree>
    <p:extLst>
      <p:ext uri="{BB962C8B-B14F-4D97-AF65-F5344CB8AC3E}">
        <p14:creationId xmlns:p14="http://schemas.microsoft.com/office/powerpoint/2010/main" val="2200313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23B6F94-50A8-1FE2-D8FA-77021EB78216}"/>
              </a:ext>
            </a:extLst>
          </p:cNvPr>
          <p:cNvSpPr>
            <a:spLocks noGrp="1"/>
          </p:cNvSpPr>
          <p:nvPr>
            <p:ph type="title"/>
          </p:nvPr>
        </p:nvSpPr>
        <p:spPr/>
        <p:txBody>
          <a:bodyPr/>
          <a:lstStyle/>
          <a:p>
            <a:r>
              <a:rPr lang="lt-LT" dirty="0"/>
              <a:t>LOGISTIC EQUATION</a:t>
            </a:r>
          </a:p>
        </p:txBody>
      </p:sp>
      <p:sp>
        <p:nvSpPr>
          <p:cNvPr id="4" name="TextBox 3">
            <a:extLst>
              <a:ext uri="{FF2B5EF4-FFF2-40B4-BE49-F238E27FC236}">
                <a16:creationId xmlns:a16="http://schemas.microsoft.com/office/drawing/2014/main" id="{7E47AD15-65B5-3523-7B3B-E5E3A4570DE5}"/>
              </a:ext>
            </a:extLst>
          </p:cNvPr>
          <p:cNvSpPr txBox="1"/>
          <p:nvPr/>
        </p:nvSpPr>
        <p:spPr>
          <a:xfrm>
            <a:off x="1042218" y="1690688"/>
            <a:ext cx="9183329" cy="646331"/>
          </a:xfrm>
          <a:prstGeom prst="rect">
            <a:avLst/>
          </a:prstGeom>
          <a:noFill/>
        </p:spPr>
        <p:txBody>
          <a:bodyPr wrap="square">
            <a:spAutoFit/>
          </a:bodyPr>
          <a:lstStyle/>
          <a:p>
            <a:r>
              <a:rPr lang="en-US" dirty="0"/>
              <a:t>The logistic equation solves for probability by setting log odds to a linear combination of features and solving for p</a:t>
            </a:r>
            <a:endParaRPr lang="lt-LT" dirty="0"/>
          </a:p>
        </p:txBody>
      </p:sp>
      <p:pic>
        <p:nvPicPr>
          <p:cNvPr id="6" name="Paveikslėlis 5" descr="Paveikslėlis, kuriame yra tekstas, ekrano kopija, diagrama, linija&#10;&#10;Dirbtinio intelekto sugeneruotas turinys gali būti neteisingas.">
            <a:extLst>
              <a:ext uri="{FF2B5EF4-FFF2-40B4-BE49-F238E27FC236}">
                <a16:creationId xmlns:a16="http://schemas.microsoft.com/office/drawing/2014/main" id="{81F6E6D4-0636-B460-0C98-0938042A35D7}"/>
              </a:ext>
            </a:extLst>
          </p:cNvPr>
          <p:cNvPicPr>
            <a:picLocks noChangeAspect="1"/>
          </p:cNvPicPr>
          <p:nvPr/>
        </p:nvPicPr>
        <p:blipFill>
          <a:blip r:embed="rId2"/>
          <a:stretch>
            <a:fillRect/>
          </a:stretch>
        </p:blipFill>
        <p:spPr>
          <a:xfrm>
            <a:off x="1111045" y="2408429"/>
            <a:ext cx="9598447" cy="4084446"/>
          </a:xfrm>
          <a:prstGeom prst="rect">
            <a:avLst/>
          </a:prstGeom>
        </p:spPr>
      </p:pic>
    </p:spTree>
    <p:extLst>
      <p:ext uri="{BB962C8B-B14F-4D97-AF65-F5344CB8AC3E}">
        <p14:creationId xmlns:p14="http://schemas.microsoft.com/office/powerpoint/2010/main" val="1440453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581C-A90C-569D-7BD2-345AE73155E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A2A54AD6-3C46-09CF-6E5B-306B0B6D0577}"/>
              </a:ext>
            </a:extLst>
          </p:cNvPr>
          <p:cNvSpPr>
            <a:spLocks noGrp="1"/>
          </p:cNvSpPr>
          <p:nvPr>
            <p:ph type="title"/>
          </p:nvPr>
        </p:nvSpPr>
        <p:spPr/>
        <p:txBody>
          <a:bodyPr/>
          <a:lstStyle/>
          <a:p>
            <a:r>
              <a:rPr lang="lt-LT" dirty="0"/>
              <a:t>LOGISTIC EQUATION</a:t>
            </a:r>
          </a:p>
        </p:txBody>
      </p:sp>
      <p:pic>
        <p:nvPicPr>
          <p:cNvPr id="5" name="Paveikslėlis 4" descr="Paveikslėlis, kuriame yra tekstas, ekrano kopija, diagrama, linija&#10;&#10;Dirbtinio intelekto sugeneruotas turinys gali būti neteisingas.">
            <a:extLst>
              <a:ext uri="{FF2B5EF4-FFF2-40B4-BE49-F238E27FC236}">
                <a16:creationId xmlns:a16="http://schemas.microsoft.com/office/drawing/2014/main" id="{4A06B99A-DA66-D799-7F4D-A5BC98AB5EA6}"/>
              </a:ext>
            </a:extLst>
          </p:cNvPr>
          <p:cNvPicPr>
            <a:picLocks noChangeAspect="1"/>
          </p:cNvPicPr>
          <p:nvPr/>
        </p:nvPicPr>
        <p:blipFill>
          <a:blip r:embed="rId3"/>
          <a:stretch>
            <a:fillRect/>
          </a:stretch>
        </p:blipFill>
        <p:spPr>
          <a:xfrm>
            <a:off x="648927" y="1246145"/>
            <a:ext cx="4686237" cy="2792682"/>
          </a:xfrm>
          <a:prstGeom prst="rect">
            <a:avLst/>
          </a:prstGeom>
        </p:spPr>
      </p:pic>
      <p:pic>
        <p:nvPicPr>
          <p:cNvPr id="8" name="Paveikslėlis 7" descr="Paveikslėlis, kuriame yra tekstas, ekrano kopija, diagrama, linija&#10;&#10;Dirbtinio intelekto sugeneruotas turinys gali būti neteisingas.">
            <a:extLst>
              <a:ext uri="{FF2B5EF4-FFF2-40B4-BE49-F238E27FC236}">
                <a16:creationId xmlns:a16="http://schemas.microsoft.com/office/drawing/2014/main" id="{91C4BA87-9AB9-493B-7180-9EF72B6C9EC4}"/>
              </a:ext>
            </a:extLst>
          </p:cNvPr>
          <p:cNvPicPr>
            <a:picLocks noChangeAspect="1"/>
          </p:cNvPicPr>
          <p:nvPr/>
        </p:nvPicPr>
        <p:blipFill>
          <a:blip r:embed="rId4"/>
          <a:stretch>
            <a:fillRect/>
          </a:stretch>
        </p:blipFill>
        <p:spPr>
          <a:xfrm>
            <a:off x="6096000" y="1206587"/>
            <a:ext cx="4945626" cy="2871799"/>
          </a:xfrm>
          <a:prstGeom prst="rect">
            <a:avLst/>
          </a:prstGeom>
        </p:spPr>
      </p:pic>
      <p:pic>
        <p:nvPicPr>
          <p:cNvPr id="10" name="Paveikslėlis 9" descr="Paveikslėlis, kuriame yra tekstas, ekrano kopija, diagrama, linija&#10;&#10;Dirbtinio intelekto sugeneruotas turinys gali būti neteisingas.">
            <a:extLst>
              <a:ext uri="{FF2B5EF4-FFF2-40B4-BE49-F238E27FC236}">
                <a16:creationId xmlns:a16="http://schemas.microsoft.com/office/drawing/2014/main" id="{EB138B93-D287-1470-F851-FD33343BD11B}"/>
              </a:ext>
            </a:extLst>
          </p:cNvPr>
          <p:cNvPicPr>
            <a:picLocks noChangeAspect="1"/>
          </p:cNvPicPr>
          <p:nvPr/>
        </p:nvPicPr>
        <p:blipFill>
          <a:blip r:embed="rId5"/>
          <a:stretch>
            <a:fillRect/>
          </a:stretch>
        </p:blipFill>
        <p:spPr>
          <a:xfrm>
            <a:off x="749710" y="4078386"/>
            <a:ext cx="4686238" cy="2724756"/>
          </a:xfrm>
          <a:prstGeom prst="rect">
            <a:avLst/>
          </a:prstGeom>
        </p:spPr>
      </p:pic>
      <p:pic>
        <p:nvPicPr>
          <p:cNvPr id="12" name="Paveikslėlis 11" descr="Paveikslėlis, kuriame yra tekstas, ekrano kopija, diagrama, linija&#10;&#10;Dirbtinio intelekto sugeneruotas turinys gali būti neteisingas.">
            <a:extLst>
              <a:ext uri="{FF2B5EF4-FFF2-40B4-BE49-F238E27FC236}">
                <a16:creationId xmlns:a16="http://schemas.microsoft.com/office/drawing/2014/main" id="{2AB98D97-9EB1-D483-6110-04E3E3B8D0A0}"/>
              </a:ext>
            </a:extLst>
          </p:cNvPr>
          <p:cNvPicPr>
            <a:picLocks noChangeAspect="1"/>
          </p:cNvPicPr>
          <p:nvPr/>
        </p:nvPicPr>
        <p:blipFill>
          <a:blip r:embed="rId6"/>
          <a:stretch>
            <a:fillRect/>
          </a:stretch>
        </p:blipFill>
        <p:spPr>
          <a:xfrm>
            <a:off x="6170757" y="4127136"/>
            <a:ext cx="4402821" cy="2730864"/>
          </a:xfrm>
          <a:prstGeom prst="rect">
            <a:avLst/>
          </a:prstGeom>
        </p:spPr>
      </p:pic>
    </p:spTree>
    <p:extLst>
      <p:ext uri="{BB962C8B-B14F-4D97-AF65-F5344CB8AC3E}">
        <p14:creationId xmlns:p14="http://schemas.microsoft.com/office/powerpoint/2010/main" val="1146689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907B-61E6-61CB-2C6B-57307700AC0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26228E64-7183-5FEB-2B12-0D83F3F58CB0}"/>
              </a:ext>
            </a:extLst>
          </p:cNvPr>
          <p:cNvSpPr>
            <a:spLocks noGrp="1"/>
          </p:cNvSpPr>
          <p:nvPr>
            <p:ph type="title"/>
          </p:nvPr>
        </p:nvSpPr>
        <p:spPr/>
        <p:txBody>
          <a:bodyPr/>
          <a:lstStyle/>
          <a:p>
            <a:r>
              <a:rPr lang="lt-LT" dirty="0"/>
              <a:t>LOGISTIC EQUATION</a:t>
            </a:r>
          </a:p>
        </p:txBody>
      </p:sp>
      <p:pic>
        <p:nvPicPr>
          <p:cNvPr id="4" name="Paveikslėlis 3" descr="Paveikslėlis, kuriame yra tekstas, diagrama, ekrano kopija, linija&#10;&#10;Dirbtinio intelekto sugeneruotas turinys gali būti neteisingas.">
            <a:extLst>
              <a:ext uri="{FF2B5EF4-FFF2-40B4-BE49-F238E27FC236}">
                <a16:creationId xmlns:a16="http://schemas.microsoft.com/office/drawing/2014/main" id="{8F28641F-95A0-0975-315C-489611285308}"/>
              </a:ext>
            </a:extLst>
          </p:cNvPr>
          <p:cNvPicPr>
            <a:picLocks noChangeAspect="1"/>
          </p:cNvPicPr>
          <p:nvPr/>
        </p:nvPicPr>
        <p:blipFill>
          <a:blip r:embed="rId3"/>
          <a:stretch>
            <a:fillRect/>
          </a:stretch>
        </p:blipFill>
        <p:spPr>
          <a:xfrm>
            <a:off x="3618271" y="3871379"/>
            <a:ext cx="4748480" cy="2868151"/>
          </a:xfrm>
          <a:prstGeom prst="rect">
            <a:avLst/>
          </a:prstGeom>
        </p:spPr>
      </p:pic>
      <p:pic>
        <p:nvPicPr>
          <p:cNvPr id="7" name="Paveikslėlis 6" descr="Paveikslėlis, kuriame yra tekstas, ekrano kopija, diagrama, linija&#10;&#10;Dirbtinio intelekto sugeneruotas turinys gali būti neteisingas.">
            <a:extLst>
              <a:ext uri="{FF2B5EF4-FFF2-40B4-BE49-F238E27FC236}">
                <a16:creationId xmlns:a16="http://schemas.microsoft.com/office/drawing/2014/main" id="{39385C55-FCF7-4435-8E50-685794435BD6}"/>
              </a:ext>
            </a:extLst>
          </p:cNvPr>
          <p:cNvPicPr>
            <a:picLocks noChangeAspect="1"/>
          </p:cNvPicPr>
          <p:nvPr/>
        </p:nvPicPr>
        <p:blipFill>
          <a:blip r:embed="rId4"/>
          <a:stretch>
            <a:fillRect/>
          </a:stretch>
        </p:blipFill>
        <p:spPr>
          <a:xfrm>
            <a:off x="6427002" y="94388"/>
            <a:ext cx="5764998" cy="3404936"/>
          </a:xfrm>
          <a:prstGeom prst="rect">
            <a:avLst/>
          </a:prstGeom>
        </p:spPr>
      </p:pic>
      <p:pic>
        <p:nvPicPr>
          <p:cNvPr id="11" name="Paveikslėlis 10" descr="Paveikslėlis, kuriame yra tekstas, diagrama, ekrano kopija, linija&#10;&#10;Dirbtinio intelekto sugeneruotas turinys gali būti neteisingas.">
            <a:extLst>
              <a:ext uri="{FF2B5EF4-FFF2-40B4-BE49-F238E27FC236}">
                <a16:creationId xmlns:a16="http://schemas.microsoft.com/office/drawing/2014/main" id="{884F9294-401C-BC5F-A581-1D77CB0B0882}"/>
              </a:ext>
            </a:extLst>
          </p:cNvPr>
          <p:cNvPicPr>
            <a:picLocks noChangeAspect="1"/>
          </p:cNvPicPr>
          <p:nvPr/>
        </p:nvPicPr>
        <p:blipFill>
          <a:blip r:embed="rId5"/>
          <a:stretch>
            <a:fillRect/>
          </a:stretch>
        </p:blipFill>
        <p:spPr>
          <a:xfrm>
            <a:off x="756492" y="290074"/>
            <a:ext cx="5126261" cy="3013565"/>
          </a:xfrm>
          <a:prstGeom prst="rect">
            <a:avLst/>
          </a:prstGeom>
        </p:spPr>
      </p:pic>
    </p:spTree>
    <p:extLst>
      <p:ext uri="{BB962C8B-B14F-4D97-AF65-F5344CB8AC3E}">
        <p14:creationId xmlns:p14="http://schemas.microsoft.com/office/powerpoint/2010/main" val="3901129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034922B-2154-2770-EB74-83563BFBE908}"/>
              </a:ext>
            </a:extLst>
          </p:cNvPr>
          <p:cNvSpPr>
            <a:spLocks noGrp="1"/>
          </p:cNvSpPr>
          <p:nvPr>
            <p:ph type="title"/>
          </p:nvPr>
        </p:nvSpPr>
        <p:spPr/>
        <p:txBody>
          <a:bodyPr/>
          <a:lstStyle/>
          <a:p>
            <a:r>
              <a:rPr lang="lt-LT" dirty="0"/>
              <a:t>LIKELIHOOD </a:t>
            </a:r>
          </a:p>
        </p:txBody>
      </p:sp>
      <p:sp>
        <p:nvSpPr>
          <p:cNvPr id="4" name="TextBox 3">
            <a:extLst>
              <a:ext uri="{FF2B5EF4-FFF2-40B4-BE49-F238E27FC236}">
                <a16:creationId xmlns:a16="http://schemas.microsoft.com/office/drawing/2014/main" id="{26F9A440-5629-6F3B-6245-104DF4709EA2}"/>
              </a:ext>
            </a:extLst>
          </p:cNvPr>
          <p:cNvSpPr txBox="1"/>
          <p:nvPr/>
        </p:nvSpPr>
        <p:spPr>
          <a:xfrm>
            <a:off x="924231" y="1674674"/>
            <a:ext cx="9026013" cy="1477328"/>
          </a:xfrm>
          <a:prstGeom prst="rect">
            <a:avLst/>
          </a:prstGeom>
          <a:noFill/>
        </p:spPr>
        <p:txBody>
          <a:bodyPr wrap="square">
            <a:spAutoFit/>
          </a:bodyPr>
          <a:lstStyle/>
          <a:p>
            <a:r>
              <a:rPr lang="en-US" dirty="0"/>
              <a:t>How do we determine the “right” values for 𝛽? </a:t>
            </a:r>
          </a:p>
          <a:p>
            <a:r>
              <a:rPr lang="en-US" dirty="0"/>
              <a:t>• Likelihood is a metric that tells us how good our model is at correctly predicting Y, based on the shape of the curve </a:t>
            </a:r>
          </a:p>
          <a:p>
            <a:r>
              <a:rPr lang="en-US" dirty="0"/>
              <a:t>• This is where </a:t>
            </a:r>
            <a:r>
              <a:rPr lang="en-US" b="1" dirty="0"/>
              <a:t>machine learning </a:t>
            </a:r>
            <a:r>
              <a:rPr lang="en-US" dirty="0"/>
              <a:t>comes in; instead of human trial-and-error, </a:t>
            </a:r>
            <a:r>
              <a:rPr lang="en-US" b="1" dirty="0"/>
              <a:t>an algorithm determines the best weights to maximize likelihood </a:t>
            </a:r>
            <a:r>
              <a:rPr lang="en-US" dirty="0"/>
              <a:t>using observed values</a:t>
            </a:r>
            <a:endParaRPr lang="lt-LT" dirty="0"/>
          </a:p>
        </p:txBody>
      </p:sp>
      <p:pic>
        <p:nvPicPr>
          <p:cNvPr id="6" name="Paveikslėlis 5" descr="Paveikslėlis, kuriame yra tekstas, ekrano kopija, Šriftas, diagrama&#10;&#10;Dirbtinio intelekto sugeneruotas turinys gali būti neteisingas.">
            <a:extLst>
              <a:ext uri="{FF2B5EF4-FFF2-40B4-BE49-F238E27FC236}">
                <a16:creationId xmlns:a16="http://schemas.microsoft.com/office/drawing/2014/main" id="{0E36DBDE-1E56-33EF-CFAE-076F92727FB6}"/>
              </a:ext>
            </a:extLst>
          </p:cNvPr>
          <p:cNvPicPr>
            <a:picLocks noChangeAspect="1"/>
          </p:cNvPicPr>
          <p:nvPr/>
        </p:nvPicPr>
        <p:blipFill>
          <a:blip r:embed="rId3"/>
          <a:stretch>
            <a:fillRect/>
          </a:stretch>
        </p:blipFill>
        <p:spPr>
          <a:xfrm>
            <a:off x="1116560" y="3522521"/>
            <a:ext cx="4629796" cy="2762636"/>
          </a:xfrm>
          <a:prstGeom prst="rect">
            <a:avLst/>
          </a:prstGeom>
        </p:spPr>
      </p:pic>
      <p:sp>
        <p:nvSpPr>
          <p:cNvPr id="8" name="TextBox 7">
            <a:extLst>
              <a:ext uri="{FF2B5EF4-FFF2-40B4-BE49-F238E27FC236}">
                <a16:creationId xmlns:a16="http://schemas.microsoft.com/office/drawing/2014/main" id="{6D934A79-E0C8-7B25-2CF6-ECB2E454F78F}"/>
              </a:ext>
            </a:extLst>
          </p:cNvPr>
          <p:cNvSpPr txBox="1"/>
          <p:nvPr/>
        </p:nvSpPr>
        <p:spPr>
          <a:xfrm>
            <a:off x="5746356" y="4169329"/>
            <a:ext cx="6096000" cy="1477328"/>
          </a:xfrm>
          <a:prstGeom prst="rect">
            <a:avLst/>
          </a:prstGeom>
          <a:noFill/>
        </p:spPr>
        <p:txBody>
          <a:bodyPr wrap="square">
            <a:spAutoFit/>
          </a:bodyPr>
          <a:lstStyle/>
          <a:p>
            <a:r>
              <a:rPr lang="en-US" dirty="0"/>
              <a:t>• When our model output is close to the actual Y, we want likelihood to be HIGH (near 1) </a:t>
            </a:r>
          </a:p>
          <a:p>
            <a:endParaRPr lang="en-US" dirty="0"/>
          </a:p>
          <a:p>
            <a:r>
              <a:rPr lang="en-US" dirty="0"/>
              <a:t>• When our model output is far from the actual Y, we want likelihood to be LOW (near 0)</a:t>
            </a:r>
            <a:endParaRPr lang="lt-LT" dirty="0"/>
          </a:p>
        </p:txBody>
      </p:sp>
    </p:spTree>
    <p:extLst>
      <p:ext uri="{BB962C8B-B14F-4D97-AF65-F5344CB8AC3E}">
        <p14:creationId xmlns:p14="http://schemas.microsoft.com/office/powerpoint/2010/main" val="2886313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5DFC-08C3-A551-57CF-1D6EC9653DD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BB507D31-05B6-AE77-8B91-1A31BAC87C60}"/>
              </a:ext>
            </a:extLst>
          </p:cNvPr>
          <p:cNvSpPr>
            <a:spLocks noGrp="1"/>
          </p:cNvSpPr>
          <p:nvPr>
            <p:ph type="title"/>
          </p:nvPr>
        </p:nvSpPr>
        <p:spPr/>
        <p:txBody>
          <a:bodyPr/>
          <a:lstStyle/>
          <a:p>
            <a:r>
              <a:rPr lang="lt-LT" dirty="0"/>
              <a:t>LIKELIHOOD </a:t>
            </a:r>
          </a:p>
        </p:txBody>
      </p:sp>
      <p:sp>
        <p:nvSpPr>
          <p:cNvPr id="4" name="TextBox 3">
            <a:extLst>
              <a:ext uri="{FF2B5EF4-FFF2-40B4-BE49-F238E27FC236}">
                <a16:creationId xmlns:a16="http://schemas.microsoft.com/office/drawing/2014/main" id="{2BAE21C0-4D5D-C4F0-5244-EA413AEFF0A5}"/>
              </a:ext>
            </a:extLst>
          </p:cNvPr>
          <p:cNvSpPr txBox="1"/>
          <p:nvPr/>
        </p:nvSpPr>
        <p:spPr>
          <a:xfrm>
            <a:off x="924231" y="1674674"/>
            <a:ext cx="9026013" cy="1477328"/>
          </a:xfrm>
          <a:prstGeom prst="rect">
            <a:avLst/>
          </a:prstGeom>
          <a:noFill/>
        </p:spPr>
        <p:txBody>
          <a:bodyPr wrap="square">
            <a:spAutoFit/>
          </a:bodyPr>
          <a:lstStyle/>
          <a:p>
            <a:r>
              <a:rPr lang="en-US" dirty="0"/>
              <a:t>How do we determine the “right” values for 𝛽? </a:t>
            </a:r>
          </a:p>
          <a:p>
            <a:r>
              <a:rPr lang="en-US" dirty="0"/>
              <a:t>• Likelihood is a metric that tells us how good our model is at correctly predicting Y, based on the shape of the curve </a:t>
            </a:r>
          </a:p>
          <a:p>
            <a:r>
              <a:rPr lang="en-US" dirty="0"/>
              <a:t>• This is where machine learning comes in; instead of human trial-and-error, </a:t>
            </a:r>
            <a:r>
              <a:rPr lang="en-US" b="1" dirty="0"/>
              <a:t>an algorithm determines the best weights to maximize likelihood </a:t>
            </a:r>
            <a:r>
              <a:rPr lang="en-US" dirty="0"/>
              <a:t>using observed values</a:t>
            </a:r>
            <a:endParaRPr lang="lt-LT" dirty="0"/>
          </a:p>
        </p:txBody>
      </p:sp>
      <p:pic>
        <p:nvPicPr>
          <p:cNvPr id="6" name="Paveikslėlis 5" descr="Paveikslėlis, kuriame yra tekstas, ekrano kopija, Šriftas, diagrama&#10;&#10;Dirbtinio intelekto sugeneruotas turinys gali būti neteisingas.">
            <a:extLst>
              <a:ext uri="{FF2B5EF4-FFF2-40B4-BE49-F238E27FC236}">
                <a16:creationId xmlns:a16="http://schemas.microsoft.com/office/drawing/2014/main" id="{51BDAF10-6204-AC01-5EC1-7B057E611FDF}"/>
              </a:ext>
            </a:extLst>
          </p:cNvPr>
          <p:cNvPicPr>
            <a:picLocks noChangeAspect="1"/>
          </p:cNvPicPr>
          <p:nvPr/>
        </p:nvPicPr>
        <p:blipFill>
          <a:blip r:embed="rId3"/>
          <a:stretch>
            <a:fillRect/>
          </a:stretch>
        </p:blipFill>
        <p:spPr>
          <a:xfrm>
            <a:off x="1116560" y="3522521"/>
            <a:ext cx="4629796" cy="2762636"/>
          </a:xfrm>
          <a:prstGeom prst="rect">
            <a:avLst/>
          </a:prstGeom>
        </p:spPr>
      </p:pic>
      <p:pic>
        <p:nvPicPr>
          <p:cNvPr id="10" name="Paveikslėlis 9" descr="Paveikslėlis, kuriame yra Šriftas, tekstas, baltas, kaligrafija&#10;&#10;Dirbtinio intelekto sugeneruotas turinys gali būti neteisingas.">
            <a:extLst>
              <a:ext uri="{FF2B5EF4-FFF2-40B4-BE49-F238E27FC236}">
                <a16:creationId xmlns:a16="http://schemas.microsoft.com/office/drawing/2014/main" id="{724AF340-2793-EAC8-F579-99D9068F0EAD}"/>
              </a:ext>
            </a:extLst>
          </p:cNvPr>
          <p:cNvPicPr>
            <a:picLocks noChangeAspect="1"/>
          </p:cNvPicPr>
          <p:nvPr/>
        </p:nvPicPr>
        <p:blipFill>
          <a:blip r:embed="rId4"/>
          <a:stretch>
            <a:fillRect/>
          </a:stretch>
        </p:blipFill>
        <p:spPr>
          <a:xfrm>
            <a:off x="6220980" y="3835008"/>
            <a:ext cx="5858786" cy="2025017"/>
          </a:xfrm>
          <a:prstGeom prst="rect">
            <a:avLst/>
          </a:prstGeom>
        </p:spPr>
      </p:pic>
    </p:spTree>
    <p:extLst>
      <p:ext uri="{BB962C8B-B14F-4D97-AF65-F5344CB8AC3E}">
        <p14:creationId xmlns:p14="http://schemas.microsoft.com/office/powerpoint/2010/main" val="1210471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D3B68-3277-7238-6D4E-14C916EC2A69}"/>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8FBD774F-80A9-9C41-DF69-005367500607}"/>
              </a:ext>
            </a:extLst>
          </p:cNvPr>
          <p:cNvSpPr>
            <a:spLocks noGrp="1"/>
          </p:cNvSpPr>
          <p:nvPr>
            <p:ph type="title"/>
          </p:nvPr>
        </p:nvSpPr>
        <p:spPr/>
        <p:txBody>
          <a:bodyPr/>
          <a:lstStyle/>
          <a:p>
            <a:r>
              <a:rPr lang="lt-LT" dirty="0"/>
              <a:t>LIKELIHOOD </a:t>
            </a:r>
          </a:p>
        </p:txBody>
      </p:sp>
      <p:sp>
        <p:nvSpPr>
          <p:cNvPr id="4" name="TextBox 3">
            <a:extLst>
              <a:ext uri="{FF2B5EF4-FFF2-40B4-BE49-F238E27FC236}">
                <a16:creationId xmlns:a16="http://schemas.microsoft.com/office/drawing/2014/main" id="{EE06234E-0248-0A75-15E4-1B4580F42EBE}"/>
              </a:ext>
            </a:extLst>
          </p:cNvPr>
          <p:cNvSpPr txBox="1"/>
          <p:nvPr/>
        </p:nvSpPr>
        <p:spPr>
          <a:xfrm>
            <a:off x="924231" y="1674674"/>
            <a:ext cx="9026013" cy="1477328"/>
          </a:xfrm>
          <a:prstGeom prst="rect">
            <a:avLst/>
          </a:prstGeom>
          <a:noFill/>
        </p:spPr>
        <p:txBody>
          <a:bodyPr wrap="square">
            <a:spAutoFit/>
          </a:bodyPr>
          <a:lstStyle/>
          <a:p>
            <a:r>
              <a:rPr lang="en-US" dirty="0"/>
              <a:t>How do we determine the “right” values for 𝛽? </a:t>
            </a:r>
          </a:p>
          <a:p>
            <a:r>
              <a:rPr lang="en-US" dirty="0"/>
              <a:t>• Likelihood is a metric that tells us how good our model is at correctly predicting Y, based on the shape of the curve </a:t>
            </a:r>
          </a:p>
          <a:p>
            <a:r>
              <a:rPr lang="en-US" dirty="0"/>
              <a:t>• This is where machine learning comes in; instead of human trial-and-error, an algorithm determines the best weights to maximize likelihood using observed values</a:t>
            </a:r>
            <a:endParaRPr lang="lt-LT" dirty="0"/>
          </a:p>
        </p:txBody>
      </p:sp>
      <p:pic>
        <p:nvPicPr>
          <p:cNvPr id="5" name="Paveikslėlis 4" descr="Paveikslėlis, kuriame yra tekstas, ekrano kopija, Šriftas, diagrama&#10;&#10;Dirbtinio intelekto sugeneruotas turinys gali būti neteisingas.">
            <a:extLst>
              <a:ext uri="{FF2B5EF4-FFF2-40B4-BE49-F238E27FC236}">
                <a16:creationId xmlns:a16="http://schemas.microsoft.com/office/drawing/2014/main" id="{23C823F8-ECAB-144A-D7E9-CCC221F09503}"/>
              </a:ext>
            </a:extLst>
          </p:cNvPr>
          <p:cNvPicPr>
            <a:picLocks noChangeAspect="1"/>
          </p:cNvPicPr>
          <p:nvPr/>
        </p:nvPicPr>
        <p:blipFill>
          <a:blip r:embed="rId2"/>
          <a:stretch>
            <a:fillRect/>
          </a:stretch>
        </p:blipFill>
        <p:spPr>
          <a:xfrm>
            <a:off x="503311" y="3631551"/>
            <a:ext cx="10850489" cy="3429479"/>
          </a:xfrm>
          <a:prstGeom prst="rect">
            <a:avLst/>
          </a:prstGeom>
        </p:spPr>
      </p:pic>
    </p:spTree>
    <p:extLst>
      <p:ext uri="{BB962C8B-B14F-4D97-AF65-F5344CB8AC3E}">
        <p14:creationId xmlns:p14="http://schemas.microsoft.com/office/powerpoint/2010/main" val="183480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4AEC-5432-421C-398C-5CFFCC1A7713}"/>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E9FD96EF-0477-6BC4-1B7B-74A59F548477}"/>
              </a:ext>
            </a:extLst>
          </p:cNvPr>
          <p:cNvSpPr>
            <a:spLocks noGrp="1"/>
          </p:cNvSpPr>
          <p:nvPr>
            <p:ph type="title"/>
          </p:nvPr>
        </p:nvSpPr>
        <p:spPr/>
        <p:txBody>
          <a:bodyPr/>
          <a:lstStyle/>
          <a:p>
            <a:r>
              <a:rPr lang="lt-LT" dirty="0"/>
              <a:t>LIKELIHOOD </a:t>
            </a:r>
          </a:p>
        </p:txBody>
      </p:sp>
      <p:sp>
        <p:nvSpPr>
          <p:cNvPr id="4" name="TextBox 3">
            <a:extLst>
              <a:ext uri="{FF2B5EF4-FFF2-40B4-BE49-F238E27FC236}">
                <a16:creationId xmlns:a16="http://schemas.microsoft.com/office/drawing/2014/main" id="{A7C0D9BE-0F15-6E66-CFE2-C72BAC3B0F3F}"/>
              </a:ext>
            </a:extLst>
          </p:cNvPr>
          <p:cNvSpPr txBox="1"/>
          <p:nvPr/>
        </p:nvSpPr>
        <p:spPr>
          <a:xfrm>
            <a:off x="924231" y="1674674"/>
            <a:ext cx="9026013" cy="1477328"/>
          </a:xfrm>
          <a:prstGeom prst="rect">
            <a:avLst/>
          </a:prstGeom>
          <a:noFill/>
        </p:spPr>
        <p:txBody>
          <a:bodyPr wrap="square">
            <a:spAutoFit/>
          </a:bodyPr>
          <a:lstStyle/>
          <a:p>
            <a:r>
              <a:rPr lang="en-US" dirty="0"/>
              <a:t>How do we determine the “right” values for 𝛽? </a:t>
            </a:r>
          </a:p>
          <a:p>
            <a:r>
              <a:rPr lang="en-US" dirty="0"/>
              <a:t>• Likelihood is a metric that tells us how good our model is at correctly predicting Y, based on the shape of the curve </a:t>
            </a:r>
          </a:p>
          <a:p>
            <a:r>
              <a:rPr lang="en-US" dirty="0"/>
              <a:t>• This is where machine learning comes in; instead of human trial-and-error, an algorithm determines the best weights to maximize likelihood using observed values</a:t>
            </a:r>
            <a:endParaRPr lang="lt-LT" dirty="0"/>
          </a:p>
        </p:txBody>
      </p:sp>
      <p:pic>
        <p:nvPicPr>
          <p:cNvPr id="6" name="Paveikslėlis 5" descr="Paveikslėlis, kuriame yra tekstas, ekrano kopija, Šriftas, diagrama&#10;&#10;Dirbtinio intelekto sugeneruotas turinys gali būti neteisingas.">
            <a:extLst>
              <a:ext uri="{FF2B5EF4-FFF2-40B4-BE49-F238E27FC236}">
                <a16:creationId xmlns:a16="http://schemas.microsoft.com/office/drawing/2014/main" id="{95C70A69-85EA-820C-E8B6-D71D711D7B45}"/>
              </a:ext>
            </a:extLst>
          </p:cNvPr>
          <p:cNvPicPr>
            <a:picLocks noChangeAspect="1"/>
          </p:cNvPicPr>
          <p:nvPr/>
        </p:nvPicPr>
        <p:blipFill>
          <a:blip r:embed="rId2"/>
          <a:stretch>
            <a:fillRect/>
          </a:stretch>
        </p:blipFill>
        <p:spPr>
          <a:xfrm>
            <a:off x="608571" y="3234413"/>
            <a:ext cx="10345594" cy="3496163"/>
          </a:xfrm>
          <a:prstGeom prst="rect">
            <a:avLst/>
          </a:prstGeom>
        </p:spPr>
      </p:pic>
    </p:spTree>
    <p:extLst>
      <p:ext uri="{BB962C8B-B14F-4D97-AF65-F5344CB8AC3E}">
        <p14:creationId xmlns:p14="http://schemas.microsoft.com/office/powerpoint/2010/main" val="3521718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C810-39D9-8015-4512-3F445C11E49A}"/>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5A46C64A-B4ED-5305-A0EE-625F86AB7450}"/>
              </a:ext>
            </a:extLst>
          </p:cNvPr>
          <p:cNvSpPr>
            <a:spLocks noGrp="1"/>
          </p:cNvSpPr>
          <p:nvPr>
            <p:ph type="title"/>
          </p:nvPr>
        </p:nvSpPr>
        <p:spPr/>
        <p:txBody>
          <a:bodyPr/>
          <a:lstStyle/>
          <a:p>
            <a:r>
              <a:rPr lang="lt-LT" dirty="0"/>
              <a:t>LIKELIHOOD </a:t>
            </a:r>
          </a:p>
        </p:txBody>
      </p:sp>
      <p:sp>
        <p:nvSpPr>
          <p:cNvPr id="4" name="TextBox 3">
            <a:extLst>
              <a:ext uri="{FF2B5EF4-FFF2-40B4-BE49-F238E27FC236}">
                <a16:creationId xmlns:a16="http://schemas.microsoft.com/office/drawing/2014/main" id="{A89045A3-6B0E-F51E-062F-B9274E2FDF4A}"/>
              </a:ext>
            </a:extLst>
          </p:cNvPr>
          <p:cNvSpPr txBox="1"/>
          <p:nvPr/>
        </p:nvSpPr>
        <p:spPr>
          <a:xfrm>
            <a:off x="1184493" y="5646143"/>
            <a:ext cx="9026013" cy="646331"/>
          </a:xfrm>
          <a:prstGeom prst="rect">
            <a:avLst/>
          </a:prstGeom>
          <a:noFill/>
        </p:spPr>
        <p:txBody>
          <a:bodyPr wrap="square">
            <a:spAutoFit/>
          </a:bodyPr>
          <a:lstStyle/>
          <a:p>
            <a:r>
              <a:rPr lang="en-US" dirty="0"/>
              <a:t>Observations closest to the curve have the </a:t>
            </a:r>
            <a:r>
              <a:rPr lang="en-US" b="1" dirty="0"/>
              <a:t>highest likelihood values </a:t>
            </a:r>
            <a:r>
              <a:rPr lang="en-US" dirty="0"/>
              <a:t>(and vice versa), so maximizing total likelihood allows us to find the curve that fits our data best</a:t>
            </a:r>
            <a:endParaRPr lang="lt-LT" dirty="0"/>
          </a:p>
        </p:txBody>
      </p:sp>
      <p:pic>
        <p:nvPicPr>
          <p:cNvPr id="5" name="Paveikslėlis 4" descr="Paveikslėlis, kuriame yra tekstas, diagrama, linija, Grafikas&#10;&#10;Dirbtinio intelekto sugeneruotas turinys gali būti neteisingas.">
            <a:extLst>
              <a:ext uri="{FF2B5EF4-FFF2-40B4-BE49-F238E27FC236}">
                <a16:creationId xmlns:a16="http://schemas.microsoft.com/office/drawing/2014/main" id="{A2933139-D55B-77CB-8272-E8186E2F3F3A}"/>
              </a:ext>
            </a:extLst>
          </p:cNvPr>
          <p:cNvPicPr>
            <a:picLocks noChangeAspect="1"/>
          </p:cNvPicPr>
          <p:nvPr/>
        </p:nvPicPr>
        <p:blipFill>
          <a:blip r:embed="rId2"/>
          <a:stretch>
            <a:fillRect/>
          </a:stretch>
        </p:blipFill>
        <p:spPr>
          <a:xfrm>
            <a:off x="1828800" y="1513405"/>
            <a:ext cx="7737401" cy="4044551"/>
          </a:xfrm>
          <a:prstGeom prst="rect">
            <a:avLst/>
          </a:prstGeom>
        </p:spPr>
      </p:pic>
    </p:spTree>
    <p:extLst>
      <p:ext uri="{BB962C8B-B14F-4D97-AF65-F5344CB8AC3E}">
        <p14:creationId xmlns:p14="http://schemas.microsoft.com/office/powerpoint/2010/main" val="26858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891D7FF-54E1-7B8E-6B5B-FA6C2106804D}"/>
              </a:ext>
            </a:extLst>
          </p:cNvPr>
          <p:cNvSpPr>
            <a:spLocks noGrp="1"/>
          </p:cNvSpPr>
          <p:nvPr>
            <p:ph type="title"/>
          </p:nvPr>
        </p:nvSpPr>
        <p:spPr/>
        <p:txBody>
          <a:bodyPr/>
          <a:lstStyle/>
          <a:p>
            <a:r>
              <a:rPr lang="lt-LT" dirty="0"/>
              <a:t>MULTIPLE LOGISTIC REGRESSION</a:t>
            </a:r>
          </a:p>
        </p:txBody>
      </p:sp>
      <p:pic>
        <p:nvPicPr>
          <p:cNvPr id="4" name="Paveikslėlis 3" descr="Paveikslėlis, kuriame yra tekstas, ekrano kopija, Grafikas, linija&#10;&#10;Dirbtinio intelekto sugeneruotas turinys gali būti neteisingas.">
            <a:extLst>
              <a:ext uri="{FF2B5EF4-FFF2-40B4-BE49-F238E27FC236}">
                <a16:creationId xmlns:a16="http://schemas.microsoft.com/office/drawing/2014/main" id="{94B0967D-6701-413F-C2E8-A953472D22B8}"/>
              </a:ext>
            </a:extLst>
          </p:cNvPr>
          <p:cNvPicPr>
            <a:picLocks noChangeAspect="1"/>
          </p:cNvPicPr>
          <p:nvPr/>
        </p:nvPicPr>
        <p:blipFill>
          <a:blip r:embed="rId2"/>
          <a:stretch>
            <a:fillRect/>
          </a:stretch>
        </p:blipFill>
        <p:spPr>
          <a:xfrm>
            <a:off x="1444403" y="1354716"/>
            <a:ext cx="6987923" cy="4148568"/>
          </a:xfrm>
          <a:prstGeom prst="rect">
            <a:avLst/>
          </a:prstGeom>
        </p:spPr>
      </p:pic>
      <p:sp>
        <p:nvSpPr>
          <p:cNvPr id="6" name="TextBox 5">
            <a:extLst>
              <a:ext uri="{FF2B5EF4-FFF2-40B4-BE49-F238E27FC236}">
                <a16:creationId xmlns:a16="http://schemas.microsoft.com/office/drawing/2014/main" id="{038260D7-CA4E-3DD1-F0E5-66F7324C095C}"/>
              </a:ext>
            </a:extLst>
          </p:cNvPr>
          <p:cNvSpPr txBox="1"/>
          <p:nvPr/>
        </p:nvSpPr>
        <p:spPr>
          <a:xfrm>
            <a:off x="1724913" y="5790291"/>
            <a:ext cx="7954297" cy="923330"/>
          </a:xfrm>
          <a:prstGeom prst="rect">
            <a:avLst/>
          </a:prstGeom>
          <a:noFill/>
        </p:spPr>
        <p:txBody>
          <a:bodyPr wrap="square">
            <a:spAutoFit/>
          </a:bodyPr>
          <a:lstStyle/>
          <a:p>
            <a:r>
              <a:rPr lang="en-US" b="1" dirty="0"/>
              <a:t># of Recipients </a:t>
            </a:r>
            <a:r>
              <a:rPr lang="en-US" dirty="0"/>
              <a:t>can help us detect spam, but so can other variables like the </a:t>
            </a:r>
            <a:r>
              <a:rPr lang="en-US" b="1" dirty="0"/>
              <a:t>number of typos, count of words like “free” or “bonus”, sender reputation score</a:t>
            </a:r>
            <a:r>
              <a:rPr lang="en-US" dirty="0"/>
              <a:t>, etc.</a:t>
            </a:r>
            <a:endParaRPr lang="lt-LT" dirty="0"/>
          </a:p>
        </p:txBody>
      </p:sp>
    </p:spTree>
    <p:extLst>
      <p:ext uri="{BB962C8B-B14F-4D97-AF65-F5344CB8AC3E}">
        <p14:creationId xmlns:p14="http://schemas.microsoft.com/office/powerpoint/2010/main" val="1545700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68A3-429C-C3B4-EEE1-42072B1C959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D249051C-D80D-F25B-ABC6-58D08FF00C3D}"/>
              </a:ext>
            </a:extLst>
          </p:cNvPr>
          <p:cNvSpPr>
            <a:spLocks noGrp="1"/>
          </p:cNvSpPr>
          <p:nvPr>
            <p:ph type="title"/>
          </p:nvPr>
        </p:nvSpPr>
        <p:spPr/>
        <p:txBody>
          <a:bodyPr/>
          <a:lstStyle/>
          <a:p>
            <a:r>
              <a:rPr lang="lt-LT" dirty="0"/>
              <a:t>MULTIPLE LOGISTIC REGRESSION</a:t>
            </a:r>
          </a:p>
        </p:txBody>
      </p:sp>
      <p:sp>
        <p:nvSpPr>
          <p:cNvPr id="6" name="TextBox 5">
            <a:extLst>
              <a:ext uri="{FF2B5EF4-FFF2-40B4-BE49-F238E27FC236}">
                <a16:creationId xmlns:a16="http://schemas.microsoft.com/office/drawing/2014/main" id="{DA5327DE-8F8B-7C86-30D1-0FA778072F3E}"/>
              </a:ext>
            </a:extLst>
          </p:cNvPr>
          <p:cNvSpPr txBox="1"/>
          <p:nvPr/>
        </p:nvSpPr>
        <p:spPr>
          <a:xfrm>
            <a:off x="1809134" y="5934670"/>
            <a:ext cx="7954297" cy="646331"/>
          </a:xfrm>
          <a:prstGeom prst="rect">
            <a:avLst/>
          </a:prstGeom>
          <a:noFill/>
        </p:spPr>
        <p:txBody>
          <a:bodyPr wrap="square">
            <a:spAutoFit/>
          </a:bodyPr>
          <a:lstStyle/>
          <a:p>
            <a:r>
              <a:rPr lang="en-US" dirty="0"/>
              <a:t>Logistic regression can handle </a:t>
            </a:r>
            <a:r>
              <a:rPr lang="en-US" b="1" dirty="0"/>
              <a:t>multiple features</a:t>
            </a:r>
            <a:r>
              <a:rPr lang="en-US" dirty="0"/>
              <a:t>, but visual interpretation breaks down at &gt;2 features (this is why we need machine learning!)</a:t>
            </a:r>
            <a:endParaRPr lang="lt-LT" dirty="0"/>
          </a:p>
        </p:txBody>
      </p:sp>
      <p:pic>
        <p:nvPicPr>
          <p:cNvPr id="5" name="Paveikslėlis 4" descr="Paveikslėlis, kuriame yra tekstas, diagrama, ekrano kopija, dizainas&#10;&#10;Dirbtinio intelekto sugeneruotas turinys gali būti neteisingas.">
            <a:extLst>
              <a:ext uri="{FF2B5EF4-FFF2-40B4-BE49-F238E27FC236}">
                <a16:creationId xmlns:a16="http://schemas.microsoft.com/office/drawing/2014/main" id="{57257055-6A87-6831-FAFF-F46A240366DC}"/>
              </a:ext>
            </a:extLst>
          </p:cNvPr>
          <p:cNvPicPr>
            <a:picLocks noChangeAspect="1"/>
          </p:cNvPicPr>
          <p:nvPr/>
        </p:nvPicPr>
        <p:blipFill>
          <a:blip r:embed="rId2"/>
          <a:stretch>
            <a:fillRect/>
          </a:stretch>
        </p:blipFill>
        <p:spPr>
          <a:xfrm>
            <a:off x="1548601" y="1690688"/>
            <a:ext cx="5058226" cy="3612001"/>
          </a:xfrm>
          <a:prstGeom prst="rect">
            <a:avLst/>
          </a:prstGeom>
        </p:spPr>
      </p:pic>
    </p:spTree>
    <p:extLst>
      <p:ext uri="{BB962C8B-B14F-4D97-AF65-F5344CB8AC3E}">
        <p14:creationId xmlns:p14="http://schemas.microsoft.com/office/powerpoint/2010/main" val="1462193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9821D5F-ECEB-DC15-A655-C543D466B49F}"/>
              </a:ext>
            </a:extLst>
          </p:cNvPr>
          <p:cNvSpPr>
            <a:spLocks noGrp="1"/>
          </p:cNvSpPr>
          <p:nvPr>
            <p:ph type="title"/>
          </p:nvPr>
        </p:nvSpPr>
        <p:spPr/>
        <p:txBody>
          <a:bodyPr/>
          <a:lstStyle/>
          <a:p>
            <a:r>
              <a:rPr lang="lt-LT" dirty="0"/>
              <a:t>MULTIPLE LOGISTIC REGRESSION </a:t>
            </a:r>
          </a:p>
        </p:txBody>
      </p:sp>
      <p:pic>
        <p:nvPicPr>
          <p:cNvPr id="1026" name="Picture 2" descr="Three dimensional plots of multiple linear regression analyses utilizing the percentage of KO cells (% KO) and animal age in weeks (wks) as independent variables. The dependent variables are shown on the y-axis for each graph. Soma area (A) was predicted by age only, while apical dendrite length (B) was predicted by both age and the percentage of KO cells. When dendrite length was examined by subregion, dendritic length in the inner molecular layer (IML, D) was predicted by %KO only, while both variables predicted length in the middle (MML, E) and outer (OML, F) molecular layers. P-values for each independent variable are given on the appropriate axis.">
            <a:extLst>
              <a:ext uri="{FF2B5EF4-FFF2-40B4-BE49-F238E27FC236}">
                <a16:creationId xmlns:a16="http://schemas.microsoft.com/office/drawing/2014/main" id="{3D262B33-AE16-9804-34CD-2A3CF5585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389" y="1542421"/>
            <a:ext cx="4048124" cy="22145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istic Regression in Python- A Helpful Guide to How It Works ...">
            <a:extLst>
              <a:ext uri="{FF2B5EF4-FFF2-40B4-BE49-F238E27FC236}">
                <a16:creationId xmlns:a16="http://schemas.microsoft.com/office/drawing/2014/main" id="{D5C57747-74CB-800C-CA8E-D8BD981E9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1034" y="1164277"/>
            <a:ext cx="3594894"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imations of Logistic Regression with Python | by Tobias Roeschl | TDS  Archive | Medium">
            <a:extLst>
              <a:ext uri="{FF2B5EF4-FFF2-40B4-BE49-F238E27FC236}">
                <a16:creationId xmlns:a16="http://schemas.microsoft.com/office/drawing/2014/main" id="{92CFF15F-3CBB-6207-E610-507BE01A50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7060" y="2325451"/>
            <a:ext cx="3113974" cy="3892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916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F7F4-E2F3-1DEB-04E1-15E40EDBD81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E7EFA3BD-06A9-7A1A-F99B-F0582E16106A}"/>
              </a:ext>
            </a:extLst>
          </p:cNvPr>
          <p:cNvSpPr>
            <a:spLocks noGrp="1"/>
          </p:cNvSpPr>
          <p:nvPr>
            <p:ph type="title"/>
          </p:nvPr>
        </p:nvSpPr>
        <p:spPr/>
        <p:txBody>
          <a:bodyPr/>
          <a:lstStyle/>
          <a:p>
            <a:r>
              <a:rPr lang="lt-LT" dirty="0"/>
              <a:t>MULTIPLE LOGISTIC REGRESSION</a:t>
            </a:r>
          </a:p>
        </p:txBody>
      </p:sp>
      <p:sp>
        <p:nvSpPr>
          <p:cNvPr id="6" name="TextBox 5">
            <a:extLst>
              <a:ext uri="{FF2B5EF4-FFF2-40B4-BE49-F238E27FC236}">
                <a16:creationId xmlns:a16="http://schemas.microsoft.com/office/drawing/2014/main" id="{7152D5ED-AD80-947B-15D7-1C55E2B73A3D}"/>
              </a:ext>
            </a:extLst>
          </p:cNvPr>
          <p:cNvSpPr txBox="1"/>
          <p:nvPr/>
        </p:nvSpPr>
        <p:spPr>
          <a:xfrm>
            <a:off x="1809134" y="5934670"/>
            <a:ext cx="7954297" cy="646331"/>
          </a:xfrm>
          <a:prstGeom prst="rect">
            <a:avLst/>
          </a:prstGeom>
          <a:noFill/>
        </p:spPr>
        <p:txBody>
          <a:bodyPr wrap="square">
            <a:spAutoFit/>
          </a:bodyPr>
          <a:lstStyle/>
          <a:p>
            <a:r>
              <a:rPr lang="en-US" dirty="0">
                <a:highlight>
                  <a:srgbClr val="FFFF00"/>
                </a:highlight>
              </a:rPr>
              <a:t>Logistic regression is about finding the best combination of weights (𝛽1, 𝛽2...𝛽𝑛) for a given set features (x1, x2...x𝑛) to maximize the likelihood function</a:t>
            </a:r>
            <a:endParaRPr lang="lt-LT" dirty="0">
              <a:highlight>
                <a:srgbClr val="FFFF00"/>
              </a:highlight>
            </a:endParaRPr>
          </a:p>
        </p:txBody>
      </p:sp>
      <p:sp>
        <p:nvSpPr>
          <p:cNvPr id="4" name="TextBox 3">
            <a:extLst>
              <a:ext uri="{FF2B5EF4-FFF2-40B4-BE49-F238E27FC236}">
                <a16:creationId xmlns:a16="http://schemas.microsoft.com/office/drawing/2014/main" id="{7BFF8141-9264-A4EB-86C6-64A350E34950}"/>
              </a:ext>
            </a:extLst>
          </p:cNvPr>
          <p:cNvSpPr txBox="1"/>
          <p:nvPr/>
        </p:nvSpPr>
        <p:spPr>
          <a:xfrm>
            <a:off x="1681316" y="1690688"/>
            <a:ext cx="6096000" cy="369332"/>
          </a:xfrm>
          <a:prstGeom prst="rect">
            <a:avLst/>
          </a:prstGeom>
          <a:noFill/>
        </p:spPr>
        <p:txBody>
          <a:bodyPr wrap="square">
            <a:spAutoFit/>
          </a:bodyPr>
          <a:lstStyle/>
          <a:p>
            <a:r>
              <a:rPr lang="en-US" dirty="0"/>
              <a:t>What if multiple X variables could help predict Y?</a:t>
            </a:r>
            <a:endParaRPr lang="lt-LT" dirty="0"/>
          </a:p>
        </p:txBody>
      </p:sp>
      <p:pic>
        <p:nvPicPr>
          <p:cNvPr id="8" name="Paveikslėlis 7" descr="Paveikslėlis, kuriame yra tekstas, ekrano kopija, Šriftas, linija&#10;&#10;Dirbtinio intelekto sugeneruotas turinys gali būti neteisingas.">
            <a:extLst>
              <a:ext uri="{FF2B5EF4-FFF2-40B4-BE49-F238E27FC236}">
                <a16:creationId xmlns:a16="http://schemas.microsoft.com/office/drawing/2014/main" id="{9D330B24-92D2-B21C-4DE7-7E4019632BB5}"/>
              </a:ext>
            </a:extLst>
          </p:cNvPr>
          <p:cNvPicPr>
            <a:picLocks noChangeAspect="1"/>
          </p:cNvPicPr>
          <p:nvPr/>
        </p:nvPicPr>
        <p:blipFill>
          <a:blip r:embed="rId2"/>
          <a:stretch>
            <a:fillRect/>
          </a:stretch>
        </p:blipFill>
        <p:spPr>
          <a:xfrm>
            <a:off x="960575" y="2520764"/>
            <a:ext cx="10393225" cy="2953162"/>
          </a:xfrm>
          <a:prstGeom prst="rect">
            <a:avLst/>
          </a:prstGeom>
        </p:spPr>
      </p:pic>
    </p:spTree>
    <p:extLst>
      <p:ext uri="{BB962C8B-B14F-4D97-AF65-F5344CB8AC3E}">
        <p14:creationId xmlns:p14="http://schemas.microsoft.com/office/powerpoint/2010/main" val="1621943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60A29BA-396E-E6EF-F423-1B347FD73EB4}"/>
              </a:ext>
            </a:extLst>
          </p:cNvPr>
          <p:cNvSpPr>
            <a:spLocks noGrp="1"/>
          </p:cNvSpPr>
          <p:nvPr>
            <p:ph type="title"/>
          </p:nvPr>
        </p:nvSpPr>
        <p:spPr/>
        <p:txBody>
          <a:bodyPr/>
          <a:lstStyle/>
          <a:p>
            <a:r>
              <a:rPr lang="lt-LT" dirty="0"/>
              <a:t>LOGISTIC REGRESSION WORKFLOW</a:t>
            </a:r>
          </a:p>
        </p:txBody>
      </p:sp>
      <p:sp>
        <p:nvSpPr>
          <p:cNvPr id="4" name="TextBox 3">
            <a:extLst>
              <a:ext uri="{FF2B5EF4-FFF2-40B4-BE49-F238E27FC236}">
                <a16:creationId xmlns:a16="http://schemas.microsoft.com/office/drawing/2014/main" id="{EB820235-28AD-E3E4-FF8F-8A7AF7DF2002}"/>
              </a:ext>
            </a:extLst>
          </p:cNvPr>
          <p:cNvSpPr txBox="1"/>
          <p:nvPr/>
        </p:nvSpPr>
        <p:spPr>
          <a:xfrm>
            <a:off x="838200" y="2080650"/>
            <a:ext cx="8305800" cy="4154984"/>
          </a:xfrm>
          <a:prstGeom prst="rect">
            <a:avLst/>
          </a:prstGeom>
          <a:noFill/>
        </p:spPr>
        <p:txBody>
          <a:bodyPr wrap="square">
            <a:spAutoFit/>
          </a:bodyPr>
          <a:lstStyle/>
          <a:p>
            <a:r>
              <a:rPr lang="en-US" sz="2400" dirty="0"/>
              <a:t>Follow the </a:t>
            </a:r>
            <a:r>
              <a:rPr lang="en-US" sz="2400" b="1" dirty="0"/>
              <a:t>logistic regression workflow </a:t>
            </a:r>
            <a:r>
              <a:rPr lang="en-US" sz="2400" dirty="0"/>
              <a:t>to ensure that you fit an accurate model: </a:t>
            </a:r>
            <a:endParaRPr lang="lt-LT" sz="2400" dirty="0"/>
          </a:p>
          <a:p>
            <a:endParaRPr lang="en-US" sz="2400" dirty="0"/>
          </a:p>
          <a:p>
            <a:pPr marL="342900" indent="-342900">
              <a:buFont typeface="+mj-lt"/>
              <a:buAutoNum type="arabicPeriod"/>
            </a:pPr>
            <a:r>
              <a:rPr lang="en-US" sz="2400" b="1" dirty="0"/>
              <a:t>Split</a:t>
            </a:r>
            <a:r>
              <a:rPr lang="en-US" sz="2400" dirty="0"/>
              <a:t> training and test datasets to accurately assess model performance </a:t>
            </a:r>
          </a:p>
          <a:p>
            <a:pPr marL="342900" indent="-342900">
              <a:buFont typeface="+mj-lt"/>
              <a:buAutoNum type="arabicPeriod"/>
            </a:pPr>
            <a:r>
              <a:rPr lang="en-US" sz="2400" b="1" dirty="0"/>
              <a:t>Scale</a:t>
            </a:r>
            <a:r>
              <a:rPr lang="en-US" sz="2400" dirty="0"/>
              <a:t> or </a:t>
            </a:r>
            <a:r>
              <a:rPr lang="en-US" sz="2400" b="1" dirty="0"/>
              <a:t>standardize</a:t>
            </a:r>
            <a:r>
              <a:rPr lang="en-US" sz="2400" dirty="0"/>
              <a:t> the data if you are going to use regularization </a:t>
            </a:r>
          </a:p>
          <a:p>
            <a:pPr marL="342900" indent="-342900">
              <a:buFont typeface="+mj-lt"/>
              <a:buAutoNum type="arabicPeriod"/>
            </a:pPr>
            <a:r>
              <a:rPr lang="en-US" sz="2400" b="1" dirty="0"/>
              <a:t>Fit &amp; Tune </a:t>
            </a:r>
            <a:r>
              <a:rPr lang="en-US" sz="2400" dirty="0"/>
              <a:t>the model by adding or removing features and adjusting the regularization hyperparameters </a:t>
            </a:r>
          </a:p>
          <a:p>
            <a:pPr marL="342900" indent="-342900">
              <a:buFont typeface="+mj-lt"/>
              <a:buAutoNum type="arabicPeriod"/>
            </a:pPr>
            <a:r>
              <a:rPr lang="en-US" sz="2400" b="1" dirty="0"/>
              <a:t>Score</a:t>
            </a:r>
            <a:r>
              <a:rPr lang="en-US" sz="2400" dirty="0"/>
              <a:t> the model on the test data after fitting your final model on the combined training &amp; validation sets</a:t>
            </a:r>
            <a:endParaRPr lang="lt-LT" sz="2400" dirty="0"/>
          </a:p>
        </p:txBody>
      </p:sp>
    </p:spTree>
    <p:extLst>
      <p:ext uri="{BB962C8B-B14F-4D97-AF65-F5344CB8AC3E}">
        <p14:creationId xmlns:p14="http://schemas.microsoft.com/office/powerpoint/2010/main" val="4236745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1160D48-B404-9B6D-9768-09D5347FA61C}"/>
              </a:ext>
            </a:extLst>
          </p:cNvPr>
          <p:cNvSpPr>
            <a:spLocks noGrp="1"/>
          </p:cNvSpPr>
          <p:nvPr>
            <p:ph type="title"/>
          </p:nvPr>
        </p:nvSpPr>
        <p:spPr/>
        <p:txBody>
          <a:bodyPr/>
          <a:lstStyle/>
          <a:p>
            <a:r>
              <a:rPr lang="lt-LT" dirty="0"/>
              <a:t>FITTING A LOGISTIC REGRESSION MODEL</a:t>
            </a:r>
          </a:p>
        </p:txBody>
      </p:sp>
      <p:sp>
        <p:nvSpPr>
          <p:cNvPr id="4" name="TextBox 3">
            <a:extLst>
              <a:ext uri="{FF2B5EF4-FFF2-40B4-BE49-F238E27FC236}">
                <a16:creationId xmlns:a16="http://schemas.microsoft.com/office/drawing/2014/main" id="{F94C95F5-8E8B-F0AC-9D4C-C4386FB28CD5}"/>
              </a:ext>
            </a:extLst>
          </p:cNvPr>
          <p:cNvSpPr txBox="1"/>
          <p:nvPr/>
        </p:nvSpPr>
        <p:spPr>
          <a:xfrm>
            <a:off x="1071715" y="1552252"/>
            <a:ext cx="8406581" cy="1200329"/>
          </a:xfrm>
          <a:prstGeom prst="rect">
            <a:avLst/>
          </a:prstGeom>
          <a:noFill/>
        </p:spPr>
        <p:txBody>
          <a:bodyPr wrap="square">
            <a:spAutoFit/>
          </a:bodyPr>
          <a:lstStyle/>
          <a:p>
            <a:r>
              <a:rPr lang="en-US" dirty="0"/>
              <a:t>In Python, you can fit a logistic regression model using the scikit-learn library</a:t>
            </a:r>
          </a:p>
          <a:p>
            <a:r>
              <a:rPr lang="en-US" dirty="0"/>
              <a:t> </a:t>
            </a:r>
          </a:p>
          <a:p>
            <a:r>
              <a:rPr lang="en-US" dirty="0"/>
              <a:t>• </a:t>
            </a:r>
            <a:r>
              <a:rPr lang="en-US" dirty="0" err="1"/>
              <a:t>Sklearn.linear_model.LogisticRegression</a:t>
            </a:r>
            <a:r>
              <a:rPr lang="en-US" dirty="0"/>
              <a:t>() </a:t>
            </a:r>
          </a:p>
          <a:p>
            <a:r>
              <a:rPr lang="en-US" dirty="0"/>
              <a:t>• </a:t>
            </a:r>
            <a:r>
              <a:rPr lang="en-US" b="1" dirty="0" err="1">
                <a:highlight>
                  <a:srgbClr val="FFFF00"/>
                </a:highlight>
              </a:rPr>
              <a:t>model.coef</a:t>
            </a:r>
            <a:r>
              <a:rPr lang="en-US" b="1" dirty="0">
                <a:highlight>
                  <a:srgbClr val="FFFF00"/>
                </a:highlight>
              </a:rPr>
              <a:t>_ </a:t>
            </a:r>
            <a:r>
              <a:rPr lang="en-US" dirty="0">
                <a:highlight>
                  <a:srgbClr val="FFFF00"/>
                </a:highlight>
              </a:rPr>
              <a:t>and </a:t>
            </a:r>
            <a:r>
              <a:rPr lang="en-US" b="1" dirty="0" err="1">
                <a:highlight>
                  <a:srgbClr val="FFFF00"/>
                </a:highlight>
              </a:rPr>
              <a:t>model</a:t>
            </a:r>
            <a:r>
              <a:rPr lang="en-US" dirty="0" err="1">
                <a:highlight>
                  <a:srgbClr val="FFFF00"/>
                </a:highlight>
              </a:rPr>
              <a:t>.</a:t>
            </a:r>
            <a:r>
              <a:rPr lang="en-US" b="1" dirty="0" err="1">
                <a:highlight>
                  <a:srgbClr val="FFFF00"/>
                </a:highlight>
              </a:rPr>
              <a:t>intercept</a:t>
            </a:r>
            <a:r>
              <a:rPr lang="en-US" dirty="0">
                <a:highlight>
                  <a:srgbClr val="FFFF00"/>
                </a:highlight>
              </a:rPr>
              <a:t>_ </a:t>
            </a:r>
            <a:r>
              <a:rPr lang="en-US" dirty="0"/>
              <a:t>return the fitted coefficients and intercept</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0751AEBF-4549-E391-571C-F8C529EDCCAD}"/>
              </a:ext>
            </a:extLst>
          </p:cNvPr>
          <p:cNvPicPr>
            <a:picLocks noChangeAspect="1"/>
          </p:cNvPicPr>
          <p:nvPr/>
        </p:nvPicPr>
        <p:blipFill>
          <a:blip r:embed="rId2"/>
          <a:stretch>
            <a:fillRect/>
          </a:stretch>
        </p:blipFill>
        <p:spPr>
          <a:xfrm>
            <a:off x="1071715" y="2681969"/>
            <a:ext cx="6716062" cy="3400900"/>
          </a:xfrm>
          <a:prstGeom prst="rect">
            <a:avLst/>
          </a:prstGeom>
        </p:spPr>
      </p:pic>
      <p:sp>
        <p:nvSpPr>
          <p:cNvPr id="8" name="TextBox 7">
            <a:extLst>
              <a:ext uri="{FF2B5EF4-FFF2-40B4-BE49-F238E27FC236}">
                <a16:creationId xmlns:a16="http://schemas.microsoft.com/office/drawing/2014/main" id="{8CF8E45F-5920-6B45-4FB5-367495BC09D1}"/>
              </a:ext>
            </a:extLst>
          </p:cNvPr>
          <p:cNvSpPr txBox="1"/>
          <p:nvPr/>
        </p:nvSpPr>
        <p:spPr>
          <a:xfrm>
            <a:off x="8308259" y="4542954"/>
            <a:ext cx="2812026" cy="1754326"/>
          </a:xfrm>
          <a:prstGeom prst="rect">
            <a:avLst/>
          </a:prstGeom>
          <a:noFill/>
        </p:spPr>
        <p:txBody>
          <a:bodyPr wrap="square">
            <a:spAutoFit/>
          </a:bodyPr>
          <a:lstStyle/>
          <a:p>
            <a:r>
              <a:rPr lang="en-US" dirty="0"/>
              <a:t>All coefficients are negative, which doesn’t make sense given the positive correlations between Purchase, Age, and Estimated Salary</a:t>
            </a:r>
            <a:endParaRPr lang="lt-LT" dirty="0"/>
          </a:p>
        </p:txBody>
      </p:sp>
    </p:spTree>
    <p:extLst>
      <p:ext uri="{BB962C8B-B14F-4D97-AF65-F5344CB8AC3E}">
        <p14:creationId xmlns:p14="http://schemas.microsoft.com/office/powerpoint/2010/main" val="3826291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DA9D729-8AE9-BD37-CD22-F27B04A52021}"/>
              </a:ext>
            </a:extLst>
          </p:cNvPr>
          <p:cNvSpPr>
            <a:spLocks noGrp="1"/>
          </p:cNvSpPr>
          <p:nvPr>
            <p:ph type="title"/>
          </p:nvPr>
        </p:nvSpPr>
        <p:spPr/>
        <p:txBody>
          <a:bodyPr/>
          <a:lstStyle/>
          <a:p>
            <a:r>
              <a:rPr lang="lt-LT" dirty="0"/>
              <a:t>SCORING MODEL ACCURACY</a:t>
            </a:r>
          </a:p>
        </p:txBody>
      </p:sp>
      <p:sp>
        <p:nvSpPr>
          <p:cNvPr id="4" name="TextBox 3">
            <a:extLst>
              <a:ext uri="{FF2B5EF4-FFF2-40B4-BE49-F238E27FC236}">
                <a16:creationId xmlns:a16="http://schemas.microsoft.com/office/drawing/2014/main" id="{89A30154-521A-8CD0-F7C6-60FFE2C355DB}"/>
              </a:ext>
            </a:extLst>
          </p:cNvPr>
          <p:cNvSpPr txBox="1"/>
          <p:nvPr/>
        </p:nvSpPr>
        <p:spPr>
          <a:xfrm>
            <a:off x="924233" y="1493259"/>
            <a:ext cx="10166554" cy="1200329"/>
          </a:xfrm>
          <a:prstGeom prst="rect">
            <a:avLst/>
          </a:prstGeom>
          <a:noFill/>
        </p:spPr>
        <p:txBody>
          <a:bodyPr wrap="square">
            <a:spAutoFit/>
          </a:bodyPr>
          <a:lstStyle/>
          <a:p>
            <a:r>
              <a:rPr lang="en-US" dirty="0"/>
              <a:t>In Python, you can fit a logistic regression model using the scikit-learn library </a:t>
            </a:r>
          </a:p>
          <a:p>
            <a:endParaRPr lang="en-US" dirty="0"/>
          </a:p>
          <a:p>
            <a:r>
              <a:rPr lang="en-US" b="1" dirty="0"/>
              <a:t>• </a:t>
            </a:r>
            <a:r>
              <a:rPr lang="en-US" b="1" dirty="0" err="1"/>
              <a:t>model.score</a:t>
            </a:r>
            <a:r>
              <a:rPr lang="en-US" b="1" dirty="0"/>
              <a:t>(X, y) </a:t>
            </a:r>
            <a:r>
              <a:rPr lang="en-US" dirty="0"/>
              <a:t>returns an accuracy score for a given set of features and target values </a:t>
            </a:r>
          </a:p>
          <a:p>
            <a:r>
              <a:rPr lang="en-US" b="1" dirty="0"/>
              <a:t>• </a:t>
            </a:r>
            <a:r>
              <a:rPr lang="en-US" b="1" dirty="0" err="1"/>
              <a:t>confusion_matrix</a:t>
            </a:r>
            <a:r>
              <a:rPr lang="en-US" b="1" dirty="0"/>
              <a:t>(</a:t>
            </a:r>
            <a:r>
              <a:rPr lang="en-US" b="1" dirty="0" err="1"/>
              <a:t>y_actual</a:t>
            </a:r>
            <a:r>
              <a:rPr lang="en-US" b="1" dirty="0"/>
              <a:t>, </a:t>
            </a:r>
            <a:r>
              <a:rPr lang="en-US" b="1" dirty="0" err="1"/>
              <a:t>y_pred</a:t>
            </a:r>
            <a:r>
              <a:rPr lang="en-US" b="1" dirty="0"/>
              <a:t>) </a:t>
            </a:r>
            <a:r>
              <a:rPr lang="en-US" dirty="0"/>
              <a:t>returns a confusion matrix</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1DDAAD01-B682-6C2E-76C9-FBB8220C8B39}"/>
              </a:ext>
            </a:extLst>
          </p:cNvPr>
          <p:cNvPicPr>
            <a:picLocks noChangeAspect="1"/>
          </p:cNvPicPr>
          <p:nvPr/>
        </p:nvPicPr>
        <p:blipFill>
          <a:blip r:embed="rId2"/>
          <a:stretch>
            <a:fillRect/>
          </a:stretch>
        </p:blipFill>
        <p:spPr>
          <a:xfrm>
            <a:off x="924233" y="2816676"/>
            <a:ext cx="10040751" cy="3791479"/>
          </a:xfrm>
          <a:prstGeom prst="rect">
            <a:avLst/>
          </a:prstGeom>
        </p:spPr>
      </p:pic>
    </p:spTree>
    <p:extLst>
      <p:ext uri="{BB962C8B-B14F-4D97-AF65-F5344CB8AC3E}">
        <p14:creationId xmlns:p14="http://schemas.microsoft.com/office/powerpoint/2010/main" val="2483596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337A69E-9999-64DA-0854-9F21948B7D1F}"/>
              </a:ext>
            </a:extLst>
          </p:cNvPr>
          <p:cNvSpPr>
            <a:spLocks noGrp="1"/>
          </p:cNvSpPr>
          <p:nvPr>
            <p:ph type="title"/>
          </p:nvPr>
        </p:nvSpPr>
        <p:spPr/>
        <p:txBody>
          <a:bodyPr/>
          <a:lstStyle/>
          <a:p>
            <a:r>
              <a:rPr lang="lt-LT" dirty="0"/>
              <a:t>INTERPRETING COEFFICIENTS </a:t>
            </a:r>
          </a:p>
        </p:txBody>
      </p:sp>
      <p:sp>
        <p:nvSpPr>
          <p:cNvPr id="4" name="TextBox 3">
            <a:extLst>
              <a:ext uri="{FF2B5EF4-FFF2-40B4-BE49-F238E27FC236}">
                <a16:creationId xmlns:a16="http://schemas.microsoft.com/office/drawing/2014/main" id="{28883DCD-C44A-F4F2-C8A0-47FAC8B89983}"/>
              </a:ext>
            </a:extLst>
          </p:cNvPr>
          <p:cNvSpPr txBox="1"/>
          <p:nvPr/>
        </p:nvSpPr>
        <p:spPr>
          <a:xfrm>
            <a:off x="943897" y="1520212"/>
            <a:ext cx="10137058" cy="1477328"/>
          </a:xfrm>
          <a:prstGeom prst="rect">
            <a:avLst/>
          </a:prstGeom>
          <a:noFill/>
        </p:spPr>
        <p:txBody>
          <a:bodyPr wrap="square">
            <a:spAutoFit/>
          </a:bodyPr>
          <a:lstStyle/>
          <a:p>
            <a:r>
              <a:rPr lang="en-US" dirty="0"/>
              <a:t>The coefficients of a logistic regression model represent the </a:t>
            </a:r>
            <a:r>
              <a:rPr lang="en-US" b="1" dirty="0"/>
              <a:t>change in </a:t>
            </a:r>
            <a:r>
              <a:rPr lang="en-US" b="1" dirty="0">
                <a:highlight>
                  <a:srgbClr val="FFFF00"/>
                </a:highlight>
              </a:rPr>
              <a:t>log odds </a:t>
            </a:r>
          </a:p>
          <a:p>
            <a:r>
              <a:rPr lang="en-US" dirty="0"/>
              <a:t>• </a:t>
            </a:r>
            <a:r>
              <a:rPr lang="en-US" b="1" dirty="0"/>
              <a:t>Positive</a:t>
            </a:r>
            <a:r>
              <a:rPr lang="en-US" dirty="0"/>
              <a:t> coefficients mean the predicted probability increases as the feature increases </a:t>
            </a:r>
          </a:p>
          <a:p>
            <a:r>
              <a:rPr lang="en-US" dirty="0"/>
              <a:t>• </a:t>
            </a:r>
            <a:r>
              <a:rPr lang="en-US" b="1" dirty="0"/>
              <a:t>Negative</a:t>
            </a:r>
            <a:r>
              <a:rPr lang="en-US" dirty="0"/>
              <a:t> coefficients means the predicted probability decreases as the feature increases </a:t>
            </a:r>
          </a:p>
          <a:p>
            <a:r>
              <a:rPr lang="en-US" dirty="0"/>
              <a:t>• The </a:t>
            </a:r>
            <a:r>
              <a:rPr lang="en-US" b="1" dirty="0"/>
              <a:t>odds ratio</a:t>
            </a:r>
            <a:r>
              <a:rPr lang="en-US" dirty="0"/>
              <a:t>, calculated by exponentiating the coefficient, represents the multiplicative change in odds caused by a one unit increase in the feature</a:t>
            </a:r>
            <a:endParaRPr lang="lt-LT" dirty="0"/>
          </a:p>
        </p:txBody>
      </p:sp>
      <p:pic>
        <p:nvPicPr>
          <p:cNvPr id="6" name="Paveikslėlis 5" descr="Paveikslėlis, kuriame yra tekstas, ekrano kopija, Šriftas, linija&#10;&#10;Dirbtinio intelekto sugeneruotas turinys gali būti neteisingas.">
            <a:extLst>
              <a:ext uri="{FF2B5EF4-FFF2-40B4-BE49-F238E27FC236}">
                <a16:creationId xmlns:a16="http://schemas.microsoft.com/office/drawing/2014/main" id="{584AAD59-9CC5-461F-C863-E03257839712}"/>
              </a:ext>
            </a:extLst>
          </p:cNvPr>
          <p:cNvPicPr>
            <a:picLocks noChangeAspect="1"/>
          </p:cNvPicPr>
          <p:nvPr/>
        </p:nvPicPr>
        <p:blipFill>
          <a:blip r:embed="rId2"/>
          <a:stretch>
            <a:fillRect/>
          </a:stretch>
        </p:blipFill>
        <p:spPr>
          <a:xfrm>
            <a:off x="1179870" y="3606534"/>
            <a:ext cx="8660669" cy="3059849"/>
          </a:xfrm>
          <a:prstGeom prst="rect">
            <a:avLst/>
          </a:prstGeom>
        </p:spPr>
      </p:pic>
    </p:spTree>
    <p:extLst>
      <p:ext uri="{BB962C8B-B14F-4D97-AF65-F5344CB8AC3E}">
        <p14:creationId xmlns:p14="http://schemas.microsoft.com/office/powerpoint/2010/main" val="2473098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23BA8-BDFF-D74A-7E5F-3F14B27D0CB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D8E6B681-8CC4-CF45-8890-CD85007B97F0}"/>
              </a:ext>
            </a:extLst>
          </p:cNvPr>
          <p:cNvSpPr>
            <a:spLocks noGrp="1"/>
          </p:cNvSpPr>
          <p:nvPr>
            <p:ph type="title"/>
          </p:nvPr>
        </p:nvSpPr>
        <p:spPr/>
        <p:txBody>
          <a:bodyPr/>
          <a:lstStyle/>
          <a:p>
            <a:r>
              <a:rPr lang="lt-LT" dirty="0"/>
              <a:t>INTERPRETING COEFFICIENTS </a:t>
            </a:r>
          </a:p>
        </p:txBody>
      </p:sp>
      <p:sp>
        <p:nvSpPr>
          <p:cNvPr id="4" name="TextBox 3">
            <a:extLst>
              <a:ext uri="{FF2B5EF4-FFF2-40B4-BE49-F238E27FC236}">
                <a16:creationId xmlns:a16="http://schemas.microsoft.com/office/drawing/2014/main" id="{52289802-152D-3BEF-F619-4E1D68C12B0F}"/>
              </a:ext>
            </a:extLst>
          </p:cNvPr>
          <p:cNvSpPr txBox="1"/>
          <p:nvPr/>
        </p:nvSpPr>
        <p:spPr>
          <a:xfrm>
            <a:off x="943897" y="1520212"/>
            <a:ext cx="10137058" cy="1477328"/>
          </a:xfrm>
          <a:prstGeom prst="rect">
            <a:avLst/>
          </a:prstGeom>
          <a:noFill/>
        </p:spPr>
        <p:txBody>
          <a:bodyPr wrap="square">
            <a:spAutoFit/>
          </a:bodyPr>
          <a:lstStyle/>
          <a:p>
            <a:r>
              <a:rPr lang="en-US" dirty="0"/>
              <a:t>The </a:t>
            </a:r>
            <a:r>
              <a:rPr lang="en-US" b="1" dirty="0"/>
              <a:t>coefficients</a:t>
            </a:r>
            <a:r>
              <a:rPr lang="en-US" dirty="0"/>
              <a:t> of a logistic regression model represent the </a:t>
            </a:r>
            <a:r>
              <a:rPr lang="en-US" b="1" dirty="0"/>
              <a:t>change in log odds </a:t>
            </a:r>
          </a:p>
          <a:p>
            <a:r>
              <a:rPr lang="en-US" dirty="0"/>
              <a:t>• </a:t>
            </a:r>
            <a:r>
              <a:rPr lang="en-US" b="1" dirty="0"/>
              <a:t>Positive</a:t>
            </a:r>
            <a:r>
              <a:rPr lang="en-US" dirty="0"/>
              <a:t> coefficients mean the predicted probability </a:t>
            </a:r>
            <a:r>
              <a:rPr lang="en-US" i="1" dirty="0"/>
              <a:t>increases</a:t>
            </a:r>
            <a:r>
              <a:rPr lang="en-US" dirty="0"/>
              <a:t> as the feature increases </a:t>
            </a:r>
          </a:p>
          <a:p>
            <a:r>
              <a:rPr lang="en-US" dirty="0"/>
              <a:t>• </a:t>
            </a:r>
            <a:r>
              <a:rPr lang="en-US" b="1" dirty="0"/>
              <a:t>Negative</a:t>
            </a:r>
            <a:r>
              <a:rPr lang="en-US" dirty="0"/>
              <a:t> coefficients means the predicted probability </a:t>
            </a:r>
            <a:r>
              <a:rPr lang="en-US" i="1" dirty="0"/>
              <a:t>decreases</a:t>
            </a:r>
            <a:r>
              <a:rPr lang="en-US" dirty="0"/>
              <a:t> as the feature increases </a:t>
            </a:r>
          </a:p>
          <a:p>
            <a:r>
              <a:rPr lang="en-US" dirty="0"/>
              <a:t>• </a:t>
            </a:r>
            <a:r>
              <a:rPr lang="en-US" dirty="0">
                <a:highlight>
                  <a:srgbClr val="FFFF00"/>
                </a:highlight>
              </a:rPr>
              <a:t>The </a:t>
            </a:r>
            <a:r>
              <a:rPr lang="en-US" b="1" dirty="0">
                <a:highlight>
                  <a:srgbClr val="FFFF00"/>
                </a:highlight>
              </a:rPr>
              <a:t>odds ratio</a:t>
            </a:r>
            <a:r>
              <a:rPr lang="en-US" dirty="0"/>
              <a:t>, calculated by exponentiating the coefficient, represents the multiplicative change in odds caused by a one unit increase in the feature</a:t>
            </a:r>
            <a:endParaRPr lang="lt-LT" dirty="0"/>
          </a:p>
        </p:txBody>
      </p:sp>
      <p:pic>
        <p:nvPicPr>
          <p:cNvPr id="5" name="Paveikslėlis 4" descr="Paveikslėlis, kuriame yra tekstas, ekrano kopija, Šriftas, linija&#10;&#10;Dirbtinio intelekto sugeneruotas turinys gali būti neteisingas.">
            <a:extLst>
              <a:ext uri="{FF2B5EF4-FFF2-40B4-BE49-F238E27FC236}">
                <a16:creationId xmlns:a16="http://schemas.microsoft.com/office/drawing/2014/main" id="{E6AE0154-181A-E331-0FD5-18F9686CD07E}"/>
              </a:ext>
            </a:extLst>
          </p:cNvPr>
          <p:cNvPicPr>
            <a:picLocks noChangeAspect="1"/>
          </p:cNvPicPr>
          <p:nvPr/>
        </p:nvPicPr>
        <p:blipFill>
          <a:blip r:embed="rId2"/>
          <a:stretch>
            <a:fillRect/>
          </a:stretch>
        </p:blipFill>
        <p:spPr>
          <a:xfrm>
            <a:off x="1042545" y="2997540"/>
            <a:ext cx="10311255" cy="3638736"/>
          </a:xfrm>
          <a:prstGeom prst="rect">
            <a:avLst/>
          </a:prstGeom>
        </p:spPr>
      </p:pic>
    </p:spTree>
    <p:extLst>
      <p:ext uri="{BB962C8B-B14F-4D97-AF65-F5344CB8AC3E}">
        <p14:creationId xmlns:p14="http://schemas.microsoft.com/office/powerpoint/2010/main" val="2584135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FE049EF-9E4B-0114-CB70-5A7E71EEFBFC}"/>
              </a:ext>
            </a:extLst>
          </p:cNvPr>
          <p:cNvSpPr>
            <a:spLocks noGrp="1"/>
          </p:cNvSpPr>
          <p:nvPr>
            <p:ph type="title"/>
          </p:nvPr>
        </p:nvSpPr>
        <p:spPr/>
        <p:txBody>
          <a:bodyPr/>
          <a:lstStyle/>
          <a:p>
            <a:r>
              <a:rPr lang="lt-LT" dirty="0"/>
              <a:t>FEATURE ENGINEERING &amp; SELECTION</a:t>
            </a:r>
          </a:p>
        </p:txBody>
      </p:sp>
      <p:sp>
        <p:nvSpPr>
          <p:cNvPr id="4" name="TextBox 3">
            <a:extLst>
              <a:ext uri="{FF2B5EF4-FFF2-40B4-BE49-F238E27FC236}">
                <a16:creationId xmlns:a16="http://schemas.microsoft.com/office/drawing/2014/main" id="{2BF5912C-C642-3F40-A6D4-AA5B1572848F}"/>
              </a:ext>
            </a:extLst>
          </p:cNvPr>
          <p:cNvSpPr txBox="1"/>
          <p:nvPr/>
        </p:nvSpPr>
        <p:spPr>
          <a:xfrm>
            <a:off x="914400" y="1395785"/>
            <a:ext cx="9812594" cy="923330"/>
          </a:xfrm>
          <a:prstGeom prst="rect">
            <a:avLst/>
          </a:prstGeom>
          <a:noFill/>
        </p:spPr>
        <p:txBody>
          <a:bodyPr wrap="square">
            <a:spAutoFit/>
          </a:bodyPr>
          <a:lstStyle/>
          <a:p>
            <a:r>
              <a:rPr lang="en-US" b="1" dirty="0"/>
              <a:t>Feature engineering </a:t>
            </a:r>
            <a:r>
              <a:rPr lang="en-US" dirty="0"/>
              <a:t>is a critical part of the modeling process </a:t>
            </a:r>
          </a:p>
          <a:p>
            <a:r>
              <a:rPr lang="en-US" dirty="0"/>
              <a:t>	• Thorough EDA, an understanding of ML algorithms, and subject matter expertise can all help with feature engineering and selection</a:t>
            </a:r>
            <a:endParaRPr lang="lt-LT" dirty="0"/>
          </a:p>
        </p:txBody>
      </p:sp>
      <p:pic>
        <p:nvPicPr>
          <p:cNvPr id="6" name="Paveikslėlis 5" descr="Paveikslėlis, kuriame yra ekrano kopija, diagrama&#10;&#10;Dirbtinio intelekto sugeneruotas turinys gali būti neteisingas.">
            <a:extLst>
              <a:ext uri="{FF2B5EF4-FFF2-40B4-BE49-F238E27FC236}">
                <a16:creationId xmlns:a16="http://schemas.microsoft.com/office/drawing/2014/main" id="{A411E4F2-84FF-89D1-B172-2B01D1D0EB19}"/>
              </a:ext>
            </a:extLst>
          </p:cNvPr>
          <p:cNvPicPr>
            <a:picLocks noChangeAspect="1"/>
          </p:cNvPicPr>
          <p:nvPr/>
        </p:nvPicPr>
        <p:blipFill>
          <a:blip r:embed="rId2"/>
          <a:stretch>
            <a:fillRect/>
          </a:stretch>
        </p:blipFill>
        <p:spPr>
          <a:xfrm>
            <a:off x="581216" y="2505014"/>
            <a:ext cx="5239481" cy="4067743"/>
          </a:xfrm>
          <a:prstGeom prst="rect">
            <a:avLst/>
          </a:prstGeom>
        </p:spPr>
      </p:pic>
      <p:sp>
        <p:nvSpPr>
          <p:cNvPr id="8" name="TextBox 7">
            <a:extLst>
              <a:ext uri="{FF2B5EF4-FFF2-40B4-BE49-F238E27FC236}">
                <a16:creationId xmlns:a16="http://schemas.microsoft.com/office/drawing/2014/main" id="{B50F6E8F-A3D2-1322-8CF9-D45648B54FE6}"/>
              </a:ext>
            </a:extLst>
          </p:cNvPr>
          <p:cNvSpPr txBox="1"/>
          <p:nvPr/>
        </p:nvSpPr>
        <p:spPr>
          <a:xfrm>
            <a:off x="7305368" y="2830445"/>
            <a:ext cx="3048000" cy="3139321"/>
          </a:xfrm>
          <a:prstGeom prst="rect">
            <a:avLst/>
          </a:prstGeom>
          <a:noFill/>
        </p:spPr>
        <p:txBody>
          <a:bodyPr wrap="square">
            <a:spAutoFit/>
          </a:bodyPr>
          <a:lstStyle/>
          <a:p>
            <a:r>
              <a:rPr lang="en-US" dirty="0"/>
              <a:t>Purchasers don’t always have high income or age – there is an interaction between these variables.</a:t>
            </a:r>
          </a:p>
          <a:p>
            <a:r>
              <a:rPr lang="en-US" dirty="0"/>
              <a:t> KNN works very well for this type of data, but logistic regression coefficients estimate a constant increase or decrease across continuous features. Feature engineering may help here!</a:t>
            </a:r>
            <a:endParaRPr lang="lt-LT" dirty="0"/>
          </a:p>
        </p:txBody>
      </p:sp>
    </p:spTree>
    <p:extLst>
      <p:ext uri="{BB962C8B-B14F-4D97-AF65-F5344CB8AC3E}">
        <p14:creationId xmlns:p14="http://schemas.microsoft.com/office/powerpoint/2010/main" val="1421445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683C-AB39-2C97-969D-D5FF630A7292}"/>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926019CE-95AB-BC9E-E699-5EC7F36A93FE}"/>
              </a:ext>
            </a:extLst>
          </p:cNvPr>
          <p:cNvSpPr>
            <a:spLocks noGrp="1"/>
          </p:cNvSpPr>
          <p:nvPr>
            <p:ph type="title"/>
          </p:nvPr>
        </p:nvSpPr>
        <p:spPr/>
        <p:txBody>
          <a:bodyPr/>
          <a:lstStyle/>
          <a:p>
            <a:r>
              <a:rPr lang="lt-LT" dirty="0"/>
              <a:t>FEATURE ENGINEERING &amp; SELECTION</a:t>
            </a:r>
          </a:p>
        </p:txBody>
      </p:sp>
      <p:sp>
        <p:nvSpPr>
          <p:cNvPr id="4" name="TextBox 3">
            <a:extLst>
              <a:ext uri="{FF2B5EF4-FFF2-40B4-BE49-F238E27FC236}">
                <a16:creationId xmlns:a16="http://schemas.microsoft.com/office/drawing/2014/main" id="{38425441-AF2B-629B-9C46-F4ED94118789}"/>
              </a:ext>
            </a:extLst>
          </p:cNvPr>
          <p:cNvSpPr txBox="1"/>
          <p:nvPr/>
        </p:nvSpPr>
        <p:spPr>
          <a:xfrm>
            <a:off x="914400" y="1395785"/>
            <a:ext cx="9812594" cy="923330"/>
          </a:xfrm>
          <a:prstGeom prst="rect">
            <a:avLst/>
          </a:prstGeom>
          <a:noFill/>
        </p:spPr>
        <p:txBody>
          <a:bodyPr wrap="square">
            <a:spAutoFit/>
          </a:bodyPr>
          <a:lstStyle/>
          <a:p>
            <a:r>
              <a:rPr lang="en-US" b="1" dirty="0"/>
              <a:t>Feature engineering </a:t>
            </a:r>
            <a:r>
              <a:rPr lang="en-US" dirty="0"/>
              <a:t>is a critical part of the modeling process </a:t>
            </a:r>
          </a:p>
          <a:p>
            <a:r>
              <a:rPr lang="en-US" dirty="0"/>
              <a:t>	• Thorough EDA, an understanding of ML algorithms, and subject matter expertise can all help with feature engineering and selection</a:t>
            </a:r>
            <a:endParaRPr lang="lt-LT" dirty="0"/>
          </a:p>
        </p:txBody>
      </p:sp>
      <p:sp>
        <p:nvSpPr>
          <p:cNvPr id="8" name="TextBox 7">
            <a:extLst>
              <a:ext uri="{FF2B5EF4-FFF2-40B4-BE49-F238E27FC236}">
                <a16:creationId xmlns:a16="http://schemas.microsoft.com/office/drawing/2014/main" id="{F3479A9D-E0F1-5980-B93A-5625204E19C4}"/>
              </a:ext>
            </a:extLst>
          </p:cNvPr>
          <p:cNvSpPr txBox="1"/>
          <p:nvPr/>
        </p:nvSpPr>
        <p:spPr>
          <a:xfrm>
            <a:off x="7610168" y="5139049"/>
            <a:ext cx="3048000" cy="1477328"/>
          </a:xfrm>
          <a:prstGeom prst="rect">
            <a:avLst/>
          </a:prstGeom>
          <a:noFill/>
        </p:spPr>
        <p:txBody>
          <a:bodyPr wrap="square">
            <a:spAutoFit/>
          </a:bodyPr>
          <a:lstStyle/>
          <a:p>
            <a:r>
              <a:rPr lang="en-US" dirty="0"/>
              <a:t>Our model that used hard cut points as features performed much better than ones using continuous features </a:t>
            </a:r>
            <a:endParaRPr lang="lt-LT" dirty="0"/>
          </a:p>
        </p:txBody>
      </p:sp>
      <p:pic>
        <p:nvPicPr>
          <p:cNvPr id="5" name="Paveikslėlis 4" descr="Paveikslėlis, kuriame yra tekstas, ekrano kopija, Šriftas, skaičius&#10;&#10;Dirbtinio intelekto sugeneruotas turinys gali būti neteisingas.">
            <a:extLst>
              <a:ext uri="{FF2B5EF4-FFF2-40B4-BE49-F238E27FC236}">
                <a16:creationId xmlns:a16="http://schemas.microsoft.com/office/drawing/2014/main" id="{C312E38C-0CA3-0D4F-49EC-650981BAA7E0}"/>
              </a:ext>
            </a:extLst>
          </p:cNvPr>
          <p:cNvPicPr>
            <a:picLocks noChangeAspect="1"/>
          </p:cNvPicPr>
          <p:nvPr/>
        </p:nvPicPr>
        <p:blipFill>
          <a:blip r:embed="rId2"/>
          <a:stretch>
            <a:fillRect/>
          </a:stretch>
        </p:blipFill>
        <p:spPr>
          <a:xfrm>
            <a:off x="838200" y="2319115"/>
            <a:ext cx="6287377" cy="3648584"/>
          </a:xfrm>
          <a:prstGeom prst="rect">
            <a:avLst/>
          </a:prstGeom>
        </p:spPr>
      </p:pic>
      <p:pic>
        <p:nvPicPr>
          <p:cNvPr id="9" name="Paveikslėlis 8" descr="Paveikslėlis, kuriame yra tekstas, ekrano kopija, Šriftas, skaičius&#10;&#10;Dirbtinio intelekto sugeneruotas turinys gali būti neteisingas.">
            <a:extLst>
              <a:ext uri="{FF2B5EF4-FFF2-40B4-BE49-F238E27FC236}">
                <a16:creationId xmlns:a16="http://schemas.microsoft.com/office/drawing/2014/main" id="{03074D6A-D3E3-FA69-71C9-0720A4D351FE}"/>
              </a:ext>
            </a:extLst>
          </p:cNvPr>
          <p:cNvPicPr>
            <a:picLocks noChangeAspect="1"/>
          </p:cNvPicPr>
          <p:nvPr/>
        </p:nvPicPr>
        <p:blipFill>
          <a:blip r:embed="rId3"/>
          <a:stretch>
            <a:fillRect/>
          </a:stretch>
        </p:blipFill>
        <p:spPr>
          <a:xfrm>
            <a:off x="7125577" y="2525354"/>
            <a:ext cx="4715533" cy="2200582"/>
          </a:xfrm>
          <a:prstGeom prst="rect">
            <a:avLst/>
          </a:prstGeom>
        </p:spPr>
      </p:pic>
    </p:spTree>
    <p:extLst>
      <p:ext uri="{BB962C8B-B14F-4D97-AF65-F5344CB8AC3E}">
        <p14:creationId xmlns:p14="http://schemas.microsoft.com/office/powerpoint/2010/main" val="1056769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1DFBC63-E58D-7F04-F4AA-3A0169A8FA39}"/>
              </a:ext>
            </a:extLst>
          </p:cNvPr>
          <p:cNvSpPr>
            <a:spLocks noGrp="1"/>
          </p:cNvSpPr>
          <p:nvPr>
            <p:ph type="title"/>
          </p:nvPr>
        </p:nvSpPr>
        <p:spPr/>
        <p:txBody>
          <a:bodyPr/>
          <a:lstStyle/>
          <a:p>
            <a:r>
              <a:rPr lang="lt-LT" dirty="0"/>
              <a:t>REGULARIZATION</a:t>
            </a:r>
          </a:p>
        </p:txBody>
      </p:sp>
      <p:sp>
        <p:nvSpPr>
          <p:cNvPr id="4" name="TextBox 3">
            <a:extLst>
              <a:ext uri="{FF2B5EF4-FFF2-40B4-BE49-F238E27FC236}">
                <a16:creationId xmlns:a16="http://schemas.microsoft.com/office/drawing/2014/main" id="{ED390346-B3B2-1B8E-E5F5-D7053A6FBECB}"/>
              </a:ext>
            </a:extLst>
          </p:cNvPr>
          <p:cNvSpPr txBox="1"/>
          <p:nvPr/>
        </p:nvSpPr>
        <p:spPr>
          <a:xfrm>
            <a:off x="838199" y="1385104"/>
            <a:ext cx="10400071" cy="923330"/>
          </a:xfrm>
          <a:prstGeom prst="rect">
            <a:avLst/>
          </a:prstGeom>
          <a:noFill/>
        </p:spPr>
        <p:txBody>
          <a:bodyPr wrap="square">
            <a:spAutoFit/>
          </a:bodyPr>
          <a:lstStyle/>
          <a:p>
            <a:r>
              <a:rPr lang="en-US" b="1" dirty="0"/>
              <a:t>Regularized</a:t>
            </a:r>
            <a:r>
              <a:rPr lang="en-US" dirty="0"/>
              <a:t> models intentionally underfit training data by NOT choosing the model that best fits training data, with the purpose of reducing the variance in the test data </a:t>
            </a:r>
          </a:p>
          <a:p>
            <a:r>
              <a:rPr lang="en-US" dirty="0"/>
              <a:t>	• This helps reduce overfitting and leads to better predictions (especially in smaller data sets)</a:t>
            </a:r>
            <a:endParaRPr lang="lt-LT" dirty="0"/>
          </a:p>
        </p:txBody>
      </p:sp>
      <p:pic>
        <p:nvPicPr>
          <p:cNvPr id="6" name="Paveikslėlis 5" descr="Paveikslėlis, kuriame yra linija, diagrama, ekrano kopija, Grafikas&#10;&#10;Dirbtinio intelekto sugeneruotas turinys gali būti neteisingas.">
            <a:extLst>
              <a:ext uri="{FF2B5EF4-FFF2-40B4-BE49-F238E27FC236}">
                <a16:creationId xmlns:a16="http://schemas.microsoft.com/office/drawing/2014/main" id="{C80D62AC-BFB8-FD78-4746-9C6620200C43}"/>
              </a:ext>
            </a:extLst>
          </p:cNvPr>
          <p:cNvPicPr>
            <a:picLocks noChangeAspect="1"/>
          </p:cNvPicPr>
          <p:nvPr/>
        </p:nvPicPr>
        <p:blipFill>
          <a:blip r:embed="rId2"/>
          <a:stretch>
            <a:fillRect/>
          </a:stretch>
        </p:blipFill>
        <p:spPr>
          <a:xfrm>
            <a:off x="546913" y="2344221"/>
            <a:ext cx="11098174" cy="4410691"/>
          </a:xfrm>
          <a:prstGeom prst="rect">
            <a:avLst/>
          </a:prstGeom>
        </p:spPr>
      </p:pic>
    </p:spTree>
    <p:extLst>
      <p:ext uri="{BB962C8B-B14F-4D97-AF65-F5344CB8AC3E}">
        <p14:creationId xmlns:p14="http://schemas.microsoft.com/office/powerpoint/2010/main" val="1885121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847061A-45CB-4135-7ED3-EC7AF578748D}"/>
              </a:ext>
            </a:extLst>
          </p:cNvPr>
          <p:cNvSpPr>
            <a:spLocks noGrp="1"/>
          </p:cNvSpPr>
          <p:nvPr>
            <p:ph type="title"/>
          </p:nvPr>
        </p:nvSpPr>
        <p:spPr/>
        <p:txBody>
          <a:bodyPr/>
          <a:lstStyle/>
          <a:p>
            <a:r>
              <a:rPr lang="lt-LT" dirty="0"/>
              <a:t>THE COST FUNCTION</a:t>
            </a:r>
          </a:p>
        </p:txBody>
      </p:sp>
      <p:pic>
        <p:nvPicPr>
          <p:cNvPr id="4" name="Paveikslėlis 3" descr="Paveikslėlis, kuriame yra tekstas, ekrano kopija, Šriftas, algebra&#10;&#10;Dirbtinio intelekto sugeneruotas turinys gali būti neteisingas.">
            <a:extLst>
              <a:ext uri="{FF2B5EF4-FFF2-40B4-BE49-F238E27FC236}">
                <a16:creationId xmlns:a16="http://schemas.microsoft.com/office/drawing/2014/main" id="{2B65E6C8-728F-7282-3F6E-BB84B0260EE9}"/>
              </a:ext>
            </a:extLst>
          </p:cNvPr>
          <p:cNvPicPr>
            <a:picLocks noChangeAspect="1"/>
          </p:cNvPicPr>
          <p:nvPr/>
        </p:nvPicPr>
        <p:blipFill>
          <a:blip r:embed="rId2"/>
          <a:stretch>
            <a:fillRect/>
          </a:stretch>
        </p:blipFill>
        <p:spPr>
          <a:xfrm>
            <a:off x="1071716" y="1610998"/>
            <a:ext cx="9679901" cy="4677429"/>
          </a:xfrm>
          <a:prstGeom prst="rect">
            <a:avLst/>
          </a:prstGeom>
        </p:spPr>
      </p:pic>
    </p:spTree>
    <p:extLst>
      <p:ext uri="{BB962C8B-B14F-4D97-AF65-F5344CB8AC3E}">
        <p14:creationId xmlns:p14="http://schemas.microsoft.com/office/powerpoint/2010/main" val="3844341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30A653B-3F0F-7C68-7C5E-061D64EBCAC5}"/>
              </a:ext>
            </a:extLst>
          </p:cNvPr>
          <p:cNvSpPr>
            <a:spLocks noGrp="1"/>
          </p:cNvSpPr>
          <p:nvPr>
            <p:ph type="title"/>
          </p:nvPr>
        </p:nvSpPr>
        <p:spPr/>
        <p:txBody>
          <a:bodyPr/>
          <a:lstStyle/>
          <a:p>
            <a:r>
              <a:rPr lang="lt-LT" dirty="0"/>
              <a:t>TYPES OF REGULARIZED REGRESSION</a:t>
            </a:r>
          </a:p>
        </p:txBody>
      </p:sp>
      <p:sp>
        <p:nvSpPr>
          <p:cNvPr id="4" name="TextBox 3">
            <a:extLst>
              <a:ext uri="{FF2B5EF4-FFF2-40B4-BE49-F238E27FC236}">
                <a16:creationId xmlns:a16="http://schemas.microsoft.com/office/drawing/2014/main" id="{238F29A5-1667-BCDF-3BB4-50CA68539F07}"/>
              </a:ext>
            </a:extLst>
          </p:cNvPr>
          <p:cNvSpPr txBox="1"/>
          <p:nvPr/>
        </p:nvSpPr>
        <p:spPr>
          <a:xfrm>
            <a:off x="1258528" y="1525300"/>
            <a:ext cx="8799871" cy="369332"/>
          </a:xfrm>
          <a:prstGeom prst="rect">
            <a:avLst/>
          </a:prstGeom>
          <a:noFill/>
        </p:spPr>
        <p:txBody>
          <a:bodyPr wrap="square">
            <a:spAutoFit/>
          </a:bodyPr>
          <a:lstStyle/>
          <a:p>
            <a:r>
              <a:rPr lang="en-US" dirty="0"/>
              <a:t>Different types of regularized regression have different regularization equations</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703CFAE5-CB29-DAA6-323B-881A668C3C66}"/>
              </a:ext>
            </a:extLst>
          </p:cNvPr>
          <p:cNvPicPr>
            <a:picLocks noChangeAspect="1"/>
          </p:cNvPicPr>
          <p:nvPr/>
        </p:nvPicPr>
        <p:blipFill>
          <a:blip r:embed="rId2"/>
          <a:stretch>
            <a:fillRect/>
          </a:stretch>
        </p:blipFill>
        <p:spPr>
          <a:xfrm>
            <a:off x="1258528" y="2250327"/>
            <a:ext cx="8972764" cy="3637996"/>
          </a:xfrm>
          <a:prstGeom prst="rect">
            <a:avLst/>
          </a:prstGeom>
        </p:spPr>
      </p:pic>
    </p:spTree>
    <p:extLst>
      <p:ext uri="{BB962C8B-B14F-4D97-AF65-F5344CB8AC3E}">
        <p14:creationId xmlns:p14="http://schemas.microsoft.com/office/powerpoint/2010/main" val="3206864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18B8003-1798-F574-9BC1-B8BB5139086D}"/>
              </a:ext>
            </a:extLst>
          </p:cNvPr>
          <p:cNvSpPr>
            <a:spLocks noGrp="1"/>
          </p:cNvSpPr>
          <p:nvPr>
            <p:ph type="title"/>
          </p:nvPr>
        </p:nvSpPr>
        <p:spPr/>
        <p:txBody>
          <a:bodyPr/>
          <a:lstStyle/>
          <a:p>
            <a:r>
              <a:rPr lang="lt-LT" dirty="0"/>
              <a:t>TUNING A REGULARIZED MODEL</a:t>
            </a:r>
          </a:p>
        </p:txBody>
      </p:sp>
      <p:sp>
        <p:nvSpPr>
          <p:cNvPr id="4" name="TextBox 3">
            <a:extLst>
              <a:ext uri="{FF2B5EF4-FFF2-40B4-BE49-F238E27FC236}">
                <a16:creationId xmlns:a16="http://schemas.microsoft.com/office/drawing/2014/main" id="{0D12038C-5C68-BCE7-8430-6FC462EC18EE}"/>
              </a:ext>
            </a:extLst>
          </p:cNvPr>
          <p:cNvSpPr txBox="1"/>
          <p:nvPr/>
        </p:nvSpPr>
        <p:spPr>
          <a:xfrm>
            <a:off x="934064" y="1394936"/>
            <a:ext cx="10726993" cy="923330"/>
          </a:xfrm>
          <a:prstGeom prst="rect">
            <a:avLst/>
          </a:prstGeom>
          <a:noFill/>
        </p:spPr>
        <p:txBody>
          <a:bodyPr wrap="square">
            <a:spAutoFit/>
          </a:bodyPr>
          <a:lstStyle/>
          <a:p>
            <a:r>
              <a:rPr lang="en-US" b="1" dirty="0"/>
              <a:t>Hyperparameters</a:t>
            </a:r>
            <a:r>
              <a:rPr lang="en-US" dirty="0"/>
              <a:t> are settings that affect how well a model fits the data </a:t>
            </a:r>
          </a:p>
          <a:p>
            <a:r>
              <a:rPr lang="en-US" dirty="0"/>
              <a:t>	• Unlike model parameters (like regression coefficients) these are not learned from the data </a:t>
            </a:r>
          </a:p>
          <a:p>
            <a:r>
              <a:rPr lang="en-US" dirty="0"/>
              <a:t>	• Parameters are set before the model is fit and optimized based on validation performance</a:t>
            </a:r>
            <a:endParaRPr lang="lt-LT" dirty="0"/>
          </a:p>
        </p:txBody>
      </p:sp>
      <p:pic>
        <p:nvPicPr>
          <p:cNvPr id="6" name="Paveikslėlis 5" descr="Paveikslėlis, kuriame yra tekstas, ekrano kopija, apskritimas, Šriftas&#10;&#10;Dirbtinio intelekto sugeneruotas turinys gali būti neteisingas.">
            <a:extLst>
              <a:ext uri="{FF2B5EF4-FFF2-40B4-BE49-F238E27FC236}">
                <a16:creationId xmlns:a16="http://schemas.microsoft.com/office/drawing/2014/main" id="{D5264009-8E32-D099-A74B-79BFD3C69927}"/>
              </a:ext>
            </a:extLst>
          </p:cNvPr>
          <p:cNvPicPr>
            <a:picLocks noChangeAspect="1"/>
          </p:cNvPicPr>
          <p:nvPr/>
        </p:nvPicPr>
        <p:blipFill>
          <a:blip r:embed="rId2"/>
          <a:stretch>
            <a:fillRect/>
          </a:stretch>
        </p:blipFill>
        <p:spPr>
          <a:xfrm>
            <a:off x="530943" y="2504467"/>
            <a:ext cx="11145805" cy="4353533"/>
          </a:xfrm>
          <a:prstGeom prst="rect">
            <a:avLst/>
          </a:prstGeom>
        </p:spPr>
      </p:pic>
    </p:spTree>
    <p:extLst>
      <p:ext uri="{BB962C8B-B14F-4D97-AF65-F5344CB8AC3E}">
        <p14:creationId xmlns:p14="http://schemas.microsoft.com/office/powerpoint/2010/main" val="1280086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747313C4-EAA8-A897-DBE7-74E9FFEEFCD9}"/>
              </a:ext>
            </a:extLst>
          </p:cNvPr>
          <p:cNvSpPr>
            <a:spLocks noGrp="1"/>
          </p:cNvSpPr>
          <p:nvPr>
            <p:ph type="title"/>
          </p:nvPr>
        </p:nvSpPr>
        <p:spPr/>
        <p:txBody>
          <a:bodyPr/>
          <a:lstStyle/>
          <a:p>
            <a:r>
              <a:rPr lang="lt-LT" dirty="0"/>
              <a:t>TUNING A REGULARIZED MODEL</a:t>
            </a:r>
          </a:p>
        </p:txBody>
      </p:sp>
      <p:sp>
        <p:nvSpPr>
          <p:cNvPr id="4" name="TextBox 3">
            <a:extLst>
              <a:ext uri="{FF2B5EF4-FFF2-40B4-BE49-F238E27FC236}">
                <a16:creationId xmlns:a16="http://schemas.microsoft.com/office/drawing/2014/main" id="{5D2121DA-7F8C-D8E4-1C8A-F3A1F322E9A7}"/>
              </a:ext>
            </a:extLst>
          </p:cNvPr>
          <p:cNvSpPr txBox="1"/>
          <p:nvPr/>
        </p:nvSpPr>
        <p:spPr>
          <a:xfrm>
            <a:off x="1170037" y="1473594"/>
            <a:ext cx="10913807" cy="1200329"/>
          </a:xfrm>
          <a:prstGeom prst="rect">
            <a:avLst/>
          </a:prstGeom>
          <a:noFill/>
        </p:spPr>
        <p:txBody>
          <a:bodyPr wrap="square">
            <a:spAutoFit/>
          </a:bodyPr>
          <a:lstStyle/>
          <a:p>
            <a:r>
              <a:rPr lang="en-US" b="1" dirty="0"/>
              <a:t>Tuning a regularized logistic regression model </a:t>
            </a:r>
            <a:r>
              <a:rPr lang="en-US" dirty="0"/>
              <a:t>can help prevent overfitting and lead to better out of sample performance </a:t>
            </a:r>
          </a:p>
          <a:p>
            <a:r>
              <a:rPr lang="en-US" dirty="0"/>
              <a:t>• </a:t>
            </a:r>
            <a:r>
              <a:rPr lang="en-US" b="1" dirty="0"/>
              <a:t>Feature scaling </a:t>
            </a:r>
            <a:r>
              <a:rPr lang="en-US" dirty="0"/>
              <a:t>is required prior to fitting your model because regularization impacts coefficient magnitudes, which are related to feature unit scales</a:t>
            </a:r>
            <a:endParaRPr lang="lt-LT" dirty="0"/>
          </a:p>
        </p:txBody>
      </p:sp>
      <p:pic>
        <p:nvPicPr>
          <p:cNvPr id="6" name="Paveikslėlis 5" descr="Paveikslėlis, kuriame yra tekstas, ekrano kopija, Šriftas, baltas&#10;&#10;Dirbtinio intelekto sugeneruotas turinys gali būti neteisingas.">
            <a:extLst>
              <a:ext uri="{FF2B5EF4-FFF2-40B4-BE49-F238E27FC236}">
                <a16:creationId xmlns:a16="http://schemas.microsoft.com/office/drawing/2014/main" id="{21A49664-EA1A-4102-BAC0-EB7B7886D6D8}"/>
              </a:ext>
            </a:extLst>
          </p:cNvPr>
          <p:cNvPicPr>
            <a:picLocks noChangeAspect="1"/>
          </p:cNvPicPr>
          <p:nvPr/>
        </p:nvPicPr>
        <p:blipFill>
          <a:blip r:embed="rId2"/>
          <a:stretch>
            <a:fillRect/>
          </a:stretch>
        </p:blipFill>
        <p:spPr>
          <a:xfrm>
            <a:off x="2472804" y="3799598"/>
            <a:ext cx="6735115" cy="2152950"/>
          </a:xfrm>
          <a:prstGeom prst="rect">
            <a:avLst/>
          </a:prstGeom>
        </p:spPr>
      </p:pic>
    </p:spTree>
    <p:extLst>
      <p:ext uri="{BB962C8B-B14F-4D97-AF65-F5344CB8AC3E}">
        <p14:creationId xmlns:p14="http://schemas.microsoft.com/office/powerpoint/2010/main" val="2194091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FE79116-87B5-8C56-76C0-B7D6E934CA1F}"/>
              </a:ext>
            </a:extLst>
          </p:cNvPr>
          <p:cNvSpPr>
            <a:spLocks noGrp="1"/>
          </p:cNvSpPr>
          <p:nvPr>
            <p:ph type="title"/>
          </p:nvPr>
        </p:nvSpPr>
        <p:spPr/>
        <p:txBody>
          <a:bodyPr/>
          <a:lstStyle/>
          <a:p>
            <a:r>
              <a:rPr lang="lt-LT" dirty="0"/>
              <a:t>TUNING A REGULARIZED MODEL</a:t>
            </a:r>
          </a:p>
        </p:txBody>
      </p:sp>
      <p:sp>
        <p:nvSpPr>
          <p:cNvPr id="4" name="TextBox 3">
            <a:extLst>
              <a:ext uri="{FF2B5EF4-FFF2-40B4-BE49-F238E27FC236}">
                <a16:creationId xmlns:a16="http://schemas.microsoft.com/office/drawing/2014/main" id="{AA6E53FE-DD77-E33D-375A-D8F55C5B71A8}"/>
              </a:ext>
            </a:extLst>
          </p:cNvPr>
          <p:cNvSpPr txBox="1"/>
          <p:nvPr/>
        </p:nvSpPr>
        <p:spPr>
          <a:xfrm>
            <a:off x="963560" y="1503091"/>
            <a:ext cx="10166555" cy="1200329"/>
          </a:xfrm>
          <a:prstGeom prst="rect">
            <a:avLst/>
          </a:prstGeom>
          <a:noFill/>
        </p:spPr>
        <p:txBody>
          <a:bodyPr wrap="square">
            <a:spAutoFit/>
          </a:bodyPr>
          <a:lstStyle/>
          <a:p>
            <a:r>
              <a:rPr lang="en-US" b="1" dirty="0"/>
              <a:t>Tuning a regularized logistic regression model </a:t>
            </a:r>
            <a:r>
              <a:rPr lang="en-US" dirty="0"/>
              <a:t>can help prevent overfitting and lead to better out of sample performance </a:t>
            </a:r>
          </a:p>
          <a:p>
            <a:r>
              <a:rPr lang="en-US" dirty="0"/>
              <a:t>• After scaling, we’ll use </a:t>
            </a:r>
            <a:r>
              <a:rPr lang="en-US" b="1" dirty="0" err="1"/>
              <a:t>GridSearchCV</a:t>
            </a:r>
            <a:r>
              <a:rPr lang="en-US" dirty="0"/>
              <a:t> to test combos of regularization strength and type </a:t>
            </a:r>
          </a:p>
          <a:p>
            <a:r>
              <a:rPr lang="en-US" dirty="0"/>
              <a:t>• </a:t>
            </a:r>
            <a:r>
              <a:rPr lang="en-US" dirty="0" err="1"/>
              <a:t>LogisticRegression</a:t>
            </a:r>
            <a:r>
              <a:rPr lang="en-US" dirty="0"/>
              <a:t>(C=1.0, penalty=‘l2’, solver=“saga”)</a:t>
            </a:r>
            <a:endParaRPr lang="lt-LT" dirty="0"/>
          </a:p>
        </p:txBody>
      </p:sp>
      <p:pic>
        <p:nvPicPr>
          <p:cNvPr id="6" name="Paveikslėlis 5" descr="Paveikslėlis, kuriame yra tekstas, Šriftas, ekrano kopija&#10;&#10;Dirbtinio intelekto sugeneruotas turinys gali būti neteisingas.">
            <a:extLst>
              <a:ext uri="{FF2B5EF4-FFF2-40B4-BE49-F238E27FC236}">
                <a16:creationId xmlns:a16="http://schemas.microsoft.com/office/drawing/2014/main" id="{13828EF4-5C70-9BEA-AC23-BB6FBEFFFB27}"/>
              </a:ext>
            </a:extLst>
          </p:cNvPr>
          <p:cNvPicPr>
            <a:picLocks noChangeAspect="1"/>
          </p:cNvPicPr>
          <p:nvPr/>
        </p:nvPicPr>
        <p:blipFill>
          <a:blip r:embed="rId3"/>
          <a:stretch>
            <a:fillRect/>
          </a:stretch>
        </p:blipFill>
        <p:spPr>
          <a:xfrm>
            <a:off x="554908" y="3292028"/>
            <a:ext cx="10983858" cy="3200847"/>
          </a:xfrm>
          <a:prstGeom prst="rect">
            <a:avLst/>
          </a:prstGeom>
        </p:spPr>
      </p:pic>
    </p:spTree>
    <p:extLst>
      <p:ext uri="{BB962C8B-B14F-4D97-AF65-F5344CB8AC3E}">
        <p14:creationId xmlns:p14="http://schemas.microsoft.com/office/powerpoint/2010/main" val="3398738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FD8EB-F70C-7151-83E8-42E61552EEC0}"/>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BB5391F2-4010-F401-081F-47EE91DFBC06}"/>
              </a:ext>
            </a:extLst>
          </p:cNvPr>
          <p:cNvSpPr>
            <a:spLocks noGrp="1"/>
          </p:cNvSpPr>
          <p:nvPr>
            <p:ph type="title"/>
          </p:nvPr>
        </p:nvSpPr>
        <p:spPr/>
        <p:txBody>
          <a:bodyPr/>
          <a:lstStyle/>
          <a:p>
            <a:r>
              <a:rPr lang="lt-LT" dirty="0"/>
              <a:t>TUNING A REGULARIZED MODEL</a:t>
            </a:r>
          </a:p>
        </p:txBody>
      </p:sp>
      <p:sp>
        <p:nvSpPr>
          <p:cNvPr id="4" name="TextBox 3">
            <a:extLst>
              <a:ext uri="{FF2B5EF4-FFF2-40B4-BE49-F238E27FC236}">
                <a16:creationId xmlns:a16="http://schemas.microsoft.com/office/drawing/2014/main" id="{C02332BF-DE76-E813-BF53-5CDD349D4CDD}"/>
              </a:ext>
            </a:extLst>
          </p:cNvPr>
          <p:cNvSpPr txBox="1"/>
          <p:nvPr/>
        </p:nvSpPr>
        <p:spPr>
          <a:xfrm>
            <a:off x="963560" y="1503091"/>
            <a:ext cx="10166555" cy="1200329"/>
          </a:xfrm>
          <a:prstGeom prst="rect">
            <a:avLst/>
          </a:prstGeom>
          <a:noFill/>
        </p:spPr>
        <p:txBody>
          <a:bodyPr wrap="square">
            <a:spAutoFit/>
          </a:bodyPr>
          <a:lstStyle/>
          <a:p>
            <a:r>
              <a:rPr lang="en-US" dirty="0"/>
              <a:t>Tuning a regularized logistic regression model can help prevent overfitting and lead to better out of sample performance </a:t>
            </a:r>
          </a:p>
          <a:p>
            <a:r>
              <a:rPr lang="en-US" dirty="0"/>
              <a:t>• After scaling, we’ll use </a:t>
            </a:r>
            <a:r>
              <a:rPr lang="en-US" dirty="0" err="1"/>
              <a:t>GridSearchCV</a:t>
            </a:r>
            <a:r>
              <a:rPr lang="en-US" dirty="0"/>
              <a:t> to test combos of regularization strength and type </a:t>
            </a:r>
          </a:p>
          <a:p>
            <a:r>
              <a:rPr lang="en-US" dirty="0"/>
              <a:t>• </a:t>
            </a:r>
            <a:r>
              <a:rPr lang="en-US" dirty="0" err="1"/>
              <a:t>LogisticRegression</a:t>
            </a:r>
            <a:r>
              <a:rPr lang="en-US" dirty="0"/>
              <a:t>(C=1.0, penalty=‘l2’, solver=“saga”)</a:t>
            </a:r>
            <a:endParaRPr lang="lt-LT" dirty="0"/>
          </a:p>
        </p:txBody>
      </p:sp>
      <p:pic>
        <p:nvPicPr>
          <p:cNvPr id="5" name="Paveikslėlis 4" descr="Paveikslėlis, kuriame yra tekstas, ekrano kopija, Šriftas&#10;&#10;Dirbtinio intelekto sugeneruotas turinys gali būti neteisingas.">
            <a:extLst>
              <a:ext uri="{FF2B5EF4-FFF2-40B4-BE49-F238E27FC236}">
                <a16:creationId xmlns:a16="http://schemas.microsoft.com/office/drawing/2014/main" id="{D757D83E-1298-8468-F20F-1094B018C5AC}"/>
              </a:ext>
            </a:extLst>
          </p:cNvPr>
          <p:cNvPicPr>
            <a:picLocks noChangeAspect="1"/>
          </p:cNvPicPr>
          <p:nvPr/>
        </p:nvPicPr>
        <p:blipFill>
          <a:blip r:embed="rId2"/>
          <a:stretch>
            <a:fillRect/>
          </a:stretch>
        </p:blipFill>
        <p:spPr>
          <a:xfrm>
            <a:off x="963560" y="3103711"/>
            <a:ext cx="9088118" cy="3010320"/>
          </a:xfrm>
          <a:prstGeom prst="rect">
            <a:avLst/>
          </a:prstGeom>
        </p:spPr>
      </p:pic>
    </p:spTree>
    <p:extLst>
      <p:ext uri="{BB962C8B-B14F-4D97-AF65-F5344CB8AC3E}">
        <p14:creationId xmlns:p14="http://schemas.microsoft.com/office/powerpoint/2010/main" val="642481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D2F4DDE-D160-A386-C562-E9187DA33054}"/>
              </a:ext>
            </a:extLst>
          </p:cNvPr>
          <p:cNvSpPr>
            <a:spLocks noGrp="1"/>
          </p:cNvSpPr>
          <p:nvPr>
            <p:ph type="title"/>
          </p:nvPr>
        </p:nvSpPr>
        <p:spPr/>
        <p:txBody>
          <a:bodyPr/>
          <a:lstStyle/>
          <a:p>
            <a:r>
              <a:rPr lang="lt-LT" dirty="0"/>
              <a:t>MULTI-CLASS LOGISTIC REGRESSION</a:t>
            </a:r>
          </a:p>
        </p:txBody>
      </p:sp>
      <p:sp>
        <p:nvSpPr>
          <p:cNvPr id="4" name="TextBox 3">
            <a:extLst>
              <a:ext uri="{FF2B5EF4-FFF2-40B4-BE49-F238E27FC236}">
                <a16:creationId xmlns:a16="http://schemas.microsoft.com/office/drawing/2014/main" id="{02F9D1BC-294B-0C87-9542-3E440A6567AC}"/>
              </a:ext>
            </a:extLst>
          </p:cNvPr>
          <p:cNvSpPr txBox="1"/>
          <p:nvPr/>
        </p:nvSpPr>
        <p:spPr>
          <a:xfrm>
            <a:off x="914399" y="1435114"/>
            <a:ext cx="9340645" cy="923330"/>
          </a:xfrm>
          <a:prstGeom prst="rect">
            <a:avLst/>
          </a:prstGeom>
          <a:noFill/>
        </p:spPr>
        <p:txBody>
          <a:bodyPr wrap="square">
            <a:spAutoFit/>
          </a:bodyPr>
          <a:lstStyle/>
          <a:p>
            <a:r>
              <a:rPr lang="en-US" dirty="0"/>
              <a:t>Can I use logistic regression to predict multiple classes? </a:t>
            </a:r>
          </a:p>
          <a:p>
            <a:r>
              <a:rPr lang="en-US" dirty="0"/>
              <a:t>• Logistic regression can also be used for multi-class classification problems </a:t>
            </a:r>
          </a:p>
          <a:p>
            <a:r>
              <a:rPr lang="en-US" dirty="0"/>
              <a:t>• These are less common in business settings and tend to be more challenging</a:t>
            </a:r>
            <a:endParaRPr lang="lt-LT" dirty="0"/>
          </a:p>
        </p:txBody>
      </p:sp>
      <p:pic>
        <p:nvPicPr>
          <p:cNvPr id="6" name="Paveikslėlis 5" descr="Paveikslėlis, kuriame yra tekstas, ekrano kopija, diagrama, dizainas&#10;&#10;Dirbtinio intelekto sugeneruotas turinys gali būti neteisingas.">
            <a:extLst>
              <a:ext uri="{FF2B5EF4-FFF2-40B4-BE49-F238E27FC236}">
                <a16:creationId xmlns:a16="http://schemas.microsoft.com/office/drawing/2014/main" id="{9E95027C-6107-EB4A-A3B3-ECBF30E6084E}"/>
              </a:ext>
            </a:extLst>
          </p:cNvPr>
          <p:cNvPicPr>
            <a:picLocks noChangeAspect="1"/>
          </p:cNvPicPr>
          <p:nvPr/>
        </p:nvPicPr>
        <p:blipFill>
          <a:blip r:embed="rId2"/>
          <a:stretch>
            <a:fillRect/>
          </a:stretch>
        </p:blipFill>
        <p:spPr>
          <a:xfrm>
            <a:off x="475465" y="2494941"/>
            <a:ext cx="11241069" cy="4363059"/>
          </a:xfrm>
          <a:prstGeom prst="rect">
            <a:avLst/>
          </a:prstGeom>
        </p:spPr>
      </p:pic>
    </p:spTree>
    <p:extLst>
      <p:ext uri="{BB962C8B-B14F-4D97-AF65-F5344CB8AC3E}">
        <p14:creationId xmlns:p14="http://schemas.microsoft.com/office/powerpoint/2010/main" val="1262304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D0A1B44-232F-4B40-083A-AB26A230B0FA}"/>
              </a:ext>
            </a:extLst>
          </p:cNvPr>
          <p:cNvSpPr>
            <a:spLocks noGrp="1"/>
          </p:cNvSpPr>
          <p:nvPr>
            <p:ph type="title"/>
          </p:nvPr>
        </p:nvSpPr>
        <p:spPr/>
        <p:txBody>
          <a:bodyPr/>
          <a:lstStyle/>
          <a:p>
            <a:r>
              <a:rPr lang="lt-LT" dirty="0"/>
              <a:t>MULTI-CLASS LOGISTIC REGRESSION</a:t>
            </a:r>
          </a:p>
        </p:txBody>
      </p:sp>
      <p:sp>
        <p:nvSpPr>
          <p:cNvPr id="4" name="TextBox 3">
            <a:extLst>
              <a:ext uri="{FF2B5EF4-FFF2-40B4-BE49-F238E27FC236}">
                <a16:creationId xmlns:a16="http://schemas.microsoft.com/office/drawing/2014/main" id="{A5246DC2-B5F6-E111-3174-890D268C30FA}"/>
              </a:ext>
            </a:extLst>
          </p:cNvPr>
          <p:cNvSpPr txBox="1"/>
          <p:nvPr/>
        </p:nvSpPr>
        <p:spPr>
          <a:xfrm>
            <a:off x="943896" y="1394936"/>
            <a:ext cx="10515599" cy="1200329"/>
          </a:xfrm>
          <a:prstGeom prst="rect">
            <a:avLst/>
          </a:prstGeom>
          <a:noFill/>
        </p:spPr>
        <p:txBody>
          <a:bodyPr wrap="square">
            <a:spAutoFit/>
          </a:bodyPr>
          <a:lstStyle/>
          <a:p>
            <a:r>
              <a:rPr lang="en-US" dirty="0"/>
              <a:t>Can I use logistic regression to predict multiple classes? </a:t>
            </a:r>
          </a:p>
          <a:p>
            <a:r>
              <a:rPr lang="en-US" dirty="0"/>
              <a:t>• </a:t>
            </a:r>
            <a:r>
              <a:rPr lang="en-US" dirty="0" err="1"/>
              <a:t>LogisticRegression</a:t>
            </a:r>
            <a:r>
              <a:rPr lang="en-US" dirty="0"/>
              <a:t>(</a:t>
            </a:r>
            <a:r>
              <a:rPr lang="en-US" dirty="0" err="1"/>
              <a:t>multi_class</a:t>
            </a:r>
            <a:r>
              <a:rPr lang="en-US" dirty="0"/>
              <a:t>=“auto”) </a:t>
            </a:r>
          </a:p>
          <a:p>
            <a:r>
              <a:rPr lang="en-US" dirty="0"/>
              <a:t>• Logistic regression is only capable of predicting binary outcomes, so </a:t>
            </a:r>
            <a:r>
              <a:rPr lang="en-US" dirty="0">
                <a:highlight>
                  <a:srgbClr val="FFFF00"/>
                </a:highlight>
              </a:rPr>
              <a:t>one model will be fit for each class </a:t>
            </a:r>
            <a:r>
              <a:rPr lang="en-US" dirty="0"/>
              <a:t>with the others grouped as the negative class</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7EA27657-CF58-88A4-D6E9-646A0FFFC968}"/>
              </a:ext>
            </a:extLst>
          </p:cNvPr>
          <p:cNvPicPr>
            <a:picLocks noChangeAspect="1"/>
          </p:cNvPicPr>
          <p:nvPr/>
        </p:nvPicPr>
        <p:blipFill>
          <a:blip r:embed="rId2"/>
          <a:stretch>
            <a:fillRect/>
          </a:stretch>
        </p:blipFill>
        <p:spPr>
          <a:xfrm>
            <a:off x="431416" y="2720499"/>
            <a:ext cx="10640910" cy="3743847"/>
          </a:xfrm>
          <a:prstGeom prst="rect">
            <a:avLst/>
          </a:prstGeom>
        </p:spPr>
      </p:pic>
    </p:spTree>
    <p:extLst>
      <p:ext uri="{BB962C8B-B14F-4D97-AF65-F5344CB8AC3E}">
        <p14:creationId xmlns:p14="http://schemas.microsoft.com/office/powerpoint/2010/main" val="1011194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7DCC3-0965-CF83-FB8A-99535223A1BD}"/>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8397C623-973E-FAA8-1C10-194DAC49E818}"/>
              </a:ext>
            </a:extLst>
          </p:cNvPr>
          <p:cNvSpPr>
            <a:spLocks noGrp="1"/>
          </p:cNvSpPr>
          <p:nvPr>
            <p:ph type="title"/>
          </p:nvPr>
        </p:nvSpPr>
        <p:spPr/>
        <p:txBody>
          <a:bodyPr/>
          <a:lstStyle/>
          <a:p>
            <a:r>
              <a:rPr lang="lt-LT" dirty="0"/>
              <a:t>MULTI-CLASS LOGISTIC REGRESSION</a:t>
            </a:r>
          </a:p>
        </p:txBody>
      </p:sp>
      <p:sp>
        <p:nvSpPr>
          <p:cNvPr id="4" name="TextBox 3">
            <a:extLst>
              <a:ext uri="{FF2B5EF4-FFF2-40B4-BE49-F238E27FC236}">
                <a16:creationId xmlns:a16="http://schemas.microsoft.com/office/drawing/2014/main" id="{B308F99A-E82F-92BF-E7A3-B7AE107F65C2}"/>
              </a:ext>
            </a:extLst>
          </p:cNvPr>
          <p:cNvSpPr txBox="1"/>
          <p:nvPr/>
        </p:nvSpPr>
        <p:spPr>
          <a:xfrm>
            <a:off x="943896" y="1394936"/>
            <a:ext cx="10515599" cy="1200329"/>
          </a:xfrm>
          <a:prstGeom prst="rect">
            <a:avLst/>
          </a:prstGeom>
          <a:noFill/>
        </p:spPr>
        <p:txBody>
          <a:bodyPr wrap="square">
            <a:spAutoFit/>
          </a:bodyPr>
          <a:lstStyle/>
          <a:p>
            <a:r>
              <a:rPr lang="en-US" dirty="0"/>
              <a:t>Can I use logistic regression to predict multiple classes? </a:t>
            </a:r>
          </a:p>
          <a:p>
            <a:r>
              <a:rPr lang="en-US" dirty="0"/>
              <a:t>• </a:t>
            </a:r>
            <a:r>
              <a:rPr lang="en-US" dirty="0" err="1"/>
              <a:t>LogisticRegression</a:t>
            </a:r>
            <a:r>
              <a:rPr lang="en-US" dirty="0"/>
              <a:t>(</a:t>
            </a:r>
            <a:r>
              <a:rPr lang="en-US" dirty="0" err="1"/>
              <a:t>multi_class</a:t>
            </a:r>
            <a:r>
              <a:rPr lang="en-US" dirty="0"/>
              <a:t>=“auto”) </a:t>
            </a:r>
          </a:p>
          <a:p>
            <a:r>
              <a:rPr lang="en-US" dirty="0"/>
              <a:t>• Logistic regression is only capable of predicting binary outcomes, so one model will be fit for each class with the others grouped as the negative class</a:t>
            </a:r>
            <a:endParaRPr lang="lt-LT" dirty="0"/>
          </a:p>
        </p:txBody>
      </p:sp>
      <p:pic>
        <p:nvPicPr>
          <p:cNvPr id="5" name="Paveikslėlis 4" descr="Paveikslėlis, kuriame yra tekstas, ekrano kopija, Šriftas&#10;&#10;Dirbtinio intelekto sugeneruotas turinys gali būti neteisingas.">
            <a:extLst>
              <a:ext uri="{FF2B5EF4-FFF2-40B4-BE49-F238E27FC236}">
                <a16:creationId xmlns:a16="http://schemas.microsoft.com/office/drawing/2014/main" id="{2CB141E2-F934-9860-899A-D2E5774E25EA}"/>
              </a:ext>
            </a:extLst>
          </p:cNvPr>
          <p:cNvPicPr>
            <a:picLocks noChangeAspect="1"/>
          </p:cNvPicPr>
          <p:nvPr/>
        </p:nvPicPr>
        <p:blipFill>
          <a:blip r:embed="rId2"/>
          <a:stretch>
            <a:fillRect/>
          </a:stretch>
        </p:blipFill>
        <p:spPr>
          <a:xfrm>
            <a:off x="646939" y="2653764"/>
            <a:ext cx="10898121" cy="3839111"/>
          </a:xfrm>
          <a:prstGeom prst="rect">
            <a:avLst/>
          </a:prstGeom>
        </p:spPr>
      </p:pic>
    </p:spTree>
    <p:extLst>
      <p:ext uri="{BB962C8B-B14F-4D97-AF65-F5344CB8AC3E}">
        <p14:creationId xmlns:p14="http://schemas.microsoft.com/office/powerpoint/2010/main" val="305519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55C74EF-CAAA-317F-FFC3-838FAF5FE5A9}"/>
              </a:ext>
            </a:extLst>
          </p:cNvPr>
          <p:cNvSpPr>
            <a:spLocks noGrp="1"/>
          </p:cNvSpPr>
          <p:nvPr>
            <p:ph type="title"/>
          </p:nvPr>
        </p:nvSpPr>
        <p:spPr/>
        <p:txBody>
          <a:bodyPr/>
          <a:lstStyle/>
          <a:p>
            <a:r>
              <a:rPr lang="en-US" dirty="0"/>
              <a:t>PROS &amp; CONS OF LOGISTIC REGRESSION</a:t>
            </a:r>
            <a:endParaRPr lang="lt-LT" dirty="0"/>
          </a:p>
        </p:txBody>
      </p:sp>
      <p:sp>
        <p:nvSpPr>
          <p:cNvPr id="4" name="TextBox 3">
            <a:extLst>
              <a:ext uri="{FF2B5EF4-FFF2-40B4-BE49-F238E27FC236}">
                <a16:creationId xmlns:a16="http://schemas.microsoft.com/office/drawing/2014/main" id="{09046EA2-E6A3-15D8-ED33-4246AE64D8DD}"/>
              </a:ext>
            </a:extLst>
          </p:cNvPr>
          <p:cNvSpPr txBox="1"/>
          <p:nvPr/>
        </p:nvSpPr>
        <p:spPr>
          <a:xfrm>
            <a:off x="838200" y="1374425"/>
            <a:ext cx="10183761" cy="1200329"/>
          </a:xfrm>
          <a:prstGeom prst="rect">
            <a:avLst/>
          </a:prstGeom>
          <a:noFill/>
        </p:spPr>
        <p:txBody>
          <a:bodyPr wrap="square">
            <a:spAutoFit/>
          </a:bodyPr>
          <a:lstStyle/>
          <a:p>
            <a:r>
              <a:rPr lang="en-US" dirty="0"/>
              <a:t>Logistic regression has some pros and cons that data scientists should be aware of when deciding whether it is the best model for the task at hand </a:t>
            </a:r>
          </a:p>
          <a:p>
            <a:r>
              <a:rPr lang="en-US" dirty="0"/>
              <a:t>	• In general, </a:t>
            </a:r>
            <a:r>
              <a:rPr lang="en-US" dirty="0">
                <a:highlight>
                  <a:srgbClr val="FFFF00"/>
                </a:highlight>
              </a:rPr>
              <a:t>logistic regression is a great choice for classification and is among the most commonly used algorithms; however, it tends to be less accurate than ensembled trees</a:t>
            </a:r>
            <a:endParaRPr lang="lt-LT" dirty="0">
              <a:highlight>
                <a:srgbClr val="FFFF00"/>
              </a:highlight>
            </a:endParaRPr>
          </a:p>
        </p:txBody>
      </p:sp>
      <p:pic>
        <p:nvPicPr>
          <p:cNvPr id="8" name="Paveikslėlis 7" descr="Paveikslėlis, kuriame yra tekstas, ekrano kopija, Šriftas&#10;&#10;Dirbtinio intelekto sugeneruotas turinys gali būti neteisingas.">
            <a:extLst>
              <a:ext uri="{FF2B5EF4-FFF2-40B4-BE49-F238E27FC236}">
                <a16:creationId xmlns:a16="http://schemas.microsoft.com/office/drawing/2014/main" id="{919B55A2-99DF-60D6-BAED-A129356B1717}"/>
              </a:ext>
            </a:extLst>
          </p:cNvPr>
          <p:cNvPicPr>
            <a:picLocks noChangeAspect="1"/>
          </p:cNvPicPr>
          <p:nvPr/>
        </p:nvPicPr>
        <p:blipFill>
          <a:blip r:embed="rId2"/>
          <a:stretch>
            <a:fillRect/>
          </a:stretch>
        </p:blipFill>
        <p:spPr>
          <a:xfrm>
            <a:off x="1071715" y="2699988"/>
            <a:ext cx="9520533" cy="3881834"/>
          </a:xfrm>
          <a:prstGeom prst="rect">
            <a:avLst/>
          </a:prstGeom>
        </p:spPr>
      </p:pic>
    </p:spTree>
    <p:extLst>
      <p:ext uri="{BB962C8B-B14F-4D97-AF65-F5344CB8AC3E}">
        <p14:creationId xmlns:p14="http://schemas.microsoft.com/office/powerpoint/2010/main" val="749357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71FCAC06-24C2-D43D-1C71-5D67EFB0B94E}"/>
              </a:ext>
            </a:extLst>
          </p:cNvPr>
          <p:cNvSpPr>
            <a:spLocks noGrp="1"/>
          </p:cNvSpPr>
          <p:nvPr>
            <p:ph type="title"/>
          </p:nvPr>
        </p:nvSpPr>
        <p:spPr/>
        <p:txBody>
          <a:bodyPr/>
          <a:lstStyle/>
          <a:p>
            <a:r>
              <a:rPr lang="lt-LT" dirty="0"/>
              <a:t>KEY TAKEAWAYS</a:t>
            </a:r>
          </a:p>
        </p:txBody>
      </p:sp>
      <p:sp>
        <p:nvSpPr>
          <p:cNvPr id="4" name="TextBox 3">
            <a:extLst>
              <a:ext uri="{FF2B5EF4-FFF2-40B4-BE49-F238E27FC236}">
                <a16:creationId xmlns:a16="http://schemas.microsoft.com/office/drawing/2014/main" id="{10F5D337-0093-1FC8-3049-B5087E888F1E}"/>
              </a:ext>
            </a:extLst>
          </p:cNvPr>
          <p:cNvSpPr txBox="1"/>
          <p:nvPr/>
        </p:nvSpPr>
        <p:spPr>
          <a:xfrm>
            <a:off x="648929" y="1388154"/>
            <a:ext cx="10117394" cy="3970318"/>
          </a:xfrm>
          <a:prstGeom prst="rect">
            <a:avLst/>
          </a:prstGeom>
          <a:noFill/>
        </p:spPr>
        <p:txBody>
          <a:bodyPr wrap="square">
            <a:spAutoFit/>
          </a:bodyPr>
          <a:lstStyle/>
          <a:p>
            <a:r>
              <a:rPr lang="en-US" dirty="0"/>
              <a:t>Logistic Regression is a linear classification model </a:t>
            </a:r>
          </a:p>
          <a:p>
            <a:r>
              <a:rPr lang="en-US" dirty="0"/>
              <a:t>	• It is highly interpretable and simple in structure, although it tends to underperform ensembled trees </a:t>
            </a:r>
          </a:p>
          <a:p>
            <a:endParaRPr lang="en-US" dirty="0"/>
          </a:p>
          <a:p>
            <a:r>
              <a:rPr lang="en-US" dirty="0"/>
              <a:t>The Logit Link Function constrains model outputs between 0 and 1 </a:t>
            </a:r>
          </a:p>
          <a:p>
            <a:r>
              <a:rPr lang="en-US" dirty="0"/>
              <a:t>	• Understanding this link is the key to being able to interpret model coefficients </a:t>
            </a:r>
          </a:p>
          <a:p>
            <a:endParaRPr lang="en-US" dirty="0"/>
          </a:p>
          <a:p>
            <a:r>
              <a:rPr lang="en-US" dirty="0"/>
              <a:t>Regularization hyperparameters can be tuned to reduce overfitting</a:t>
            </a:r>
          </a:p>
          <a:p>
            <a:r>
              <a:rPr lang="en-US" dirty="0"/>
              <a:t> 	• Regularization penalizes model complexity and has the impact of shrinking model coefficients, which can lead to better out of sample model performance </a:t>
            </a:r>
          </a:p>
          <a:p>
            <a:endParaRPr lang="en-US" dirty="0"/>
          </a:p>
          <a:p>
            <a:r>
              <a:rPr lang="en-US" dirty="0"/>
              <a:t>Multiclass logistic regression allows us to model more complex problems </a:t>
            </a:r>
          </a:p>
          <a:p>
            <a:r>
              <a:rPr lang="en-US" dirty="0"/>
              <a:t>	• Multiclass logistic regression models are actually a series of binary models, rather than a single model with three possible outcomes</a:t>
            </a:r>
            <a:endParaRPr lang="lt-LT" dirty="0"/>
          </a:p>
        </p:txBody>
      </p:sp>
    </p:spTree>
    <p:extLst>
      <p:ext uri="{BB962C8B-B14F-4D97-AF65-F5344CB8AC3E}">
        <p14:creationId xmlns:p14="http://schemas.microsoft.com/office/powerpoint/2010/main" val="4036520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38CFE75-7C13-AEDA-541F-9A413E29B89D}"/>
              </a:ext>
            </a:extLst>
          </p:cNvPr>
          <p:cNvSpPr>
            <a:spLocks noGrp="1"/>
          </p:cNvSpPr>
          <p:nvPr>
            <p:ph type="title"/>
          </p:nvPr>
        </p:nvSpPr>
        <p:spPr/>
        <p:txBody>
          <a:bodyPr/>
          <a:lstStyle/>
          <a:p>
            <a:r>
              <a:rPr lang="lt-LT" dirty="0"/>
              <a:t>MODEL SELECTION &amp; METRICS</a:t>
            </a:r>
          </a:p>
        </p:txBody>
      </p:sp>
      <p:sp>
        <p:nvSpPr>
          <p:cNvPr id="4" name="TextBox 3">
            <a:extLst>
              <a:ext uri="{FF2B5EF4-FFF2-40B4-BE49-F238E27FC236}">
                <a16:creationId xmlns:a16="http://schemas.microsoft.com/office/drawing/2014/main" id="{F51B6D5D-17EA-9CBF-E577-CFECEE5AE7F7}"/>
              </a:ext>
            </a:extLst>
          </p:cNvPr>
          <p:cNvSpPr txBox="1"/>
          <p:nvPr/>
        </p:nvSpPr>
        <p:spPr>
          <a:xfrm>
            <a:off x="838199" y="1581749"/>
            <a:ext cx="10154265" cy="1200329"/>
          </a:xfrm>
          <a:prstGeom prst="rect">
            <a:avLst/>
          </a:prstGeom>
          <a:noFill/>
        </p:spPr>
        <p:txBody>
          <a:bodyPr wrap="square">
            <a:spAutoFit/>
          </a:bodyPr>
          <a:lstStyle/>
          <a:p>
            <a:r>
              <a:rPr lang="en-US" b="1" dirty="0"/>
              <a:t>Model selection </a:t>
            </a:r>
            <a:r>
              <a:rPr lang="en-US" dirty="0"/>
              <a:t>describes the process of training multiple models, comparing performance on Test data, and choosing the best option </a:t>
            </a:r>
          </a:p>
          <a:p>
            <a:r>
              <a:rPr lang="en-US" dirty="0"/>
              <a:t>	• When comparing performance, it’s important to prioritize the </a:t>
            </a:r>
            <a:r>
              <a:rPr lang="en-US" b="1" dirty="0"/>
              <a:t>most relevant metrics </a:t>
            </a:r>
            <a:r>
              <a:rPr lang="en-US" dirty="0"/>
              <a:t>based on the business context and the problem you are trying to solve</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A234595A-6213-303D-7391-8E0ED69B8052}"/>
              </a:ext>
            </a:extLst>
          </p:cNvPr>
          <p:cNvPicPr>
            <a:picLocks noChangeAspect="1"/>
          </p:cNvPicPr>
          <p:nvPr/>
        </p:nvPicPr>
        <p:blipFill>
          <a:blip r:embed="rId2"/>
          <a:stretch>
            <a:fillRect/>
          </a:stretch>
        </p:blipFill>
        <p:spPr>
          <a:xfrm>
            <a:off x="975729" y="2907312"/>
            <a:ext cx="10555173" cy="3801005"/>
          </a:xfrm>
          <a:prstGeom prst="rect">
            <a:avLst/>
          </a:prstGeom>
        </p:spPr>
      </p:pic>
    </p:spTree>
    <p:extLst>
      <p:ext uri="{BB962C8B-B14F-4D97-AF65-F5344CB8AC3E}">
        <p14:creationId xmlns:p14="http://schemas.microsoft.com/office/powerpoint/2010/main" val="3367358231"/>
      </p:ext>
    </p:extLst>
  </p:cSld>
  <p:clrMapOvr>
    <a:masterClrMapping/>
  </p:clrMapOvr>
</p:sld>
</file>

<file path=ppt/theme/theme1.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TaxCatchAll xmlns="eb74e56a-683e-4ac4-9917-2810b22b5cab" xsi:nil="true"/>
    <AppVersion xmlns="662e3587-765d-4918-9d92-5b93275042d2" xsi:nil="true"/>
    <Self_Registration_Enabled xmlns="662e3587-765d-4918-9d92-5b93275042d2" xsi:nil="true"/>
    <Has_Teacher_Only_SectionGroup xmlns="662e3587-765d-4918-9d92-5b93275042d2" xsi:nil="true"/>
    <lcf76f155ced4ddcb4097134ff3c332f xmlns="662e3587-765d-4918-9d92-5b93275042d2">
      <Terms xmlns="http://schemas.microsoft.com/office/infopath/2007/PartnerControls"/>
    </lcf76f155ced4ddcb4097134ff3c332f>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A80A7636-5899-4035-84DB-FE51B2E2BDA4}"/>
</file>

<file path=customXml/itemProps2.xml><?xml version="1.0" encoding="utf-8"?>
<ds:datastoreItem xmlns:ds="http://schemas.openxmlformats.org/officeDocument/2006/customXml" ds:itemID="{A9E34EB2-E80A-4351-94AB-1522DF26C016}"/>
</file>

<file path=customXml/itemProps3.xml><?xml version="1.0" encoding="utf-8"?>
<ds:datastoreItem xmlns:ds="http://schemas.openxmlformats.org/officeDocument/2006/customXml" ds:itemID="{000EF5D1-3066-4C0D-A2AE-7EE473D6A64D}"/>
</file>

<file path=docProps/app.xml><?xml version="1.0" encoding="utf-8"?>
<Properties xmlns="http://schemas.openxmlformats.org/officeDocument/2006/extended-properties" xmlns:vt="http://schemas.openxmlformats.org/officeDocument/2006/docPropsVTypes">
  <TotalTime>1430</TotalTime>
  <Words>2302</Words>
  <Application>Microsoft Office PowerPoint</Application>
  <PresentationFormat>Plačiaekranė</PresentationFormat>
  <Paragraphs>193</Paragraphs>
  <Slides>45</Slides>
  <Notes>5</Notes>
  <HiddenSlides>0</HiddenSlides>
  <MMClips>0</MMClips>
  <ScaleCrop>false</ScaleCrop>
  <HeadingPairs>
    <vt:vector size="6" baseType="variant">
      <vt:variant>
        <vt:lpstr>Naudojami šriftai</vt:lpstr>
      </vt:variant>
      <vt:variant>
        <vt:i4>3</vt:i4>
      </vt:variant>
      <vt:variant>
        <vt:lpstr>Tema</vt:lpstr>
      </vt:variant>
      <vt:variant>
        <vt:i4>1</vt:i4>
      </vt:variant>
      <vt:variant>
        <vt:lpstr>Skaidrių pavadinimai</vt:lpstr>
      </vt:variant>
      <vt:variant>
        <vt:i4>45</vt:i4>
      </vt:variant>
    </vt:vector>
  </HeadingPairs>
  <TitlesOfParts>
    <vt:vector size="49" baseType="lpstr">
      <vt:lpstr>Aptos</vt:lpstr>
      <vt:lpstr>Aptos Display</vt:lpstr>
      <vt:lpstr>Arial</vt:lpstr>
      <vt:lpstr>„Office“ tema</vt:lpstr>
      <vt:lpstr>Python Machine Learning: Logistic Regression</vt:lpstr>
      <vt:lpstr>WHAT IS DATA SCIENCE?</vt:lpstr>
      <vt:lpstr>Common machine learning algorithms</vt:lpstr>
      <vt:lpstr>CLASSIFICATION 101</vt:lpstr>
      <vt:lpstr>GOALS OF CLASSIFICATION</vt:lpstr>
      <vt:lpstr>TYPES OF CLASSIFICATION</vt:lpstr>
      <vt:lpstr>CLASSIFICATION MODELING WORKFLOW</vt:lpstr>
      <vt:lpstr>KEY TAKEAWAYS</vt:lpstr>
      <vt:lpstr>K-NEAREST NEIGHBORS (KNN)</vt:lpstr>
      <vt:lpstr>LOGISTIC REGRESSION</vt:lpstr>
      <vt:lpstr>LOGISTIC REGRESSION</vt:lpstr>
      <vt:lpstr>LOGISTIC REGRESSION</vt:lpstr>
      <vt:lpstr>LOGISTIC VS LINEAR REGRESSION</vt:lpstr>
      <vt:lpstr>LOGISTIC EQUATION</vt:lpstr>
      <vt:lpstr>LOGISTIC EQUATION</vt:lpstr>
      <vt:lpstr>LOGISTIC EQUATION</vt:lpstr>
      <vt:lpstr>LIKELIHOOD </vt:lpstr>
      <vt:lpstr>LIKELIHOOD </vt:lpstr>
      <vt:lpstr>LIKELIHOOD </vt:lpstr>
      <vt:lpstr>LIKELIHOOD </vt:lpstr>
      <vt:lpstr>LIKELIHOOD </vt:lpstr>
      <vt:lpstr>MULTIPLE LOGISTIC REGRESSION</vt:lpstr>
      <vt:lpstr>MULTIPLE LOGISTIC REGRESSION</vt:lpstr>
      <vt:lpstr>MULTIPLE LOGISTIC REGRESSION </vt:lpstr>
      <vt:lpstr>MULTIPLE LOGISTIC REGRESSION</vt:lpstr>
      <vt:lpstr>LOGISTIC REGRESSION WORKFLOW</vt:lpstr>
      <vt:lpstr>FITTING A LOGISTIC REGRESSION MODEL</vt:lpstr>
      <vt:lpstr>SCORING MODEL ACCURACY</vt:lpstr>
      <vt:lpstr>INTERPRETING COEFFICIENTS </vt:lpstr>
      <vt:lpstr>INTERPRETING COEFFICIENTS </vt:lpstr>
      <vt:lpstr>FEATURE ENGINEERING &amp; SELECTION</vt:lpstr>
      <vt:lpstr>FEATURE ENGINEERING &amp; SELECTION</vt:lpstr>
      <vt:lpstr>REGULARIZATION</vt:lpstr>
      <vt:lpstr>THE COST FUNCTION</vt:lpstr>
      <vt:lpstr>TYPES OF REGULARIZED REGRESSION</vt:lpstr>
      <vt:lpstr>TUNING A REGULARIZED MODEL</vt:lpstr>
      <vt:lpstr>TUNING A REGULARIZED MODEL</vt:lpstr>
      <vt:lpstr>TUNING A REGULARIZED MODEL</vt:lpstr>
      <vt:lpstr>TUNING A REGULARIZED MODEL</vt:lpstr>
      <vt:lpstr>MULTI-CLASS LOGISTIC REGRESSION</vt:lpstr>
      <vt:lpstr>MULTI-CLASS LOGISTIC REGRESSION</vt:lpstr>
      <vt:lpstr>MULTI-CLASS LOGISTIC REGRESSION</vt:lpstr>
      <vt:lpstr>PROS &amp; CONS OF LOGISTIC REGRESSION</vt:lpstr>
      <vt:lpstr>KEY TAKEAWAYS</vt:lpstr>
      <vt:lpstr>MODEL SELECTION &amp;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Žydrūnė Kelpšaitė</dc:creator>
  <cp:lastModifiedBy>Žydrūnė Kelpšaitė</cp:lastModifiedBy>
  <cp:revision>2</cp:revision>
  <dcterms:created xsi:type="dcterms:W3CDTF">2026-01-30T17:15:02Z</dcterms:created>
  <dcterms:modified xsi:type="dcterms:W3CDTF">2026-03-05T12:55:04Z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