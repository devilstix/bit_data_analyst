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0" r:id="rId2"/>
    <p:sldId id="262" r:id="rId3"/>
    <p:sldId id="257" r:id="rId4"/>
    <p:sldId id="259" r:id="rId5"/>
    <p:sldId id="265" r:id="rId6"/>
    <p:sldId id="266" r:id="rId7"/>
    <p:sldId id="303" r:id="rId8"/>
    <p:sldId id="349" r:id="rId9"/>
    <p:sldId id="348" r:id="rId10"/>
    <p:sldId id="354" r:id="rId11"/>
    <p:sldId id="356" r:id="rId12"/>
    <p:sldId id="355" r:id="rId13"/>
    <p:sldId id="358" r:id="rId14"/>
    <p:sldId id="360" r:id="rId15"/>
    <p:sldId id="359" r:id="rId16"/>
    <p:sldId id="361" r:id="rId17"/>
    <p:sldId id="362" r:id="rId18"/>
    <p:sldId id="363" r:id="rId19"/>
    <p:sldId id="365" r:id="rId20"/>
    <p:sldId id="366" r:id="rId21"/>
    <p:sldId id="369" r:id="rId22"/>
    <p:sldId id="367" r:id="rId23"/>
    <p:sldId id="370" r:id="rId24"/>
    <p:sldId id="371" r:id="rId25"/>
    <p:sldId id="368" r:id="rId26"/>
    <p:sldId id="372" r:id="rId27"/>
    <p:sldId id="364" r:id="rId28"/>
    <p:sldId id="374" r:id="rId29"/>
    <p:sldId id="373" r:id="rId30"/>
    <p:sldId id="375" r:id="rId31"/>
    <p:sldId id="376" r:id="rId32"/>
    <p:sldId id="377" r:id="rId33"/>
    <p:sldId id="378" r:id="rId34"/>
    <p:sldId id="379" r:id="rId35"/>
    <p:sldId id="380" r:id="rId36"/>
    <p:sldId id="381" r:id="rId37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013E3-6065-4FB0-B340-0275D189C798}" v="1" dt="2026-03-16T17:12:33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7482" autoAdjust="0"/>
  </p:normalViewPr>
  <p:slideViewPr>
    <p:cSldViewPr snapToGrid="0">
      <p:cViewPr varScale="1">
        <p:scale>
          <a:sx n="77" d="100"/>
          <a:sy n="77" d="100"/>
        </p:scale>
        <p:origin x="180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custSel addSld delSld modSld sldOrd">
      <pc:chgData name="Žydrūnė Kelpšaitė" userId="e943768126acec1d" providerId="LiveId" clId="{31712FD7-FA85-48BA-9D35-5382388CFC74}" dt="2026-03-16T17:41:46.289" v="45"/>
      <pc:docMkLst>
        <pc:docMk/>
      </pc:docMkLst>
      <pc:sldChg chg="addSp delSp modSp mod">
        <pc:chgData name="Žydrūnė Kelpšaitė" userId="e943768126acec1d" providerId="LiveId" clId="{31712FD7-FA85-48BA-9D35-5382388CFC74}" dt="2026-02-22T16:29:59.624" v="8" actId="1076"/>
        <pc:sldMkLst>
          <pc:docMk/>
          <pc:sldMk cId="4182519725" sldId="260"/>
        </pc:sldMkLst>
        <pc:picChg chg="add mod">
          <ac:chgData name="Žydrūnė Kelpšaitė" userId="e943768126acec1d" providerId="LiveId" clId="{31712FD7-FA85-48BA-9D35-5382388CFC74}" dt="2026-02-22T16:29:59.624" v="8" actId="1076"/>
          <ac:picMkLst>
            <pc:docMk/>
            <pc:sldMk cId="4182519725" sldId="260"/>
            <ac:picMk id="5" creationId="{11D47809-8E08-86B4-1D54-2A50BBDA881F}"/>
          </ac:picMkLst>
        </pc:picChg>
      </pc:sldChg>
      <pc:sldChg chg="delSp modSp add mod">
        <pc:chgData name="Žydrūnė Kelpšaitė" userId="e943768126acec1d" providerId="LiveId" clId="{31712FD7-FA85-48BA-9D35-5382388CFC74}" dt="2026-02-23T07:30:05.317" v="13" actId="1076"/>
        <pc:sldMkLst>
          <pc:docMk/>
          <pc:sldMk cId="3323815739" sldId="348"/>
        </pc:sldMkLst>
        <pc:picChg chg="mod">
          <ac:chgData name="Žydrūnė Kelpšaitė" userId="e943768126acec1d" providerId="LiveId" clId="{31712FD7-FA85-48BA-9D35-5382388CFC74}" dt="2026-02-23T07:30:05.317" v="13" actId="1076"/>
          <ac:picMkLst>
            <pc:docMk/>
            <pc:sldMk cId="3323815739" sldId="348"/>
            <ac:picMk id="6" creationId="{EC6CAF3B-C537-3F19-693E-170A3247C05D}"/>
          </ac:picMkLst>
        </pc:picChg>
      </pc:sldChg>
      <pc:sldChg chg="modSp add mod">
        <pc:chgData name="Žydrūnė Kelpšaitė" userId="e943768126acec1d" providerId="LiveId" clId="{31712FD7-FA85-48BA-9D35-5382388CFC74}" dt="2026-02-22T16:31:40.698" v="9" actId="113"/>
        <pc:sldMkLst>
          <pc:docMk/>
          <pc:sldMk cId="2709756966" sldId="354"/>
        </pc:sldMkLst>
        <pc:spChg chg="mod">
          <ac:chgData name="Žydrūnė Kelpšaitė" userId="e943768126acec1d" providerId="LiveId" clId="{31712FD7-FA85-48BA-9D35-5382388CFC74}" dt="2026-02-22T16:31:40.698" v="9" actId="113"/>
          <ac:spMkLst>
            <pc:docMk/>
            <pc:sldMk cId="2709756966" sldId="354"/>
            <ac:spMk id="4" creationId="{977FAC5F-630B-7019-0E45-E8AEA0F3EC15}"/>
          </ac:spMkLst>
        </pc:spChg>
      </pc:sldChg>
      <pc:sldChg chg="add modNotesTx">
        <pc:chgData name="Žydrūnė Kelpšaitė" userId="e943768126acec1d" providerId="LiveId" clId="{31712FD7-FA85-48BA-9D35-5382388CFC74}" dt="2026-03-16T17:33:28.067" v="38" actId="113"/>
        <pc:sldMkLst>
          <pc:docMk/>
          <pc:sldMk cId="1464548092" sldId="355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1208273078" sldId="356"/>
        </pc:sldMkLst>
      </pc:sldChg>
      <pc:sldChg chg="modSp add mod">
        <pc:chgData name="Žydrūnė Kelpšaitė" userId="e943768126acec1d" providerId="LiveId" clId="{31712FD7-FA85-48BA-9D35-5382388CFC74}" dt="2026-02-23T08:34:16.796" v="17" actId="13926"/>
        <pc:sldMkLst>
          <pc:docMk/>
          <pc:sldMk cId="3437416538" sldId="358"/>
        </pc:sldMkLst>
        <pc:spChg chg="mod">
          <ac:chgData name="Žydrūnė Kelpšaitė" userId="e943768126acec1d" providerId="LiveId" clId="{31712FD7-FA85-48BA-9D35-5382388CFC74}" dt="2026-02-23T08:34:16.796" v="17" actId="13926"/>
          <ac:spMkLst>
            <pc:docMk/>
            <pc:sldMk cId="3437416538" sldId="358"/>
            <ac:spMk id="4" creationId="{CE011736-1F76-27D6-5A02-56A1B7E9868A}"/>
          </ac:spMkLst>
        </pc:spChg>
      </pc:sldChg>
      <pc:sldChg chg="add ord">
        <pc:chgData name="Žydrūnė Kelpšaitė" userId="e943768126acec1d" providerId="LiveId" clId="{31712FD7-FA85-48BA-9D35-5382388CFC74}" dt="2026-03-16T17:41:46.289" v="45"/>
        <pc:sldMkLst>
          <pc:docMk/>
          <pc:sldMk cId="213726809" sldId="359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2764339903" sldId="360"/>
        </pc:sldMkLst>
      </pc:sldChg>
      <pc:sldChg chg="modSp add mod">
        <pc:chgData name="Žydrūnė Kelpšaitė" userId="e943768126acec1d" providerId="LiveId" clId="{31712FD7-FA85-48BA-9D35-5382388CFC74}" dt="2026-03-16T17:41:07.728" v="39" actId="1076"/>
        <pc:sldMkLst>
          <pc:docMk/>
          <pc:sldMk cId="3737680399" sldId="361"/>
        </pc:sldMkLst>
        <pc:spChg chg="mod">
          <ac:chgData name="Žydrūnė Kelpšaitė" userId="e943768126acec1d" providerId="LiveId" clId="{31712FD7-FA85-48BA-9D35-5382388CFC74}" dt="2026-03-16T17:41:07.728" v="39" actId="1076"/>
          <ac:spMkLst>
            <pc:docMk/>
            <pc:sldMk cId="3737680399" sldId="361"/>
            <ac:spMk id="2" creationId="{713AEEE2-6FA3-CFB3-1319-77AC308D22D8}"/>
          </ac:spMkLst>
        </pc:spChg>
        <pc:spChg chg="mod">
          <ac:chgData name="Žydrūnė Kelpšaitė" userId="e943768126acec1d" providerId="LiveId" clId="{31712FD7-FA85-48BA-9D35-5382388CFC74}" dt="2026-02-23T08:40:41.933" v="18" actId="13926"/>
          <ac:spMkLst>
            <pc:docMk/>
            <pc:sldMk cId="3737680399" sldId="361"/>
            <ac:spMk id="4" creationId="{AB930A04-6F66-D7AA-4083-1D7E7B310D1D}"/>
          </ac:spMkLst>
        </pc:spChg>
      </pc:sldChg>
      <pc:sldChg chg="modSp add mod">
        <pc:chgData name="Žydrūnė Kelpšaitė" userId="e943768126acec1d" providerId="LiveId" clId="{31712FD7-FA85-48BA-9D35-5382388CFC74}" dt="2026-02-23T08:43:36.008" v="22" actId="13926"/>
        <pc:sldMkLst>
          <pc:docMk/>
          <pc:sldMk cId="333023342" sldId="362"/>
        </pc:sldMkLst>
        <pc:spChg chg="mod">
          <ac:chgData name="Žydrūnė Kelpšaitė" userId="e943768126acec1d" providerId="LiveId" clId="{31712FD7-FA85-48BA-9D35-5382388CFC74}" dt="2026-02-23T08:43:36.008" v="22" actId="13926"/>
          <ac:spMkLst>
            <pc:docMk/>
            <pc:sldMk cId="333023342" sldId="362"/>
            <ac:spMk id="4" creationId="{FC1E549F-7D84-93A3-FD8D-577F3293DB9C}"/>
          </ac:spMkLst>
        </pc:spChg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450912909" sldId="363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2144144770" sldId="364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859549567" sldId="365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1141766078" sldId="366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1052500940" sldId="367"/>
        </pc:sldMkLst>
      </pc:sldChg>
      <pc:sldChg chg="modSp add mod">
        <pc:chgData name="Žydrūnė Kelpšaitė" userId="e943768126acec1d" providerId="LiveId" clId="{31712FD7-FA85-48BA-9D35-5382388CFC74}" dt="2026-02-23T08:50:03.645" v="23" actId="113"/>
        <pc:sldMkLst>
          <pc:docMk/>
          <pc:sldMk cId="1316889324" sldId="368"/>
        </pc:sldMkLst>
        <pc:spChg chg="mod">
          <ac:chgData name="Žydrūnė Kelpšaitė" userId="e943768126acec1d" providerId="LiveId" clId="{31712FD7-FA85-48BA-9D35-5382388CFC74}" dt="2026-02-23T08:50:03.645" v="23" actId="113"/>
          <ac:spMkLst>
            <pc:docMk/>
            <pc:sldMk cId="1316889324" sldId="368"/>
            <ac:spMk id="4" creationId="{1EB4A524-24D7-F8EF-E7A5-6878192764E6}"/>
          </ac:spMkLst>
        </pc:spChg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1504454269" sldId="369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528856460" sldId="370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2404890477" sldId="371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1045604325" sldId="372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2430179863" sldId="373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3175609303" sldId="374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3527507254" sldId="375"/>
        </pc:sldMkLst>
      </pc:sldChg>
      <pc:sldChg chg="modSp add mod">
        <pc:chgData name="Žydrūnė Kelpšaitė" userId="e943768126acec1d" providerId="LiveId" clId="{31712FD7-FA85-48BA-9D35-5382388CFC74}" dt="2026-02-23T09:30:08.342" v="25" actId="20577"/>
        <pc:sldMkLst>
          <pc:docMk/>
          <pc:sldMk cId="3874583164" sldId="376"/>
        </pc:sldMkLst>
        <pc:spChg chg="mod">
          <ac:chgData name="Žydrūnė Kelpšaitė" userId="e943768126acec1d" providerId="LiveId" clId="{31712FD7-FA85-48BA-9D35-5382388CFC74}" dt="2026-02-23T09:30:08.342" v="25" actId="20577"/>
          <ac:spMkLst>
            <pc:docMk/>
            <pc:sldMk cId="3874583164" sldId="376"/>
            <ac:spMk id="4" creationId="{CF43596A-74A9-DBE3-4D21-9AA50495031B}"/>
          </ac:spMkLst>
        </pc:spChg>
      </pc:sldChg>
      <pc:sldChg chg="modSp add mod">
        <pc:chgData name="Žydrūnė Kelpšaitė" userId="e943768126acec1d" providerId="LiveId" clId="{31712FD7-FA85-48BA-9D35-5382388CFC74}" dt="2026-02-23T09:32:29.382" v="27" actId="113"/>
        <pc:sldMkLst>
          <pc:docMk/>
          <pc:sldMk cId="139735207" sldId="377"/>
        </pc:sldMkLst>
        <pc:spChg chg="mod">
          <ac:chgData name="Žydrūnė Kelpšaitė" userId="e943768126acec1d" providerId="LiveId" clId="{31712FD7-FA85-48BA-9D35-5382388CFC74}" dt="2026-02-23T09:32:29.382" v="27" actId="113"/>
          <ac:spMkLst>
            <pc:docMk/>
            <pc:sldMk cId="139735207" sldId="377"/>
            <ac:spMk id="4" creationId="{AE81E61C-C281-20D7-902F-541A87E39388}"/>
          </ac:spMkLst>
        </pc:spChg>
      </pc:sldChg>
      <pc:sldChg chg="modSp add mod">
        <pc:chgData name="Žydrūnė Kelpšaitė" userId="e943768126acec1d" providerId="LiveId" clId="{31712FD7-FA85-48BA-9D35-5382388CFC74}" dt="2026-02-23T09:34:51.502" v="28" actId="14100"/>
        <pc:sldMkLst>
          <pc:docMk/>
          <pc:sldMk cId="2973975888" sldId="378"/>
        </pc:sldMkLst>
        <pc:picChg chg="mod">
          <ac:chgData name="Žydrūnė Kelpšaitė" userId="e943768126acec1d" providerId="LiveId" clId="{31712FD7-FA85-48BA-9D35-5382388CFC74}" dt="2026-02-23T09:34:51.502" v="28" actId="14100"/>
          <ac:picMkLst>
            <pc:docMk/>
            <pc:sldMk cId="2973975888" sldId="378"/>
            <ac:picMk id="6" creationId="{EFFAB592-83DB-84F6-D9C0-19F1B668027B}"/>
          </ac:picMkLst>
        </pc:picChg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4257803821" sldId="379"/>
        </pc:sldMkLst>
      </pc:sldChg>
      <pc:sldChg chg="add">
        <pc:chgData name="Žydrūnė Kelpšaitė" userId="e943768126acec1d" providerId="LiveId" clId="{31712FD7-FA85-48BA-9D35-5382388CFC74}" dt="2026-02-22T16:29:11.843" v="4"/>
        <pc:sldMkLst>
          <pc:docMk/>
          <pc:sldMk cId="2052256373" sldId="380"/>
        </pc:sldMkLst>
      </pc:sldChg>
      <pc:sldChg chg="add del">
        <pc:chgData name="Žydrūnė Kelpšaitė" userId="e943768126acec1d" providerId="LiveId" clId="{31712FD7-FA85-48BA-9D35-5382388CFC74}" dt="2026-02-22T17:01:22.761" v="12"/>
        <pc:sldMkLst>
          <pc:docMk/>
          <pc:sldMk cId="2654940073" sldId="3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53083-EE62-49A4-8C0D-96D5B845E64D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F1911-7354-407C-8455-367556349B15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644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Popular approaches to anomaly detection include: </a:t>
            </a:r>
          </a:p>
          <a:p>
            <a:r>
              <a:rPr lang="en-US" b="1" dirty="0"/>
              <a:t>• Statistical analysis</a:t>
            </a:r>
            <a:r>
              <a:rPr lang="en-US" dirty="0"/>
              <a:t>: flagging data points more than 3 standard deviations away from the mean </a:t>
            </a:r>
          </a:p>
          <a:p>
            <a:r>
              <a:rPr lang="en-US" b="1" dirty="0"/>
              <a:t>• Data visualization: </a:t>
            </a:r>
            <a:r>
              <a:rPr lang="en-US" dirty="0"/>
              <a:t>visually identifying distant points by creating histograms, scatterplots, or boxplots </a:t>
            </a:r>
          </a:p>
          <a:p>
            <a:r>
              <a:rPr lang="en-US" b="1" dirty="0"/>
              <a:t>• Supervised learning: </a:t>
            </a:r>
            <a:r>
              <a:rPr lang="en-US" dirty="0"/>
              <a:t>if you have information on past anomalies, you can apply classification algorithms like Random Forests to identify new ones </a:t>
            </a:r>
          </a:p>
          <a:p>
            <a:r>
              <a:rPr lang="en-US" b="1" dirty="0"/>
              <a:t>• Unsupervised learning: </a:t>
            </a:r>
            <a:r>
              <a:rPr lang="en-US" dirty="0"/>
              <a:t>if you have unlabeled data, you need algorithms like Isolation Forests and DBSCAN</a:t>
            </a:r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F1911-7354-407C-8455-367556349B15}" type="slidenum">
              <a:rPr lang="lt-LT" smtClean="0"/>
              <a:t>12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3707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93AB5EF-6B5F-ACFB-6C6D-FA31DA170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AA7A3585-116A-28BB-125E-20D897818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D4F618C5-73DE-FAAA-9CC4-7D800A68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1B8F9A60-F596-2591-A3EB-004275BC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3D60BAD2-F37E-D8C3-9067-BDBB6993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99719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D02571B-C3B5-4F55-65E5-9AF8A8593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9DC9DB81-A158-0399-4F98-7A0359157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D462D09-DBC8-BB43-6C73-4225BE0A4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C35F0A0-14D3-45D4-C563-E3C9BB5E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950C23AE-B3EC-DD65-6B68-F5DA71BA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752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D81EB92-CFEA-CE70-D2CB-7CA4457C7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2A1F0D1E-66FB-EDE9-C9DE-DA6E11B07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4EB2DA4C-B184-E72A-6887-3356FBE7F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DE14000D-CA2B-C147-EB84-0349A9766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C0B6265-21E8-D0A7-26B4-338A5D3C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63389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1D07088-39AB-104D-0225-189CB43D8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0210B43B-50EC-3EE7-E6A4-069F39745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D73F7631-5846-D978-4C62-5054C3DA7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C4DC9898-72BA-9BA7-5A12-3F849162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8A31FAD6-D938-BF00-E394-8DF9F3F8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BB200594-9DED-48F3-5393-A126C059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95415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B3AAD30-C6D2-3737-22E7-83514695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A8EA7E1E-6425-909D-044E-650F6F7AA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F531CFDB-0761-BB5B-AD82-1A87FE90C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C0BFFCC7-A45E-D8B0-CA3E-360088594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B7D4207F-8018-0BED-EFBD-78F51C5BC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860E1263-516F-1752-14FE-053353CE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030558BC-DD3F-1C05-7777-D7B1E314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2E7FDEEB-1EF6-0270-0E99-9E072CB63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6581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762FCF0-5BF0-2245-3031-97E4F8C5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79CB8673-23B3-ED38-A184-7D61C18D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D3B0FAAC-0F16-C92E-D178-1369899B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2FD31876-93BC-4FD2-751D-A5A7CEEC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8810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B3E168CD-03D8-7EFB-0256-0D12DA52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66FE637A-8D43-3972-276F-94EA9DE0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C8B29FB4-957D-E0FD-8154-7DD8B143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61002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66F36F-031E-0847-5ADF-9C1F239A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FB98109-249E-4014-EA8C-6D0B09750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4A7BC854-855F-8063-56C4-0E44C170F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991B6309-19E8-D11D-6D17-2CE3253C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533A68E0-CBBA-8ED4-0157-F09B6929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9F32A747-797D-C2AF-19B0-1B4AE9F4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38026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A0CA3C1-1729-2245-0AD7-A246108E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9D12CB35-EC9B-E745-3EBE-B14458EF9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2C98CC2F-EC1D-D9A4-3E8C-2AD710A6D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CE268519-25FF-D320-518D-A67FFFB4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DFBD949C-C6F1-2F49-F500-4C6859BF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0269386D-C6E6-4E12-547D-8997DE12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7334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95ED226-BADD-FF62-B4AB-2A42CE4E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346476DC-425D-DBA6-9913-F46BA1054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DFF0406-6709-D8D8-1E60-1459CB0B4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12DFB000-9ED4-8E2F-F272-6B47BB42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19D64B03-AFAE-9F53-2E4B-E6128084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91939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EDB1386A-8741-442A-031B-74255946A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770C33A8-A3BA-726D-14D3-7339AA42E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0742D7A4-A271-EF2F-17C4-820B384B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4422E5F2-2DDF-CB74-27E4-DA2E9AE4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9189827F-6873-DC48-7EF2-7C2BD97C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9310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D89D0249-6CF1-2A6D-BA39-0553FEA19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0F896552-3523-D00F-7F15-72231631E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61BC822-194C-CA54-855F-F64E5F6A9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4C509-4FC9-4EE0-9201-F9F538BD35AE}" type="datetimeFigureOut">
              <a:rPr lang="lt-LT" smtClean="0"/>
              <a:t>2026-03-16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15695E55-4479-8356-B78E-4D4ECCEC7F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6B7341C4-1DFB-CC8D-FBF5-CBAE6FD01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F1DCD-C392-4C65-BB44-D22CA8F35346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841830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51DE627-F873-EE20-9A3B-D8D2E34FD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Python Machine Learning</a:t>
            </a:r>
            <a:endParaRPr lang="lt-LT" dirty="0"/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DF5DE917-4BE6-0DC6-27ED-48EBAD175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t-LT" dirty="0"/>
              <a:t>Žydrūnė Kelpšaitė</a:t>
            </a:r>
          </a:p>
          <a:p>
            <a:r>
              <a:rPr lang="lt-LT" dirty="0"/>
              <a:t>Data </a:t>
            </a:r>
            <a:r>
              <a:rPr lang="lt-LT" dirty="0" err="1"/>
              <a:t>Analyst</a:t>
            </a:r>
            <a:endParaRPr lang="lt-LT" dirty="0"/>
          </a:p>
        </p:txBody>
      </p:sp>
      <p:pic>
        <p:nvPicPr>
          <p:cNvPr id="7" name="Paveikslėlis 6">
            <a:extLst>
              <a:ext uri="{FF2B5EF4-FFF2-40B4-BE49-F238E27FC236}">
                <a16:creationId xmlns:a16="http://schemas.microsoft.com/office/drawing/2014/main" id="{9E79B567-32F2-69DD-9EA7-B800DE5C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86" y="522204"/>
            <a:ext cx="10698068" cy="1200318"/>
          </a:xfrm>
          <a:prstGeom prst="rect">
            <a:avLst/>
          </a:prstGeom>
        </p:spPr>
      </p:pic>
      <p:pic>
        <p:nvPicPr>
          <p:cNvPr id="5" name="Paveikslėlis 4" descr="Paveikslėlis, kuriame yra Šriftas, Grafika, ekrano kopija, grafinis dizainas&#10;&#10;Dirbtinio intelekto sugeneruotas turinys gali būti neteisingas.">
            <a:extLst>
              <a:ext uri="{FF2B5EF4-FFF2-40B4-BE49-F238E27FC236}">
                <a16:creationId xmlns:a16="http://schemas.microsoft.com/office/drawing/2014/main" id="{11D47809-8E08-86B4-1D54-2A50BBDA8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020" y="4827178"/>
            <a:ext cx="8849960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51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ABA132-3969-2C1F-649A-A733DE7D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lt-LT" dirty="0" err="1"/>
              <a:t>ommon</a:t>
            </a:r>
            <a:r>
              <a:rPr lang="lt-LT" dirty="0"/>
              <a:t> </a:t>
            </a:r>
            <a:r>
              <a:rPr lang="lt-LT" dirty="0" err="1"/>
              <a:t>machine</a:t>
            </a:r>
            <a:r>
              <a:rPr lang="lt-LT" dirty="0"/>
              <a:t> </a:t>
            </a:r>
            <a:r>
              <a:rPr lang="lt-LT" dirty="0" err="1"/>
              <a:t>learning</a:t>
            </a:r>
            <a:r>
              <a:rPr lang="lt-LT" dirty="0"/>
              <a:t> </a:t>
            </a:r>
            <a:r>
              <a:rPr lang="lt-LT" dirty="0" err="1"/>
              <a:t>algorithms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DD8A479-8FC6-C9BE-EF4C-F964D5FA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087" y="1690688"/>
            <a:ext cx="7487695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6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518DA7C-CE0F-B1DC-315B-638B26FC5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UNSUPERVISED LEARNING 101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923C2-2411-204F-1F53-FB5A29B090DD}"/>
              </a:ext>
            </a:extLst>
          </p:cNvPr>
          <p:cNvSpPr txBox="1"/>
          <p:nvPr/>
        </p:nvSpPr>
        <p:spPr>
          <a:xfrm>
            <a:off x="914399" y="1571916"/>
            <a:ext cx="101763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Unsupervised learning is about </a:t>
            </a:r>
            <a:r>
              <a:rPr lang="en-US" b="1" dirty="0"/>
              <a:t>finding insights &amp; patterns </a:t>
            </a:r>
            <a:r>
              <a:rPr lang="en-US" dirty="0"/>
              <a:t>hidden in the data </a:t>
            </a:r>
          </a:p>
          <a:p>
            <a:r>
              <a:rPr lang="en-US" dirty="0"/>
              <a:t>• Unlike regression or classification, we don’t care about splitting our data into train / test sets and making predictions, we just care about understanding the relationships in our data </a:t>
            </a:r>
            <a:endParaRPr lang="lt-LT" dirty="0"/>
          </a:p>
        </p:txBody>
      </p:sp>
      <p:pic>
        <p:nvPicPr>
          <p:cNvPr id="8" name="Paveikslėlis 7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766FD9EF-DD8A-5B44-DA06-3B6CBBDD2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104" y="2897479"/>
            <a:ext cx="6239928" cy="341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6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EC0CCCE-AC17-715B-53EA-29447C1E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UNSUPERVISED LEARNING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161AD-193D-73A6-2EB8-74FD6EAC3FCC}"/>
              </a:ext>
            </a:extLst>
          </p:cNvPr>
          <p:cNvSpPr txBox="1"/>
          <p:nvPr/>
        </p:nvSpPr>
        <p:spPr>
          <a:xfrm>
            <a:off x="953728" y="1515468"/>
            <a:ext cx="9753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 are two popular categories of unsupervised learning techniques:</a:t>
            </a:r>
            <a:endParaRPr lang="lt-LT" dirty="0"/>
          </a:p>
        </p:txBody>
      </p:sp>
      <p:pic>
        <p:nvPicPr>
          <p:cNvPr id="6" name="Paveikslėlis 5" descr="Paveikslėlis, kuriame yra tekstas, elektronika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EABAF16-E812-06F6-5264-9284262A9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71" y="2170922"/>
            <a:ext cx="7777996" cy="432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7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4A05502-CB11-0184-5FA5-91DD4F393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UNSUPERVISED LEARNING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25FC7C-F9B7-1AB8-ACEC-81A509489299}"/>
              </a:ext>
            </a:extLst>
          </p:cNvPr>
          <p:cNvSpPr txBox="1"/>
          <p:nvPr/>
        </p:nvSpPr>
        <p:spPr>
          <a:xfrm>
            <a:off x="1366684" y="14368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two common applications of unsupervised learning techniques: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14E1DD77-591D-414C-8D73-320047D4E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626" y="2219783"/>
            <a:ext cx="7931947" cy="385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26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FCB2FE0-94D9-EEDF-B8FA-E25EC4FE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lt-LT" dirty="0" err="1"/>
              <a:t>nsupervised</a:t>
            </a:r>
            <a:r>
              <a:rPr lang="lt-LT" dirty="0"/>
              <a:t> </a:t>
            </a:r>
            <a:r>
              <a:rPr lang="lt-LT" dirty="0" err="1"/>
              <a:t>learning</a:t>
            </a:r>
            <a:r>
              <a:rPr lang="lt-LT" dirty="0"/>
              <a:t> </a:t>
            </a:r>
            <a:r>
              <a:rPr lang="lt-LT" dirty="0" err="1"/>
              <a:t>techniques</a:t>
            </a:r>
            <a:r>
              <a:rPr lang="lt-LT" dirty="0"/>
              <a:t> &amp; </a:t>
            </a:r>
            <a:r>
              <a:rPr lang="lt-LT" dirty="0" err="1"/>
              <a:t>applications</a:t>
            </a:r>
            <a:endParaRPr lang="lt-LT" dirty="0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268AE77-9982-846A-B106-68DC4CD15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12" y="2052649"/>
            <a:ext cx="8665696" cy="408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3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135C0B5-5A39-07DB-F825-A8B125C3D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CLUSTERING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D2C49-3F35-C8A0-34FE-4D7FB06ECE2F}"/>
              </a:ext>
            </a:extLst>
          </p:cNvPr>
          <p:cNvSpPr txBox="1"/>
          <p:nvPr/>
        </p:nvSpPr>
        <p:spPr>
          <a:xfrm>
            <a:off x="1052051" y="1780938"/>
            <a:ext cx="9271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general clustering workflow consists of the following steps: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250A3517-6CF4-3B2C-5D18-92F5B59A6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051" y="2357737"/>
            <a:ext cx="9349539" cy="3339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C9D771-B418-5202-AB32-8C33817EC56A}"/>
              </a:ext>
            </a:extLst>
          </p:cNvPr>
          <p:cNvSpPr txBox="1"/>
          <p:nvPr/>
        </p:nvSpPr>
        <p:spPr>
          <a:xfrm>
            <a:off x="1347020" y="5764332"/>
            <a:ext cx="98715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Remember, there’s no “right” answer or single optimization metric when it comes to clustering; the best outputs are the ones which help you answer the question at hand and make practical, data-driven business decisions 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74189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A49250A-D19A-2823-5627-921BFB3E6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CLUSTERING ALGORITHMS RECAP</a:t>
            </a:r>
          </a:p>
        </p:txBody>
      </p:sp>
      <p:pic>
        <p:nvPicPr>
          <p:cNvPr id="4" name="Paveikslėlis 3" descr="Paveikslėlis, kuriame yra tekstas, Šriftas, skaičiu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809CD1B9-B85B-8F74-5C5F-00437D38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1399892"/>
            <a:ext cx="11545911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2E61809-93F7-6790-B714-6D59AA2D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ANOMALY DETECTION</a:t>
            </a:r>
          </a:p>
        </p:txBody>
      </p:sp>
      <p:pic>
        <p:nvPicPr>
          <p:cNvPr id="6" name="Paveikslėlis 5" descr="Paveikslėlis, kuriame yra tekstas, ekrano kopija, Šriftas, „flash“ atmintis&#10;&#10;Dirbtinio intelekto sugeneruotas turinys gali būti neteisingas.">
            <a:extLst>
              <a:ext uri="{FF2B5EF4-FFF2-40B4-BE49-F238E27FC236}">
                <a16:creationId xmlns:a16="http://schemas.microsoft.com/office/drawing/2014/main" id="{EC6CAF3B-C537-3F19-693E-170A3247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893" y="2101645"/>
            <a:ext cx="6315956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15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4AEF408-5058-C85B-0163-28843100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ANOMALY DETECTION BASICS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FAC5F-630B-7019-0E45-E8AEA0F3EC15}"/>
              </a:ext>
            </a:extLst>
          </p:cNvPr>
          <p:cNvSpPr txBox="1"/>
          <p:nvPr/>
        </p:nvSpPr>
        <p:spPr>
          <a:xfrm>
            <a:off x="1074057" y="1690688"/>
            <a:ext cx="10029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Anomaly detection, also known as </a:t>
            </a:r>
            <a:r>
              <a:rPr lang="en-US" b="1" dirty="0"/>
              <a:t>outlier detection</a:t>
            </a:r>
            <a:r>
              <a:rPr lang="en-US" dirty="0"/>
              <a:t>, is used to identify observations in a data set that are significantly different from the others</a:t>
            </a:r>
            <a:endParaRPr lang="lt-LT" dirty="0"/>
          </a:p>
        </p:txBody>
      </p:sp>
      <p:pic>
        <p:nvPicPr>
          <p:cNvPr id="6" name="Paveikslėlis 5" descr="Paveikslėlis, kuriame yra diagrama, ekrano kopija, kvadrato formos, linija&#10;&#10;Dirbtinio intelekto sugeneruotas turinys gali būti neteisingas.">
            <a:extLst>
              <a:ext uri="{FF2B5EF4-FFF2-40B4-BE49-F238E27FC236}">
                <a16:creationId xmlns:a16="http://schemas.microsoft.com/office/drawing/2014/main" id="{F98449CB-0FB2-58D2-1C69-C9F7C7962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191" y="2806984"/>
            <a:ext cx="6068323" cy="405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56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3E923-6B7F-34FD-68BF-067FA098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546BE5C-2598-D380-A124-4D3CD821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ANOMALY DETECTION BASICS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555DC-FDEB-69A0-B227-4B270C32B45D}"/>
              </a:ext>
            </a:extLst>
          </p:cNvPr>
          <p:cNvSpPr txBox="1"/>
          <p:nvPr/>
        </p:nvSpPr>
        <p:spPr>
          <a:xfrm>
            <a:off x="1074057" y="1690688"/>
            <a:ext cx="10029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Anomaly detection, also known as outlier detection, is used to identify observations in a data set that are significantly different from the others</a:t>
            </a:r>
            <a:endParaRPr lang="lt-LT" dirty="0"/>
          </a:p>
        </p:txBody>
      </p:sp>
      <p:pic>
        <p:nvPicPr>
          <p:cNvPr id="5" name="Paveikslėlis 4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CBB1600E-DC8B-B190-1180-181ACE3D7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28" y="2356911"/>
            <a:ext cx="9557278" cy="432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7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3C7EB23-CAD0-7C97-D80A-C009EDC4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 IN THE DS WORKFLOW</a:t>
            </a:r>
            <a:endParaRPr lang="lt-LT" dirty="0"/>
          </a:p>
        </p:txBody>
      </p:sp>
      <p:pic>
        <p:nvPicPr>
          <p:cNvPr id="4" name="Paveikslėlis 3" descr="Paveikslėlis, kuriame yra tekstas, ekrano kopija, Šriftas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100092E7-42CF-06FF-6C6C-ACDD844BF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88" y="1937928"/>
            <a:ext cx="8001424" cy="475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48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B547C2D-018E-D2D1-5F30-817DCF286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ANOMALY DETECTION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11736-1F76-27D6-5A02-56A1B7E9868A}"/>
              </a:ext>
            </a:extLst>
          </p:cNvPr>
          <p:cNvSpPr txBox="1"/>
          <p:nvPr/>
        </p:nvSpPr>
        <p:spPr>
          <a:xfrm>
            <a:off x="1030514" y="1711182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Popular approaches to anomaly detection include: </a:t>
            </a:r>
          </a:p>
          <a:p>
            <a:endParaRPr lang="en-US" dirty="0"/>
          </a:p>
          <a:p>
            <a:r>
              <a:rPr lang="en-US" b="1" dirty="0"/>
              <a:t>• Statistical analysis: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dirty="0">
                <a:highlight>
                  <a:srgbClr val="FFFF00"/>
                </a:highlight>
              </a:rPr>
              <a:t>flagging data points more than 3 standard deviations away from the mean </a:t>
            </a:r>
          </a:p>
          <a:p>
            <a:endParaRPr lang="en-US" dirty="0"/>
          </a:p>
          <a:p>
            <a:r>
              <a:rPr lang="en-US" b="1" dirty="0"/>
              <a:t>• Data visualization: </a:t>
            </a:r>
            <a:r>
              <a:rPr lang="en-US" dirty="0"/>
              <a:t>visually identifying distant points by creating histograms, scatterplots, or boxplots </a:t>
            </a:r>
          </a:p>
          <a:p>
            <a:endParaRPr lang="en-US" dirty="0"/>
          </a:p>
          <a:p>
            <a:r>
              <a:rPr lang="en-US" b="1" dirty="0"/>
              <a:t>• Supervised learning: </a:t>
            </a:r>
            <a:r>
              <a:rPr lang="en-US" dirty="0"/>
              <a:t>if you have information on past anomalies, you can apply classification algorithms like </a:t>
            </a:r>
            <a:r>
              <a:rPr lang="en-US" dirty="0">
                <a:highlight>
                  <a:srgbClr val="FFFF00"/>
                </a:highlight>
              </a:rPr>
              <a:t>Random Forests to identify new ones </a:t>
            </a:r>
          </a:p>
          <a:p>
            <a:endParaRPr lang="en-US" dirty="0"/>
          </a:p>
          <a:p>
            <a:r>
              <a:rPr lang="en-US" b="1" dirty="0"/>
              <a:t>• Unsupervised learning: </a:t>
            </a:r>
            <a:r>
              <a:rPr lang="en-US" dirty="0"/>
              <a:t>if you have unlabeled data, you need algorithms like Isolation Forests and DBSCAN </a:t>
            </a:r>
          </a:p>
          <a:p>
            <a:endParaRPr lang="en-US" dirty="0"/>
          </a:p>
          <a:p>
            <a:r>
              <a:rPr lang="en-US" sz="1400" dirty="0"/>
              <a:t>Many machine learning algorithms can be modified for anomaly detection including K-Nearest Neighbors, One-Class Support Vector Machines, Time Series Analysis, etc.</a:t>
            </a:r>
            <a:endParaRPr lang="lt-LT" sz="1400" dirty="0"/>
          </a:p>
        </p:txBody>
      </p:sp>
    </p:spTree>
    <p:extLst>
      <p:ext uri="{BB962C8B-B14F-4D97-AF65-F5344CB8AC3E}">
        <p14:creationId xmlns:p14="http://schemas.microsoft.com/office/powerpoint/2010/main" val="3437416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39DFA79-5F47-8302-CEFC-3DAA1F40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ANOMALY DETECTION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EA01F-D751-941E-AD2D-5C74C5F0C87D}"/>
              </a:ext>
            </a:extLst>
          </p:cNvPr>
          <p:cNvSpPr txBox="1"/>
          <p:nvPr/>
        </p:nvSpPr>
        <p:spPr>
          <a:xfrm>
            <a:off x="838199" y="1330849"/>
            <a:ext cx="100765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general anomaly detection workflow using unsupervised machine learning techniques consists of the following steps: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8763205-6141-D107-483B-378EF2C59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8"/>
            <a:ext cx="11002911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3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D63A980-9B92-DDAF-8DF7-6B6CE707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UNSUPERVISED LEARNING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106F8-12DA-9135-358E-B8D2CB6CBABD}"/>
              </a:ext>
            </a:extLst>
          </p:cNvPr>
          <p:cNvSpPr txBox="1"/>
          <p:nvPr/>
        </p:nvSpPr>
        <p:spPr>
          <a:xfrm>
            <a:off x="1277258" y="1367522"/>
            <a:ext cx="9797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perform anomaly detection using unsupervised learning techniques </a:t>
            </a:r>
            <a:endParaRPr lang="lt-LT" dirty="0"/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051B2CA6-8D5A-F682-25CA-18A1BEE42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057" y="2150822"/>
            <a:ext cx="8116906" cy="430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6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13AEEE2-6FA3-CFB3-1319-77AC308D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8112"/>
            <a:ext cx="10515600" cy="1325563"/>
          </a:xfrm>
        </p:spPr>
        <p:txBody>
          <a:bodyPr/>
          <a:lstStyle/>
          <a:p>
            <a:r>
              <a:rPr lang="lt-LT" dirty="0"/>
              <a:t>ISOLATION FORESTS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30A04-6F66-D7AA-4083-1D7E7B310D1D}"/>
              </a:ext>
            </a:extLst>
          </p:cNvPr>
          <p:cNvSpPr txBox="1"/>
          <p:nvPr/>
        </p:nvSpPr>
        <p:spPr>
          <a:xfrm>
            <a:off x="838199" y="1577592"/>
            <a:ext cx="107151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Isolation Forest detects anomalies by building </a:t>
            </a:r>
            <a:r>
              <a:rPr lang="en-US" dirty="0">
                <a:highlight>
                  <a:srgbClr val="FFFF00"/>
                </a:highlight>
              </a:rPr>
              <a:t>decision trees </a:t>
            </a:r>
            <a:r>
              <a:rPr lang="en-US" dirty="0"/>
              <a:t>that split the data randomly and measure how quickly specific data points can be isolated</a:t>
            </a:r>
            <a:endParaRPr lang="lt-LT" dirty="0"/>
          </a:p>
        </p:txBody>
      </p:sp>
      <p:pic>
        <p:nvPicPr>
          <p:cNvPr id="6" name="Paveikslėlis 5" descr="Paveikslėlis, kuriame yra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B5BD51DE-B9D6-7F97-6709-EC761CE08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044" y="2327840"/>
            <a:ext cx="6666614" cy="461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80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C7AE5-063A-A40C-F388-2F946FD4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90B15D8-5854-4E55-AA59-81A6F1CC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E549F-7D84-93A3-FD8D-577F3293DB9C}"/>
              </a:ext>
            </a:extLst>
          </p:cNvPr>
          <p:cNvSpPr txBox="1"/>
          <p:nvPr/>
        </p:nvSpPr>
        <p:spPr>
          <a:xfrm>
            <a:off x="838199" y="1577592"/>
            <a:ext cx="1071517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Isolation Forest </a:t>
            </a:r>
            <a:r>
              <a:rPr lang="en-US" dirty="0">
                <a:highlight>
                  <a:srgbClr val="FFFF00"/>
                </a:highlight>
              </a:rPr>
              <a:t>detects anomalies by building decision trees that split the data randomly and measure how quickly specific data points can be isolated</a:t>
            </a:r>
          </a:p>
          <a:p>
            <a:endParaRPr lang="en-US" dirty="0"/>
          </a:p>
          <a:p>
            <a:r>
              <a:rPr lang="en-US" dirty="0"/>
              <a:t>Here’s how it works:</a:t>
            </a:r>
            <a:br>
              <a:rPr lang="en-US" dirty="0"/>
            </a:br>
            <a:r>
              <a:rPr lang="en-US" dirty="0"/>
              <a:t>1. </a:t>
            </a:r>
            <a:r>
              <a:rPr lang="en-US" dirty="0">
                <a:highlight>
                  <a:srgbClr val="FFFF00"/>
                </a:highlight>
              </a:rPr>
              <a:t>Randomly select a feature from the data </a:t>
            </a:r>
            <a:r>
              <a:rPr lang="en-US" dirty="0"/>
              <a:t>and </a:t>
            </a:r>
            <a:r>
              <a:rPr lang="en-US" dirty="0">
                <a:highlight>
                  <a:srgbClr val="FFFF00"/>
                </a:highlight>
              </a:rPr>
              <a:t>split the observations using a random threshold </a:t>
            </a:r>
          </a:p>
          <a:p>
            <a:r>
              <a:rPr lang="en-US" dirty="0"/>
              <a:t>	• If a value is under the threshold, it goes to one </a:t>
            </a:r>
            <a:r>
              <a:rPr lang="en-US" b="1" dirty="0"/>
              <a:t>branch</a:t>
            </a:r>
            <a:r>
              <a:rPr lang="en-US" dirty="0"/>
              <a:t>; otherwise, it goes to the other </a:t>
            </a:r>
          </a:p>
          <a:p>
            <a:r>
              <a:rPr lang="en-US" dirty="0"/>
              <a:t>2. Continue splitting the branches using random features and thresholds, creating a </a:t>
            </a:r>
            <a:r>
              <a:rPr lang="en-US" b="1" dirty="0"/>
              <a:t>tree</a:t>
            </a:r>
            <a:r>
              <a:rPr lang="en-US" dirty="0"/>
              <a:t> structure, until every data point is </a:t>
            </a:r>
            <a:r>
              <a:rPr lang="en-US" b="1" dirty="0">
                <a:highlight>
                  <a:srgbClr val="FFFF00"/>
                </a:highlight>
              </a:rPr>
              <a:t>isolated</a:t>
            </a:r>
            <a:r>
              <a:rPr lang="en-US" dirty="0">
                <a:highlight>
                  <a:srgbClr val="FFFF00"/>
                </a:highlight>
              </a:rPr>
              <a:t> or a maximum depth is reached </a:t>
            </a:r>
          </a:p>
          <a:p>
            <a:r>
              <a:rPr lang="en-US" dirty="0"/>
              <a:t>3. Repeat these steps using different features and splits to create multiple trees (aka a </a:t>
            </a:r>
            <a:r>
              <a:rPr lang="en-US" b="1" dirty="0"/>
              <a:t>forest</a:t>
            </a:r>
            <a:r>
              <a:rPr lang="en-US" dirty="0"/>
              <a:t>) </a:t>
            </a:r>
          </a:p>
          <a:p>
            <a:r>
              <a:rPr lang="en-US" dirty="0"/>
              <a:t>4. Calculate the </a:t>
            </a:r>
            <a:r>
              <a:rPr lang="en-US" b="1" dirty="0"/>
              <a:t>anomaly score </a:t>
            </a:r>
            <a:r>
              <a:rPr lang="en-US" dirty="0"/>
              <a:t>for each observation by averaging the number of splits it took to isolate (</a:t>
            </a:r>
            <a:r>
              <a:rPr lang="en-US" b="1" dirty="0"/>
              <a:t>path length</a:t>
            </a:r>
            <a:r>
              <a:rPr lang="en-US" dirty="0"/>
              <a:t>) in each tree – the lowest scores are anomalies! </a:t>
            </a:r>
          </a:p>
          <a:p>
            <a:endParaRPr lang="en-US" dirty="0"/>
          </a:p>
          <a:p>
            <a:r>
              <a:rPr lang="en-US" b="1" dirty="0"/>
              <a:t>Example use cases: </a:t>
            </a:r>
          </a:p>
          <a:p>
            <a:r>
              <a:rPr lang="en-US" dirty="0"/>
              <a:t>• Detect fraudulent activities in financial data or credit card transactions </a:t>
            </a:r>
          </a:p>
          <a:p>
            <a:r>
              <a:rPr lang="en-US" dirty="0"/>
              <a:t>• Detect unexpected malfunctions in sensor data or unusual test results in patient data 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33023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F5EE9C6-DF49-7F58-7EBA-6B79A1D91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</a:t>
            </a:r>
          </a:p>
        </p:txBody>
      </p:sp>
      <p:pic>
        <p:nvPicPr>
          <p:cNvPr id="4" name="Paveikslėlis 3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AF870647-7001-A041-9145-E5A687DD5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8" y="1680918"/>
            <a:ext cx="10840963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12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234E6-B140-531A-471B-7AAD7B2E4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25689D8-3F3D-958B-9844-B0BBB7027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</a:t>
            </a:r>
          </a:p>
        </p:txBody>
      </p:sp>
      <p:pic>
        <p:nvPicPr>
          <p:cNvPr id="5" name="Paveikslėlis 4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44198FF3-47F7-F29B-D531-FFDCCCB06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487488"/>
            <a:ext cx="8819564" cy="52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549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30ACE-A93F-D77F-7B1F-37ADF4279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6334709D-0B0C-4C4A-4CC0-288108C0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CA4E633-849D-C63B-27EC-CB98C0798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64" y="1913961"/>
            <a:ext cx="10107436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66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935936B-FF49-B92C-3306-122AE5BC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</a:t>
            </a:r>
          </a:p>
        </p:txBody>
      </p:sp>
      <p:pic>
        <p:nvPicPr>
          <p:cNvPr id="4" name="Paveikslėlis 3" descr="Paveikslėlis, kuriame yra teks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3057DA56-C9C5-F981-ECFB-99D67A591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57" y="1690688"/>
            <a:ext cx="9831172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54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DEEE8-818F-5BF1-5F20-70C4BD22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DB0B647-3939-891C-0017-728BE29C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</a:t>
            </a:r>
          </a:p>
        </p:txBody>
      </p:sp>
      <p:pic>
        <p:nvPicPr>
          <p:cNvPr id="6" name="Paveikslėlis 5" descr="Paveikslėlis, kuriame yra teks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0C443A1C-21D0-8AD4-5AC2-995D6A272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5" y="2028151"/>
            <a:ext cx="10097909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00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B5370-4B52-62F8-8CF0-2726956CD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9137EC4-200A-8740-EDCE-2290C8BD2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</a:t>
            </a:r>
          </a:p>
        </p:txBody>
      </p:sp>
      <p:pic>
        <p:nvPicPr>
          <p:cNvPr id="4" name="Paveikslėlis 3" descr="Paveikslėlis, kuriame yra teks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7BB4296D-CC36-8ADF-B928-C8300527F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1412316"/>
            <a:ext cx="8786854" cy="490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56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C7F1-E306-9DF9-B257-ECD9A7B0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95A33D8-B26E-18C3-20E0-BD0271F67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</a:t>
            </a:r>
          </a:p>
        </p:txBody>
      </p:sp>
      <p:pic>
        <p:nvPicPr>
          <p:cNvPr id="5" name="Paveikslėlis 4" descr="Paveikslėlis, kuriame yra teks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37AC3026-BAE0-8E5C-6513-246F788E8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343" y="1388592"/>
            <a:ext cx="9240928" cy="507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90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9B4CF6A-5D3E-74E5-BD89-CE7DCD8D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4A524-24D7-F8EF-E7A5-6878192764E6}"/>
              </a:ext>
            </a:extLst>
          </p:cNvPr>
          <p:cNvSpPr txBox="1"/>
          <p:nvPr/>
        </p:nvSpPr>
        <p:spPr>
          <a:xfrm>
            <a:off x="1128485" y="1506022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</a:t>
            </a:r>
            <a:r>
              <a:rPr lang="en-US" dirty="0" err="1"/>
              <a:t>sklearn’s</a:t>
            </a:r>
            <a:r>
              <a:rPr lang="en-US" dirty="0"/>
              <a:t> </a:t>
            </a:r>
            <a:r>
              <a:rPr lang="en-US" b="1" dirty="0" err="1"/>
              <a:t>IsolationForest</a:t>
            </a:r>
            <a:r>
              <a:rPr lang="en-US" b="1" dirty="0"/>
              <a:t>() </a:t>
            </a:r>
            <a:r>
              <a:rPr lang="en-US" dirty="0"/>
              <a:t>to apply Isolation Forests in Python</a:t>
            </a:r>
            <a:endParaRPr lang="lt-LT" dirty="0"/>
          </a:p>
        </p:txBody>
      </p:sp>
      <p:pic>
        <p:nvPicPr>
          <p:cNvPr id="6" name="Paveikslėlis 5" descr="Paveikslėlis, kuriame yra tekstas, ekrano kopija, Šriftas, Tinklalapis&#10;&#10;Dirbtinio intelekto sugeneruotas turinys gali būti neteisingas.">
            <a:extLst>
              <a:ext uri="{FF2B5EF4-FFF2-40B4-BE49-F238E27FC236}">
                <a16:creationId xmlns:a16="http://schemas.microsoft.com/office/drawing/2014/main" id="{87B9F510-D590-91FB-0F4D-68E44A8E1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71" y="2212190"/>
            <a:ext cx="8980485" cy="451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89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60E8F-F923-6AE8-4359-DB20C6360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E71665AF-BE87-63A2-E2C0-732DEC82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ISOLATION FORESTS IN 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468F3-6F6D-E459-01B7-7C5B7D3B6AC4}"/>
              </a:ext>
            </a:extLst>
          </p:cNvPr>
          <p:cNvSpPr txBox="1"/>
          <p:nvPr/>
        </p:nvSpPr>
        <p:spPr>
          <a:xfrm>
            <a:off x="1128485" y="1506022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</a:t>
            </a:r>
            <a:r>
              <a:rPr lang="en-US" dirty="0" err="1"/>
              <a:t>sklearn’s</a:t>
            </a:r>
            <a:r>
              <a:rPr lang="en-US" dirty="0"/>
              <a:t> </a:t>
            </a:r>
            <a:r>
              <a:rPr lang="en-US" dirty="0" err="1"/>
              <a:t>IsolationForest</a:t>
            </a:r>
            <a:r>
              <a:rPr lang="en-US" dirty="0"/>
              <a:t>() to apply Isolation Forests in Python</a:t>
            </a:r>
            <a:endParaRPr lang="lt-LT" dirty="0"/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F56A1AAE-DB12-825D-5A19-64DC8B30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43" y="2127029"/>
            <a:ext cx="8596085" cy="473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04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17D60A0-74F8-4043-B005-BD018B92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VISUALIZING ANOMALIES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18D66-114C-69C0-9633-C827BA48866C}"/>
              </a:ext>
            </a:extLst>
          </p:cNvPr>
          <p:cNvSpPr txBox="1"/>
          <p:nvPr/>
        </p:nvSpPr>
        <p:spPr>
          <a:xfrm>
            <a:off x="1015999" y="1367522"/>
            <a:ext cx="9390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Visualize anomalies by using the anomaly flags as the “hue” in a pair plot</a:t>
            </a:r>
            <a:endParaRPr lang="lt-LT" dirty="0"/>
          </a:p>
        </p:txBody>
      </p:sp>
      <p:sp>
        <p:nvSpPr>
          <p:cNvPr id="5" name="AutoShape 2" descr="Uploaded image">
            <a:extLst>
              <a:ext uri="{FF2B5EF4-FFF2-40B4-BE49-F238E27FC236}">
                <a16:creationId xmlns:a16="http://schemas.microsoft.com/office/drawing/2014/main" id="{0EF770B5-37EC-1E6A-2AAC-F63A2D61AA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t-LT"/>
          </a:p>
        </p:txBody>
      </p:sp>
      <p:pic>
        <p:nvPicPr>
          <p:cNvPr id="7" name="Paveikslėlis 6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ACD7D715-1128-609A-6EFA-4A43F026E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71" y="1877253"/>
            <a:ext cx="8119197" cy="439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44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890F0-6AB7-2C18-2107-9C79446C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2776269-8B76-8E9D-7113-A96A4645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VISUALIZING ANOMALIES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B4EA0-FB8D-AAE3-AABE-F1007062500C}"/>
              </a:ext>
            </a:extLst>
          </p:cNvPr>
          <p:cNvSpPr txBox="1"/>
          <p:nvPr/>
        </p:nvSpPr>
        <p:spPr>
          <a:xfrm>
            <a:off x="1015999" y="1367522"/>
            <a:ext cx="9390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Visualize anomalies by using the anomaly flags as the “hue” in a pair plot</a:t>
            </a:r>
            <a:endParaRPr lang="lt-LT" dirty="0"/>
          </a:p>
        </p:txBody>
      </p:sp>
      <p:sp>
        <p:nvSpPr>
          <p:cNvPr id="5" name="AutoShape 2" descr="Uploaded image">
            <a:extLst>
              <a:ext uri="{FF2B5EF4-FFF2-40B4-BE49-F238E27FC236}">
                <a16:creationId xmlns:a16="http://schemas.microsoft.com/office/drawing/2014/main" id="{54023866-8126-C2D1-C736-91750E7D1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lt-LT"/>
          </a:p>
        </p:txBody>
      </p:sp>
      <p:pic>
        <p:nvPicPr>
          <p:cNvPr id="6" name="Paveikslėlis 5" descr="Paveikslėlis, kuriame yra tekstas, ekrano kopija, diagrama, dizainas&#10;&#10;Dirbtinio intelekto sugeneruotas turinys gali būti neteisingas.">
            <a:extLst>
              <a:ext uri="{FF2B5EF4-FFF2-40B4-BE49-F238E27FC236}">
                <a16:creationId xmlns:a16="http://schemas.microsoft.com/office/drawing/2014/main" id="{AF21F586-2501-B1CA-206B-4A160D47A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201" y="2104570"/>
            <a:ext cx="9278885" cy="469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09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7277AB3-3F56-154A-161E-885A1CBE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TUNING &amp; INTERPRETING ISOLATION FORESTS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2A202-FF43-8045-B244-228C96940CE7}"/>
              </a:ext>
            </a:extLst>
          </p:cNvPr>
          <p:cNvSpPr txBox="1"/>
          <p:nvPr/>
        </p:nvSpPr>
        <p:spPr>
          <a:xfrm>
            <a:off x="838199" y="1690688"/>
            <a:ext cx="10381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After you view the results of your first Isolation Forest model, you can: </a:t>
            </a:r>
          </a:p>
          <a:p>
            <a:r>
              <a:rPr lang="en-US" dirty="0"/>
              <a:t>• Tune the model by updating the contamination percent to flag more or fewer anomalies </a:t>
            </a:r>
          </a:p>
          <a:p>
            <a:r>
              <a:rPr lang="en-US" dirty="0"/>
              <a:t>• Interpret the results by filtering on the anomaly labels or sorting the anomaly scores</a:t>
            </a:r>
            <a:endParaRPr lang="lt-LT" dirty="0"/>
          </a:p>
        </p:txBody>
      </p:sp>
      <p:pic>
        <p:nvPicPr>
          <p:cNvPr id="7" name="Paveikslėlis 6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7B4D3BCA-2AD1-3685-49FF-985806DA5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768847"/>
            <a:ext cx="9198959" cy="390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79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23B061F-D8CF-7B1C-1E33-1134F8D2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DBSCAN FOR ANOMALY DETECTION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CC528-D795-D5D8-D397-400887DF29AA}"/>
              </a:ext>
            </a:extLst>
          </p:cNvPr>
          <p:cNvSpPr txBox="1"/>
          <p:nvPr/>
        </p:nvSpPr>
        <p:spPr>
          <a:xfrm>
            <a:off x="1567543" y="1432449"/>
            <a:ext cx="9260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DBSCAN (Density-Based Spatial Clustering of Applications with Noise), which is a clustering technique, can also be used for anomaly detection</a:t>
            </a:r>
            <a:endParaRPr lang="lt-LT" dirty="0"/>
          </a:p>
        </p:txBody>
      </p:sp>
      <p:pic>
        <p:nvPicPr>
          <p:cNvPr id="6" name="Paveikslėlis 5" descr="Paveikslėlis, kuriame yra piešimas, diagrama, Vaikų piešiniai, iliustracija&#10;&#10;Dirbtinio intelekto sugeneruotas turinys gali būti neteisingas.">
            <a:extLst>
              <a:ext uri="{FF2B5EF4-FFF2-40B4-BE49-F238E27FC236}">
                <a16:creationId xmlns:a16="http://schemas.microsoft.com/office/drawing/2014/main" id="{0CA87F81-452C-DF0C-AA00-1234CCF16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185" y="2303163"/>
            <a:ext cx="5572829" cy="393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07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CA82B66-E106-B693-A11F-4967DB85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FOR ANOMALY DETECTION IN PYTHON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3596A-74A9-DBE3-4D21-9AA50495031B}"/>
              </a:ext>
            </a:extLst>
          </p:cNvPr>
          <p:cNvSpPr txBox="1"/>
          <p:nvPr/>
        </p:nvSpPr>
        <p:spPr>
          <a:xfrm>
            <a:off x="1436914" y="1690688"/>
            <a:ext cx="7402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U</a:t>
            </a:r>
            <a:r>
              <a:rPr lang="en-US" dirty="0"/>
              <a:t>se </a:t>
            </a:r>
            <a:r>
              <a:rPr lang="en-US" dirty="0" err="1"/>
              <a:t>sklearn’s</a:t>
            </a:r>
            <a:r>
              <a:rPr lang="en-US" dirty="0"/>
              <a:t> </a:t>
            </a:r>
            <a:r>
              <a:rPr lang="en-US" b="1" dirty="0"/>
              <a:t>DBSCAN()</a:t>
            </a:r>
            <a:r>
              <a:rPr lang="lt-LT" b="1" dirty="0"/>
              <a:t> </a:t>
            </a:r>
            <a:r>
              <a:rPr lang="en-US" dirty="0"/>
              <a:t>to apply the DBSCAN algorithm in Python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F2227ED7-4C11-43EA-5DBE-5ED98A4F3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581" y="2342249"/>
            <a:ext cx="7870838" cy="393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831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C01E-94B4-BFEC-36A4-CA1F9248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182B422-3FBC-FC3C-9C58-AD400163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DBSCAN FOR ANOMALY DETECTION IN PYTHON</a:t>
            </a:r>
            <a:endParaRPr lang="lt-L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1E61C-C281-20D7-902F-541A87E39388}"/>
              </a:ext>
            </a:extLst>
          </p:cNvPr>
          <p:cNvSpPr txBox="1"/>
          <p:nvPr/>
        </p:nvSpPr>
        <p:spPr>
          <a:xfrm>
            <a:off x="1436914" y="1690688"/>
            <a:ext cx="7402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U</a:t>
            </a:r>
            <a:r>
              <a:rPr lang="en-US" dirty="0"/>
              <a:t>se </a:t>
            </a:r>
            <a:r>
              <a:rPr lang="en-US" dirty="0" err="1"/>
              <a:t>sklearn’s</a:t>
            </a:r>
            <a:r>
              <a:rPr lang="en-US" dirty="0"/>
              <a:t> </a:t>
            </a:r>
            <a:r>
              <a:rPr lang="en-US" b="1" dirty="0"/>
              <a:t>DBSCAN()</a:t>
            </a:r>
            <a:r>
              <a:rPr lang="lt-LT" b="1" dirty="0"/>
              <a:t> </a:t>
            </a:r>
            <a:r>
              <a:rPr lang="en-US" dirty="0"/>
              <a:t>to apply the DBSCAN algorithm in Python</a:t>
            </a:r>
            <a:endParaRPr lang="lt-LT" dirty="0"/>
          </a:p>
        </p:txBody>
      </p:sp>
      <p:pic>
        <p:nvPicPr>
          <p:cNvPr id="5" name="Paveikslėlis 4" descr="Paveikslėlis, kuriame yra tekstas, elektronika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791CDAC9-64A7-B74F-3D00-3D10B7B7A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4" y="2139449"/>
            <a:ext cx="9477920" cy="471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5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82357F4-473E-AA05-EA7F-B543740BC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VISUALIZING DBSCAN ANOMALIES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8B3FD-846A-F2FE-0A0C-21FCF451B5C9}"/>
              </a:ext>
            </a:extLst>
          </p:cNvPr>
          <p:cNvSpPr txBox="1"/>
          <p:nvPr/>
        </p:nvSpPr>
        <p:spPr>
          <a:xfrm>
            <a:off x="1915885" y="1690688"/>
            <a:ext cx="8011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dirty="0"/>
              <a:t>V</a:t>
            </a:r>
            <a:r>
              <a:rPr lang="en-US" dirty="0" err="1"/>
              <a:t>isualize</a:t>
            </a:r>
            <a:r>
              <a:rPr lang="en-US" dirty="0"/>
              <a:t> anomalies by using the anomaly labels as the “hue” in a pair plot</a:t>
            </a:r>
            <a:endParaRPr lang="lt-LT" dirty="0"/>
          </a:p>
        </p:txBody>
      </p:sp>
      <p:pic>
        <p:nvPicPr>
          <p:cNvPr id="6" name="Paveikslėlis 5" descr="Paveikslėlis, kuriame yra tekstas, diagrama, ekrano kopija, linija&#10;&#10;Dirbtinio intelekto sugeneruotas turinys gali būti neteisingas.">
            <a:extLst>
              <a:ext uri="{FF2B5EF4-FFF2-40B4-BE49-F238E27FC236}">
                <a16:creationId xmlns:a16="http://schemas.microsoft.com/office/drawing/2014/main" id="{EFFAB592-83DB-84F6-D9C0-19F1B6680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489" y="2090425"/>
            <a:ext cx="9132485" cy="440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75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90F8DE4-4D1B-6101-2BC5-C01583911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RECAP: ANOMALY DETECTION</a:t>
            </a:r>
          </a:p>
        </p:txBody>
      </p:sp>
      <p:pic>
        <p:nvPicPr>
          <p:cNvPr id="4" name="Paveikslėlis 3" descr="Paveikslėlis, kuriame yra tekstas, ekrano kopija, Šriftas, programinė įranga&#10;&#10;Dirbtinio intelekto sugeneruotas turinys gali būti neteisingas.">
            <a:extLst>
              <a:ext uri="{FF2B5EF4-FFF2-40B4-BE49-F238E27FC236}">
                <a16:creationId xmlns:a16="http://schemas.microsoft.com/office/drawing/2014/main" id="{A8424771-EE30-0D2F-8925-44E907CA2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2119129"/>
            <a:ext cx="11307753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3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3782C8E-B361-7D78-30EA-E9D9B2BF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RECAP:CLUSTERING &amp; ANOMALY DETECTION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6482049-0FFA-5D1F-DF48-06331FAC2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43" y="1636259"/>
            <a:ext cx="9558219" cy="493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56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9D087F2-F319-AE9C-5F91-5D108CA54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KEY TAKEAWAYS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EE2D9-8E76-C3D5-B0D3-4CB5070C3FD2}"/>
              </a:ext>
            </a:extLst>
          </p:cNvPr>
          <p:cNvSpPr txBox="1"/>
          <p:nvPr/>
        </p:nvSpPr>
        <p:spPr>
          <a:xfrm>
            <a:off x="667657" y="1690688"/>
            <a:ext cx="84763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Anomaly detection aims to find observations </a:t>
            </a:r>
            <a:r>
              <a:rPr lang="en-US" b="1" dirty="0"/>
              <a:t>different than the rest </a:t>
            </a:r>
            <a:endParaRPr lang="lt-LT" b="1" dirty="0"/>
          </a:p>
          <a:p>
            <a:r>
              <a:rPr lang="lt-LT" dirty="0"/>
              <a:t>	</a:t>
            </a:r>
            <a:r>
              <a:rPr lang="en-US" dirty="0"/>
              <a:t>• Common unsupervised techniques for anomaly detection are Isolation Forests and DBSCAN 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• There are other ways to detect anomalies, including statistics, data visualization, and supervised learning </a:t>
            </a:r>
            <a:endParaRPr lang="lt-LT" dirty="0"/>
          </a:p>
          <a:p>
            <a:endParaRPr lang="lt-LT" dirty="0"/>
          </a:p>
          <a:p>
            <a:r>
              <a:rPr lang="en-US" dirty="0"/>
              <a:t>For unsupervised learning, follow the </a:t>
            </a:r>
            <a:r>
              <a:rPr lang="en-US" b="1" dirty="0"/>
              <a:t>anomaly detection workflow </a:t>
            </a:r>
            <a:endParaRPr lang="lt-LT" b="1" dirty="0"/>
          </a:p>
          <a:p>
            <a:r>
              <a:rPr lang="lt-LT" dirty="0"/>
              <a:t>	</a:t>
            </a:r>
            <a:r>
              <a:rPr lang="en-US" dirty="0"/>
              <a:t>1) Prep your data for anomaly detection (scaling is not required for Isolation Forests, but it is for DBSCAN) 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2) Start with Isolation Forests, then visualize, tune, and select a model 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3) Try DBSCAN for different results, then visualize, tune and select a model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4) Compare the anomalies from all the models using data visualization, exploratory analysis, and your intuition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5) Select the model that best addresses your business question</a:t>
            </a:r>
            <a:endParaRPr lang="lt-LT" dirty="0"/>
          </a:p>
          <a:p>
            <a:r>
              <a:rPr lang="lt-LT" dirty="0"/>
              <a:t>	</a:t>
            </a:r>
            <a:r>
              <a:rPr lang="en-US" dirty="0"/>
              <a:t>6) You can choose to further explore or exclude anomalies detected by one or more models 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654940073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3A35F569-A8FF-499C-A3C1-3355E02DFD9F}"/>
</file>

<file path=customXml/itemProps2.xml><?xml version="1.0" encoding="utf-8"?>
<ds:datastoreItem xmlns:ds="http://schemas.openxmlformats.org/officeDocument/2006/customXml" ds:itemID="{30E52CA2-F4EA-41E9-8616-4244926D516A}"/>
</file>

<file path=customXml/itemProps3.xml><?xml version="1.0" encoding="utf-8"?>
<ds:datastoreItem xmlns:ds="http://schemas.openxmlformats.org/officeDocument/2006/customXml" ds:itemID="{B97FC916-CE54-48DB-AD1E-8EEF2570180D}"/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1023</Words>
  <Application>Microsoft Office PowerPoint</Application>
  <PresentationFormat>Plačiaekranė</PresentationFormat>
  <Paragraphs>99</Paragraphs>
  <Slides>36</Slides>
  <Notes>1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„Office“ tema</vt:lpstr>
      <vt:lpstr>  Python Machine Learning</vt:lpstr>
      <vt:lpstr>Common machine learning algorithms</vt:lpstr>
      <vt:lpstr>UNSUPERVISED LEARNING 101</vt:lpstr>
      <vt:lpstr>UNSUPERVISED LEARNING TECHNIQUES</vt:lpstr>
      <vt:lpstr>UNSUPERVISED LEARNING APPLICATIONS</vt:lpstr>
      <vt:lpstr>Unsupervised learning techniques &amp; applications</vt:lpstr>
      <vt:lpstr>CLUSTERING WORKFLOW</vt:lpstr>
      <vt:lpstr>CLUSTERING ALGORITHMS RECAP</vt:lpstr>
      <vt:lpstr>ANOMALY DETECTION</vt:lpstr>
      <vt:lpstr>ANOMALY DETECTION BASICS </vt:lpstr>
      <vt:lpstr>ANOMALY DETECTION BASICS </vt:lpstr>
      <vt:lpstr>ANOMALY DETECTION IN THE DS WORKFLOW</vt:lpstr>
      <vt:lpstr>ANOMALY DETECTION APPROACHES</vt:lpstr>
      <vt:lpstr>ANOMALY DETECTION WORKFLOW</vt:lpstr>
      <vt:lpstr>UNSUPERVISED LEARNING TECHNIQUES</vt:lpstr>
      <vt:lpstr>ISOLATION FORESTS</vt:lpstr>
      <vt:lpstr>ISOLATION FORESTS</vt:lpstr>
      <vt:lpstr>ISOLATION FORESTS</vt:lpstr>
      <vt:lpstr>ISOLATION FORESTS</vt:lpstr>
      <vt:lpstr>ISOLATION FORESTS</vt:lpstr>
      <vt:lpstr>ISOLATION FORESTS</vt:lpstr>
      <vt:lpstr>ISOLATION FORESTS</vt:lpstr>
      <vt:lpstr>ISOLATION FORESTS</vt:lpstr>
      <vt:lpstr>ISOLATION FORESTS</vt:lpstr>
      <vt:lpstr>ISOLATION FORESTS IN PYTHON</vt:lpstr>
      <vt:lpstr>ISOLATION FORESTS IN PYTHON</vt:lpstr>
      <vt:lpstr>VISUALIZING ANOMALIES</vt:lpstr>
      <vt:lpstr>VISUALIZING ANOMALIES</vt:lpstr>
      <vt:lpstr>TUNING &amp; INTERPRETING ISOLATION FORESTS</vt:lpstr>
      <vt:lpstr>DBSCAN FOR ANOMALY DETECTION</vt:lpstr>
      <vt:lpstr>DBSCAN FOR ANOMALY DETECTION IN PYTHON</vt:lpstr>
      <vt:lpstr>DBSCAN FOR ANOMALY DETECTION IN PYTHON</vt:lpstr>
      <vt:lpstr>VISUALIZING DBSCAN ANOMALIES</vt:lpstr>
      <vt:lpstr>RECAP: ANOMALY DETECTION</vt:lpstr>
      <vt:lpstr>RECAP:CLUSTERING &amp; ANOMALY DETECTION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4</cp:revision>
  <dcterms:created xsi:type="dcterms:W3CDTF">2026-02-13T17:06:51Z</dcterms:created>
  <dcterms:modified xsi:type="dcterms:W3CDTF">2026-03-16T17:41:48Z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