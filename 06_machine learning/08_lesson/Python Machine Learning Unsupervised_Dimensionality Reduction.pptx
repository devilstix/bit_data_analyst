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60" r:id="rId2"/>
    <p:sldId id="262" r:id="rId3"/>
    <p:sldId id="415" r:id="rId4"/>
    <p:sldId id="259" r:id="rId5"/>
    <p:sldId id="265" r:id="rId6"/>
    <p:sldId id="266" r:id="rId7"/>
    <p:sldId id="303" r:id="rId8"/>
    <p:sldId id="349" r:id="rId9"/>
    <p:sldId id="355" r:id="rId10"/>
    <p:sldId id="379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408" r:id="rId37"/>
    <p:sldId id="409" r:id="rId38"/>
    <p:sldId id="410" r:id="rId39"/>
    <p:sldId id="411" r:id="rId40"/>
    <p:sldId id="412" r:id="rId41"/>
    <p:sldId id="413" r:id="rId42"/>
    <p:sldId id="414" r:id="rId43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3656" autoAdjust="0"/>
  </p:normalViewPr>
  <p:slideViewPr>
    <p:cSldViewPr snapToGrid="0">
      <p:cViewPr varScale="1">
        <p:scale>
          <a:sx n="84" d="100"/>
          <a:sy n="84" d="100"/>
        </p:scale>
        <p:origin x="151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undo custSel addSld delSld modSld">
      <pc:chgData name="Žydrūnė Kelpšaitė" userId="e943768126acec1d" providerId="LiveId" clId="{31712FD7-FA85-48BA-9D35-5382388CFC74}" dt="2026-03-17T12:35:51.944" v="55" actId="13926"/>
      <pc:docMkLst>
        <pc:docMk/>
      </pc:docMkLst>
      <pc:sldChg chg="add">
        <pc:chgData name="Žydrūnė Kelpšaitė" userId="e943768126acec1d" providerId="LiveId" clId="{31712FD7-FA85-48BA-9D35-5382388CFC74}" dt="2026-02-22T17:06:28.654" v="1"/>
        <pc:sldMkLst>
          <pc:docMk/>
          <pc:sldMk cId="1464548092" sldId="355"/>
        </pc:sldMkLst>
      </pc:sldChg>
      <pc:sldChg chg="add">
        <pc:chgData name="Žydrūnė Kelpšaitė" userId="e943768126acec1d" providerId="LiveId" clId="{31712FD7-FA85-48BA-9D35-5382388CFC74}" dt="2026-02-22T17:05:17.792" v="0"/>
        <pc:sldMkLst>
          <pc:docMk/>
          <pc:sldMk cId="4257803821" sldId="379"/>
        </pc:sldMkLst>
      </pc:sldChg>
      <pc:sldChg chg="modSp mod">
        <pc:chgData name="Žydrūnė Kelpšaitė" userId="e943768126acec1d" providerId="LiveId" clId="{31712FD7-FA85-48BA-9D35-5382388CFC74}" dt="2026-03-17T12:31:57.703" v="54" actId="13926"/>
        <pc:sldMkLst>
          <pc:docMk/>
          <pc:sldMk cId="2063271081" sldId="390"/>
        </pc:sldMkLst>
        <pc:spChg chg="mod">
          <ac:chgData name="Žydrūnė Kelpšaitė" userId="e943768126acec1d" providerId="LiveId" clId="{31712FD7-FA85-48BA-9D35-5382388CFC74}" dt="2026-03-17T12:31:57.703" v="54" actId="13926"/>
          <ac:spMkLst>
            <pc:docMk/>
            <pc:sldMk cId="2063271081" sldId="390"/>
            <ac:spMk id="4" creationId="{79BC3CEE-0E19-53A5-35CD-DBA02AC83976}"/>
          </ac:spMkLst>
        </pc:spChg>
        <pc:spChg chg="mod">
          <ac:chgData name="Žydrūnė Kelpšaitė" userId="e943768126acec1d" providerId="LiveId" clId="{31712FD7-FA85-48BA-9D35-5382388CFC74}" dt="2026-02-23T10:07:33.329" v="5" actId="13926"/>
          <ac:spMkLst>
            <pc:docMk/>
            <pc:sldMk cId="2063271081" sldId="390"/>
            <ac:spMk id="5" creationId="{0F1B0449-1628-F84C-8708-2864D96D4507}"/>
          </ac:spMkLst>
        </pc:spChg>
      </pc:sldChg>
      <pc:sldChg chg="modNotesTx">
        <pc:chgData name="Žydrūnė Kelpšaitė" userId="e943768126acec1d" providerId="LiveId" clId="{31712FD7-FA85-48BA-9D35-5382388CFC74}" dt="2026-02-23T10:08:18.193" v="6" actId="113"/>
        <pc:sldMkLst>
          <pc:docMk/>
          <pc:sldMk cId="2199170655" sldId="391"/>
        </pc:sldMkLst>
      </pc:sldChg>
      <pc:sldChg chg="modSp mod">
        <pc:chgData name="Žydrūnė Kelpšaitė" userId="e943768126acec1d" providerId="LiveId" clId="{31712FD7-FA85-48BA-9D35-5382388CFC74}" dt="2026-03-17T12:35:51.944" v="55" actId="13926"/>
        <pc:sldMkLst>
          <pc:docMk/>
          <pc:sldMk cId="3289307357" sldId="394"/>
        </pc:sldMkLst>
        <pc:spChg chg="mod">
          <ac:chgData name="Žydrūnė Kelpšaitė" userId="e943768126acec1d" providerId="LiveId" clId="{31712FD7-FA85-48BA-9D35-5382388CFC74}" dt="2026-03-17T12:35:51.944" v="55" actId="13926"/>
          <ac:spMkLst>
            <pc:docMk/>
            <pc:sldMk cId="3289307357" sldId="394"/>
            <ac:spMk id="4" creationId="{986C75BD-FE46-37BF-010E-0CC1607C1155}"/>
          </ac:spMkLst>
        </pc:spChg>
      </pc:sldChg>
      <pc:sldChg chg="modSp mod modNotesTx">
        <pc:chgData name="Žydrūnė Kelpšaitė" userId="e943768126acec1d" providerId="LiveId" clId="{31712FD7-FA85-48BA-9D35-5382388CFC74}" dt="2026-02-23T10:13:01.382" v="12" actId="20577"/>
        <pc:sldMkLst>
          <pc:docMk/>
          <pc:sldMk cId="1558476673" sldId="395"/>
        </pc:sldMkLst>
        <pc:spChg chg="mod">
          <ac:chgData name="Žydrūnė Kelpšaitė" userId="e943768126acec1d" providerId="LiveId" clId="{31712FD7-FA85-48BA-9D35-5382388CFC74}" dt="2026-02-23T10:11:50.779" v="10" actId="113"/>
          <ac:spMkLst>
            <pc:docMk/>
            <pc:sldMk cId="1558476673" sldId="395"/>
            <ac:spMk id="4" creationId="{83F910C2-AEBF-A0E7-D9EA-922A0330263C}"/>
          </ac:spMkLst>
        </pc:spChg>
      </pc:sldChg>
      <pc:sldChg chg="modSp mod">
        <pc:chgData name="Žydrūnė Kelpšaitė" userId="e943768126acec1d" providerId="LiveId" clId="{31712FD7-FA85-48BA-9D35-5382388CFC74}" dt="2026-02-24T08:33:47.876" v="26" actId="1076"/>
        <pc:sldMkLst>
          <pc:docMk/>
          <pc:sldMk cId="3381307271" sldId="399"/>
        </pc:sldMkLst>
        <pc:picChg chg="mod">
          <ac:chgData name="Žydrūnė Kelpšaitė" userId="e943768126acec1d" providerId="LiveId" clId="{31712FD7-FA85-48BA-9D35-5382388CFC74}" dt="2026-02-24T08:33:47.876" v="26" actId="1076"/>
          <ac:picMkLst>
            <pc:docMk/>
            <pc:sldMk cId="3381307271" sldId="399"/>
            <ac:picMk id="6" creationId="{7656AF1F-7524-F0FB-EE17-9153AA3C781E}"/>
          </ac:picMkLst>
        </pc:picChg>
      </pc:sldChg>
      <pc:sldChg chg="modSp mod">
        <pc:chgData name="Žydrūnė Kelpšaitė" userId="e943768126acec1d" providerId="LiveId" clId="{31712FD7-FA85-48BA-9D35-5382388CFC74}" dt="2026-03-16T19:56:37.566" v="52" actId="20577"/>
        <pc:sldMkLst>
          <pc:docMk/>
          <pc:sldMk cId="1258599349" sldId="401"/>
        </pc:sldMkLst>
        <pc:spChg chg="mod">
          <ac:chgData name="Žydrūnė Kelpšaitė" userId="e943768126acec1d" providerId="LiveId" clId="{31712FD7-FA85-48BA-9D35-5382388CFC74}" dt="2026-03-16T19:56:37.566" v="52" actId="20577"/>
          <ac:spMkLst>
            <pc:docMk/>
            <pc:sldMk cId="1258599349" sldId="401"/>
            <ac:spMk id="4" creationId="{51215334-6A8A-DFCA-C337-8A86A82E4057}"/>
          </ac:spMkLst>
        </pc:spChg>
      </pc:sldChg>
      <pc:sldChg chg="modSp mod">
        <pc:chgData name="Žydrūnė Kelpšaitė" userId="e943768126acec1d" providerId="LiveId" clId="{31712FD7-FA85-48BA-9D35-5382388CFC74}" dt="2026-03-16T19:59:40.966" v="53" actId="20577"/>
        <pc:sldMkLst>
          <pc:docMk/>
          <pc:sldMk cId="1315116931" sldId="403"/>
        </pc:sldMkLst>
        <pc:spChg chg="mod">
          <ac:chgData name="Žydrūnė Kelpšaitė" userId="e943768126acec1d" providerId="LiveId" clId="{31712FD7-FA85-48BA-9D35-5382388CFC74}" dt="2026-03-16T19:59:40.966" v="53" actId="20577"/>
          <ac:spMkLst>
            <pc:docMk/>
            <pc:sldMk cId="1315116931" sldId="403"/>
            <ac:spMk id="5" creationId="{99F0BE94-4571-0935-A2A5-6FEA66410F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709C3-CE23-4B2F-BE7C-A3D31A40CA30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1D6B6-FC59-4333-9BD4-64AD1769CE9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80717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PCA – </a:t>
            </a:r>
            <a:r>
              <a:rPr lang="lt-LT" dirty="0" err="1"/>
              <a:t>Principal</a:t>
            </a:r>
            <a:r>
              <a:rPr lang="lt-LT" dirty="0"/>
              <a:t> </a:t>
            </a:r>
            <a:r>
              <a:rPr lang="lt-LT" dirty="0" err="1"/>
              <a:t>Component</a:t>
            </a:r>
            <a:r>
              <a:rPr lang="lt-LT" dirty="0"/>
              <a:t> </a:t>
            </a:r>
            <a:r>
              <a:rPr lang="lt-LT" dirty="0" err="1"/>
              <a:t>Analysis</a:t>
            </a:r>
            <a:r>
              <a:rPr lang="lt-LT" dirty="0"/>
              <a:t> (Pagrindinių komponentų analizė)</a:t>
            </a:r>
            <a:br>
              <a:rPr lang="lt-LT" dirty="0"/>
            </a:br>
            <a:r>
              <a:rPr lang="lt-LT" dirty="0"/>
              <a:t>Linijinis dimensijų mažinimo metodas, kuris transformuoja pradinius kintamuosius į naujus, tarpusavyje nekoreliuotus komponentus. Šie komponentai išlaiko didžiausią duomenų variaciją ir leidžia sumažinti požymių skaičių neprarandant esminės informacijos. Dažnai naudojamas vizualizacijai ir </a:t>
            </a:r>
            <a:r>
              <a:rPr lang="lt-LT" dirty="0" err="1"/>
              <a:t>feature</a:t>
            </a:r>
            <a:r>
              <a:rPr lang="lt-LT" dirty="0"/>
              <a:t> </a:t>
            </a:r>
            <a:r>
              <a:rPr lang="lt-LT" dirty="0" err="1"/>
              <a:t>engineering</a:t>
            </a:r>
            <a:r>
              <a:rPr lang="lt-LT" dirty="0"/>
              <a:t>.</a:t>
            </a:r>
          </a:p>
          <a:p>
            <a:r>
              <a:rPr lang="lt-LT" dirty="0"/>
              <a:t>t-SNE – t-</a:t>
            </a:r>
            <a:r>
              <a:rPr lang="lt-LT" dirty="0" err="1"/>
              <a:t>Distributed</a:t>
            </a:r>
            <a:r>
              <a:rPr lang="lt-LT" dirty="0"/>
              <a:t> </a:t>
            </a:r>
            <a:r>
              <a:rPr lang="lt-LT" dirty="0" err="1"/>
              <a:t>Stochastic</a:t>
            </a:r>
            <a:r>
              <a:rPr lang="lt-LT" dirty="0"/>
              <a:t> </a:t>
            </a:r>
            <a:r>
              <a:rPr lang="lt-LT" dirty="0" err="1"/>
              <a:t>Neighbor</a:t>
            </a:r>
            <a:r>
              <a:rPr lang="lt-LT" dirty="0"/>
              <a:t> </a:t>
            </a:r>
            <a:r>
              <a:rPr lang="lt-LT" dirty="0" err="1"/>
              <a:t>Embedding</a:t>
            </a:r>
            <a:br>
              <a:rPr lang="lt-LT" dirty="0"/>
            </a:br>
            <a:r>
              <a:rPr lang="lt-LT" dirty="0"/>
              <a:t>Nelinijinis dimensijų mažinimo metodas, skirtas aukštų dimensijų duomenų vizualizacijai. Jis išlaiko lokalią struktūrą – panašūs taškai lieka arti vienas kito 2D ar 3D erdvėje. Dažniausiai naudojamas klasterių ir struktūrų vizualiniam atskleidimui.</a:t>
            </a:r>
          </a:p>
          <a:p>
            <a:r>
              <a:rPr lang="lt-LT" dirty="0"/>
              <a:t>SVD – </a:t>
            </a:r>
            <a:r>
              <a:rPr lang="lt-LT" dirty="0" err="1"/>
              <a:t>Singular</a:t>
            </a:r>
            <a:r>
              <a:rPr lang="lt-LT" dirty="0"/>
              <a:t> </a:t>
            </a:r>
            <a:r>
              <a:rPr lang="lt-LT" dirty="0" err="1"/>
              <a:t>Value</a:t>
            </a:r>
            <a:r>
              <a:rPr lang="lt-LT" dirty="0"/>
              <a:t> </a:t>
            </a:r>
            <a:r>
              <a:rPr lang="lt-LT" dirty="0" err="1"/>
              <a:t>Decomposition</a:t>
            </a:r>
            <a:r>
              <a:rPr lang="lt-LT" dirty="0"/>
              <a:t> (</a:t>
            </a:r>
            <a:r>
              <a:rPr lang="lt-LT" dirty="0" err="1"/>
              <a:t>Singuliarinių</a:t>
            </a:r>
            <a:r>
              <a:rPr lang="lt-LT" dirty="0"/>
              <a:t> reikšmių dekompozicija)</a:t>
            </a:r>
            <a:br>
              <a:rPr lang="lt-LT" dirty="0"/>
            </a:br>
            <a:r>
              <a:rPr lang="lt-LT" dirty="0"/>
              <a:t>Matricos </a:t>
            </a:r>
            <a:r>
              <a:rPr lang="lt-LT" dirty="0" err="1"/>
              <a:t>faktorizacijos</a:t>
            </a:r>
            <a:r>
              <a:rPr lang="lt-LT" dirty="0"/>
              <a:t> metodas, kuris išskaido duomenų matricą į tris komponentes ir leidžia sumažinti jos rangą. Naudojamas dimensijų mažinimui, duomenų suspaudimui ir rekomendacinėse sistemose, kur reikia išskirti pagrindinius vartotojų–produktų sąveikos veiksnius.</a:t>
            </a:r>
          </a:p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30FD9-97D4-45A3-B6F8-44939018CA01}" type="slidenum">
              <a:rPr lang="lt-LT" smtClean="0"/>
              <a:t>11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30159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PCA – </a:t>
            </a:r>
            <a:r>
              <a:rPr lang="lt-LT" dirty="0" err="1"/>
              <a:t>Principal</a:t>
            </a:r>
            <a:r>
              <a:rPr lang="lt-LT" dirty="0"/>
              <a:t> </a:t>
            </a:r>
            <a:r>
              <a:rPr lang="lt-LT" dirty="0" err="1"/>
              <a:t>Component</a:t>
            </a:r>
            <a:r>
              <a:rPr lang="lt-LT" dirty="0"/>
              <a:t> </a:t>
            </a:r>
            <a:r>
              <a:rPr lang="lt-LT" dirty="0" err="1"/>
              <a:t>Analysis</a:t>
            </a:r>
            <a:r>
              <a:rPr lang="lt-LT" dirty="0"/>
              <a:t> (Pagrindinių komponentų analizė)</a:t>
            </a:r>
            <a:br>
              <a:rPr lang="lt-LT" dirty="0"/>
            </a:br>
            <a:r>
              <a:rPr lang="lt-LT" dirty="0"/>
              <a:t>Linijinis dimensijų mažinimo metodas, kuris transformuoja pradinius kintamuosius į naujus, tarpusavyje nekoreliuotus komponentus. Šie komponentai išlaiko didžiausią duomenų variaciją ir leidžia sumažinti požymių skaičių neprarandant esminės informacijos. Dažnai naudojamas vizualizacijai ir </a:t>
            </a:r>
            <a:r>
              <a:rPr lang="lt-LT" dirty="0" err="1"/>
              <a:t>feature</a:t>
            </a:r>
            <a:r>
              <a:rPr lang="lt-LT" dirty="0"/>
              <a:t> </a:t>
            </a:r>
            <a:r>
              <a:rPr lang="lt-LT" dirty="0" err="1"/>
              <a:t>engineering</a:t>
            </a:r>
            <a:r>
              <a:rPr lang="lt-LT" dirty="0"/>
              <a:t>.</a:t>
            </a:r>
          </a:p>
          <a:p>
            <a:r>
              <a:rPr lang="lt-LT" dirty="0"/>
              <a:t>t-SNE – t-</a:t>
            </a:r>
            <a:r>
              <a:rPr lang="lt-LT" dirty="0" err="1"/>
              <a:t>Distributed</a:t>
            </a:r>
            <a:r>
              <a:rPr lang="lt-LT" dirty="0"/>
              <a:t> </a:t>
            </a:r>
            <a:r>
              <a:rPr lang="lt-LT" dirty="0" err="1"/>
              <a:t>Stochastic</a:t>
            </a:r>
            <a:r>
              <a:rPr lang="lt-LT" dirty="0"/>
              <a:t> </a:t>
            </a:r>
            <a:r>
              <a:rPr lang="lt-LT" dirty="0" err="1"/>
              <a:t>Neighbor</a:t>
            </a:r>
            <a:r>
              <a:rPr lang="lt-LT" dirty="0"/>
              <a:t> </a:t>
            </a:r>
            <a:r>
              <a:rPr lang="lt-LT" dirty="0" err="1"/>
              <a:t>Embedding</a:t>
            </a:r>
            <a:br>
              <a:rPr lang="lt-LT" dirty="0"/>
            </a:br>
            <a:r>
              <a:rPr lang="lt-LT" dirty="0"/>
              <a:t>Nelinijinis dimensijų mažinimo metodas, skirtas aukštų dimensijų duomenų vizualizacijai. Jis išlaiko lokalią struktūrą – panašūs taškai lieka arti vienas kito 2D ar 3D erdvėje. Dažniausiai naudojamas klasterių ir struktūrų vizualiniam atskleidimui.</a:t>
            </a:r>
          </a:p>
          <a:p>
            <a:r>
              <a:rPr lang="lt-LT" dirty="0"/>
              <a:t>SVD – </a:t>
            </a:r>
            <a:r>
              <a:rPr lang="lt-LT" dirty="0" err="1"/>
              <a:t>Singular</a:t>
            </a:r>
            <a:r>
              <a:rPr lang="lt-LT" dirty="0"/>
              <a:t> </a:t>
            </a:r>
            <a:r>
              <a:rPr lang="lt-LT" dirty="0" err="1"/>
              <a:t>Value</a:t>
            </a:r>
            <a:r>
              <a:rPr lang="lt-LT" dirty="0"/>
              <a:t> </a:t>
            </a:r>
            <a:r>
              <a:rPr lang="lt-LT" dirty="0" err="1"/>
              <a:t>Decomposition</a:t>
            </a:r>
            <a:r>
              <a:rPr lang="lt-LT" dirty="0"/>
              <a:t> (</a:t>
            </a:r>
            <a:r>
              <a:rPr lang="lt-LT" dirty="0" err="1"/>
              <a:t>Singuliarinių</a:t>
            </a:r>
            <a:r>
              <a:rPr lang="lt-LT" dirty="0"/>
              <a:t> reikšmių dekompozicija)</a:t>
            </a:r>
            <a:br>
              <a:rPr lang="lt-LT" dirty="0"/>
            </a:br>
            <a:r>
              <a:rPr lang="lt-LT" dirty="0"/>
              <a:t>Matricos </a:t>
            </a:r>
            <a:r>
              <a:rPr lang="lt-LT" dirty="0" err="1"/>
              <a:t>faktorizacijos</a:t>
            </a:r>
            <a:r>
              <a:rPr lang="lt-LT" dirty="0"/>
              <a:t> metodas, kuris išskaido duomenų matricą į tris komponentes ir leidžia sumažinti jos rangą. Naudojamas dimensijų mažinimui, duomenų suspaudimui ir rekomendacinėse sistemose, kur reikia išskirti pagrindinius vartotojų–produktų sąveikos veiksnius.</a:t>
            </a:r>
          </a:p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30FD9-97D4-45A3-B6F8-44939018CA01}" type="slidenum">
              <a:rPr lang="lt-LT" smtClean="0"/>
              <a:t>15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77217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PCA yra metodas, kuris perorientuoja duomenis taip, kad rastų kryptį, kurioje yra daugiausia variacijos. Ta kryptis vadinama pirmuoju </a:t>
            </a:r>
            <a:r>
              <a:rPr lang="lt-LT" b="1" dirty="0"/>
              <a:t>pagrindiniu komponentu (PC1). </a:t>
            </a:r>
            <a:r>
              <a:rPr lang="lt-LT" dirty="0"/>
              <a:t>Kiti komponentai yra statmeni pirmajam ir paaiškina likusią variaciją.</a:t>
            </a:r>
          </a:p>
          <a:p>
            <a:r>
              <a:rPr lang="lt-LT" dirty="0"/>
              <a:t>Dimensijų mažinimas reiškia, kad pasiliekame tik svarbiausius komponentus (pvz., PC1 ir PC2) ir atmetame mažiau informatyvias kryptis, taip išlaikydami didžiąją dalį informacijos, bet su mažiau kintamųjų.</a:t>
            </a:r>
          </a:p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30FD9-97D4-45A3-B6F8-44939018CA01}" type="slidenum">
              <a:rPr lang="lt-LT" smtClean="0"/>
              <a:t>19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049746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StandardScaler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D6B6-FC59-4333-9BD4-64AD1769CE92}" type="slidenum">
              <a:rPr lang="lt-LT" smtClean="0"/>
              <a:t>23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73219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30FD9-97D4-45A3-B6F8-44939018CA01}" type="slidenum">
              <a:rPr lang="lt-LT" smtClean="0"/>
              <a:t>34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176516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3946-F5F5-6E23-A910-CEA219D1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>
            <a:extLst>
              <a:ext uri="{FF2B5EF4-FFF2-40B4-BE49-F238E27FC236}">
                <a16:creationId xmlns:a16="http://schemas.microsoft.com/office/drawing/2014/main" id="{F25B78C5-62CD-536D-024D-3611B2EDA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>
            <a:extLst>
              <a:ext uri="{FF2B5EF4-FFF2-40B4-BE49-F238E27FC236}">
                <a16:creationId xmlns:a16="http://schemas.microsoft.com/office/drawing/2014/main" id="{C784B794-F90F-595F-96EB-661AFDE0C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2FB9CC0E-ED45-D3AD-76BB-65F7E1A4A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30FD9-97D4-45A3-B6F8-44939018CA01}" type="slidenum">
              <a:rPr lang="lt-LT" smtClean="0"/>
              <a:t>35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381003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A85EA-285D-13AC-31A5-4E94F26B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>
            <a:extLst>
              <a:ext uri="{FF2B5EF4-FFF2-40B4-BE49-F238E27FC236}">
                <a16:creationId xmlns:a16="http://schemas.microsoft.com/office/drawing/2014/main" id="{D5A93719-BCC0-3282-B470-7F5CDBFE4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>
            <a:extLst>
              <a:ext uri="{FF2B5EF4-FFF2-40B4-BE49-F238E27FC236}">
                <a16:creationId xmlns:a16="http://schemas.microsoft.com/office/drawing/2014/main" id="{81FA3EAE-6AA7-3A2B-0F1B-3C8584DFA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F3C2DC70-6DD2-E055-1752-490C5822C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30FD9-97D4-45A3-B6F8-44939018CA01}" type="slidenum">
              <a:rPr lang="lt-LT" smtClean="0"/>
              <a:t>36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200992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lt-LT" dirty="0"/>
              <a:t>t-SNE – t-</a:t>
            </a:r>
            <a:r>
              <a:rPr lang="lt-LT" dirty="0" err="1"/>
              <a:t>Distributed</a:t>
            </a:r>
            <a:r>
              <a:rPr lang="lt-LT" dirty="0"/>
              <a:t> </a:t>
            </a:r>
            <a:r>
              <a:rPr lang="lt-LT" dirty="0" err="1"/>
              <a:t>Stochastic</a:t>
            </a:r>
            <a:r>
              <a:rPr lang="lt-LT" dirty="0"/>
              <a:t> </a:t>
            </a:r>
            <a:r>
              <a:rPr lang="lt-LT" dirty="0" err="1"/>
              <a:t>Neighbor</a:t>
            </a:r>
            <a:r>
              <a:rPr lang="lt-LT" dirty="0"/>
              <a:t> </a:t>
            </a:r>
            <a:r>
              <a:rPr lang="lt-LT" dirty="0" err="1"/>
              <a:t>Embedding</a:t>
            </a:r>
            <a:br>
              <a:rPr lang="lt-LT" dirty="0"/>
            </a:br>
            <a:r>
              <a:rPr lang="lt-LT" dirty="0"/>
              <a:t>Nelinijinis dimensijų mažinimo metodas, skirtas aukštų dimensijų duomenų vizualizacijai. Jis išlaiko lokalią struktūrą – panašūs taškai lieka arti vienas kito 2D ar 3D erdvėje. Dažniausiai naudojamas klasterių ir struktūrų vizualiniam atskleidimui.</a:t>
            </a:r>
          </a:p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D6B6-FC59-4333-9BD4-64AD1769CE92}" type="slidenum">
              <a:rPr lang="lt-LT" smtClean="0"/>
              <a:t>37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500614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30FD9-97D4-45A3-B6F8-44939018CA01}" type="slidenum">
              <a:rPr lang="lt-LT" smtClean="0"/>
              <a:t>39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165320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F24DC-02FA-FFDC-2058-63DFBE2FD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>
            <a:extLst>
              <a:ext uri="{FF2B5EF4-FFF2-40B4-BE49-F238E27FC236}">
                <a16:creationId xmlns:a16="http://schemas.microsoft.com/office/drawing/2014/main" id="{35796CDD-43AA-5543-FAE1-16E91FAB8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>
            <a:extLst>
              <a:ext uri="{FF2B5EF4-FFF2-40B4-BE49-F238E27FC236}">
                <a16:creationId xmlns:a16="http://schemas.microsoft.com/office/drawing/2014/main" id="{A74B8334-7BA3-9CDE-C070-177C98598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7616210A-270C-55F8-8F37-C7E76D7C2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30FD9-97D4-45A3-B6F8-44939018CA01}" type="slidenum">
              <a:rPr lang="lt-LT" smtClean="0"/>
              <a:t>40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980954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756C47A-7869-6C77-63A5-D4CC62D84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CB351141-55CE-DD14-BFA3-3004A0A89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60995328-F9F2-2767-D068-D21CDC2C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2601B580-0B7F-86B3-90A5-6976A1F4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A909382-B086-2D46-2450-0D66A878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54984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0DEC81F-0DAA-64DE-A413-993FB1DC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A4EA31DD-226D-49A0-4CB7-9C9D89DCB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8A95272-B256-CBC1-E5A9-DCCF0CCF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E449A9F2-7653-5F77-9F13-126E7AA9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288AF3A-6F59-51B9-FDCC-AE11BC15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467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A2953CA-556D-FE49-8A1A-BB8D6A19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D8AFEB2C-308B-2A78-635F-480832B3A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9B66389D-534F-AA28-FF19-844D1E95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56E86496-60CA-268A-24AB-2999CB75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24B66B4-41A7-A4C8-31BE-931EE730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84302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A03CD2B-E0C7-39B3-E2B9-C74FD8A1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33F374F4-8ACD-1C54-2CD0-EEC1C1135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15CFB952-8E07-A517-82DB-8B2286729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73F9788C-A6F2-77DE-0478-E0350765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C00EC1E7-E3B7-5A60-FEA0-92979FD2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8DAE5A77-A026-FF0F-5501-3E569DC6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0038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BAA32DB-6DB1-CFF4-DFB3-00CE678EA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3B623B63-4C5B-07CE-8618-11092535B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0FB87381-E68A-3AAA-6A69-A16101C9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6739A6A3-9765-807C-5B24-459245530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B1403822-6905-E367-1618-03FED8753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C4B08647-0F38-6F0C-8735-DD636873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C1A8BE06-7228-5827-931C-82641ACD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DC82D0A7-D65E-CB30-6BB0-06654D9F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0160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47631FC-442C-7841-45D0-39D6BE28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D613B005-1CEC-2ADB-A1C1-CB4820ED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26B603D4-8CC0-9DFE-E273-671D3CAF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48C859B0-4BAF-11D9-8CA8-4551A174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83642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503B4050-C6EC-4EAD-E4DD-70505870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88A0CE70-CA54-60C7-58B7-3E6D8A6A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AD943A7F-BAF4-3CFE-ED1C-444F855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6097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5F5D287-01BF-D3AD-7474-7EAE293AD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BDA4F76A-DC6E-5638-F81C-52D3B8777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B1F16BF0-B052-C568-8971-87606A09C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D3258577-A7B1-A987-4634-18A88DF29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AD196C5E-ECEF-72A9-F3E9-B2AA249B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6A03395A-0E36-81FD-2963-FBDD066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35590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A132F70-E9F4-59F3-2A65-B2B5FAA0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0736D2E3-53ED-4F82-92FA-128CD79C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9CBEE20F-7731-F296-9243-9065D817C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FE194011-CEC9-3940-0857-865E0742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15E31F37-F86E-3F31-6B30-43667CF1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AAE0E573-0FEE-EE89-51F3-FFAA6DBE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79145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34117ED-042D-86F2-3CEF-F69ABFF3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EFDB0EF7-4E68-80B1-CE08-1D446371E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7A79910C-52DD-F620-CC6E-E6E28979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95669FD8-852C-DB82-3814-1A0B45C7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A21B18E5-D536-13F4-C0E8-10B13DCD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9939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36D519A3-74AC-6E9F-D996-77F745294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D863526C-B5B7-52F2-6B4E-286C3EE2D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B065E43F-C9FC-06BF-63A3-1A7F7FD2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74066580-D92D-FCA5-EE84-0D12C57A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E06CAFB1-1DE8-E5BF-B188-2464108A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59362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18ECF77B-9956-FDF6-5CAF-D8A14A80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D4736DFA-5974-1DE4-6C2A-4B064BF56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FAF375B2-D8E6-ACBA-336B-9504F3435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276F3-C3D0-438B-90AD-91BDE693CF43}" type="datetimeFigureOut">
              <a:rPr lang="lt-LT" smtClean="0"/>
              <a:t>2026-03-17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234BAF4-92EA-6AF8-BC3C-4339C9C63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67267BD9-F947-C520-1E9F-B03DA20D0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3324A-240F-40D1-94C8-E260ACF935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7365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51DE627-F873-EE20-9A3B-D8D2E34FD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Python Machine Learning</a:t>
            </a:r>
            <a:endParaRPr lang="lt-LT" dirty="0"/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DF5DE917-4BE6-0DC6-27ED-48EBAD175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t-LT" dirty="0"/>
              <a:t>Žydrūnė Kelpšaitė</a:t>
            </a:r>
          </a:p>
          <a:p>
            <a:r>
              <a:rPr lang="lt-LT" dirty="0"/>
              <a:t>Data </a:t>
            </a:r>
            <a:r>
              <a:rPr lang="lt-LT" dirty="0" err="1"/>
              <a:t>Analyst</a:t>
            </a:r>
            <a:endParaRPr lang="lt-LT" dirty="0"/>
          </a:p>
        </p:txBody>
      </p:sp>
      <p:pic>
        <p:nvPicPr>
          <p:cNvPr id="7" name="Paveikslėlis 6">
            <a:extLst>
              <a:ext uri="{FF2B5EF4-FFF2-40B4-BE49-F238E27FC236}">
                <a16:creationId xmlns:a16="http://schemas.microsoft.com/office/drawing/2014/main" id="{9E79B567-32F2-69DD-9EA7-B800DE5C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86" y="522204"/>
            <a:ext cx="10698068" cy="1200318"/>
          </a:xfrm>
          <a:prstGeom prst="rect">
            <a:avLst/>
          </a:prstGeom>
        </p:spPr>
      </p:pic>
      <p:pic>
        <p:nvPicPr>
          <p:cNvPr id="4" name="Paveikslėlis 3">
            <a:extLst>
              <a:ext uri="{FF2B5EF4-FFF2-40B4-BE49-F238E27FC236}">
                <a16:creationId xmlns:a16="http://schemas.microsoft.com/office/drawing/2014/main" id="{3B54C4A5-8157-B3E8-F91D-520313D5A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5" y="5135479"/>
            <a:ext cx="11422069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1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ABA132-3969-2C1F-649A-A733DE7D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lt-LT" dirty="0" err="1"/>
              <a:t>ommon</a:t>
            </a:r>
            <a:r>
              <a:rPr lang="lt-LT" dirty="0"/>
              <a:t> </a:t>
            </a:r>
            <a:r>
              <a:rPr lang="lt-LT" dirty="0" err="1"/>
              <a:t>machine</a:t>
            </a:r>
            <a:r>
              <a:rPr lang="lt-LT" dirty="0"/>
              <a:t> </a:t>
            </a:r>
            <a:r>
              <a:rPr lang="lt-LT" dirty="0" err="1"/>
              <a:t>learning</a:t>
            </a:r>
            <a:r>
              <a:rPr lang="lt-LT" dirty="0"/>
              <a:t> </a:t>
            </a:r>
            <a:r>
              <a:rPr lang="lt-LT" dirty="0" err="1"/>
              <a:t>algorithms</a:t>
            </a:r>
            <a:endParaRPr lang="lt-LT" dirty="0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DD8A479-8FC6-C9BE-EF4C-F964D5FA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087" y="1690688"/>
            <a:ext cx="7487695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6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518DA7C-CE0F-B1DC-315B-638B26FC5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UNSUPERVISED LEARNING 101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923C2-2411-204F-1F53-FB5A29B090DD}"/>
              </a:ext>
            </a:extLst>
          </p:cNvPr>
          <p:cNvSpPr txBox="1"/>
          <p:nvPr/>
        </p:nvSpPr>
        <p:spPr>
          <a:xfrm>
            <a:off x="914399" y="1571916"/>
            <a:ext cx="10176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Unsupervised learning is about </a:t>
            </a:r>
            <a:r>
              <a:rPr lang="en-US" b="1" dirty="0"/>
              <a:t>finding insights &amp; patterns </a:t>
            </a:r>
            <a:r>
              <a:rPr lang="en-US" dirty="0"/>
              <a:t>hidden in the data </a:t>
            </a:r>
          </a:p>
          <a:p>
            <a:r>
              <a:rPr lang="en-US" dirty="0"/>
              <a:t>• Unlike regression or classification, we don’t care about splitting our data into train / test sets and making predictions, we just care about understanding the relationships in our data </a:t>
            </a:r>
            <a:endParaRPr lang="lt-LT" dirty="0"/>
          </a:p>
        </p:txBody>
      </p:sp>
      <p:pic>
        <p:nvPicPr>
          <p:cNvPr id="8" name="Paveikslėlis 7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766FD9EF-DD8A-5B44-DA06-3B6CBBDD2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104" y="2897479"/>
            <a:ext cx="6239928" cy="34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6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EC0CCCE-AC17-715B-53EA-29447C1E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UNSUPERVISED LEARNING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161AD-193D-73A6-2EB8-74FD6EAC3FCC}"/>
              </a:ext>
            </a:extLst>
          </p:cNvPr>
          <p:cNvSpPr txBox="1"/>
          <p:nvPr/>
        </p:nvSpPr>
        <p:spPr>
          <a:xfrm>
            <a:off x="953728" y="1515468"/>
            <a:ext cx="9753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are two popular categories of unsupervised learning techniques:</a:t>
            </a:r>
            <a:endParaRPr lang="lt-LT" dirty="0"/>
          </a:p>
        </p:txBody>
      </p:sp>
      <p:pic>
        <p:nvPicPr>
          <p:cNvPr id="6" name="Paveikslėlis 5" descr="Paveikslėlis, kuriame yra tekstas, elektronika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EABAF16-E812-06F6-5264-9284262A9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71" y="2170922"/>
            <a:ext cx="7777996" cy="432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7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4A05502-CB11-0184-5FA5-91DD4F39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UNSUPERVISED LEARNING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5FC7C-F9B7-1AB8-ACEC-81A509489299}"/>
              </a:ext>
            </a:extLst>
          </p:cNvPr>
          <p:cNvSpPr txBox="1"/>
          <p:nvPr/>
        </p:nvSpPr>
        <p:spPr>
          <a:xfrm>
            <a:off x="1366684" y="14368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two common applications of unsupervised learning techniques: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14E1DD77-591D-414C-8D73-320047D4E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626" y="2219783"/>
            <a:ext cx="7931947" cy="385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2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FCB2FE0-94D9-EEDF-B8FA-E25EC4FE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lt-LT" dirty="0" err="1"/>
              <a:t>nsupervised</a:t>
            </a:r>
            <a:r>
              <a:rPr lang="lt-LT" dirty="0"/>
              <a:t> </a:t>
            </a:r>
            <a:r>
              <a:rPr lang="lt-LT" dirty="0" err="1"/>
              <a:t>learning</a:t>
            </a:r>
            <a:r>
              <a:rPr lang="lt-LT" dirty="0"/>
              <a:t> </a:t>
            </a:r>
            <a:r>
              <a:rPr lang="lt-LT" dirty="0" err="1"/>
              <a:t>techniques</a:t>
            </a:r>
            <a:r>
              <a:rPr lang="lt-LT" dirty="0"/>
              <a:t> &amp; </a:t>
            </a:r>
            <a:r>
              <a:rPr lang="lt-LT" dirty="0" err="1"/>
              <a:t>applications</a:t>
            </a:r>
            <a:endParaRPr lang="lt-LT" dirty="0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268AE77-9982-846A-B106-68DC4CD15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12" y="2052649"/>
            <a:ext cx="8665696" cy="408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3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135C0B5-5A39-07DB-F825-A8B125C3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CLUSTERING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D2C49-3F35-C8A0-34FE-4D7FB06ECE2F}"/>
              </a:ext>
            </a:extLst>
          </p:cNvPr>
          <p:cNvSpPr txBox="1"/>
          <p:nvPr/>
        </p:nvSpPr>
        <p:spPr>
          <a:xfrm>
            <a:off x="1052051" y="1780938"/>
            <a:ext cx="9271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general clustering workflow consists of the following steps: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250A3517-6CF4-3B2C-5D18-92F5B59A6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51" y="2357737"/>
            <a:ext cx="9349539" cy="3339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C9D771-B418-5202-AB32-8C33817EC56A}"/>
              </a:ext>
            </a:extLst>
          </p:cNvPr>
          <p:cNvSpPr txBox="1"/>
          <p:nvPr/>
        </p:nvSpPr>
        <p:spPr>
          <a:xfrm>
            <a:off x="1347020" y="5764332"/>
            <a:ext cx="9871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Remember, there’s no “right” answer or single optimization metric when it comes to clustering; the best outputs are the ones which help you answer the question at hand and make practical, data-driven business decisions 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74189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A49250A-D19A-2823-5627-921BFB3E6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CLUSTERING ALGORITHMS RECAP</a:t>
            </a:r>
          </a:p>
        </p:txBody>
      </p:sp>
      <p:pic>
        <p:nvPicPr>
          <p:cNvPr id="4" name="Paveikslėlis 3" descr="Paveikslėlis, kuriame yra tekstas, Šriftas, skaičiu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809CD1B9-B85B-8F74-5C5F-00437D38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1399892"/>
            <a:ext cx="11545911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3C7EB23-CAD0-7C97-D80A-C009EDC4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 IN THE DS WORKFLOW</a:t>
            </a:r>
            <a:endParaRPr lang="lt-LT" dirty="0"/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100092E7-42CF-06FF-6C6C-ACDD844BF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288" y="1937928"/>
            <a:ext cx="8001424" cy="475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48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90F8DE4-4D1B-6101-2BC5-C0158391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RECAP: ANOMALY DETECTION</a:t>
            </a:r>
          </a:p>
        </p:txBody>
      </p:sp>
      <p:pic>
        <p:nvPicPr>
          <p:cNvPr id="4" name="Paveikslėlis 3" descr="Paveikslėlis, kuriame yra tekstas, ekrano kopija, Šriftas, programinė įranga&#10;&#10;Dirbtinio intelekto sugeneruotas turinys gali būti neteisingas.">
            <a:extLst>
              <a:ext uri="{FF2B5EF4-FFF2-40B4-BE49-F238E27FC236}">
                <a16:creationId xmlns:a16="http://schemas.microsoft.com/office/drawing/2014/main" id="{A8424771-EE30-0D2F-8925-44E907CA2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2119129"/>
            <a:ext cx="11307753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03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6D09-9BD1-B94B-CEA2-D6A98C22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9CE15F9-0418-54E8-47ED-D92045561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DIMENSIONALITY REDUCTION</a:t>
            </a:r>
          </a:p>
        </p:txBody>
      </p:sp>
      <p:pic>
        <p:nvPicPr>
          <p:cNvPr id="5" name="Paveikslėlis 4" descr="Paveikslėlis, kuriame yra tekstas, ekrano kopija, Šriftas, logotipas&#10;&#10;Dirbtinio intelekto sugeneruotas turinys gali būti neteisingas.">
            <a:extLst>
              <a:ext uri="{FF2B5EF4-FFF2-40B4-BE49-F238E27FC236}">
                <a16:creationId xmlns:a16="http://schemas.microsoft.com/office/drawing/2014/main" id="{8F3A9A55-494D-C179-BCFB-F9539A947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574" y="2214393"/>
            <a:ext cx="6458851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06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3FFD1FB-2F6E-EDF2-38DE-5B007E9E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DIMENSIONALITY REDUCTION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51847-A5AC-20FE-93B5-6D4EF3B8928B}"/>
              </a:ext>
            </a:extLst>
          </p:cNvPr>
          <p:cNvSpPr txBox="1"/>
          <p:nvPr/>
        </p:nvSpPr>
        <p:spPr>
          <a:xfrm>
            <a:off x="838200" y="1577592"/>
            <a:ext cx="9844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Dimensionality reduction involves reducing the number of columns (dimensions) in a data set while losing as little information as possible 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136A676F-70E2-B13F-A9F0-F19E058E3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2485415"/>
            <a:ext cx="10945753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71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9EBC2BB-9DC9-F8D1-68C0-B76DD8A8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DIMENSIONALITY REDUCTION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A9457-A61E-AD49-B5CA-42A8199E5608}"/>
              </a:ext>
            </a:extLst>
          </p:cNvPr>
          <p:cNvSpPr txBox="1"/>
          <p:nvPr/>
        </p:nvSpPr>
        <p:spPr>
          <a:xfrm>
            <a:off x="838200" y="1690688"/>
            <a:ext cx="9844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Dimensionality reduction involves reducing the number of columns (dimensions) in a data set while losing as little information as possible </a:t>
            </a:r>
            <a:endParaRPr lang="lt-LT" dirty="0"/>
          </a:p>
        </p:txBody>
      </p:sp>
      <p:pic>
        <p:nvPicPr>
          <p:cNvPr id="6" name="Paveikslėlis 5" descr="Paveikslėlis, kuriame yra tekstas, diagrama, linija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1D44CBBC-1D27-1279-BE7D-19E5FB7B2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257" y="2463024"/>
            <a:ext cx="8178378" cy="411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49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5194C79-2439-F077-E361-40BD0D12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WHY REDUCE DIMENSIONS?</a:t>
            </a:r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47E65294-CA02-0FF5-0651-8A102918C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915" y="1947766"/>
            <a:ext cx="9304465" cy="454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91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DAB648D-583C-CA17-04F4-2DB3F556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 IN DS WORKFLOW</a:t>
            </a:r>
            <a:endParaRPr lang="lt-LT" dirty="0"/>
          </a:p>
        </p:txBody>
      </p:sp>
      <p:pic>
        <p:nvPicPr>
          <p:cNvPr id="4" name="Paveikslėlis 3" descr="Paveikslėlis, kuriame yra tekstas, ekrano kopija, Šriftas, programinė įranga&#10;&#10;Dirbtinio intelekto sugeneruotas turinys gali būti neteisingas.">
            <a:extLst>
              <a:ext uri="{FF2B5EF4-FFF2-40B4-BE49-F238E27FC236}">
                <a16:creationId xmlns:a16="http://schemas.microsoft.com/office/drawing/2014/main" id="{5D9DDC7B-940B-4B12-C140-8E05CAC3C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279" y="1690688"/>
            <a:ext cx="9279441" cy="505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34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EE98A3F-1E78-946D-861C-21A7AF9A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DIMENSIONALITY REDUCTION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306D5-7862-960C-576D-B7A941C22C18}"/>
              </a:ext>
            </a:extLst>
          </p:cNvPr>
          <p:cNvSpPr txBox="1"/>
          <p:nvPr/>
        </p:nvSpPr>
        <p:spPr>
          <a:xfrm>
            <a:off x="986970" y="1556435"/>
            <a:ext cx="9695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general dimensionality reduction workflow consists of the following steps: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2C0FB5FF-714C-4963-C18A-9B5D49978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70" y="1914659"/>
            <a:ext cx="11098174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18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C9722E6-BD34-F684-11AC-B18613CB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PRINCIPAL COMPONENT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A6B2D-4039-D06C-923E-D9B189BFD734}"/>
              </a:ext>
            </a:extLst>
          </p:cNvPr>
          <p:cNvSpPr txBox="1"/>
          <p:nvPr/>
        </p:nvSpPr>
        <p:spPr>
          <a:xfrm>
            <a:off x="838200" y="1577592"/>
            <a:ext cx="10323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Principal Component Analysis (PCA) is a dimensionality reduction technique that finds linear combinations of features that explain the most variation in the data </a:t>
            </a:r>
            <a:endParaRPr lang="lt-LT" dirty="0"/>
          </a:p>
        </p:txBody>
      </p:sp>
      <p:pic>
        <p:nvPicPr>
          <p:cNvPr id="6" name="Paveikslėlis 5" descr="Paveikslėlis, kuriame yra lin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0643924A-67B7-7571-2EBA-078EFF2ED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66362"/>
            <a:ext cx="10821910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95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5C42C-EBA8-06A1-A46B-153012F7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8A6DAF4-146E-FAA4-8870-476784B41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PRINCIPAL COMPONENT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C3CEE-0E19-53A5-35CD-DBA02AC83976}"/>
              </a:ext>
            </a:extLst>
          </p:cNvPr>
          <p:cNvSpPr txBox="1"/>
          <p:nvPr/>
        </p:nvSpPr>
        <p:spPr>
          <a:xfrm>
            <a:off x="838200" y="1577592"/>
            <a:ext cx="10323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Principal Component Analysis (PCA) is a dimensionality reduction technique that </a:t>
            </a:r>
            <a:r>
              <a:rPr lang="en-US" dirty="0">
                <a:highlight>
                  <a:srgbClr val="FFFF00"/>
                </a:highlight>
              </a:rPr>
              <a:t>finds </a:t>
            </a:r>
            <a:r>
              <a:rPr lang="en-US" i="1" dirty="0">
                <a:highlight>
                  <a:srgbClr val="FFFF00"/>
                </a:highlight>
              </a:rPr>
              <a:t>linear combinations </a:t>
            </a:r>
            <a:r>
              <a:rPr lang="en-US" dirty="0">
                <a:highlight>
                  <a:srgbClr val="FFFF00"/>
                </a:highlight>
              </a:rPr>
              <a:t>of features </a:t>
            </a:r>
            <a:r>
              <a:rPr lang="en-US" dirty="0"/>
              <a:t>that explain the most variation in the data </a:t>
            </a:r>
            <a:endParaRPr lang="lt-L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B0449-1628-F84C-8708-2864D96D4507}"/>
              </a:ext>
            </a:extLst>
          </p:cNvPr>
          <p:cNvSpPr txBox="1"/>
          <p:nvPr/>
        </p:nvSpPr>
        <p:spPr>
          <a:xfrm>
            <a:off x="1030514" y="2223923"/>
            <a:ext cx="86069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 err="1"/>
              <a:t>Here’s</a:t>
            </a:r>
            <a:r>
              <a:rPr lang="lt-LT" dirty="0"/>
              <a:t> </a:t>
            </a:r>
            <a:r>
              <a:rPr lang="lt-LT" dirty="0" err="1"/>
              <a:t>how</a:t>
            </a:r>
            <a:r>
              <a:rPr lang="lt-LT" dirty="0"/>
              <a:t> it </a:t>
            </a:r>
            <a:r>
              <a:rPr lang="lt-LT" dirty="0" err="1"/>
              <a:t>works</a:t>
            </a:r>
            <a:r>
              <a:rPr lang="lt-LT" dirty="0"/>
              <a:t>:</a:t>
            </a:r>
          </a:p>
          <a:p>
            <a:r>
              <a:rPr lang="en-US" dirty="0">
                <a:highlight>
                  <a:srgbClr val="FFFF00"/>
                </a:highlight>
              </a:rPr>
              <a:t>1. Create a scatter plot and find the center of the data </a:t>
            </a:r>
            <a:endParaRPr lang="lt-LT" dirty="0">
              <a:highlight>
                <a:srgbClr val="FFFF00"/>
              </a:highlight>
            </a:endParaRPr>
          </a:p>
          <a:p>
            <a:r>
              <a:rPr lang="en-US" dirty="0"/>
              <a:t>2. Trace a line through the center that captures the most spread, or variation, in the data – this is the </a:t>
            </a:r>
            <a:r>
              <a:rPr lang="en-US" b="1" dirty="0"/>
              <a:t>first principal component (PC1) </a:t>
            </a:r>
            <a:endParaRPr lang="lt-LT" b="1" dirty="0"/>
          </a:p>
          <a:p>
            <a:r>
              <a:rPr lang="en-US" dirty="0"/>
              <a:t>3. Create another line perpendicular to the first one that captures the most spread, or variation, in the data– this is the </a:t>
            </a:r>
            <a:r>
              <a:rPr lang="en-US" b="1" dirty="0"/>
              <a:t>second principal component (PC2) </a:t>
            </a:r>
            <a:endParaRPr lang="lt-LT" b="1" dirty="0"/>
          </a:p>
          <a:p>
            <a:r>
              <a:rPr lang="en-US" dirty="0"/>
              <a:t>4. Repeat Step 3 until you have as many principal components as original columns </a:t>
            </a:r>
            <a:endParaRPr lang="lt-LT" dirty="0"/>
          </a:p>
          <a:p>
            <a:r>
              <a:rPr lang="en-US" dirty="0"/>
              <a:t>5. </a:t>
            </a:r>
            <a:r>
              <a:rPr lang="en-US" dirty="0">
                <a:highlight>
                  <a:srgbClr val="FFFF00"/>
                </a:highlight>
              </a:rPr>
              <a:t>To reduce dimensions, keep a subset of principal components (i.e. PC1 only</a:t>
            </a:r>
            <a:r>
              <a:rPr lang="lt-LT" dirty="0">
                <a:highlight>
                  <a:srgbClr val="FFFF00"/>
                </a:highlight>
              </a:rPr>
              <a:t>)</a:t>
            </a:r>
          </a:p>
          <a:p>
            <a:endParaRPr lang="lt-LT" dirty="0"/>
          </a:p>
          <a:p>
            <a:r>
              <a:rPr lang="en-US" dirty="0"/>
              <a:t>Example use cases: </a:t>
            </a:r>
            <a:endParaRPr lang="lt-LT" dirty="0"/>
          </a:p>
          <a:p>
            <a:r>
              <a:rPr lang="en-US" dirty="0"/>
              <a:t>• Visualizing clusters in fewer dimensions to spot-check clustering/segmentation results </a:t>
            </a:r>
            <a:endParaRPr lang="lt-LT" dirty="0"/>
          </a:p>
          <a:p>
            <a:r>
              <a:rPr lang="en-US" dirty="0"/>
              <a:t>• Improving a model’s predictive power by reducing redundant or unnecessary dimensions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063271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AFF9B60-7CA0-3B42-42EB-E028A684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PRINCIPAL COMPONENT ANALYSIS</a:t>
            </a:r>
          </a:p>
        </p:txBody>
      </p:sp>
      <p:pic>
        <p:nvPicPr>
          <p:cNvPr id="4" name="Paveikslėlis 3" descr="Paveikslėlis, kuriame yra diagrama, linija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F8762FAB-D38E-9158-F1BA-983D7520F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14" y="1470566"/>
            <a:ext cx="2398430" cy="1784785"/>
          </a:xfrm>
          <a:prstGeom prst="rect">
            <a:avLst/>
          </a:prstGeom>
        </p:spPr>
      </p:pic>
      <p:pic>
        <p:nvPicPr>
          <p:cNvPr id="6" name="Paveikslėlis 5" descr="Paveikslėlis, kuriame yra lin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600639F5-FFA7-2B10-CFF3-66C48F630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630" y="1448916"/>
            <a:ext cx="2398431" cy="1898758"/>
          </a:xfrm>
          <a:prstGeom prst="rect">
            <a:avLst/>
          </a:prstGeom>
        </p:spPr>
      </p:pic>
      <p:pic>
        <p:nvPicPr>
          <p:cNvPr id="10" name="Paveikslėlis 9" descr="Paveikslėlis, kuriame yra lin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E3DACD49-F115-8837-8032-19CCE9396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14" y="3892079"/>
            <a:ext cx="3597016" cy="2774129"/>
          </a:xfrm>
          <a:prstGeom prst="rect">
            <a:avLst/>
          </a:prstGeom>
        </p:spPr>
      </p:pic>
      <p:pic>
        <p:nvPicPr>
          <p:cNvPr id="12" name="Paveikslėlis 11" descr="Paveikslėlis, kuriame yra linija, ekrano kop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BB89CF31-DC23-887E-274D-441F075DF9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722" y="4065412"/>
            <a:ext cx="3869617" cy="2600796"/>
          </a:xfrm>
          <a:prstGeom prst="rect">
            <a:avLst/>
          </a:prstGeom>
        </p:spPr>
      </p:pic>
      <p:pic>
        <p:nvPicPr>
          <p:cNvPr id="14" name="Paveikslėlis 13" descr="Paveikslėlis, kuriame yra linija&#10;&#10;Dirbtinio intelekto sugeneruotas turinys gali būti neteisingas.">
            <a:extLst>
              <a:ext uri="{FF2B5EF4-FFF2-40B4-BE49-F238E27FC236}">
                <a16:creationId xmlns:a16="http://schemas.microsoft.com/office/drawing/2014/main" id="{59ADB1FB-AD89-121B-C0A9-B45808E2D5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0975" y="3409023"/>
            <a:ext cx="4309096" cy="2774130"/>
          </a:xfrm>
          <a:prstGeom prst="rect">
            <a:avLst/>
          </a:prstGeom>
        </p:spPr>
      </p:pic>
      <p:pic>
        <p:nvPicPr>
          <p:cNvPr id="16" name="Paveikslėlis 15" descr="Paveikslėlis, kuriame yra tekstas, ekrano kopija, linija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C5448D9F-5ED2-68C4-B56C-11A10FFEEC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070" y="1226693"/>
            <a:ext cx="5384016" cy="236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70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263FCC2-DE70-1E2A-803A-9A835010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PRINCIPAL COMPONENT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AEDAF-5948-B350-89E3-869B73F3AE42}"/>
              </a:ext>
            </a:extLst>
          </p:cNvPr>
          <p:cNvSpPr txBox="1"/>
          <p:nvPr/>
        </p:nvSpPr>
        <p:spPr>
          <a:xfrm>
            <a:off x="838200" y="1690688"/>
            <a:ext cx="10120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By using principal component analysis, we’ve reduced the number of columns (dimensions) in the data while losing as little information as possible </a:t>
            </a:r>
            <a:endParaRPr lang="lt-LT" dirty="0"/>
          </a:p>
        </p:txBody>
      </p:sp>
      <p:pic>
        <p:nvPicPr>
          <p:cNvPr id="6" name="Paveikslėlis 5" descr="Paveikslėlis, kuriame yra tekstas, linija, ekrano kopija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50D253A5-F833-2BF3-9258-F958DD9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2337019"/>
            <a:ext cx="10993384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02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F0819-EAC3-78D2-1328-AD4364051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8DA621B-BAC2-3FC2-F3DA-396F8E02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PRINCIPAL COMPONENT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FF0B9-0FD0-76F2-0E10-80505D0515C4}"/>
              </a:ext>
            </a:extLst>
          </p:cNvPr>
          <p:cNvSpPr txBox="1"/>
          <p:nvPr/>
        </p:nvSpPr>
        <p:spPr>
          <a:xfrm>
            <a:off x="838200" y="1690688"/>
            <a:ext cx="10120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By using principal component analysis, we’ve reduced the number of columns (dimensions) in the data while losing as little information as possible </a:t>
            </a:r>
            <a:endParaRPr lang="lt-LT" dirty="0"/>
          </a:p>
        </p:txBody>
      </p:sp>
      <p:pic>
        <p:nvPicPr>
          <p:cNvPr id="5" name="Paveikslėlis 4" descr="Paveikslėlis, kuriame yra ekrano kopija, tekstas, linija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D35DAD69-176B-09CE-15AF-CDC2F6528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61" y="2337019"/>
            <a:ext cx="10840963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93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8F6BFD2-4BF4-702D-6636-F5D33458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PRINCIPAL COMPONENT ANALYSIS IN PYTHON </a:t>
            </a:r>
            <a:endParaRPr lang="lt-LT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C75BD-FE46-37BF-010E-0CC1607C1155}"/>
              </a:ext>
            </a:extLst>
          </p:cNvPr>
          <p:cNvSpPr txBox="1"/>
          <p:nvPr/>
        </p:nvSpPr>
        <p:spPr>
          <a:xfrm>
            <a:off x="1161143" y="1991864"/>
            <a:ext cx="9681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 err="1"/>
              <a:t>Use</a:t>
            </a:r>
            <a:r>
              <a:rPr lang="lt-LT" dirty="0"/>
              <a:t> </a:t>
            </a:r>
            <a:r>
              <a:rPr lang="en-US" dirty="0" err="1"/>
              <a:t>sklearn’s</a:t>
            </a:r>
            <a:r>
              <a:rPr lang="en-US" dirty="0"/>
              <a:t> </a:t>
            </a:r>
            <a:r>
              <a:rPr lang="en-US" b="1" dirty="0"/>
              <a:t>PCA()</a:t>
            </a:r>
            <a:r>
              <a:rPr lang="lt-LT" b="1" dirty="0"/>
              <a:t> </a:t>
            </a:r>
            <a:r>
              <a:rPr lang="en-US" dirty="0"/>
              <a:t>to apply the </a:t>
            </a:r>
            <a:r>
              <a:rPr lang="en-US" dirty="0">
                <a:highlight>
                  <a:srgbClr val="FFFF00"/>
                </a:highlight>
              </a:rPr>
              <a:t>Principal Component Analysis </a:t>
            </a:r>
            <a:r>
              <a:rPr lang="en-US" dirty="0"/>
              <a:t>algorithm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E707606F-7965-F954-9F59-421234AA6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2372"/>
            <a:ext cx="7283908" cy="383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07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5BDC-BE95-B5AC-892F-A5283AC7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BB0F54D-724F-14A0-C0C2-52442449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PRINCIPAL COMPONENT ANALYSIS IN PYTHON </a:t>
            </a:r>
            <a:endParaRPr lang="lt-LT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910C2-AEBF-A0E7-D9EA-922A0330263C}"/>
              </a:ext>
            </a:extLst>
          </p:cNvPr>
          <p:cNvSpPr txBox="1"/>
          <p:nvPr/>
        </p:nvSpPr>
        <p:spPr>
          <a:xfrm>
            <a:off x="1161143" y="1991864"/>
            <a:ext cx="9681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 err="1"/>
              <a:t>Use</a:t>
            </a:r>
            <a:r>
              <a:rPr lang="lt-LT" dirty="0"/>
              <a:t> </a:t>
            </a:r>
            <a:r>
              <a:rPr lang="en-US" dirty="0" err="1"/>
              <a:t>sklearn’s</a:t>
            </a:r>
            <a:r>
              <a:rPr lang="en-US" dirty="0"/>
              <a:t> </a:t>
            </a:r>
            <a:r>
              <a:rPr lang="en-US" b="1" dirty="0"/>
              <a:t>PCA()</a:t>
            </a:r>
            <a:r>
              <a:rPr lang="lt-LT" b="1" dirty="0"/>
              <a:t> </a:t>
            </a:r>
            <a:r>
              <a:rPr lang="en-US" dirty="0"/>
              <a:t>to apply the Principal Component Analysis algorithm</a:t>
            </a:r>
            <a:endParaRPr lang="lt-LT" dirty="0"/>
          </a:p>
        </p:txBody>
      </p:sp>
      <p:pic>
        <p:nvPicPr>
          <p:cNvPr id="5" name="Paveikslėlis 4" descr="Paveikslėlis, kuriame yra tekstas, ekrano kopija, Šriftas, Tinklalapis&#10;&#10;Dirbtinio intelekto sugeneruotas turinys gali būti neteisingas.">
            <a:extLst>
              <a:ext uri="{FF2B5EF4-FFF2-40B4-BE49-F238E27FC236}">
                <a16:creationId xmlns:a16="http://schemas.microsoft.com/office/drawing/2014/main" id="{A9262382-E39C-5DBB-979E-0D4E1BE79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858" y="2662372"/>
            <a:ext cx="8148000" cy="423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7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00EE84D-71A3-0A60-DCC8-9B29BB39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EXPLAINED VARIANCE RATIO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3C95E-54E8-B8A2-9445-75B80D636B0E}"/>
              </a:ext>
            </a:extLst>
          </p:cNvPr>
          <p:cNvSpPr txBox="1"/>
          <p:nvPr/>
        </p:nvSpPr>
        <p:spPr>
          <a:xfrm>
            <a:off x="1103086" y="1524951"/>
            <a:ext cx="95649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explained variance ratio shows how much of the variation from the data is captured by each principal component 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• The first component will always capture the most variance, and then it decreases from there 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• The sum of the explained variance ratios across all components will be equal to 1 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7DBDCB2E-19D9-5EE0-2432-D4D98298D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97685"/>
            <a:ext cx="10374173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75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5105F14-1414-4B9D-2CE1-C3FC8E9B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INTERPRETING PCA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7E38F-6070-CDBD-DCA9-291582C49315}"/>
              </a:ext>
            </a:extLst>
          </p:cNvPr>
          <p:cNvSpPr txBox="1"/>
          <p:nvPr/>
        </p:nvSpPr>
        <p:spPr>
          <a:xfrm>
            <a:off x="838199" y="1690688"/>
            <a:ext cx="9452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.components_ </a:t>
            </a:r>
            <a:r>
              <a:rPr lang="en-US" dirty="0"/>
              <a:t>attribute lets you interpret the principal components</a:t>
            </a:r>
            <a:endParaRPr lang="lt-LT" dirty="0"/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B6DACE96-59B1-83DE-3734-E1EB67038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08" y="2671842"/>
            <a:ext cx="9650519" cy="379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29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F1A67AC-F7D6-206D-A3D7-7574B648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743" y="365125"/>
            <a:ext cx="10599057" cy="1158875"/>
          </a:xfrm>
        </p:spPr>
        <p:txBody>
          <a:bodyPr/>
          <a:lstStyle/>
          <a:p>
            <a:r>
              <a:rPr lang="lt-LT" dirty="0"/>
              <a:t>VISUALIZING PCA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16DCD-27E6-3939-705B-BCAADECA8613}"/>
              </a:ext>
            </a:extLst>
          </p:cNvPr>
          <p:cNvSpPr txBox="1"/>
          <p:nvPr/>
        </p:nvSpPr>
        <p:spPr>
          <a:xfrm>
            <a:off x="838199" y="1374392"/>
            <a:ext cx="10163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U</a:t>
            </a:r>
            <a:r>
              <a:rPr lang="en-US" dirty="0"/>
              <a:t>se the </a:t>
            </a:r>
            <a:r>
              <a:rPr lang="en-US" b="1" dirty="0"/>
              <a:t>.transform()</a:t>
            </a:r>
            <a:r>
              <a:rPr lang="lt-LT" b="1" dirty="0"/>
              <a:t> </a:t>
            </a:r>
            <a:r>
              <a:rPr lang="en-US" dirty="0"/>
              <a:t>method to transform the original observations into the new dimensional space, which you can then visualize in a scatter plot</a:t>
            </a:r>
            <a:endParaRPr lang="lt-LT" dirty="0"/>
          </a:p>
        </p:txBody>
      </p:sp>
      <p:pic>
        <p:nvPicPr>
          <p:cNvPr id="6" name="Paveikslėlis 5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05C1B9C6-9EFD-5653-D13C-7CD5CE093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81" y="2365828"/>
            <a:ext cx="9724530" cy="449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79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2039107-91D6-A7B8-29A8-2F526CA5E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VS FEATURE EXTRACTION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A8991-8B86-69F6-D350-BCBADCBCFE0D}"/>
              </a:ext>
            </a:extLst>
          </p:cNvPr>
          <p:cNvSpPr txBox="1"/>
          <p:nvPr/>
        </p:nvSpPr>
        <p:spPr>
          <a:xfrm>
            <a:off x="1640114" y="1690688"/>
            <a:ext cx="8911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feature selection </a:t>
            </a:r>
            <a:r>
              <a:rPr lang="en-US" dirty="0"/>
              <a:t>and </a:t>
            </a:r>
            <a:r>
              <a:rPr lang="en-US" b="1" dirty="0"/>
              <a:t>feature extraction </a:t>
            </a:r>
            <a:r>
              <a:rPr lang="en-US" dirty="0"/>
              <a:t>are both ways to reduce the number of dimensions or columns in a table</a:t>
            </a:r>
            <a:endParaRPr lang="lt-LT" dirty="0"/>
          </a:p>
        </p:txBody>
      </p:sp>
      <p:pic>
        <p:nvPicPr>
          <p:cNvPr id="6" name="Paveikslėlis 5" descr="Paveikslėlis, kuriame yra tekstas, diagrama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7656AF1F-7524-F0FB-EE17-9153AA3C7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214" y="2337019"/>
            <a:ext cx="8911772" cy="45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07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BA04-971A-3BF2-5DA6-4B2BA334D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BE4F026-703B-1E36-E423-C256FACA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VS FEATURE EXTRACTION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D5BF3B-6518-6FFE-9BF2-6BF4A1C76FFB}"/>
              </a:ext>
            </a:extLst>
          </p:cNvPr>
          <p:cNvSpPr txBox="1"/>
          <p:nvPr/>
        </p:nvSpPr>
        <p:spPr>
          <a:xfrm>
            <a:off x="1640114" y="1690688"/>
            <a:ext cx="8911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feature selection </a:t>
            </a:r>
            <a:r>
              <a:rPr lang="en-US" dirty="0"/>
              <a:t>and </a:t>
            </a:r>
            <a:r>
              <a:rPr lang="en-US" b="1" dirty="0"/>
              <a:t>feature extraction </a:t>
            </a:r>
            <a:r>
              <a:rPr lang="en-US" dirty="0"/>
              <a:t>are both ways to reduce the number of dimensions or columns in a table</a:t>
            </a:r>
            <a:endParaRPr lang="lt-LT" dirty="0"/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441DB9B-FDC4-A6DA-FBC9-6B50C90DC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2399678"/>
            <a:ext cx="11050542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85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72E6E26-FAC5-B44E-EE34-E5837FDE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PCA 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15334-6A8A-DFCA-C337-8A86A82E4057}"/>
              </a:ext>
            </a:extLst>
          </p:cNvPr>
          <p:cNvSpPr txBox="1"/>
          <p:nvPr/>
        </p:nvSpPr>
        <p:spPr>
          <a:xfrm>
            <a:off x="1045029" y="1711182"/>
            <a:ext cx="809897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Once you have fit and interpreted a PCA model, the next steps are: </a:t>
            </a:r>
            <a:endParaRPr lang="lt-LT" dirty="0"/>
          </a:p>
          <a:p>
            <a:endParaRPr lang="lt-LT" b="1" dirty="0"/>
          </a:p>
          <a:p>
            <a:r>
              <a:rPr lang="en-US" b="1" dirty="0"/>
              <a:t>Data Visualization </a:t>
            </a:r>
            <a:endParaRPr lang="lt-LT" b="1" dirty="0"/>
          </a:p>
          <a:p>
            <a:r>
              <a:rPr lang="en-US" dirty="0"/>
              <a:t>• If you’re able to distinguish data points visually, you’re all set! </a:t>
            </a:r>
            <a:endParaRPr lang="lt-LT" dirty="0"/>
          </a:p>
          <a:p>
            <a:r>
              <a:rPr lang="en-US" dirty="0"/>
              <a:t>• If it’s difficult to visually distinguish data points: </a:t>
            </a:r>
            <a:endParaRPr lang="lt-LT" dirty="0"/>
          </a:p>
          <a:p>
            <a:r>
              <a:rPr lang="en-US" dirty="0"/>
              <a:t>	• You can vary the inputs, modify the number of dimensions, etc. </a:t>
            </a:r>
            <a:endParaRPr lang="lt-LT" dirty="0"/>
          </a:p>
          <a:p>
            <a:r>
              <a:rPr lang="en-US" dirty="0"/>
              <a:t>	• You can try other dimensionality reduction techniques</a:t>
            </a:r>
            <a:r>
              <a:rPr lang="lt-LT" dirty="0"/>
              <a:t> – t-SNE.</a:t>
            </a:r>
          </a:p>
          <a:p>
            <a:r>
              <a:rPr lang="en-US" b="1" dirty="0"/>
              <a:t>Modeling </a:t>
            </a:r>
            <a:endParaRPr lang="lt-LT" b="1" dirty="0"/>
          </a:p>
          <a:p>
            <a:r>
              <a:rPr lang="en-US" dirty="0"/>
              <a:t>• Once you’ve identified the principal components, they can used be inputs into a machine learning model </a:t>
            </a:r>
            <a:endParaRPr lang="lt-LT" dirty="0"/>
          </a:p>
          <a:p>
            <a:r>
              <a:rPr lang="en-US" dirty="0"/>
              <a:t>• You’ll need to apply the same PCA transformations to the test data</a:t>
            </a:r>
            <a:endParaRPr lang="lt-LT" dirty="0"/>
          </a:p>
          <a:p>
            <a:endParaRPr lang="lt-LT" dirty="0"/>
          </a:p>
          <a:p>
            <a:r>
              <a:rPr lang="en-US" dirty="0"/>
              <a:t>While PCA is a good technique for reducing dimensions to potentially increase predictive model performance, one of the main downsides is that the </a:t>
            </a:r>
            <a:r>
              <a:rPr lang="en-US" dirty="0">
                <a:highlight>
                  <a:srgbClr val="FFFF00"/>
                </a:highlight>
              </a:rPr>
              <a:t>transformed features are difficult to interpret </a:t>
            </a:r>
            <a:endParaRPr lang="lt-LT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58599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13C99A1-FF5A-C94E-DBF8-300E77F1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T-SNE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F5849-9E03-E827-10E8-9BB1CA32791F}"/>
              </a:ext>
            </a:extLst>
          </p:cNvPr>
          <p:cNvSpPr txBox="1"/>
          <p:nvPr/>
        </p:nvSpPr>
        <p:spPr>
          <a:xfrm>
            <a:off x="838200" y="1461478"/>
            <a:ext cx="10758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t-Distributed Stochastic Neighbor Embedding (t-SNE) is a non-linear dimensionality reduction technique that emphasizes relationships between points</a:t>
            </a:r>
            <a:endParaRPr lang="lt-LT" dirty="0"/>
          </a:p>
        </p:txBody>
      </p:sp>
      <p:pic>
        <p:nvPicPr>
          <p:cNvPr id="6" name="Paveikslėlis 5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3B4A0E15-2EE5-9C68-D5E1-AF9FC8825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143" y="2467429"/>
            <a:ext cx="8316213" cy="414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2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3180E-E990-B8AF-E6B9-44B7BC98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A5F7102-8023-AF11-38D1-0F10E60F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T-SNE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8C7BAA-FBA4-E8D7-DC6E-4D0A9ABE1876}"/>
              </a:ext>
            </a:extLst>
          </p:cNvPr>
          <p:cNvSpPr txBox="1"/>
          <p:nvPr/>
        </p:nvSpPr>
        <p:spPr>
          <a:xfrm>
            <a:off x="838200" y="1461478"/>
            <a:ext cx="10758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t-Distributed Stochastic Neighbor Embedding (t-SNE) is a non-linear dimensionality reduction technique that emphasizes relationships between points</a:t>
            </a:r>
            <a:endParaRPr lang="lt-L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0BE94-4571-0935-A2A5-6FEA66410F98}"/>
              </a:ext>
            </a:extLst>
          </p:cNvPr>
          <p:cNvSpPr txBox="1"/>
          <p:nvPr/>
        </p:nvSpPr>
        <p:spPr>
          <a:xfrm>
            <a:off x="1132114" y="2384255"/>
            <a:ext cx="97245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 err="1"/>
              <a:t>Here’s</a:t>
            </a:r>
            <a:r>
              <a:rPr lang="lt-LT" dirty="0"/>
              <a:t> </a:t>
            </a:r>
            <a:r>
              <a:rPr lang="lt-LT" dirty="0" err="1"/>
              <a:t>how</a:t>
            </a:r>
            <a:r>
              <a:rPr lang="lt-LT" dirty="0"/>
              <a:t> it </a:t>
            </a:r>
            <a:r>
              <a:rPr lang="lt-LT" dirty="0" err="1"/>
              <a:t>works</a:t>
            </a:r>
            <a:r>
              <a:rPr lang="lt-LT" dirty="0"/>
              <a:t>: </a:t>
            </a:r>
            <a:endParaRPr lang="en-US"/>
          </a:p>
          <a:p>
            <a:endParaRPr lang="lt-LT" dirty="0"/>
          </a:p>
          <a:p>
            <a:pPr marL="342900" indent="-342900">
              <a:buAutoNum type="arabicPeriod"/>
            </a:pPr>
            <a:r>
              <a:rPr lang="en-US" dirty="0"/>
              <a:t>Calculate the distance between points in a high-dimensional space </a:t>
            </a:r>
            <a:endParaRPr lang="lt-LT" dirty="0"/>
          </a:p>
          <a:p>
            <a:r>
              <a:rPr lang="en-US" dirty="0"/>
              <a:t>2. Use the distances to calculate the</a:t>
            </a:r>
            <a:r>
              <a:rPr lang="en-US" b="1" dirty="0"/>
              <a:t> affinity score (0-1) </a:t>
            </a:r>
            <a:r>
              <a:rPr lang="en-US" dirty="0"/>
              <a:t>for each point with the rest; in other words, how likely it is that they are “neighbors” (high affinity score = high probability of being neighbors) </a:t>
            </a:r>
            <a:endParaRPr lang="lt-LT" dirty="0"/>
          </a:p>
          <a:p>
            <a:r>
              <a:rPr lang="en-US" dirty="0"/>
              <a:t>3. Calculate the average affinity score for each pair of points</a:t>
            </a:r>
            <a:br>
              <a:rPr lang="lt-LT" dirty="0"/>
            </a:br>
            <a:r>
              <a:rPr lang="en-US" dirty="0"/>
              <a:t>4. Randomly place the data points in a low dimensional space </a:t>
            </a:r>
            <a:r>
              <a:rPr lang="lt-LT" dirty="0"/>
              <a:t>– 2D</a:t>
            </a:r>
          </a:p>
          <a:p>
            <a:r>
              <a:rPr lang="en-US" dirty="0"/>
              <a:t>5. Use the affinity scores between pairs to attract (high affinity) or repulse (low affinity) the points until they have “</a:t>
            </a:r>
            <a:r>
              <a:rPr lang="en-US" b="1" dirty="0"/>
              <a:t>stabilized</a:t>
            </a:r>
            <a:r>
              <a:rPr lang="en-US" dirty="0"/>
              <a:t>” into their final position </a:t>
            </a:r>
            <a:endParaRPr lang="lt-LT" dirty="0"/>
          </a:p>
          <a:p>
            <a:endParaRPr lang="lt-LT" dirty="0"/>
          </a:p>
          <a:p>
            <a:endParaRPr lang="lt-LT" dirty="0"/>
          </a:p>
          <a:p>
            <a:r>
              <a:rPr lang="en-US" dirty="0"/>
              <a:t>Example use cases: </a:t>
            </a:r>
            <a:endParaRPr lang="lt-LT" dirty="0"/>
          </a:p>
          <a:p>
            <a:r>
              <a:rPr lang="en-US" dirty="0"/>
              <a:t>• Visualizing clusters in limited dimensions to spot-check cluster/segmentation outputs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315116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vadinimas 5">
            <a:extLst>
              <a:ext uri="{FF2B5EF4-FFF2-40B4-BE49-F238E27FC236}">
                <a16:creationId xmlns:a16="http://schemas.microsoft.com/office/drawing/2014/main" id="{ABD1178E-CB09-7859-F016-336614B0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T-SNE</a:t>
            </a:r>
          </a:p>
        </p:txBody>
      </p:sp>
      <p:pic>
        <p:nvPicPr>
          <p:cNvPr id="8" name="Paveikslėlis 7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DA15463E-6CA0-334C-4867-3F2AC2020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7" y="1475624"/>
            <a:ext cx="10526594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07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5B2D5-EC73-1092-B6B5-FC6A7ACA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vadinimas 5">
            <a:extLst>
              <a:ext uri="{FF2B5EF4-FFF2-40B4-BE49-F238E27FC236}">
                <a16:creationId xmlns:a16="http://schemas.microsoft.com/office/drawing/2014/main" id="{8FF84C22-9EBF-F2F7-D7C6-63AFEFB9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T-SNE</a:t>
            </a:r>
          </a:p>
        </p:txBody>
      </p:sp>
      <p:pic>
        <p:nvPicPr>
          <p:cNvPr id="3" name="Paveikslėlis 2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3E91837A-4FDF-05D7-DC2C-32AD78290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0" y="1514403"/>
            <a:ext cx="9781821" cy="49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00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2C6D-763C-D16C-CAFF-B3108A343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vadinimas 5">
            <a:extLst>
              <a:ext uri="{FF2B5EF4-FFF2-40B4-BE49-F238E27FC236}">
                <a16:creationId xmlns:a16="http://schemas.microsoft.com/office/drawing/2014/main" id="{D237C925-B594-7AAF-F237-0D8D608B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T-SNE</a:t>
            </a:r>
          </a:p>
        </p:txBody>
      </p:sp>
      <p:pic>
        <p:nvPicPr>
          <p:cNvPr id="4" name="Paveikslėlis 3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963F57EA-A961-402A-7C72-759AC4C34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886" y="1549797"/>
            <a:ext cx="9144990" cy="467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80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F8CE-D4A8-EDDC-69D4-00CFAA3B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vadinimas 5">
            <a:extLst>
              <a:ext uri="{FF2B5EF4-FFF2-40B4-BE49-F238E27FC236}">
                <a16:creationId xmlns:a16="http://schemas.microsoft.com/office/drawing/2014/main" id="{4111632D-BF3A-E27D-3297-A278B877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T-SNE</a:t>
            </a:r>
          </a:p>
        </p:txBody>
      </p:sp>
      <p:pic>
        <p:nvPicPr>
          <p:cNvPr id="3" name="Paveikslėlis 2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E6806F06-28B0-DB0F-5B30-8819556BD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940" y="1281973"/>
            <a:ext cx="9450119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85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3D81-E35D-43FF-C799-84786865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vadinimas 5">
            <a:extLst>
              <a:ext uri="{FF2B5EF4-FFF2-40B4-BE49-F238E27FC236}">
                <a16:creationId xmlns:a16="http://schemas.microsoft.com/office/drawing/2014/main" id="{35046C7D-60EE-B2A4-9108-6ACB22244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T-SNE</a:t>
            </a:r>
          </a:p>
        </p:txBody>
      </p:sp>
      <p:pic>
        <p:nvPicPr>
          <p:cNvPr id="4" name="Paveikslėlis 3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669C1495-217C-4E2F-2451-4A31CC8D0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460"/>
            <a:ext cx="9491759" cy="464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11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A56879D-5F2B-1737-0DC2-C87D1A1C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T-SNE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62282-CEF6-2114-F8BA-78A95939B70F}"/>
              </a:ext>
            </a:extLst>
          </p:cNvPr>
          <p:cNvSpPr txBox="1"/>
          <p:nvPr/>
        </p:nvSpPr>
        <p:spPr>
          <a:xfrm>
            <a:off x="1117599" y="1570949"/>
            <a:ext cx="9216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U</a:t>
            </a:r>
            <a:r>
              <a:rPr lang="en-US" dirty="0"/>
              <a:t>se </a:t>
            </a:r>
            <a:r>
              <a:rPr lang="en-US" dirty="0" err="1"/>
              <a:t>sklearn’s</a:t>
            </a:r>
            <a:r>
              <a:rPr lang="en-US" dirty="0"/>
              <a:t> TSNE() to apply the t-SNE algorithm in Python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39EEE725-A210-EF2C-0C76-CF563586B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127" y="2082184"/>
            <a:ext cx="8611802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66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F359-99E8-E587-9A19-F0EDF771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39E00D1-55B3-0DC0-B463-7A0989B5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T-SNE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B2F9F-23AB-401E-EEF2-D438C7F5065E}"/>
              </a:ext>
            </a:extLst>
          </p:cNvPr>
          <p:cNvSpPr txBox="1"/>
          <p:nvPr/>
        </p:nvSpPr>
        <p:spPr>
          <a:xfrm>
            <a:off x="1117599" y="1570949"/>
            <a:ext cx="9216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U</a:t>
            </a:r>
            <a:r>
              <a:rPr lang="en-US" dirty="0"/>
              <a:t>se </a:t>
            </a:r>
            <a:r>
              <a:rPr lang="en-US" dirty="0" err="1"/>
              <a:t>sklearn’s</a:t>
            </a:r>
            <a:r>
              <a:rPr lang="en-US" dirty="0"/>
              <a:t> TSNE() to apply the t-SNE algorithm in Python</a:t>
            </a:r>
            <a:endParaRPr lang="lt-LT" dirty="0"/>
          </a:p>
        </p:txBody>
      </p:sp>
      <p:pic>
        <p:nvPicPr>
          <p:cNvPr id="5" name="Paveikslėlis 4" descr="Paveikslėlis, kuriame yra tekstas, Šriftas, linija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5D180C64-D15D-2C19-F25F-8549C0354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27" y="2352046"/>
            <a:ext cx="10736173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29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C15355C-D956-FB9F-3642-B79921DE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PCA VS T-SNE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ACBA0-660A-8033-25A6-DF90328BC8C9}"/>
              </a:ext>
            </a:extLst>
          </p:cNvPr>
          <p:cNvSpPr txBox="1"/>
          <p:nvPr/>
        </p:nvSpPr>
        <p:spPr>
          <a:xfrm>
            <a:off x="838199" y="1548564"/>
            <a:ext cx="10773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PCA visualizations are more accurate and interpretable, while t-SNE visualizations are better at visually separating groups of data into clusters</a:t>
            </a:r>
            <a:endParaRPr lang="lt-LT" dirty="0"/>
          </a:p>
        </p:txBody>
      </p:sp>
      <p:pic>
        <p:nvPicPr>
          <p:cNvPr id="6" name="Paveikslėlis 5" descr="Paveikslėlis, kuriame yra tekstas, diagrama, ekrano kopija, linija&#10;&#10;Dirbtinio intelekto sugeneruotas turinys gali būti neteisingas.">
            <a:extLst>
              <a:ext uri="{FF2B5EF4-FFF2-40B4-BE49-F238E27FC236}">
                <a16:creationId xmlns:a16="http://schemas.microsoft.com/office/drawing/2014/main" id="{D2AC6792-5362-D85D-E3ED-2F2DAFC04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252" y="2253176"/>
            <a:ext cx="9361177" cy="460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478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715F-5F59-6ECE-C7D7-48D2BC93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0AEAB7A-81CD-0798-66D7-B977AE83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PCA VS T-SNE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70A07-0F24-8047-1035-BF286AD1CF2E}"/>
              </a:ext>
            </a:extLst>
          </p:cNvPr>
          <p:cNvSpPr txBox="1"/>
          <p:nvPr/>
        </p:nvSpPr>
        <p:spPr>
          <a:xfrm>
            <a:off x="838199" y="1548564"/>
            <a:ext cx="10773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PCA visualizations are more accurate and interpretable, while t-SNE visualizations are better at visually separating groups of data into clusters</a:t>
            </a:r>
            <a:endParaRPr lang="lt-LT" dirty="0"/>
          </a:p>
        </p:txBody>
      </p:sp>
      <p:pic>
        <p:nvPicPr>
          <p:cNvPr id="5" name="Paveikslėlis 4" descr="Paveikslėlis, kuriame yra tekstas, ekrano kop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AE6840D0-F62D-FEEA-E1CF-C95023978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343" y="2376775"/>
            <a:ext cx="9176267" cy="420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20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34E60BE-E539-0F85-19D4-842CEA9FD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DIMENSIONALITY REDUCTION &amp; CLUSTERING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272A6-2B03-4852-0601-D6150C88C0AA}"/>
              </a:ext>
            </a:extLst>
          </p:cNvPr>
          <p:cNvSpPr txBox="1"/>
          <p:nvPr/>
        </p:nvSpPr>
        <p:spPr>
          <a:xfrm>
            <a:off x="957941" y="1690688"/>
            <a:ext cx="102470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Visualizations created from dimensionality reduction techniques like PCA and t-SNE can help identify clusters while fitting clustering algorithms</a:t>
            </a:r>
            <a:endParaRPr lang="lt-LT" dirty="0"/>
          </a:p>
        </p:txBody>
      </p:sp>
      <p:pic>
        <p:nvPicPr>
          <p:cNvPr id="6" name="Paveikslėlis 5" descr="Paveikslėlis, kuriame yra diagrama, ekrano kopij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2618172E-76DA-5EF3-F075-593D7F89B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9" y="2337019"/>
            <a:ext cx="9888330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78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503B341-371A-954C-1969-C20AD233F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pic>
        <p:nvPicPr>
          <p:cNvPr id="4" name="Paveikslėlis 3" descr="Paveikslėlis, kuriame yra tekstas, ekrano kopija, Šriftas, dokumentas&#10;&#10;Dirbtinio intelekto sugeneruotas turinys gali būti neteisingas.">
            <a:extLst>
              <a:ext uri="{FF2B5EF4-FFF2-40B4-BE49-F238E27FC236}">
                <a16:creationId xmlns:a16="http://schemas.microsoft.com/office/drawing/2014/main" id="{52F3E60E-70CB-9219-0C06-FC2D87AF4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035" y="1690688"/>
            <a:ext cx="9783929" cy="456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09907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73BA85D3-B2F1-40BD-951E-F1FE103FAADC}"/>
</file>

<file path=customXml/itemProps2.xml><?xml version="1.0" encoding="utf-8"?>
<ds:datastoreItem xmlns:ds="http://schemas.openxmlformats.org/officeDocument/2006/customXml" ds:itemID="{2CC52392-243D-48CC-A705-AF2E9CA21F08}"/>
</file>

<file path=customXml/itemProps3.xml><?xml version="1.0" encoding="utf-8"?>
<ds:datastoreItem xmlns:ds="http://schemas.openxmlformats.org/officeDocument/2006/customXml" ds:itemID="{584B728F-5F00-4C5C-954C-21841A80F7C6}"/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1484</Words>
  <Application>Microsoft Office PowerPoint</Application>
  <PresentationFormat>Plačiaekranė</PresentationFormat>
  <Paragraphs>125</Paragraphs>
  <Slides>42</Slides>
  <Notes>10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„Office“ tema</vt:lpstr>
      <vt:lpstr>  Python Machine Learning</vt:lpstr>
      <vt:lpstr>Common machine learning algorithms</vt:lpstr>
      <vt:lpstr>UNSUPERVISED LEARNING 101</vt:lpstr>
      <vt:lpstr>UNSUPERVISED LEARNING TECHNIQUES</vt:lpstr>
      <vt:lpstr>UNSUPERVISED LEARNING APPLICATIONS</vt:lpstr>
      <vt:lpstr>Unsupervised learning techniques &amp; applications</vt:lpstr>
      <vt:lpstr>CLUSTERING WORKFLOW</vt:lpstr>
      <vt:lpstr>CLUSTERING ALGORITHMS RECAP</vt:lpstr>
      <vt:lpstr>ANOMALY DETECTION IN THE DS WORKFLOW</vt:lpstr>
      <vt:lpstr>RECAP: ANOMALY DETECTION</vt:lpstr>
      <vt:lpstr>DIMENSIONALITY REDUCTION</vt:lpstr>
      <vt:lpstr>DIMENSIONALITY REDUCTION BASICS</vt:lpstr>
      <vt:lpstr>DIMENSIONALITY REDUCTION BASICS</vt:lpstr>
      <vt:lpstr>WHY REDUCE DIMENSIONS?</vt:lpstr>
      <vt:lpstr>DIMENSIONALITY REDUCTION IN DS WORKFLOW</vt:lpstr>
      <vt:lpstr>DIMENSIONALITY REDUCTION WORKFLOW</vt:lpstr>
      <vt:lpstr>PRINCIPAL COMPONENT ANALYSIS</vt:lpstr>
      <vt:lpstr>PRINCIPAL COMPONENT ANALYSIS</vt:lpstr>
      <vt:lpstr>PRINCIPAL COMPONENT ANALYSIS</vt:lpstr>
      <vt:lpstr>PRINCIPAL COMPONENT ANALYSIS</vt:lpstr>
      <vt:lpstr>PRINCIPAL COMPONENT ANALYSIS</vt:lpstr>
      <vt:lpstr>PRINCIPAL COMPONENT ANALYSIS IN PYTHON </vt:lpstr>
      <vt:lpstr>PRINCIPAL COMPONENT ANALYSIS IN PYTHON </vt:lpstr>
      <vt:lpstr>EXPLAINED VARIANCE RATIO</vt:lpstr>
      <vt:lpstr>INTERPRETING PCA</vt:lpstr>
      <vt:lpstr>VISUALIZING PCA</vt:lpstr>
      <vt:lpstr>FEATURE SELECTION VS FEATURE EXTRACTION</vt:lpstr>
      <vt:lpstr>FEATURE SELECTION VS FEATURE EXTRACTION</vt:lpstr>
      <vt:lpstr>PCA NEXT STEPS</vt:lpstr>
      <vt:lpstr>T-SNE</vt:lpstr>
      <vt:lpstr>T-SNE</vt:lpstr>
      <vt:lpstr>T-SNE</vt:lpstr>
      <vt:lpstr>T-SNE</vt:lpstr>
      <vt:lpstr>T-SNE</vt:lpstr>
      <vt:lpstr>T-SNE</vt:lpstr>
      <vt:lpstr>T-SNE</vt:lpstr>
      <vt:lpstr>T-SNE IN PYTHON</vt:lpstr>
      <vt:lpstr>T-SNE IN PYTHON</vt:lpstr>
      <vt:lpstr>PCA VS T-SNE</vt:lpstr>
      <vt:lpstr>PCA VS T-SNE</vt:lpstr>
      <vt:lpstr>DIMENSIONALITY REDUCTION &amp; CLUSTERING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1</cp:revision>
  <dcterms:created xsi:type="dcterms:W3CDTF">2026-02-22T16:58:58Z</dcterms:created>
  <dcterms:modified xsi:type="dcterms:W3CDTF">2026-03-17T12:36:00Z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