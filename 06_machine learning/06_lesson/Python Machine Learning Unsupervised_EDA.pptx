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6"/>
  </p:notesMasterIdLst>
  <p:sldIdLst>
    <p:sldId id="260" r:id="rId2"/>
    <p:sldId id="261" r:id="rId3"/>
    <p:sldId id="262" r:id="rId4"/>
    <p:sldId id="257" r:id="rId5"/>
    <p:sldId id="258" r:id="rId6"/>
    <p:sldId id="263" r:id="rId7"/>
    <p:sldId id="264" r:id="rId8"/>
    <p:sldId id="259" r:id="rId9"/>
    <p:sldId id="265" r:id="rId10"/>
    <p:sldId id="266" r:id="rId11"/>
    <p:sldId id="267" r:id="rId12"/>
    <p:sldId id="268" r:id="rId13"/>
    <p:sldId id="269" r:id="rId14"/>
    <p:sldId id="270" r:id="rId15"/>
    <p:sldId id="272" r:id="rId16"/>
    <p:sldId id="271" r:id="rId17"/>
    <p:sldId id="273" r:id="rId18"/>
    <p:sldId id="274" r:id="rId19"/>
    <p:sldId id="275" r:id="rId20"/>
    <p:sldId id="276" r:id="rId21"/>
    <p:sldId id="277" r:id="rId22"/>
    <p:sldId id="278" r:id="rId23"/>
    <p:sldId id="279" r:id="rId24"/>
    <p:sldId id="280" r:id="rId25"/>
    <p:sldId id="281" r:id="rId26"/>
    <p:sldId id="282" r:id="rId27"/>
    <p:sldId id="283" r:id="rId28"/>
    <p:sldId id="284" r:id="rId29"/>
    <p:sldId id="285" r:id="rId30"/>
    <p:sldId id="286" r:id="rId31"/>
    <p:sldId id="287" r:id="rId32"/>
    <p:sldId id="288" r:id="rId33"/>
    <p:sldId id="289" r:id="rId34"/>
    <p:sldId id="290" r:id="rId35"/>
    <p:sldId id="291" r:id="rId36"/>
    <p:sldId id="292" r:id="rId37"/>
    <p:sldId id="293" r:id="rId38"/>
    <p:sldId id="294" r:id="rId39"/>
    <p:sldId id="295" r:id="rId40"/>
    <p:sldId id="296" r:id="rId41"/>
    <p:sldId id="297" r:id="rId42"/>
    <p:sldId id="298" r:id="rId43"/>
    <p:sldId id="299" r:id="rId44"/>
    <p:sldId id="300" r:id="rId45"/>
  </p:sldIdLst>
  <p:sldSz cx="12192000" cy="6858000"/>
  <p:notesSz cx="6858000" cy="9144000"/>
  <p:defaultTextStyle>
    <a:defPPr>
      <a:defRPr lang="lt-L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098A02E-7112-4141-8A63-C692BC14E8D0}" v="1" dt="2026-03-11T17:17:51.15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980" autoAdjust="0"/>
    <p:restoredTop sz="94660"/>
  </p:normalViewPr>
  <p:slideViewPr>
    <p:cSldViewPr snapToGrid="0">
      <p:cViewPr varScale="1">
        <p:scale>
          <a:sx n="97" d="100"/>
          <a:sy n="97" d="100"/>
        </p:scale>
        <p:origin x="996" y="30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presProps" Target="presProps.xml"/><Relationship Id="rId50" Type="http://schemas.openxmlformats.org/officeDocument/2006/relationships/tableStyles" Target="tableStyles.xml"/><Relationship Id="rId55" Type="http://schemas.openxmlformats.org/officeDocument/2006/relationships/customXml" Target="../customXml/item3.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customXml" Target="../customXml/item1.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viewProps" Target="viewProps.xml"/><Relationship Id="rId8" Type="http://schemas.openxmlformats.org/officeDocument/2006/relationships/slide" Target="slides/slide7.xml"/><Relationship Id="rId51" Type="http://schemas.microsoft.com/office/2016/11/relationships/changesInfo" Target="changesInfos/changesInfo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customXml" Target="../customXml/item2.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Žydrūnė Kelpšaitė" userId="e943768126acec1d" providerId="LiveId" clId="{31712FD7-FA85-48BA-9D35-5382388CFC74}"/>
    <pc:docChg chg="delSld modSld">
      <pc:chgData name="Žydrūnė Kelpšaitė" userId="e943768126acec1d" providerId="LiveId" clId="{31712FD7-FA85-48BA-9D35-5382388CFC74}" dt="2026-03-12T13:02:58.971" v="39" actId="113"/>
      <pc:docMkLst>
        <pc:docMk/>
      </pc:docMkLst>
      <pc:sldChg chg="modSp mod">
        <pc:chgData name="Žydrūnė Kelpšaitė" userId="e943768126acec1d" providerId="LiveId" clId="{31712FD7-FA85-48BA-9D35-5382388CFC74}" dt="2026-02-18T07:45:58.523" v="7" actId="13926"/>
        <pc:sldMkLst>
          <pc:docMk/>
          <pc:sldMk cId="525665825" sldId="257"/>
        </pc:sldMkLst>
        <pc:spChg chg="mod">
          <ac:chgData name="Žydrūnė Kelpšaitė" userId="e943768126acec1d" providerId="LiveId" clId="{31712FD7-FA85-48BA-9D35-5382388CFC74}" dt="2026-02-18T07:45:58.523" v="7" actId="13926"/>
          <ac:spMkLst>
            <pc:docMk/>
            <pc:sldMk cId="525665825" sldId="257"/>
            <ac:spMk id="6" creationId="{8F7923C2-2411-204F-1F53-FB5A29B090DD}"/>
          </ac:spMkLst>
        </pc:spChg>
      </pc:sldChg>
      <pc:sldChg chg="modSp mod">
        <pc:chgData name="Žydrūnė Kelpšaitė" userId="e943768126acec1d" providerId="LiveId" clId="{31712FD7-FA85-48BA-9D35-5382388CFC74}" dt="2026-02-18T06:40:48.628" v="5" actId="20577"/>
        <pc:sldMkLst>
          <pc:docMk/>
          <pc:sldMk cId="4182519725" sldId="260"/>
        </pc:sldMkLst>
        <pc:spChg chg="mod">
          <ac:chgData name="Žydrūnė Kelpšaitė" userId="e943768126acec1d" providerId="LiveId" clId="{31712FD7-FA85-48BA-9D35-5382388CFC74}" dt="2026-02-18T06:40:48.628" v="5" actId="20577"/>
          <ac:spMkLst>
            <pc:docMk/>
            <pc:sldMk cId="4182519725" sldId="260"/>
            <ac:spMk id="2" creationId="{551DE627-F873-EE20-9A3B-D8D2E34FDCCE}"/>
          </ac:spMkLst>
        </pc:spChg>
      </pc:sldChg>
      <pc:sldChg chg="modSp mod">
        <pc:chgData name="Žydrūnė Kelpšaitė" userId="e943768126acec1d" providerId="LiveId" clId="{31712FD7-FA85-48BA-9D35-5382388CFC74}" dt="2026-03-12T11:03:42.038" v="31" actId="1076"/>
        <pc:sldMkLst>
          <pc:docMk/>
          <pc:sldMk cId="3911068023" sldId="262"/>
        </pc:sldMkLst>
        <pc:picChg chg="mod">
          <ac:chgData name="Žydrūnė Kelpšaitė" userId="e943768126acec1d" providerId="LiveId" clId="{31712FD7-FA85-48BA-9D35-5382388CFC74}" dt="2026-03-12T11:03:42.038" v="31" actId="1076"/>
          <ac:picMkLst>
            <pc:docMk/>
            <pc:sldMk cId="3911068023" sldId="262"/>
            <ac:picMk id="4" creationId="{5DD8A479-8FC6-C9BE-EF4C-F964D5FA4F16}"/>
          </ac:picMkLst>
        </pc:picChg>
      </pc:sldChg>
      <pc:sldChg chg="modSp mod">
        <pc:chgData name="Žydrūnė Kelpšaitė" userId="e943768126acec1d" providerId="LiveId" clId="{31712FD7-FA85-48BA-9D35-5382388CFC74}" dt="2026-03-12T11:52:53.924" v="33" actId="13926"/>
        <pc:sldMkLst>
          <pc:docMk/>
          <pc:sldMk cId="839025671" sldId="269"/>
        </pc:sldMkLst>
        <pc:spChg chg="mod">
          <ac:chgData name="Žydrūnė Kelpšaitė" userId="e943768126acec1d" providerId="LiveId" clId="{31712FD7-FA85-48BA-9D35-5382388CFC74}" dt="2026-03-12T11:52:53.924" v="33" actId="13926"/>
          <ac:spMkLst>
            <pc:docMk/>
            <pc:sldMk cId="839025671" sldId="269"/>
            <ac:spMk id="4" creationId="{6E86E98A-176E-399F-794D-5B796B4B1D7E}"/>
          </ac:spMkLst>
        </pc:spChg>
      </pc:sldChg>
      <pc:sldChg chg="modSp mod">
        <pc:chgData name="Žydrūnė Kelpšaitė" userId="e943768126acec1d" providerId="LiveId" clId="{31712FD7-FA85-48BA-9D35-5382388CFC74}" dt="2026-03-12T12:25:11.377" v="34" actId="113"/>
        <pc:sldMkLst>
          <pc:docMk/>
          <pc:sldMk cId="2171016230" sldId="273"/>
        </pc:sldMkLst>
        <pc:spChg chg="mod">
          <ac:chgData name="Žydrūnė Kelpšaitė" userId="e943768126acec1d" providerId="LiveId" clId="{31712FD7-FA85-48BA-9D35-5382388CFC74}" dt="2026-03-12T12:25:11.377" v="34" actId="113"/>
          <ac:spMkLst>
            <pc:docMk/>
            <pc:sldMk cId="2171016230" sldId="273"/>
            <ac:spMk id="4" creationId="{B5B4D719-E329-157B-252A-B3283798219E}"/>
          </ac:spMkLst>
        </pc:spChg>
      </pc:sldChg>
      <pc:sldChg chg="modSp mod">
        <pc:chgData name="Žydrūnė Kelpšaitė" userId="e943768126acec1d" providerId="LiveId" clId="{31712FD7-FA85-48BA-9D35-5382388CFC74}" dt="2026-03-12T12:26:28.402" v="35" actId="113"/>
        <pc:sldMkLst>
          <pc:docMk/>
          <pc:sldMk cId="799170983" sldId="274"/>
        </pc:sldMkLst>
        <pc:spChg chg="mod">
          <ac:chgData name="Žydrūnė Kelpšaitė" userId="e943768126acec1d" providerId="LiveId" clId="{31712FD7-FA85-48BA-9D35-5382388CFC74}" dt="2026-03-12T12:26:28.402" v="35" actId="113"/>
          <ac:spMkLst>
            <pc:docMk/>
            <pc:sldMk cId="799170983" sldId="274"/>
            <ac:spMk id="4" creationId="{124FD264-624B-3682-71A6-F7DB6BAE098B}"/>
          </ac:spMkLst>
        </pc:spChg>
      </pc:sldChg>
      <pc:sldChg chg="modSp mod">
        <pc:chgData name="Žydrūnė Kelpšaitė" userId="e943768126acec1d" providerId="LiveId" clId="{31712FD7-FA85-48BA-9D35-5382388CFC74}" dt="2026-03-12T12:35:43.193" v="36" actId="113"/>
        <pc:sldMkLst>
          <pc:docMk/>
          <pc:sldMk cId="1971505546" sldId="275"/>
        </pc:sldMkLst>
        <pc:spChg chg="mod">
          <ac:chgData name="Žydrūnė Kelpšaitė" userId="e943768126acec1d" providerId="LiveId" clId="{31712FD7-FA85-48BA-9D35-5382388CFC74}" dt="2026-03-12T12:35:43.193" v="36" actId="113"/>
          <ac:spMkLst>
            <pc:docMk/>
            <pc:sldMk cId="1971505546" sldId="275"/>
            <ac:spMk id="6" creationId="{9836FD8F-F742-A1BB-8C1D-8620C7028296}"/>
          </ac:spMkLst>
        </pc:spChg>
      </pc:sldChg>
      <pc:sldChg chg="addSp modSp mod">
        <pc:chgData name="Žydrūnė Kelpšaitė" userId="e943768126acec1d" providerId="LiveId" clId="{31712FD7-FA85-48BA-9D35-5382388CFC74}" dt="2026-02-18T08:24:58.838" v="12" actId="113"/>
        <pc:sldMkLst>
          <pc:docMk/>
          <pc:sldMk cId="2392777775" sldId="276"/>
        </pc:sldMkLst>
        <pc:spChg chg="mod">
          <ac:chgData name="Žydrūnė Kelpšaitė" userId="e943768126acec1d" providerId="LiveId" clId="{31712FD7-FA85-48BA-9D35-5382388CFC74}" dt="2026-02-18T08:24:58.838" v="12" actId="113"/>
          <ac:spMkLst>
            <pc:docMk/>
            <pc:sldMk cId="2392777775" sldId="276"/>
            <ac:spMk id="4" creationId="{534DD09B-0E29-4F5B-B5A1-796228D60E1C}"/>
          </ac:spMkLst>
        </pc:spChg>
      </pc:sldChg>
      <pc:sldChg chg="modSp mod">
        <pc:chgData name="Žydrūnė Kelpšaitė" userId="e943768126acec1d" providerId="LiveId" clId="{31712FD7-FA85-48BA-9D35-5382388CFC74}" dt="2026-03-12T12:38:10.262" v="38" actId="113"/>
        <pc:sldMkLst>
          <pc:docMk/>
          <pc:sldMk cId="157173062" sldId="277"/>
        </pc:sldMkLst>
        <pc:spChg chg="mod">
          <ac:chgData name="Žydrūnė Kelpšaitė" userId="e943768126acec1d" providerId="LiveId" clId="{31712FD7-FA85-48BA-9D35-5382388CFC74}" dt="2026-03-12T12:38:10.262" v="38" actId="113"/>
          <ac:spMkLst>
            <pc:docMk/>
            <pc:sldMk cId="157173062" sldId="277"/>
            <ac:spMk id="6" creationId="{C0E939A4-0C79-8394-4B5C-6B43A22C80F6}"/>
          </ac:spMkLst>
        </pc:spChg>
      </pc:sldChg>
      <pc:sldChg chg="modSp mod">
        <pc:chgData name="Žydrūnė Kelpšaitė" userId="e943768126acec1d" providerId="LiveId" clId="{31712FD7-FA85-48BA-9D35-5382388CFC74}" dt="2026-03-11T17:27:15.482" v="19" actId="1076"/>
        <pc:sldMkLst>
          <pc:docMk/>
          <pc:sldMk cId="3172473513" sldId="278"/>
        </pc:sldMkLst>
        <pc:picChg chg="mod">
          <ac:chgData name="Žydrūnė Kelpšaitė" userId="e943768126acec1d" providerId="LiveId" clId="{31712FD7-FA85-48BA-9D35-5382388CFC74}" dt="2026-03-11T17:27:15.482" v="19" actId="1076"/>
          <ac:picMkLst>
            <pc:docMk/>
            <pc:sldMk cId="3172473513" sldId="278"/>
            <ac:picMk id="5" creationId="{DA18C516-8C01-05C3-B229-F15C6D9993BE}"/>
          </ac:picMkLst>
        </pc:picChg>
      </pc:sldChg>
      <pc:sldChg chg="modSp mod">
        <pc:chgData name="Žydrūnė Kelpšaitė" userId="e943768126acec1d" providerId="LiveId" clId="{31712FD7-FA85-48BA-9D35-5382388CFC74}" dt="2026-02-18T08:53:54.648" v="13" actId="207"/>
        <pc:sldMkLst>
          <pc:docMk/>
          <pc:sldMk cId="997307917" sldId="283"/>
        </pc:sldMkLst>
        <pc:spChg chg="mod">
          <ac:chgData name="Žydrūnė Kelpšaitė" userId="e943768126acec1d" providerId="LiveId" clId="{31712FD7-FA85-48BA-9D35-5382388CFC74}" dt="2026-02-18T08:53:54.648" v="13" actId="207"/>
          <ac:spMkLst>
            <pc:docMk/>
            <pc:sldMk cId="997307917" sldId="283"/>
            <ac:spMk id="8" creationId="{D0733618-35DD-F622-B658-4B92605AE6EE}"/>
          </ac:spMkLst>
        </pc:spChg>
      </pc:sldChg>
      <pc:sldChg chg="modSp mod">
        <pc:chgData name="Žydrūnė Kelpšaitė" userId="e943768126acec1d" providerId="LiveId" clId="{31712FD7-FA85-48BA-9D35-5382388CFC74}" dt="2026-03-12T13:02:58.971" v="39" actId="113"/>
        <pc:sldMkLst>
          <pc:docMk/>
          <pc:sldMk cId="1943786002" sldId="284"/>
        </pc:sldMkLst>
        <pc:spChg chg="mod">
          <ac:chgData name="Žydrūnė Kelpšaitė" userId="e943768126acec1d" providerId="LiveId" clId="{31712FD7-FA85-48BA-9D35-5382388CFC74}" dt="2026-03-12T13:02:58.971" v="39" actId="113"/>
          <ac:spMkLst>
            <pc:docMk/>
            <pc:sldMk cId="1943786002" sldId="284"/>
            <ac:spMk id="8" creationId="{5812EF01-C660-D071-9F22-66AB44B76752}"/>
          </ac:spMkLst>
        </pc:spChg>
      </pc:sldChg>
      <pc:sldChg chg="modSp mod">
        <pc:chgData name="Žydrūnė Kelpšaitė" userId="e943768126acec1d" providerId="LiveId" clId="{31712FD7-FA85-48BA-9D35-5382388CFC74}" dt="2026-03-11T17:37:36.582" v="20" actId="113"/>
        <pc:sldMkLst>
          <pc:docMk/>
          <pc:sldMk cId="3499018392" sldId="288"/>
        </pc:sldMkLst>
        <pc:spChg chg="mod">
          <ac:chgData name="Žydrūnė Kelpšaitė" userId="e943768126acec1d" providerId="LiveId" clId="{31712FD7-FA85-48BA-9D35-5382388CFC74}" dt="2026-03-11T17:37:36.582" v="20" actId="113"/>
          <ac:spMkLst>
            <pc:docMk/>
            <pc:sldMk cId="3499018392" sldId="288"/>
            <ac:spMk id="10" creationId="{DED080AE-0DEA-0747-8A0C-994A3C1837FA}"/>
          </ac:spMkLst>
        </pc:spChg>
      </pc:sldChg>
      <pc:sldChg chg="modSp mod">
        <pc:chgData name="Žydrūnė Kelpšaitė" userId="e943768126acec1d" providerId="LiveId" clId="{31712FD7-FA85-48BA-9D35-5382388CFC74}" dt="2026-03-11T17:37:57.483" v="22" actId="113"/>
        <pc:sldMkLst>
          <pc:docMk/>
          <pc:sldMk cId="1395542172" sldId="289"/>
        </pc:sldMkLst>
        <pc:spChg chg="mod">
          <ac:chgData name="Žydrūnė Kelpšaitė" userId="e943768126acec1d" providerId="LiveId" clId="{31712FD7-FA85-48BA-9D35-5382388CFC74}" dt="2026-03-11T17:37:53.979" v="21" actId="113"/>
          <ac:spMkLst>
            <pc:docMk/>
            <pc:sldMk cId="1395542172" sldId="289"/>
            <ac:spMk id="6" creationId="{FD857F5D-E7DE-762C-5103-2F8652CB63EE}"/>
          </ac:spMkLst>
        </pc:spChg>
        <pc:spChg chg="mod">
          <ac:chgData name="Žydrūnė Kelpšaitė" userId="e943768126acec1d" providerId="LiveId" clId="{31712FD7-FA85-48BA-9D35-5382388CFC74}" dt="2026-03-11T17:37:57.483" v="22" actId="113"/>
          <ac:spMkLst>
            <pc:docMk/>
            <pc:sldMk cId="1395542172" sldId="289"/>
            <ac:spMk id="8" creationId="{433AD0AB-6252-45D7-E221-5CC079E3D526}"/>
          </ac:spMkLst>
        </pc:spChg>
      </pc:sldChg>
      <pc:sldChg chg="modSp mod">
        <pc:chgData name="Žydrūnė Kelpšaitė" userId="e943768126acec1d" providerId="LiveId" clId="{31712FD7-FA85-48BA-9D35-5382388CFC74}" dt="2026-02-18T09:11:32.325" v="14" actId="13926"/>
        <pc:sldMkLst>
          <pc:docMk/>
          <pc:sldMk cId="2541195060" sldId="293"/>
        </pc:sldMkLst>
        <pc:spChg chg="mod">
          <ac:chgData name="Žydrūnė Kelpšaitė" userId="e943768126acec1d" providerId="LiveId" clId="{31712FD7-FA85-48BA-9D35-5382388CFC74}" dt="2026-02-18T09:11:32.325" v="14" actId="13926"/>
          <ac:spMkLst>
            <pc:docMk/>
            <pc:sldMk cId="2541195060" sldId="293"/>
            <ac:spMk id="4" creationId="{486126EA-01D3-CC84-EFF4-0E8213A94F40}"/>
          </ac:spMkLst>
        </pc:spChg>
      </pc:sldChg>
      <pc:sldChg chg="modSp mod">
        <pc:chgData name="Žydrūnė Kelpšaitė" userId="e943768126acec1d" providerId="LiveId" clId="{31712FD7-FA85-48BA-9D35-5382388CFC74}" dt="2026-03-11T17:45:47.261" v="25" actId="20577"/>
        <pc:sldMkLst>
          <pc:docMk/>
          <pc:sldMk cId="2348687511" sldId="295"/>
        </pc:sldMkLst>
        <pc:spChg chg="mod">
          <ac:chgData name="Žydrūnė Kelpšaitė" userId="e943768126acec1d" providerId="LiveId" clId="{31712FD7-FA85-48BA-9D35-5382388CFC74}" dt="2026-03-11T17:45:47.261" v="25" actId="20577"/>
          <ac:spMkLst>
            <pc:docMk/>
            <pc:sldMk cId="2348687511" sldId="295"/>
            <ac:spMk id="6" creationId="{80CEB433-DAAD-BF25-0952-2B54061A7698}"/>
          </ac:spMkLst>
        </pc:spChg>
      </pc:sldChg>
      <pc:sldChg chg="modSp mod">
        <pc:chgData name="Žydrūnė Kelpšaitė" userId="e943768126acec1d" providerId="LiveId" clId="{31712FD7-FA85-48BA-9D35-5382388CFC74}" dt="2026-03-11T17:46:47.298" v="30" actId="20577"/>
        <pc:sldMkLst>
          <pc:docMk/>
          <pc:sldMk cId="3231507946" sldId="296"/>
        </pc:sldMkLst>
        <pc:spChg chg="mod">
          <ac:chgData name="Žydrūnė Kelpšaitė" userId="e943768126acec1d" providerId="LiveId" clId="{31712FD7-FA85-48BA-9D35-5382388CFC74}" dt="2026-03-11T17:46:47.298" v="30" actId="20577"/>
          <ac:spMkLst>
            <pc:docMk/>
            <pc:sldMk cId="3231507946" sldId="296"/>
            <ac:spMk id="8" creationId="{E14DE540-77CF-EB80-846D-1C211EC18F09}"/>
          </ac:spMkLst>
        </pc:spChg>
      </pc:sldChg>
      <pc:sldChg chg="modSp mod">
        <pc:chgData name="Žydrūnė Kelpšaitė" userId="e943768126acec1d" providerId="LiveId" clId="{31712FD7-FA85-48BA-9D35-5382388CFC74}" dt="2026-02-18T09:20:39.247" v="16" actId="113"/>
        <pc:sldMkLst>
          <pc:docMk/>
          <pc:sldMk cId="1100193496" sldId="297"/>
        </pc:sldMkLst>
        <pc:spChg chg="mod">
          <ac:chgData name="Žydrūnė Kelpšaitė" userId="e943768126acec1d" providerId="LiveId" clId="{31712FD7-FA85-48BA-9D35-5382388CFC74}" dt="2026-02-18T09:20:39.247" v="16" actId="113"/>
          <ac:spMkLst>
            <pc:docMk/>
            <pc:sldMk cId="1100193496" sldId="297"/>
            <ac:spMk id="4" creationId="{2B123533-32C6-59B3-4EA6-9A737930F4F1}"/>
          </ac:spMkLst>
        </pc:spChg>
      </pc:sldChg>
      <pc:sldChg chg="modSp mod">
        <pc:chgData name="Žydrūnė Kelpšaitė" userId="e943768126acec1d" providerId="LiveId" clId="{31712FD7-FA85-48BA-9D35-5382388CFC74}" dt="2026-02-18T09:24:25.075" v="17" actId="113"/>
        <pc:sldMkLst>
          <pc:docMk/>
          <pc:sldMk cId="1717331344" sldId="300"/>
        </pc:sldMkLst>
        <pc:spChg chg="mod">
          <ac:chgData name="Žydrūnė Kelpšaitė" userId="e943768126acec1d" providerId="LiveId" clId="{31712FD7-FA85-48BA-9D35-5382388CFC74}" dt="2026-02-18T09:24:25.075" v="17" actId="113"/>
          <ac:spMkLst>
            <pc:docMk/>
            <pc:sldMk cId="1717331344" sldId="300"/>
            <ac:spMk id="4" creationId="{D040514A-1F30-5CA9-7CEC-6848989CF0EB}"/>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Antraštės vietos rezervavimo ženklas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lt-LT"/>
          </a:p>
        </p:txBody>
      </p:sp>
      <p:sp>
        <p:nvSpPr>
          <p:cNvPr id="3" name="Datos vietos rezervavimo ženklas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B9C00CA-149E-4018-B517-55CF87558C84}" type="datetimeFigureOut">
              <a:rPr lang="lt-LT" smtClean="0"/>
              <a:t>2026-03-12</a:t>
            </a:fld>
            <a:endParaRPr lang="lt-LT"/>
          </a:p>
        </p:txBody>
      </p:sp>
      <p:sp>
        <p:nvSpPr>
          <p:cNvPr id="4" name="Skaidrės vaizdo vietos rezervavimo ženkla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lt-LT"/>
          </a:p>
        </p:txBody>
      </p:sp>
      <p:sp>
        <p:nvSpPr>
          <p:cNvPr id="5" name="Pastabų vietos rezervavimo ženkl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lt-LT"/>
              <a:t>Spustelėkite, kad galėtumėte redaguoti šablono teksto stilius</a:t>
            </a:r>
          </a:p>
          <a:p>
            <a:pPr lvl="1"/>
            <a:r>
              <a:rPr lang="lt-LT"/>
              <a:t>Antras lygis</a:t>
            </a:r>
          </a:p>
          <a:p>
            <a:pPr lvl="2"/>
            <a:r>
              <a:rPr lang="lt-LT"/>
              <a:t>Trečias lygis</a:t>
            </a:r>
          </a:p>
          <a:p>
            <a:pPr lvl="3"/>
            <a:r>
              <a:rPr lang="lt-LT"/>
              <a:t>Ketvirtas lygis</a:t>
            </a:r>
          </a:p>
          <a:p>
            <a:pPr lvl="4"/>
            <a:r>
              <a:rPr lang="lt-LT"/>
              <a:t>Penktas lygis</a:t>
            </a:r>
          </a:p>
        </p:txBody>
      </p:sp>
      <p:sp>
        <p:nvSpPr>
          <p:cNvPr id="6" name="Poraštės vietos rezervavimo ženklas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lt-LT"/>
          </a:p>
        </p:txBody>
      </p:sp>
      <p:sp>
        <p:nvSpPr>
          <p:cNvPr id="7" name="Skaidrės numerio vietos rezervavimo ženklas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3CCFCE7-56B9-422B-8B02-08495EFC86AE}" type="slidenum">
              <a:rPr lang="lt-LT" smtClean="0"/>
              <a:t>‹#›</a:t>
            </a:fld>
            <a:endParaRPr lang="lt-LT"/>
          </a:p>
        </p:txBody>
      </p:sp>
    </p:spTree>
    <p:extLst>
      <p:ext uri="{BB962C8B-B14F-4D97-AF65-F5344CB8AC3E}">
        <p14:creationId xmlns:p14="http://schemas.microsoft.com/office/powerpoint/2010/main" val="317617939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kaidrės vaizdo vietos rezervavimo ženklas 1"/>
          <p:cNvSpPr>
            <a:spLocks noGrp="1" noRot="1" noChangeAspect="1"/>
          </p:cNvSpPr>
          <p:nvPr>
            <p:ph type="sldImg"/>
          </p:nvPr>
        </p:nvSpPr>
        <p:spPr/>
      </p:sp>
      <p:sp>
        <p:nvSpPr>
          <p:cNvPr id="3" name="Pastabų vietos rezervavimo ženklas 2"/>
          <p:cNvSpPr>
            <a:spLocks noGrp="1"/>
          </p:cNvSpPr>
          <p:nvPr>
            <p:ph type="body" idx="1"/>
          </p:nvPr>
        </p:nvSpPr>
        <p:spPr/>
        <p:txBody>
          <a:bodyPr/>
          <a:lstStyle/>
          <a:p>
            <a:r>
              <a:rPr lang="lt-LT" dirty="0" err="1"/>
              <a:t>pd.melt</a:t>
            </a:r>
            <a:r>
              <a:rPr lang="lt-LT" dirty="0"/>
              <a:t>(</a:t>
            </a:r>
            <a:r>
              <a:rPr lang="lt-LT" dirty="0" err="1"/>
              <a:t>df</a:t>
            </a:r>
            <a:r>
              <a:rPr lang="lt-LT" dirty="0"/>
              <a:t>,</a:t>
            </a:r>
          </a:p>
          <a:p>
            <a:r>
              <a:rPr lang="lt-LT" dirty="0"/>
              <a:t>        </a:t>
            </a:r>
            <a:r>
              <a:rPr lang="lt-LT" dirty="0" err="1"/>
              <a:t>id_vars</a:t>
            </a:r>
            <a:r>
              <a:rPr lang="lt-LT" dirty="0"/>
              <a:t>="</a:t>
            </a:r>
            <a:r>
              <a:rPr lang="lt-LT" dirty="0" err="1"/>
              <a:t>Customer</a:t>
            </a:r>
            <a:r>
              <a:rPr lang="lt-LT" dirty="0"/>
              <a:t>",</a:t>
            </a:r>
          </a:p>
          <a:p>
            <a:r>
              <a:rPr lang="lt-LT" dirty="0"/>
              <a:t>        </a:t>
            </a:r>
            <a:r>
              <a:rPr lang="lt-LT" dirty="0" err="1"/>
              <a:t>value_vars</a:t>
            </a:r>
            <a:r>
              <a:rPr lang="lt-LT" dirty="0"/>
              <a:t>=["</a:t>
            </a:r>
            <a:r>
              <a:rPr lang="lt-LT" dirty="0" err="1"/>
              <a:t>Pop</a:t>
            </a:r>
            <a:r>
              <a:rPr lang="lt-LT" dirty="0"/>
              <a:t>","</a:t>
            </a:r>
            <a:r>
              <a:rPr lang="lt-LT" dirty="0" err="1"/>
              <a:t>Rock</a:t>
            </a:r>
            <a:r>
              <a:rPr lang="lt-LT" dirty="0"/>
              <a:t>","</a:t>
            </a:r>
            <a:r>
              <a:rPr lang="lt-LT" dirty="0" err="1"/>
              <a:t>Indie</a:t>
            </a:r>
            <a:r>
              <a:rPr lang="lt-LT" dirty="0"/>
              <a:t>"],</a:t>
            </a:r>
          </a:p>
          <a:p>
            <a:r>
              <a:rPr lang="lt-LT" dirty="0"/>
              <a:t>        </a:t>
            </a:r>
            <a:r>
              <a:rPr lang="lt-LT" dirty="0" err="1"/>
              <a:t>var_name</a:t>
            </a:r>
            <a:r>
              <a:rPr lang="lt-LT" dirty="0"/>
              <a:t>="</a:t>
            </a:r>
            <a:r>
              <a:rPr lang="lt-LT" dirty="0" err="1"/>
              <a:t>Genre</a:t>
            </a:r>
            <a:r>
              <a:rPr lang="lt-LT" dirty="0"/>
              <a:t>",</a:t>
            </a:r>
          </a:p>
          <a:p>
            <a:r>
              <a:rPr lang="lt-LT" dirty="0"/>
              <a:t>        </a:t>
            </a:r>
            <a:r>
              <a:rPr lang="lt-LT" dirty="0" err="1"/>
              <a:t>value_name</a:t>
            </a:r>
            <a:r>
              <a:rPr lang="lt-LT" dirty="0"/>
              <a:t>="</a:t>
            </a:r>
            <a:r>
              <a:rPr lang="lt-LT" dirty="0" err="1"/>
              <a:t>Songs</a:t>
            </a:r>
            <a:r>
              <a:rPr lang="lt-LT" dirty="0"/>
              <a:t>")</a:t>
            </a:r>
          </a:p>
        </p:txBody>
      </p:sp>
      <p:sp>
        <p:nvSpPr>
          <p:cNvPr id="4" name="Skaidrės numerio vietos rezervavimo ženklas 3"/>
          <p:cNvSpPr>
            <a:spLocks noGrp="1"/>
          </p:cNvSpPr>
          <p:nvPr>
            <p:ph type="sldNum" sz="quarter" idx="5"/>
          </p:nvPr>
        </p:nvSpPr>
        <p:spPr/>
        <p:txBody>
          <a:bodyPr/>
          <a:lstStyle/>
          <a:p>
            <a:fld id="{B3CCFCE7-56B9-422B-8B02-08495EFC86AE}" type="slidenum">
              <a:rPr lang="lt-LT" smtClean="0"/>
              <a:t>18</a:t>
            </a:fld>
            <a:endParaRPr lang="lt-LT"/>
          </a:p>
        </p:txBody>
      </p:sp>
    </p:spTree>
    <p:extLst>
      <p:ext uri="{BB962C8B-B14F-4D97-AF65-F5344CB8AC3E}">
        <p14:creationId xmlns:p14="http://schemas.microsoft.com/office/powerpoint/2010/main" val="230015333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Pavadinimo skaidrė">
    <p:spTree>
      <p:nvGrpSpPr>
        <p:cNvPr id="1" name=""/>
        <p:cNvGrpSpPr/>
        <p:nvPr/>
      </p:nvGrpSpPr>
      <p:grpSpPr>
        <a:xfrm>
          <a:off x="0" y="0"/>
          <a:ext cx="0" cy="0"/>
          <a:chOff x="0" y="0"/>
          <a:chExt cx="0" cy="0"/>
        </a:xfrm>
      </p:grpSpPr>
      <p:sp>
        <p:nvSpPr>
          <p:cNvPr id="2" name="Pavadinimas 1">
            <a:extLst>
              <a:ext uri="{FF2B5EF4-FFF2-40B4-BE49-F238E27FC236}">
                <a16:creationId xmlns:a16="http://schemas.microsoft.com/office/drawing/2014/main" id="{D93AB5EF-6B5F-ACFB-6C6D-FA31DA170580}"/>
              </a:ext>
            </a:extLst>
          </p:cNvPr>
          <p:cNvSpPr>
            <a:spLocks noGrp="1"/>
          </p:cNvSpPr>
          <p:nvPr>
            <p:ph type="ctrTitle"/>
          </p:nvPr>
        </p:nvSpPr>
        <p:spPr>
          <a:xfrm>
            <a:off x="1524000" y="1122363"/>
            <a:ext cx="9144000" cy="2387600"/>
          </a:xfrm>
        </p:spPr>
        <p:txBody>
          <a:bodyPr anchor="b"/>
          <a:lstStyle>
            <a:lvl1pPr algn="ctr">
              <a:defRPr sz="6000"/>
            </a:lvl1pPr>
          </a:lstStyle>
          <a:p>
            <a:r>
              <a:rPr lang="lt-LT"/>
              <a:t>Spustelėję redaguokite stilių</a:t>
            </a:r>
          </a:p>
        </p:txBody>
      </p:sp>
      <p:sp>
        <p:nvSpPr>
          <p:cNvPr id="3" name="Antrinis pavadinimas 2">
            <a:extLst>
              <a:ext uri="{FF2B5EF4-FFF2-40B4-BE49-F238E27FC236}">
                <a16:creationId xmlns:a16="http://schemas.microsoft.com/office/drawing/2014/main" id="{AA7A3585-116A-28BB-125E-20D89781815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lt-LT"/>
              <a:t>Spustelėkite norėdami redaguoti šablono paantraštės stilių</a:t>
            </a:r>
          </a:p>
        </p:txBody>
      </p:sp>
      <p:sp>
        <p:nvSpPr>
          <p:cNvPr id="4" name="Datos vietos rezervavimo ženklas 3">
            <a:extLst>
              <a:ext uri="{FF2B5EF4-FFF2-40B4-BE49-F238E27FC236}">
                <a16:creationId xmlns:a16="http://schemas.microsoft.com/office/drawing/2014/main" id="{D4F618C5-73DE-FAAA-9CC4-7D800A68993C}"/>
              </a:ext>
            </a:extLst>
          </p:cNvPr>
          <p:cNvSpPr>
            <a:spLocks noGrp="1"/>
          </p:cNvSpPr>
          <p:nvPr>
            <p:ph type="dt" sz="half" idx="10"/>
          </p:nvPr>
        </p:nvSpPr>
        <p:spPr/>
        <p:txBody>
          <a:bodyPr/>
          <a:lstStyle/>
          <a:p>
            <a:fld id="{3C34C509-4FC9-4EE0-9201-F9F538BD35AE}" type="datetimeFigureOut">
              <a:rPr lang="lt-LT" smtClean="0"/>
              <a:t>2026-03-12</a:t>
            </a:fld>
            <a:endParaRPr lang="lt-LT"/>
          </a:p>
        </p:txBody>
      </p:sp>
      <p:sp>
        <p:nvSpPr>
          <p:cNvPr id="5" name="Poraštės vietos rezervavimo ženklas 4">
            <a:extLst>
              <a:ext uri="{FF2B5EF4-FFF2-40B4-BE49-F238E27FC236}">
                <a16:creationId xmlns:a16="http://schemas.microsoft.com/office/drawing/2014/main" id="{1B8F9A60-F596-2591-A3EB-004275BCDFC4}"/>
              </a:ext>
            </a:extLst>
          </p:cNvPr>
          <p:cNvSpPr>
            <a:spLocks noGrp="1"/>
          </p:cNvSpPr>
          <p:nvPr>
            <p:ph type="ftr" sz="quarter" idx="11"/>
          </p:nvPr>
        </p:nvSpPr>
        <p:spPr/>
        <p:txBody>
          <a:bodyPr/>
          <a:lstStyle/>
          <a:p>
            <a:endParaRPr lang="lt-LT"/>
          </a:p>
        </p:txBody>
      </p:sp>
      <p:sp>
        <p:nvSpPr>
          <p:cNvPr id="6" name="Skaidrės numerio vietos rezervavimo ženklas 5">
            <a:extLst>
              <a:ext uri="{FF2B5EF4-FFF2-40B4-BE49-F238E27FC236}">
                <a16:creationId xmlns:a16="http://schemas.microsoft.com/office/drawing/2014/main" id="{3D60BAD2-F37E-D8C3-9067-BDBB6993F754}"/>
              </a:ext>
            </a:extLst>
          </p:cNvPr>
          <p:cNvSpPr>
            <a:spLocks noGrp="1"/>
          </p:cNvSpPr>
          <p:nvPr>
            <p:ph type="sldNum" sz="quarter" idx="12"/>
          </p:nvPr>
        </p:nvSpPr>
        <p:spPr/>
        <p:txBody>
          <a:bodyPr/>
          <a:lstStyle/>
          <a:p>
            <a:fld id="{18EF1DCD-C392-4C65-BB44-D22CA8F35346}" type="slidenum">
              <a:rPr lang="lt-LT" smtClean="0"/>
              <a:t>‹#›</a:t>
            </a:fld>
            <a:endParaRPr lang="lt-LT"/>
          </a:p>
        </p:txBody>
      </p:sp>
    </p:spTree>
    <p:extLst>
      <p:ext uri="{BB962C8B-B14F-4D97-AF65-F5344CB8AC3E}">
        <p14:creationId xmlns:p14="http://schemas.microsoft.com/office/powerpoint/2010/main" val="199719116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Pavadinimas ir turinys">
    <p:spTree>
      <p:nvGrpSpPr>
        <p:cNvPr id="1" name=""/>
        <p:cNvGrpSpPr/>
        <p:nvPr/>
      </p:nvGrpSpPr>
      <p:grpSpPr>
        <a:xfrm>
          <a:off x="0" y="0"/>
          <a:ext cx="0" cy="0"/>
          <a:chOff x="0" y="0"/>
          <a:chExt cx="0" cy="0"/>
        </a:xfrm>
      </p:grpSpPr>
      <p:sp>
        <p:nvSpPr>
          <p:cNvPr id="2" name="Pavadinimas 1">
            <a:extLst>
              <a:ext uri="{FF2B5EF4-FFF2-40B4-BE49-F238E27FC236}">
                <a16:creationId xmlns:a16="http://schemas.microsoft.com/office/drawing/2014/main" id="{FD02571B-C3B5-4F55-65E5-9AF8A8593EE7}"/>
              </a:ext>
            </a:extLst>
          </p:cNvPr>
          <p:cNvSpPr>
            <a:spLocks noGrp="1"/>
          </p:cNvSpPr>
          <p:nvPr>
            <p:ph type="title"/>
          </p:nvPr>
        </p:nvSpPr>
        <p:spPr/>
        <p:txBody>
          <a:bodyPr/>
          <a:lstStyle/>
          <a:p>
            <a:r>
              <a:rPr lang="lt-LT"/>
              <a:t>Spustelėję redaguokite stilių</a:t>
            </a:r>
          </a:p>
        </p:txBody>
      </p:sp>
      <p:sp>
        <p:nvSpPr>
          <p:cNvPr id="3" name="Turinio vietos rezervavimo ženklas 2">
            <a:extLst>
              <a:ext uri="{FF2B5EF4-FFF2-40B4-BE49-F238E27FC236}">
                <a16:creationId xmlns:a16="http://schemas.microsoft.com/office/drawing/2014/main" id="{9DC9DB81-A158-0399-4F98-7A0359157454}"/>
              </a:ext>
            </a:extLst>
          </p:cNvPr>
          <p:cNvSpPr>
            <a:spLocks noGrp="1"/>
          </p:cNvSpPr>
          <p:nvPr>
            <p:ph idx="1"/>
          </p:nvPr>
        </p:nvSpPr>
        <p:spPr/>
        <p:txBody>
          <a:bodyPr/>
          <a:lstStyle/>
          <a:p>
            <a:pPr lvl="0"/>
            <a:r>
              <a:rPr lang="lt-LT"/>
              <a:t>Spustelėkite, kad galėtumėte redaguoti šablono teksto stilius</a:t>
            </a:r>
          </a:p>
          <a:p>
            <a:pPr lvl="1"/>
            <a:r>
              <a:rPr lang="lt-LT"/>
              <a:t>Antras lygis</a:t>
            </a:r>
          </a:p>
          <a:p>
            <a:pPr lvl="2"/>
            <a:r>
              <a:rPr lang="lt-LT"/>
              <a:t>Trečias lygis</a:t>
            </a:r>
          </a:p>
          <a:p>
            <a:pPr lvl="3"/>
            <a:r>
              <a:rPr lang="lt-LT"/>
              <a:t>Ketvirtas lygis</a:t>
            </a:r>
          </a:p>
          <a:p>
            <a:pPr lvl="4"/>
            <a:r>
              <a:rPr lang="lt-LT"/>
              <a:t>Penktas lygis</a:t>
            </a:r>
          </a:p>
        </p:txBody>
      </p:sp>
      <p:sp>
        <p:nvSpPr>
          <p:cNvPr id="4" name="Datos vietos rezervavimo ženklas 3">
            <a:extLst>
              <a:ext uri="{FF2B5EF4-FFF2-40B4-BE49-F238E27FC236}">
                <a16:creationId xmlns:a16="http://schemas.microsoft.com/office/drawing/2014/main" id="{0D462D09-DBC8-BB43-6C73-4225BE0A45C3}"/>
              </a:ext>
            </a:extLst>
          </p:cNvPr>
          <p:cNvSpPr>
            <a:spLocks noGrp="1"/>
          </p:cNvSpPr>
          <p:nvPr>
            <p:ph type="dt" sz="half" idx="10"/>
          </p:nvPr>
        </p:nvSpPr>
        <p:spPr/>
        <p:txBody>
          <a:bodyPr/>
          <a:lstStyle/>
          <a:p>
            <a:fld id="{3C34C509-4FC9-4EE0-9201-F9F538BD35AE}" type="datetimeFigureOut">
              <a:rPr lang="lt-LT" smtClean="0"/>
              <a:t>2026-03-12</a:t>
            </a:fld>
            <a:endParaRPr lang="lt-LT"/>
          </a:p>
        </p:txBody>
      </p:sp>
      <p:sp>
        <p:nvSpPr>
          <p:cNvPr id="5" name="Poraštės vietos rezervavimo ženklas 4">
            <a:extLst>
              <a:ext uri="{FF2B5EF4-FFF2-40B4-BE49-F238E27FC236}">
                <a16:creationId xmlns:a16="http://schemas.microsoft.com/office/drawing/2014/main" id="{BC35F0A0-14D3-45D4-C563-E3C9BB5E2220}"/>
              </a:ext>
            </a:extLst>
          </p:cNvPr>
          <p:cNvSpPr>
            <a:spLocks noGrp="1"/>
          </p:cNvSpPr>
          <p:nvPr>
            <p:ph type="ftr" sz="quarter" idx="11"/>
          </p:nvPr>
        </p:nvSpPr>
        <p:spPr/>
        <p:txBody>
          <a:bodyPr/>
          <a:lstStyle/>
          <a:p>
            <a:endParaRPr lang="lt-LT"/>
          </a:p>
        </p:txBody>
      </p:sp>
      <p:sp>
        <p:nvSpPr>
          <p:cNvPr id="6" name="Skaidrės numerio vietos rezervavimo ženklas 5">
            <a:extLst>
              <a:ext uri="{FF2B5EF4-FFF2-40B4-BE49-F238E27FC236}">
                <a16:creationId xmlns:a16="http://schemas.microsoft.com/office/drawing/2014/main" id="{950C23AE-B3EC-DD65-6B68-F5DA71BAFC2E}"/>
              </a:ext>
            </a:extLst>
          </p:cNvPr>
          <p:cNvSpPr>
            <a:spLocks noGrp="1"/>
          </p:cNvSpPr>
          <p:nvPr>
            <p:ph type="sldNum" sz="quarter" idx="12"/>
          </p:nvPr>
        </p:nvSpPr>
        <p:spPr/>
        <p:txBody>
          <a:bodyPr/>
          <a:lstStyle/>
          <a:p>
            <a:fld id="{18EF1DCD-C392-4C65-BB44-D22CA8F35346}" type="slidenum">
              <a:rPr lang="lt-LT" smtClean="0"/>
              <a:t>‹#›</a:t>
            </a:fld>
            <a:endParaRPr lang="lt-LT"/>
          </a:p>
        </p:txBody>
      </p:sp>
    </p:spTree>
    <p:extLst>
      <p:ext uri="{BB962C8B-B14F-4D97-AF65-F5344CB8AC3E}">
        <p14:creationId xmlns:p14="http://schemas.microsoft.com/office/powerpoint/2010/main" val="4175261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kcijos antraštė">
    <p:spTree>
      <p:nvGrpSpPr>
        <p:cNvPr id="1" name=""/>
        <p:cNvGrpSpPr/>
        <p:nvPr/>
      </p:nvGrpSpPr>
      <p:grpSpPr>
        <a:xfrm>
          <a:off x="0" y="0"/>
          <a:ext cx="0" cy="0"/>
          <a:chOff x="0" y="0"/>
          <a:chExt cx="0" cy="0"/>
        </a:xfrm>
      </p:grpSpPr>
      <p:sp>
        <p:nvSpPr>
          <p:cNvPr id="2" name="Pavadinimas 1">
            <a:extLst>
              <a:ext uri="{FF2B5EF4-FFF2-40B4-BE49-F238E27FC236}">
                <a16:creationId xmlns:a16="http://schemas.microsoft.com/office/drawing/2014/main" id="{CD81EB92-CFEA-CE70-D2CB-7CA4457C7558}"/>
              </a:ext>
            </a:extLst>
          </p:cNvPr>
          <p:cNvSpPr>
            <a:spLocks noGrp="1"/>
          </p:cNvSpPr>
          <p:nvPr>
            <p:ph type="title"/>
          </p:nvPr>
        </p:nvSpPr>
        <p:spPr>
          <a:xfrm>
            <a:off x="831850" y="1709738"/>
            <a:ext cx="10515600" cy="2852737"/>
          </a:xfrm>
        </p:spPr>
        <p:txBody>
          <a:bodyPr anchor="b"/>
          <a:lstStyle>
            <a:lvl1pPr>
              <a:defRPr sz="6000"/>
            </a:lvl1pPr>
          </a:lstStyle>
          <a:p>
            <a:r>
              <a:rPr lang="lt-LT"/>
              <a:t>Spustelėję redaguokite stilių</a:t>
            </a:r>
          </a:p>
        </p:txBody>
      </p:sp>
      <p:sp>
        <p:nvSpPr>
          <p:cNvPr id="3" name="Teksto vietos rezervavimo ženklas 2">
            <a:extLst>
              <a:ext uri="{FF2B5EF4-FFF2-40B4-BE49-F238E27FC236}">
                <a16:creationId xmlns:a16="http://schemas.microsoft.com/office/drawing/2014/main" id="{2A1F0D1E-66FB-EDE9-C9DE-DA6E11B076BA}"/>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lt-LT"/>
              <a:t>Spustelėkite, kad galėtumėte redaguoti šablono teksto stilius</a:t>
            </a:r>
          </a:p>
        </p:txBody>
      </p:sp>
      <p:sp>
        <p:nvSpPr>
          <p:cNvPr id="4" name="Datos vietos rezervavimo ženklas 3">
            <a:extLst>
              <a:ext uri="{FF2B5EF4-FFF2-40B4-BE49-F238E27FC236}">
                <a16:creationId xmlns:a16="http://schemas.microsoft.com/office/drawing/2014/main" id="{4EB2DA4C-B184-E72A-6887-3356FBE7FD78}"/>
              </a:ext>
            </a:extLst>
          </p:cNvPr>
          <p:cNvSpPr>
            <a:spLocks noGrp="1"/>
          </p:cNvSpPr>
          <p:nvPr>
            <p:ph type="dt" sz="half" idx="10"/>
          </p:nvPr>
        </p:nvSpPr>
        <p:spPr/>
        <p:txBody>
          <a:bodyPr/>
          <a:lstStyle/>
          <a:p>
            <a:fld id="{3C34C509-4FC9-4EE0-9201-F9F538BD35AE}" type="datetimeFigureOut">
              <a:rPr lang="lt-LT" smtClean="0"/>
              <a:t>2026-03-12</a:t>
            </a:fld>
            <a:endParaRPr lang="lt-LT"/>
          </a:p>
        </p:txBody>
      </p:sp>
      <p:sp>
        <p:nvSpPr>
          <p:cNvPr id="5" name="Poraštės vietos rezervavimo ženklas 4">
            <a:extLst>
              <a:ext uri="{FF2B5EF4-FFF2-40B4-BE49-F238E27FC236}">
                <a16:creationId xmlns:a16="http://schemas.microsoft.com/office/drawing/2014/main" id="{DE14000D-CA2B-C147-EB84-0349A97663C4}"/>
              </a:ext>
            </a:extLst>
          </p:cNvPr>
          <p:cNvSpPr>
            <a:spLocks noGrp="1"/>
          </p:cNvSpPr>
          <p:nvPr>
            <p:ph type="ftr" sz="quarter" idx="11"/>
          </p:nvPr>
        </p:nvSpPr>
        <p:spPr/>
        <p:txBody>
          <a:bodyPr/>
          <a:lstStyle/>
          <a:p>
            <a:endParaRPr lang="lt-LT"/>
          </a:p>
        </p:txBody>
      </p:sp>
      <p:sp>
        <p:nvSpPr>
          <p:cNvPr id="6" name="Skaidrės numerio vietos rezervavimo ženklas 5">
            <a:extLst>
              <a:ext uri="{FF2B5EF4-FFF2-40B4-BE49-F238E27FC236}">
                <a16:creationId xmlns:a16="http://schemas.microsoft.com/office/drawing/2014/main" id="{BC0B6265-21E8-D0A7-26B4-338A5D3CE3A9}"/>
              </a:ext>
            </a:extLst>
          </p:cNvPr>
          <p:cNvSpPr>
            <a:spLocks noGrp="1"/>
          </p:cNvSpPr>
          <p:nvPr>
            <p:ph type="sldNum" sz="quarter" idx="12"/>
          </p:nvPr>
        </p:nvSpPr>
        <p:spPr/>
        <p:txBody>
          <a:bodyPr/>
          <a:lstStyle/>
          <a:p>
            <a:fld id="{18EF1DCD-C392-4C65-BB44-D22CA8F35346}" type="slidenum">
              <a:rPr lang="lt-LT" smtClean="0"/>
              <a:t>‹#›</a:t>
            </a:fld>
            <a:endParaRPr lang="lt-LT"/>
          </a:p>
        </p:txBody>
      </p:sp>
    </p:spTree>
    <p:extLst>
      <p:ext uri="{BB962C8B-B14F-4D97-AF65-F5344CB8AC3E}">
        <p14:creationId xmlns:p14="http://schemas.microsoft.com/office/powerpoint/2010/main" val="163389054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 turiniai">
    <p:spTree>
      <p:nvGrpSpPr>
        <p:cNvPr id="1" name=""/>
        <p:cNvGrpSpPr/>
        <p:nvPr/>
      </p:nvGrpSpPr>
      <p:grpSpPr>
        <a:xfrm>
          <a:off x="0" y="0"/>
          <a:ext cx="0" cy="0"/>
          <a:chOff x="0" y="0"/>
          <a:chExt cx="0" cy="0"/>
        </a:xfrm>
      </p:grpSpPr>
      <p:sp>
        <p:nvSpPr>
          <p:cNvPr id="2" name="Pavadinimas 1">
            <a:extLst>
              <a:ext uri="{FF2B5EF4-FFF2-40B4-BE49-F238E27FC236}">
                <a16:creationId xmlns:a16="http://schemas.microsoft.com/office/drawing/2014/main" id="{B1D07088-39AB-104D-0225-189CB43D8195}"/>
              </a:ext>
            </a:extLst>
          </p:cNvPr>
          <p:cNvSpPr>
            <a:spLocks noGrp="1"/>
          </p:cNvSpPr>
          <p:nvPr>
            <p:ph type="title"/>
          </p:nvPr>
        </p:nvSpPr>
        <p:spPr/>
        <p:txBody>
          <a:bodyPr/>
          <a:lstStyle/>
          <a:p>
            <a:r>
              <a:rPr lang="lt-LT"/>
              <a:t>Spustelėję redaguokite stilių</a:t>
            </a:r>
          </a:p>
        </p:txBody>
      </p:sp>
      <p:sp>
        <p:nvSpPr>
          <p:cNvPr id="3" name="Turinio vietos rezervavimo ženklas 2">
            <a:extLst>
              <a:ext uri="{FF2B5EF4-FFF2-40B4-BE49-F238E27FC236}">
                <a16:creationId xmlns:a16="http://schemas.microsoft.com/office/drawing/2014/main" id="{0210B43B-50EC-3EE7-E6A4-069F397458B6}"/>
              </a:ext>
            </a:extLst>
          </p:cNvPr>
          <p:cNvSpPr>
            <a:spLocks noGrp="1"/>
          </p:cNvSpPr>
          <p:nvPr>
            <p:ph sz="half" idx="1"/>
          </p:nvPr>
        </p:nvSpPr>
        <p:spPr>
          <a:xfrm>
            <a:off x="838200" y="1825625"/>
            <a:ext cx="5181600" cy="4351338"/>
          </a:xfrm>
        </p:spPr>
        <p:txBody>
          <a:bodyPr/>
          <a:lstStyle/>
          <a:p>
            <a:pPr lvl="0"/>
            <a:r>
              <a:rPr lang="lt-LT"/>
              <a:t>Spustelėkite, kad galėtumėte redaguoti šablono teksto stilius</a:t>
            </a:r>
          </a:p>
          <a:p>
            <a:pPr lvl="1"/>
            <a:r>
              <a:rPr lang="lt-LT"/>
              <a:t>Antras lygis</a:t>
            </a:r>
          </a:p>
          <a:p>
            <a:pPr lvl="2"/>
            <a:r>
              <a:rPr lang="lt-LT"/>
              <a:t>Trečias lygis</a:t>
            </a:r>
          </a:p>
          <a:p>
            <a:pPr lvl="3"/>
            <a:r>
              <a:rPr lang="lt-LT"/>
              <a:t>Ketvirtas lygis</a:t>
            </a:r>
          </a:p>
          <a:p>
            <a:pPr lvl="4"/>
            <a:r>
              <a:rPr lang="lt-LT"/>
              <a:t>Penktas lygis</a:t>
            </a:r>
          </a:p>
        </p:txBody>
      </p:sp>
      <p:sp>
        <p:nvSpPr>
          <p:cNvPr id="4" name="Turinio vietos rezervavimo ženklas 3">
            <a:extLst>
              <a:ext uri="{FF2B5EF4-FFF2-40B4-BE49-F238E27FC236}">
                <a16:creationId xmlns:a16="http://schemas.microsoft.com/office/drawing/2014/main" id="{D73F7631-5846-D978-4C62-5054C3DA774A}"/>
              </a:ext>
            </a:extLst>
          </p:cNvPr>
          <p:cNvSpPr>
            <a:spLocks noGrp="1"/>
          </p:cNvSpPr>
          <p:nvPr>
            <p:ph sz="half" idx="2"/>
          </p:nvPr>
        </p:nvSpPr>
        <p:spPr>
          <a:xfrm>
            <a:off x="6172200" y="1825625"/>
            <a:ext cx="5181600" cy="4351338"/>
          </a:xfrm>
        </p:spPr>
        <p:txBody>
          <a:bodyPr/>
          <a:lstStyle/>
          <a:p>
            <a:pPr lvl="0"/>
            <a:r>
              <a:rPr lang="lt-LT"/>
              <a:t>Spustelėkite, kad galėtumėte redaguoti šablono teksto stilius</a:t>
            </a:r>
          </a:p>
          <a:p>
            <a:pPr lvl="1"/>
            <a:r>
              <a:rPr lang="lt-LT"/>
              <a:t>Antras lygis</a:t>
            </a:r>
          </a:p>
          <a:p>
            <a:pPr lvl="2"/>
            <a:r>
              <a:rPr lang="lt-LT"/>
              <a:t>Trečias lygis</a:t>
            </a:r>
          </a:p>
          <a:p>
            <a:pPr lvl="3"/>
            <a:r>
              <a:rPr lang="lt-LT"/>
              <a:t>Ketvirtas lygis</a:t>
            </a:r>
          </a:p>
          <a:p>
            <a:pPr lvl="4"/>
            <a:r>
              <a:rPr lang="lt-LT"/>
              <a:t>Penktas lygis</a:t>
            </a:r>
          </a:p>
        </p:txBody>
      </p:sp>
      <p:sp>
        <p:nvSpPr>
          <p:cNvPr id="5" name="Datos vietos rezervavimo ženklas 4">
            <a:extLst>
              <a:ext uri="{FF2B5EF4-FFF2-40B4-BE49-F238E27FC236}">
                <a16:creationId xmlns:a16="http://schemas.microsoft.com/office/drawing/2014/main" id="{C4DC9898-72BA-9BA7-5A12-3F849162D829}"/>
              </a:ext>
            </a:extLst>
          </p:cNvPr>
          <p:cNvSpPr>
            <a:spLocks noGrp="1"/>
          </p:cNvSpPr>
          <p:nvPr>
            <p:ph type="dt" sz="half" idx="10"/>
          </p:nvPr>
        </p:nvSpPr>
        <p:spPr/>
        <p:txBody>
          <a:bodyPr/>
          <a:lstStyle/>
          <a:p>
            <a:fld id="{3C34C509-4FC9-4EE0-9201-F9F538BD35AE}" type="datetimeFigureOut">
              <a:rPr lang="lt-LT" smtClean="0"/>
              <a:t>2026-03-12</a:t>
            </a:fld>
            <a:endParaRPr lang="lt-LT"/>
          </a:p>
        </p:txBody>
      </p:sp>
      <p:sp>
        <p:nvSpPr>
          <p:cNvPr id="6" name="Poraštės vietos rezervavimo ženklas 5">
            <a:extLst>
              <a:ext uri="{FF2B5EF4-FFF2-40B4-BE49-F238E27FC236}">
                <a16:creationId xmlns:a16="http://schemas.microsoft.com/office/drawing/2014/main" id="{8A31FAD6-D938-BF00-E394-8DF9F3F83CE1}"/>
              </a:ext>
            </a:extLst>
          </p:cNvPr>
          <p:cNvSpPr>
            <a:spLocks noGrp="1"/>
          </p:cNvSpPr>
          <p:nvPr>
            <p:ph type="ftr" sz="quarter" idx="11"/>
          </p:nvPr>
        </p:nvSpPr>
        <p:spPr/>
        <p:txBody>
          <a:bodyPr/>
          <a:lstStyle/>
          <a:p>
            <a:endParaRPr lang="lt-LT"/>
          </a:p>
        </p:txBody>
      </p:sp>
      <p:sp>
        <p:nvSpPr>
          <p:cNvPr id="7" name="Skaidrės numerio vietos rezervavimo ženklas 6">
            <a:extLst>
              <a:ext uri="{FF2B5EF4-FFF2-40B4-BE49-F238E27FC236}">
                <a16:creationId xmlns:a16="http://schemas.microsoft.com/office/drawing/2014/main" id="{BB200594-9DED-48F3-5393-A126C0595936}"/>
              </a:ext>
            </a:extLst>
          </p:cNvPr>
          <p:cNvSpPr>
            <a:spLocks noGrp="1"/>
          </p:cNvSpPr>
          <p:nvPr>
            <p:ph type="sldNum" sz="quarter" idx="12"/>
          </p:nvPr>
        </p:nvSpPr>
        <p:spPr/>
        <p:txBody>
          <a:bodyPr/>
          <a:lstStyle/>
          <a:p>
            <a:fld id="{18EF1DCD-C392-4C65-BB44-D22CA8F35346}" type="slidenum">
              <a:rPr lang="lt-LT" smtClean="0"/>
              <a:t>‹#›</a:t>
            </a:fld>
            <a:endParaRPr lang="lt-LT"/>
          </a:p>
        </p:txBody>
      </p:sp>
    </p:spTree>
    <p:extLst>
      <p:ext uri="{BB962C8B-B14F-4D97-AF65-F5344CB8AC3E}">
        <p14:creationId xmlns:p14="http://schemas.microsoft.com/office/powerpoint/2010/main" val="229541593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Lyginimas">
    <p:spTree>
      <p:nvGrpSpPr>
        <p:cNvPr id="1" name=""/>
        <p:cNvGrpSpPr/>
        <p:nvPr/>
      </p:nvGrpSpPr>
      <p:grpSpPr>
        <a:xfrm>
          <a:off x="0" y="0"/>
          <a:ext cx="0" cy="0"/>
          <a:chOff x="0" y="0"/>
          <a:chExt cx="0" cy="0"/>
        </a:xfrm>
      </p:grpSpPr>
      <p:sp>
        <p:nvSpPr>
          <p:cNvPr id="2" name="Pavadinimas 1">
            <a:extLst>
              <a:ext uri="{FF2B5EF4-FFF2-40B4-BE49-F238E27FC236}">
                <a16:creationId xmlns:a16="http://schemas.microsoft.com/office/drawing/2014/main" id="{4B3AAD30-C6D2-3737-22E7-83514695C9C2}"/>
              </a:ext>
            </a:extLst>
          </p:cNvPr>
          <p:cNvSpPr>
            <a:spLocks noGrp="1"/>
          </p:cNvSpPr>
          <p:nvPr>
            <p:ph type="title"/>
          </p:nvPr>
        </p:nvSpPr>
        <p:spPr>
          <a:xfrm>
            <a:off x="839788" y="365125"/>
            <a:ext cx="10515600" cy="1325563"/>
          </a:xfrm>
        </p:spPr>
        <p:txBody>
          <a:bodyPr/>
          <a:lstStyle/>
          <a:p>
            <a:r>
              <a:rPr lang="lt-LT"/>
              <a:t>Spustelėję redaguokite stilių</a:t>
            </a:r>
          </a:p>
        </p:txBody>
      </p:sp>
      <p:sp>
        <p:nvSpPr>
          <p:cNvPr id="3" name="Teksto vietos rezervavimo ženklas 2">
            <a:extLst>
              <a:ext uri="{FF2B5EF4-FFF2-40B4-BE49-F238E27FC236}">
                <a16:creationId xmlns:a16="http://schemas.microsoft.com/office/drawing/2014/main" id="{A8EA7E1E-6425-909D-044E-650F6F7AA8A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lt-LT"/>
              <a:t>Spustelėkite, kad galėtumėte redaguoti šablono teksto stilius</a:t>
            </a:r>
          </a:p>
        </p:txBody>
      </p:sp>
      <p:sp>
        <p:nvSpPr>
          <p:cNvPr id="4" name="Turinio vietos rezervavimo ženklas 3">
            <a:extLst>
              <a:ext uri="{FF2B5EF4-FFF2-40B4-BE49-F238E27FC236}">
                <a16:creationId xmlns:a16="http://schemas.microsoft.com/office/drawing/2014/main" id="{F531CFDB-0761-BB5B-AD82-1A87FE90CB2D}"/>
              </a:ext>
            </a:extLst>
          </p:cNvPr>
          <p:cNvSpPr>
            <a:spLocks noGrp="1"/>
          </p:cNvSpPr>
          <p:nvPr>
            <p:ph sz="half" idx="2"/>
          </p:nvPr>
        </p:nvSpPr>
        <p:spPr>
          <a:xfrm>
            <a:off x="839788" y="2505075"/>
            <a:ext cx="5157787" cy="3684588"/>
          </a:xfrm>
        </p:spPr>
        <p:txBody>
          <a:bodyPr/>
          <a:lstStyle/>
          <a:p>
            <a:pPr lvl="0"/>
            <a:r>
              <a:rPr lang="lt-LT"/>
              <a:t>Spustelėkite, kad galėtumėte redaguoti šablono teksto stilius</a:t>
            </a:r>
          </a:p>
          <a:p>
            <a:pPr lvl="1"/>
            <a:r>
              <a:rPr lang="lt-LT"/>
              <a:t>Antras lygis</a:t>
            </a:r>
          </a:p>
          <a:p>
            <a:pPr lvl="2"/>
            <a:r>
              <a:rPr lang="lt-LT"/>
              <a:t>Trečias lygis</a:t>
            </a:r>
          </a:p>
          <a:p>
            <a:pPr lvl="3"/>
            <a:r>
              <a:rPr lang="lt-LT"/>
              <a:t>Ketvirtas lygis</a:t>
            </a:r>
          </a:p>
          <a:p>
            <a:pPr lvl="4"/>
            <a:r>
              <a:rPr lang="lt-LT"/>
              <a:t>Penktas lygis</a:t>
            </a:r>
          </a:p>
        </p:txBody>
      </p:sp>
      <p:sp>
        <p:nvSpPr>
          <p:cNvPr id="5" name="Teksto vietos rezervavimo ženklas 4">
            <a:extLst>
              <a:ext uri="{FF2B5EF4-FFF2-40B4-BE49-F238E27FC236}">
                <a16:creationId xmlns:a16="http://schemas.microsoft.com/office/drawing/2014/main" id="{C0BFFCC7-A45E-D8B0-CA3E-36008859434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lt-LT"/>
              <a:t>Spustelėkite, kad galėtumėte redaguoti šablono teksto stilius</a:t>
            </a:r>
          </a:p>
        </p:txBody>
      </p:sp>
      <p:sp>
        <p:nvSpPr>
          <p:cNvPr id="6" name="Turinio vietos rezervavimo ženklas 5">
            <a:extLst>
              <a:ext uri="{FF2B5EF4-FFF2-40B4-BE49-F238E27FC236}">
                <a16:creationId xmlns:a16="http://schemas.microsoft.com/office/drawing/2014/main" id="{B7D4207F-8018-0BED-EFBD-78F51C5BC050}"/>
              </a:ext>
            </a:extLst>
          </p:cNvPr>
          <p:cNvSpPr>
            <a:spLocks noGrp="1"/>
          </p:cNvSpPr>
          <p:nvPr>
            <p:ph sz="quarter" idx="4"/>
          </p:nvPr>
        </p:nvSpPr>
        <p:spPr>
          <a:xfrm>
            <a:off x="6172200" y="2505075"/>
            <a:ext cx="5183188" cy="3684588"/>
          </a:xfrm>
        </p:spPr>
        <p:txBody>
          <a:bodyPr/>
          <a:lstStyle/>
          <a:p>
            <a:pPr lvl="0"/>
            <a:r>
              <a:rPr lang="lt-LT"/>
              <a:t>Spustelėkite, kad galėtumėte redaguoti šablono teksto stilius</a:t>
            </a:r>
          </a:p>
          <a:p>
            <a:pPr lvl="1"/>
            <a:r>
              <a:rPr lang="lt-LT"/>
              <a:t>Antras lygis</a:t>
            </a:r>
          </a:p>
          <a:p>
            <a:pPr lvl="2"/>
            <a:r>
              <a:rPr lang="lt-LT"/>
              <a:t>Trečias lygis</a:t>
            </a:r>
          </a:p>
          <a:p>
            <a:pPr lvl="3"/>
            <a:r>
              <a:rPr lang="lt-LT"/>
              <a:t>Ketvirtas lygis</a:t>
            </a:r>
          </a:p>
          <a:p>
            <a:pPr lvl="4"/>
            <a:r>
              <a:rPr lang="lt-LT"/>
              <a:t>Penktas lygis</a:t>
            </a:r>
          </a:p>
        </p:txBody>
      </p:sp>
      <p:sp>
        <p:nvSpPr>
          <p:cNvPr id="7" name="Datos vietos rezervavimo ženklas 6">
            <a:extLst>
              <a:ext uri="{FF2B5EF4-FFF2-40B4-BE49-F238E27FC236}">
                <a16:creationId xmlns:a16="http://schemas.microsoft.com/office/drawing/2014/main" id="{860E1263-516F-1752-14FE-053353CE460D}"/>
              </a:ext>
            </a:extLst>
          </p:cNvPr>
          <p:cNvSpPr>
            <a:spLocks noGrp="1"/>
          </p:cNvSpPr>
          <p:nvPr>
            <p:ph type="dt" sz="half" idx="10"/>
          </p:nvPr>
        </p:nvSpPr>
        <p:spPr/>
        <p:txBody>
          <a:bodyPr/>
          <a:lstStyle/>
          <a:p>
            <a:fld id="{3C34C509-4FC9-4EE0-9201-F9F538BD35AE}" type="datetimeFigureOut">
              <a:rPr lang="lt-LT" smtClean="0"/>
              <a:t>2026-03-12</a:t>
            </a:fld>
            <a:endParaRPr lang="lt-LT"/>
          </a:p>
        </p:txBody>
      </p:sp>
      <p:sp>
        <p:nvSpPr>
          <p:cNvPr id="8" name="Poraštės vietos rezervavimo ženklas 7">
            <a:extLst>
              <a:ext uri="{FF2B5EF4-FFF2-40B4-BE49-F238E27FC236}">
                <a16:creationId xmlns:a16="http://schemas.microsoft.com/office/drawing/2014/main" id="{030558BC-DD3F-1C05-7777-D7B1E314900F}"/>
              </a:ext>
            </a:extLst>
          </p:cNvPr>
          <p:cNvSpPr>
            <a:spLocks noGrp="1"/>
          </p:cNvSpPr>
          <p:nvPr>
            <p:ph type="ftr" sz="quarter" idx="11"/>
          </p:nvPr>
        </p:nvSpPr>
        <p:spPr/>
        <p:txBody>
          <a:bodyPr/>
          <a:lstStyle/>
          <a:p>
            <a:endParaRPr lang="lt-LT"/>
          </a:p>
        </p:txBody>
      </p:sp>
      <p:sp>
        <p:nvSpPr>
          <p:cNvPr id="9" name="Skaidrės numerio vietos rezervavimo ženklas 8">
            <a:extLst>
              <a:ext uri="{FF2B5EF4-FFF2-40B4-BE49-F238E27FC236}">
                <a16:creationId xmlns:a16="http://schemas.microsoft.com/office/drawing/2014/main" id="{2E7FDEEB-1EF6-0270-0E99-9E072CB63A68}"/>
              </a:ext>
            </a:extLst>
          </p:cNvPr>
          <p:cNvSpPr>
            <a:spLocks noGrp="1"/>
          </p:cNvSpPr>
          <p:nvPr>
            <p:ph type="sldNum" sz="quarter" idx="12"/>
          </p:nvPr>
        </p:nvSpPr>
        <p:spPr/>
        <p:txBody>
          <a:bodyPr/>
          <a:lstStyle/>
          <a:p>
            <a:fld id="{18EF1DCD-C392-4C65-BB44-D22CA8F35346}" type="slidenum">
              <a:rPr lang="lt-LT" smtClean="0"/>
              <a:t>‹#›</a:t>
            </a:fld>
            <a:endParaRPr lang="lt-LT"/>
          </a:p>
        </p:txBody>
      </p:sp>
    </p:spTree>
    <p:extLst>
      <p:ext uri="{BB962C8B-B14F-4D97-AF65-F5344CB8AC3E}">
        <p14:creationId xmlns:p14="http://schemas.microsoft.com/office/powerpoint/2010/main" val="96581967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k pavadinimas">
    <p:spTree>
      <p:nvGrpSpPr>
        <p:cNvPr id="1" name=""/>
        <p:cNvGrpSpPr/>
        <p:nvPr/>
      </p:nvGrpSpPr>
      <p:grpSpPr>
        <a:xfrm>
          <a:off x="0" y="0"/>
          <a:ext cx="0" cy="0"/>
          <a:chOff x="0" y="0"/>
          <a:chExt cx="0" cy="0"/>
        </a:xfrm>
      </p:grpSpPr>
      <p:sp>
        <p:nvSpPr>
          <p:cNvPr id="2" name="Pavadinimas 1">
            <a:extLst>
              <a:ext uri="{FF2B5EF4-FFF2-40B4-BE49-F238E27FC236}">
                <a16:creationId xmlns:a16="http://schemas.microsoft.com/office/drawing/2014/main" id="{E762FCF0-5BF0-2245-3031-97E4F8C57499}"/>
              </a:ext>
            </a:extLst>
          </p:cNvPr>
          <p:cNvSpPr>
            <a:spLocks noGrp="1"/>
          </p:cNvSpPr>
          <p:nvPr>
            <p:ph type="title"/>
          </p:nvPr>
        </p:nvSpPr>
        <p:spPr/>
        <p:txBody>
          <a:bodyPr/>
          <a:lstStyle/>
          <a:p>
            <a:r>
              <a:rPr lang="lt-LT"/>
              <a:t>Spustelėję redaguokite stilių</a:t>
            </a:r>
          </a:p>
        </p:txBody>
      </p:sp>
      <p:sp>
        <p:nvSpPr>
          <p:cNvPr id="3" name="Datos vietos rezervavimo ženklas 2">
            <a:extLst>
              <a:ext uri="{FF2B5EF4-FFF2-40B4-BE49-F238E27FC236}">
                <a16:creationId xmlns:a16="http://schemas.microsoft.com/office/drawing/2014/main" id="{79CB8673-23B3-ED38-A184-7D61C18D71FF}"/>
              </a:ext>
            </a:extLst>
          </p:cNvPr>
          <p:cNvSpPr>
            <a:spLocks noGrp="1"/>
          </p:cNvSpPr>
          <p:nvPr>
            <p:ph type="dt" sz="half" idx="10"/>
          </p:nvPr>
        </p:nvSpPr>
        <p:spPr/>
        <p:txBody>
          <a:bodyPr/>
          <a:lstStyle/>
          <a:p>
            <a:fld id="{3C34C509-4FC9-4EE0-9201-F9F538BD35AE}" type="datetimeFigureOut">
              <a:rPr lang="lt-LT" smtClean="0"/>
              <a:t>2026-03-12</a:t>
            </a:fld>
            <a:endParaRPr lang="lt-LT"/>
          </a:p>
        </p:txBody>
      </p:sp>
      <p:sp>
        <p:nvSpPr>
          <p:cNvPr id="4" name="Poraštės vietos rezervavimo ženklas 3">
            <a:extLst>
              <a:ext uri="{FF2B5EF4-FFF2-40B4-BE49-F238E27FC236}">
                <a16:creationId xmlns:a16="http://schemas.microsoft.com/office/drawing/2014/main" id="{D3B0FAAC-0F16-C92E-D178-1369899BDD23}"/>
              </a:ext>
            </a:extLst>
          </p:cNvPr>
          <p:cNvSpPr>
            <a:spLocks noGrp="1"/>
          </p:cNvSpPr>
          <p:nvPr>
            <p:ph type="ftr" sz="quarter" idx="11"/>
          </p:nvPr>
        </p:nvSpPr>
        <p:spPr/>
        <p:txBody>
          <a:bodyPr/>
          <a:lstStyle/>
          <a:p>
            <a:endParaRPr lang="lt-LT"/>
          </a:p>
        </p:txBody>
      </p:sp>
      <p:sp>
        <p:nvSpPr>
          <p:cNvPr id="5" name="Skaidrės numerio vietos rezervavimo ženklas 4">
            <a:extLst>
              <a:ext uri="{FF2B5EF4-FFF2-40B4-BE49-F238E27FC236}">
                <a16:creationId xmlns:a16="http://schemas.microsoft.com/office/drawing/2014/main" id="{2FD31876-93BC-4FD2-751D-A5A7CEEC2261}"/>
              </a:ext>
            </a:extLst>
          </p:cNvPr>
          <p:cNvSpPr>
            <a:spLocks noGrp="1"/>
          </p:cNvSpPr>
          <p:nvPr>
            <p:ph type="sldNum" sz="quarter" idx="12"/>
          </p:nvPr>
        </p:nvSpPr>
        <p:spPr/>
        <p:txBody>
          <a:bodyPr/>
          <a:lstStyle/>
          <a:p>
            <a:fld id="{18EF1DCD-C392-4C65-BB44-D22CA8F35346}" type="slidenum">
              <a:rPr lang="lt-LT" smtClean="0"/>
              <a:t>‹#›</a:t>
            </a:fld>
            <a:endParaRPr lang="lt-LT"/>
          </a:p>
        </p:txBody>
      </p:sp>
    </p:spTree>
    <p:extLst>
      <p:ext uri="{BB962C8B-B14F-4D97-AF65-F5344CB8AC3E}">
        <p14:creationId xmlns:p14="http://schemas.microsoft.com/office/powerpoint/2010/main" val="88810951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Tuščia">
    <p:spTree>
      <p:nvGrpSpPr>
        <p:cNvPr id="1" name=""/>
        <p:cNvGrpSpPr/>
        <p:nvPr/>
      </p:nvGrpSpPr>
      <p:grpSpPr>
        <a:xfrm>
          <a:off x="0" y="0"/>
          <a:ext cx="0" cy="0"/>
          <a:chOff x="0" y="0"/>
          <a:chExt cx="0" cy="0"/>
        </a:xfrm>
      </p:grpSpPr>
      <p:sp>
        <p:nvSpPr>
          <p:cNvPr id="2" name="Datos vietos rezervavimo ženklas 1">
            <a:extLst>
              <a:ext uri="{FF2B5EF4-FFF2-40B4-BE49-F238E27FC236}">
                <a16:creationId xmlns:a16="http://schemas.microsoft.com/office/drawing/2014/main" id="{B3E168CD-03D8-7EFB-0256-0D12DA524480}"/>
              </a:ext>
            </a:extLst>
          </p:cNvPr>
          <p:cNvSpPr>
            <a:spLocks noGrp="1"/>
          </p:cNvSpPr>
          <p:nvPr>
            <p:ph type="dt" sz="half" idx="10"/>
          </p:nvPr>
        </p:nvSpPr>
        <p:spPr/>
        <p:txBody>
          <a:bodyPr/>
          <a:lstStyle/>
          <a:p>
            <a:fld id="{3C34C509-4FC9-4EE0-9201-F9F538BD35AE}" type="datetimeFigureOut">
              <a:rPr lang="lt-LT" smtClean="0"/>
              <a:t>2026-03-12</a:t>
            </a:fld>
            <a:endParaRPr lang="lt-LT"/>
          </a:p>
        </p:txBody>
      </p:sp>
      <p:sp>
        <p:nvSpPr>
          <p:cNvPr id="3" name="Poraštės vietos rezervavimo ženklas 2">
            <a:extLst>
              <a:ext uri="{FF2B5EF4-FFF2-40B4-BE49-F238E27FC236}">
                <a16:creationId xmlns:a16="http://schemas.microsoft.com/office/drawing/2014/main" id="{66FE637A-8D43-3972-276F-94EA9DE0A9E1}"/>
              </a:ext>
            </a:extLst>
          </p:cNvPr>
          <p:cNvSpPr>
            <a:spLocks noGrp="1"/>
          </p:cNvSpPr>
          <p:nvPr>
            <p:ph type="ftr" sz="quarter" idx="11"/>
          </p:nvPr>
        </p:nvSpPr>
        <p:spPr/>
        <p:txBody>
          <a:bodyPr/>
          <a:lstStyle/>
          <a:p>
            <a:endParaRPr lang="lt-LT"/>
          </a:p>
        </p:txBody>
      </p:sp>
      <p:sp>
        <p:nvSpPr>
          <p:cNvPr id="4" name="Skaidrės numerio vietos rezervavimo ženklas 3">
            <a:extLst>
              <a:ext uri="{FF2B5EF4-FFF2-40B4-BE49-F238E27FC236}">
                <a16:creationId xmlns:a16="http://schemas.microsoft.com/office/drawing/2014/main" id="{C8B29FB4-957D-E0FD-8154-7DD8B143D184}"/>
              </a:ext>
            </a:extLst>
          </p:cNvPr>
          <p:cNvSpPr>
            <a:spLocks noGrp="1"/>
          </p:cNvSpPr>
          <p:nvPr>
            <p:ph type="sldNum" sz="quarter" idx="12"/>
          </p:nvPr>
        </p:nvSpPr>
        <p:spPr/>
        <p:txBody>
          <a:bodyPr/>
          <a:lstStyle/>
          <a:p>
            <a:fld id="{18EF1DCD-C392-4C65-BB44-D22CA8F35346}" type="slidenum">
              <a:rPr lang="lt-LT" smtClean="0"/>
              <a:t>‹#›</a:t>
            </a:fld>
            <a:endParaRPr lang="lt-LT"/>
          </a:p>
        </p:txBody>
      </p:sp>
    </p:spTree>
    <p:extLst>
      <p:ext uri="{BB962C8B-B14F-4D97-AF65-F5344CB8AC3E}">
        <p14:creationId xmlns:p14="http://schemas.microsoft.com/office/powerpoint/2010/main" val="6100252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Turinys ir antraštė">
    <p:spTree>
      <p:nvGrpSpPr>
        <p:cNvPr id="1" name=""/>
        <p:cNvGrpSpPr/>
        <p:nvPr/>
      </p:nvGrpSpPr>
      <p:grpSpPr>
        <a:xfrm>
          <a:off x="0" y="0"/>
          <a:ext cx="0" cy="0"/>
          <a:chOff x="0" y="0"/>
          <a:chExt cx="0" cy="0"/>
        </a:xfrm>
      </p:grpSpPr>
      <p:sp>
        <p:nvSpPr>
          <p:cNvPr id="2" name="Pavadinimas 1">
            <a:extLst>
              <a:ext uri="{FF2B5EF4-FFF2-40B4-BE49-F238E27FC236}">
                <a16:creationId xmlns:a16="http://schemas.microsoft.com/office/drawing/2014/main" id="{4C66F36F-031E-0847-5ADF-9C1F239AF560}"/>
              </a:ext>
            </a:extLst>
          </p:cNvPr>
          <p:cNvSpPr>
            <a:spLocks noGrp="1"/>
          </p:cNvSpPr>
          <p:nvPr>
            <p:ph type="title"/>
          </p:nvPr>
        </p:nvSpPr>
        <p:spPr>
          <a:xfrm>
            <a:off x="839788" y="457200"/>
            <a:ext cx="3932237" cy="1600200"/>
          </a:xfrm>
        </p:spPr>
        <p:txBody>
          <a:bodyPr anchor="b"/>
          <a:lstStyle>
            <a:lvl1pPr>
              <a:defRPr sz="3200"/>
            </a:lvl1pPr>
          </a:lstStyle>
          <a:p>
            <a:r>
              <a:rPr lang="lt-LT"/>
              <a:t>Spustelėję redaguokite stilių</a:t>
            </a:r>
          </a:p>
        </p:txBody>
      </p:sp>
      <p:sp>
        <p:nvSpPr>
          <p:cNvPr id="3" name="Turinio vietos rezervavimo ženklas 2">
            <a:extLst>
              <a:ext uri="{FF2B5EF4-FFF2-40B4-BE49-F238E27FC236}">
                <a16:creationId xmlns:a16="http://schemas.microsoft.com/office/drawing/2014/main" id="{BFB98109-249E-4014-EA8C-6D0B0975022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lt-LT"/>
              <a:t>Spustelėkite, kad galėtumėte redaguoti šablono teksto stilius</a:t>
            </a:r>
          </a:p>
          <a:p>
            <a:pPr lvl="1"/>
            <a:r>
              <a:rPr lang="lt-LT"/>
              <a:t>Antras lygis</a:t>
            </a:r>
          </a:p>
          <a:p>
            <a:pPr lvl="2"/>
            <a:r>
              <a:rPr lang="lt-LT"/>
              <a:t>Trečias lygis</a:t>
            </a:r>
          </a:p>
          <a:p>
            <a:pPr lvl="3"/>
            <a:r>
              <a:rPr lang="lt-LT"/>
              <a:t>Ketvirtas lygis</a:t>
            </a:r>
          </a:p>
          <a:p>
            <a:pPr lvl="4"/>
            <a:r>
              <a:rPr lang="lt-LT"/>
              <a:t>Penktas lygis</a:t>
            </a:r>
          </a:p>
        </p:txBody>
      </p:sp>
      <p:sp>
        <p:nvSpPr>
          <p:cNvPr id="4" name="Teksto vietos rezervavimo ženklas 3">
            <a:extLst>
              <a:ext uri="{FF2B5EF4-FFF2-40B4-BE49-F238E27FC236}">
                <a16:creationId xmlns:a16="http://schemas.microsoft.com/office/drawing/2014/main" id="{4A7BC854-855F-8063-56C4-0E44C170F8F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lt-LT"/>
              <a:t>Spustelėkite, kad galėtumėte redaguoti šablono teksto stilius</a:t>
            </a:r>
          </a:p>
        </p:txBody>
      </p:sp>
      <p:sp>
        <p:nvSpPr>
          <p:cNvPr id="5" name="Datos vietos rezervavimo ženklas 4">
            <a:extLst>
              <a:ext uri="{FF2B5EF4-FFF2-40B4-BE49-F238E27FC236}">
                <a16:creationId xmlns:a16="http://schemas.microsoft.com/office/drawing/2014/main" id="{991B6309-19E8-D11D-6D17-2CE3253CDF10}"/>
              </a:ext>
            </a:extLst>
          </p:cNvPr>
          <p:cNvSpPr>
            <a:spLocks noGrp="1"/>
          </p:cNvSpPr>
          <p:nvPr>
            <p:ph type="dt" sz="half" idx="10"/>
          </p:nvPr>
        </p:nvSpPr>
        <p:spPr/>
        <p:txBody>
          <a:bodyPr/>
          <a:lstStyle/>
          <a:p>
            <a:fld id="{3C34C509-4FC9-4EE0-9201-F9F538BD35AE}" type="datetimeFigureOut">
              <a:rPr lang="lt-LT" smtClean="0"/>
              <a:t>2026-03-12</a:t>
            </a:fld>
            <a:endParaRPr lang="lt-LT"/>
          </a:p>
        </p:txBody>
      </p:sp>
      <p:sp>
        <p:nvSpPr>
          <p:cNvPr id="6" name="Poraštės vietos rezervavimo ženklas 5">
            <a:extLst>
              <a:ext uri="{FF2B5EF4-FFF2-40B4-BE49-F238E27FC236}">
                <a16:creationId xmlns:a16="http://schemas.microsoft.com/office/drawing/2014/main" id="{533A68E0-CBBA-8ED4-0157-F09B6929EF8B}"/>
              </a:ext>
            </a:extLst>
          </p:cNvPr>
          <p:cNvSpPr>
            <a:spLocks noGrp="1"/>
          </p:cNvSpPr>
          <p:nvPr>
            <p:ph type="ftr" sz="quarter" idx="11"/>
          </p:nvPr>
        </p:nvSpPr>
        <p:spPr/>
        <p:txBody>
          <a:bodyPr/>
          <a:lstStyle/>
          <a:p>
            <a:endParaRPr lang="lt-LT"/>
          </a:p>
        </p:txBody>
      </p:sp>
      <p:sp>
        <p:nvSpPr>
          <p:cNvPr id="7" name="Skaidrės numerio vietos rezervavimo ženklas 6">
            <a:extLst>
              <a:ext uri="{FF2B5EF4-FFF2-40B4-BE49-F238E27FC236}">
                <a16:creationId xmlns:a16="http://schemas.microsoft.com/office/drawing/2014/main" id="{9F32A747-797D-C2AF-19B0-1B4AE9F490E6}"/>
              </a:ext>
            </a:extLst>
          </p:cNvPr>
          <p:cNvSpPr>
            <a:spLocks noGrp="1"/>
          </p:cNvSpPr>
          <p:nvPr>
            <p:ph type="sldNum" sz="quarter" idx="12"/>
          </p:nvPr>
        </p:nvSpPr>
        <p:spPr/>
        <p:txBody>
          <a:bodyPr/>
          <a:lstStyle/>
          <a:p>
            <a:fld id="{18EF1DCD-C392-4C65-BB44-D22CA8F35346}" type="slidenum">
              <a:rPr lang="lt-LT" smtClean="0"/>
              <a:t>‹#›</a:t>
            </a:fld>
            <a:endParaRPr lang="lt-LT"/>
          </a:p>
        </p:txBody>
      </p:sp>
    </p:spTree>
    <p:extLst>
      <p:ext uri="{BB962C8B-B14F-4D97-AF65-F5344CB8AC3E}">
        <p14:creationId xmlns:p14="http://schemas.microsoft.com/office/powerpoint/2010/main" val="138026927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aveikslėlis ir antraštė">
    <p:spTree>
      <p:nvGrpSpPr>
        <p:cNvPr id="1" name=""/>
        <p:cNvGrpSpPr/>
        <p:nvPr/>
      </p:nvGrpSpPr>
      <p:grpSpPr>
        <a:xfrm>
          <a:off x="0" y="0"/>
          <a:ext cx="0" cy="0"/>
          <a:chOff x="0" y="0"/>
          <a:chExt cx="0" cy="0"/>
        </a:xfrm>
      </p:grpSpPr>
      <p:sp>
        <p:nvSpPr>
          <p:cNvPr id="2" name="Pavadinimas 1">
            <a:extLst>
              <a:ext uri="{FF2B5EF4-FFF2-40B4-BE49-F238E27FC236}">
                <a16:creationId xmlns:a16="http://schemas.microsoft.com/office/drawing/2014/main" id="{CA0CA3C1-1729-2245-0AD7-A246108EC283}"/>
              </a:ext>
            </a:extLst>
          </p:cNvPr>
          <p:cNvSpPr>
            <a:spLocks noGrp="1"/>
          </p:cNvSpPr>
          <p:nvPr>
            <p:ph type="title"/>
          </p:nvPr>
        </p:nvSpPr>
        <p:spPr>
          <a:xfrm>
            <a:off x="839788" y="457200"/>
            <a:ext cx="3932237" cy="1600200"/>
          </a:xfrm>
        </p:spPr>
        <p:txBody>
          <a:bodyPr anchor="b"/>
          <a:lstStyle>
            <a:lvl1pPr>
              <a:defRPr sz="3200"/>
            </a:lvl1pPr>
          </a:lstStyle>
          <a:p>
            <a:r>
              <a:rPr lang="lt-LT"/>
              <a:t>Spustelėję redaguokite stilių</a:t>
            </a:r>
          </a:p>
        </p:txBody>
      </p:sp>
      <p:sp>
        <p:nvSpPr>
          <p:cNvPr id="3" name="Paveikslėlio vietos rezervavimo ženklas 2">
            <a:extLst>
              <a:ext uri="{FF2B5EF4-FFF2-40B4-BE49-F238E27FC236}">
                <a16:creationId xmlns:a16="http://schemas.microsoft.com/office/drawing/2014/main" id="{9D12CB35-EC9B-E745-3EBE-B14458EF93B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lt-LT"/>
          </a:p>
        </p:txBody>
      </p:sp>
      <p:sp>
        <p:nvSpPr>
          <p:cNvPr id="4" name="Teksto vietos rezervavimo ženklas 3">
            <a:extLst>
              <a:ext uri="{FF2B5EF4-FFF2-40B4-BE49-F238E27FC236}">
                <a16:creationId xmlns:a16="http://schemas.microsoft.com/office/drawing/2014/main" id="{2C98CC2F-EC1D-D9A4-3E8C-2AD710A6D15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lt-LT"/>
              <a:t>Spustelėkite, kad galėtumėte redaguoti šablono teksto stilius</a:t>
            </a:r>
          </a:p>
        </p:txBody>
      </p:sp>
      <p:sp>
        <p:nvSpPr>
          <p:cNvPr id="5" name="Datos vietos rezervavimo ženklas 4">
            <a:extLst>
              <a:ext uri="{FF2B5EF4-FFF2-40B4-BE49-F238E27FC236}">
                <a16:creationId xmlns:a16="http://schemas.microsoft.com/office/drawing/2014/main" id="{CE268519-25FF-D320-518D-A67FFFB43A69}"/>
              </a:ext>
            </a:extLst>
          </p:cNvPr>
          <p:cNvSpPr>
            <a:spLocks noGrp="1"/>
          </p:cNvSpPr>
          <p:nvPr>
            <p:ph type="dt" sz="half" idx="10"/>
          </p:nvPr>
        </p:nvSpPr>
        <p:spPr/>
        <p:txBody>
          <a:bodyPr/>
          <a:lstStyle/>
          <a:p>
            <a:fld id="{3C34C509-4FC9-4EE0-9201-F9F538BD35AE}" type="datetimeFigureOut">
              <a:rPr lang="lt-LT" smtClean="0"/>
              <a:t>2026-03-12</a:t>
            </a:fld>
            <a:endParaRPr lang="lt-LT"/>
          </a:p>
        </p:txBody>
      </p:sp>
      <p:sp>
        <p:nvSpPr>
          <p:cNvPr id="6" name="Poraštės vietos rezervavimo ženklas 5">
            <a:extLst>
              <a:ext uri="{FF2B5EF4-FFF2-40B4-BE49-F238E27FC236}">
                <a16:creationId xmlns:a16="http://schemas.microsoft.com/office/drawing/2014/main" id="{DFBD949C-C6F1-2F49-F500-4C6859BF7366}"/>
              </a:ext>
            </a:extLst>
          </p:cNvPr>
          <p:cNvSpPr>
            <a:spLocks noGrp="1"/>
          </p:cNvSpPr>
          <p:nvPr>
            <p:ph type="ftr" sz="quarter" idx="11"/>
          </p:nvPr>
        </p:nvSpPr>
        <p:spPr/>
        <p:txBody>
          <a:bodyPr/>
          <a:lstStyle/>
          <a:p>
            <a:endParaRPr lang="lt-LT"/>
          </a:p>
        </p:txBody>
      </p:sp>
      <p:sp>
        <p:nvSpPr>
          <p:cNvPr id="7" name="Skaidrės numerio vietos rezervavimo ženklas 6">
            <a:extLst>
              <a:ext uri="{FF2B5EF4-FFF2-40B4-BE49-F238E27FC236}">
                <a16:creationId xmlns:a16="http://schemas.microsoft.com/office/drawing/2014/main" id="{0269386D-C6E6-4E12-547D-8997DE1291D8}"/>
              </a:ext>
            </a:extLst>
          </p:cNvPr>
          <p:cNvSpPr>
            <a:spLocks noGrp="1"/>
          </p:cNvSpPr>
          <p:nvPr>
            <p:ph type="sldNum" sz="quarter" idx="12"/>
          </p:nvPr>
        </p:nvSpPr>
        <p:spPr/>
        <p:txBody>
          <a:bodyPr/>
          <a:lstStyle/>
          <a:p>
            <a:fld id="{18EF1DCD-C392-4C65-BB44-D22CA8F35346}" type="slidenum">
              <a:rPr lang="lt-LT" smtClean="0"/>
              <a:t>‹#›</a:t>
            </a:fld>
            <a:endParaRPr lang="lt-LT"/>
          </a:p>
        </p:txBody>
      </p:sp>
    </p:spTree>
    <p:extLst>
      <p:ext uri="{BB962C8B-B14F-4D97-AF65-F5344CB8AC3E}">
        <p14:creationId xmlns:p14="http://schemas.microsoft.com/office/powerpoint/2010/main" val="87334942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Pavadinimas ir vertikalus tekstas">
    <p:spTree>
      <p:nvGrpSpPr>
        <p:cNvPr id="1" name=""/>
        <p:cNvGrpSpPr/>
        <p:nvPr/>
      </p:nvGrpSpPr>
      <p:grpSpPr>
        <a:xfrm>
          <a:off x="0" y="0"/>
          <a:ext cx="0" cy="0"/>
          <a:chOff x="0" y="0"/>
          <a:chExt cx="0" cy="0"/>
        </a:xfrm>
      </p:grpSpPr>
      <p:sp>
        <p:nvSpPr>
          <p:cNvPr id="2" name="Pavadinimas 1">
            <a:extLst>
              <a:ext uri="{FF2B5EF4-FFF2-40B4-BE49-F238E27FC236}">
                <a16:creationId xmlns:a16="http://schemas.microsoft.com/office/drawing/2014/main" id="{B95ED226-BADD-FF62-B4AB-2A42CE4EF773}"/>
              </a:ext>
            </a:extLst>
          </p:cNvPr>
          <p:cNvSpPr>
            <a:spLocks noGrp="1"/>
          </p:cNvSpPr>
          <p:nvPr>
            <p:ph type="title"/>
          </p:nvPr>
        </p:nvSpPr>
        <p:spPr/>
        <p:txBody>
          <a:bodyPr/>
          <a:lstStyle/>
          <a:p>
            <a:r>
              <a:rPr lang="lt-LT"/>
              <a:t>Spustelėję redaguokite stilių</a:t>
            </a:r>
          </a:p>
        </p:txBody>
      </p:sp>
      <p:sp>
        <p:nvSpPr>
          <p:cNvPr id="3" name="Vertikalaus teksto vietos rezervavimo ženklas 2">
            <a:extLst>
              <a:ext uri="{FF2B5EF4-FFF2-40B4-BE49-F238E27FC236}">
                <a16:creationId xmlns:a16="http://schemas.microsoft.com/office/drawing/2014/main" id="{346476DC-425D-DBA6-9913-F46BA1054978}"/>
              </a:ext>
            </a:extLst>
          </p:cNvPr>
          <p:cNvSpPr>
            <a:spLocks noGrp="1"/>
          </p:cNvSpPr>
          <p:nvPr>
            <p:ph type="body" orient="vert" idx="1"/>
          </p:nvPr>
        </p:nvSpPr>
        <p:spPr/>
        <p:txBody>
          <a:bodyPr vert="eaVert"/>
          <a:lstStyle/>
          <a:p>
            <a:pPr lvl="0"/>
            <a:r>
              <a:rPr lang="lt-LT"/>
              <a:t>Spustelėkite, kad galėtumėte redaguoti šablono teksto stilius</a:t>
            </a:r>
          </a:p>
          <a:p>
            <a:pPr lvl="1"/>
            <a:r>
              <a:rPr lang="lt-LT"/>
              <a:t>Antras lygis</a:t>
            </a:r>
          </a:p>
          <a:p>
            <a:pPr lvl="2"/>
            <a:r>
              <a:rPr lang="lt-LT"/>
              <a:t>Trečias lygis</a:t>
            </a:r>
          </a:p>
          <a:p>
            <a:pPr lvl="3"/>
            <a:r>
              <a:rPr lang="lt-LT"/>
              <a:t>Ketvirtas lygis</a:t>
            </a:r>
          </a:p>
          <a:p>
            <a:pPr lvl="4"/>
            <a:r>
              <a:rPr lang="lt-LT"/>
              <a:t>Penktas lygis</a:t>
            </a:r>
          </a:p>
        </p:txBody>
      </p:sp>
      <p:sp>
        <p:nvSpPr>
          <p:cNvPr id="4" name="Datos vietos rezervavimo ženklas 3">
            <a:extLst>
              <a:ext uri="{FF2B5EF4-FFF2-40B4-BE49-F238E27FC236}">
                <a16:creationId xmlns:a16="http://schemas.microsoft.com/office/drawing/2014/main" id="{FDFF0406-6709-D8D8-1E60-1459CB0B47C4}"/>
              </a:ext>
            </a:extLst>
          </p:cNvPr>
          <p:cNvSpPr>
            <a:spLocks noGrp="1"/>
          </p:cNvSpPr>
          <p:nvPr>
            <p:ph type="dt" sz="half" idx="10"/>
          </p:nvPr>
        </p:nvSpPr>
        <p:spPr/>
        <p:txBody>
          <a:bodyPr/>
          <a:lstStyle/>
          <a:p>
            <a:fld id="{3C34C509-4FC9-4EE0-9201-F9F538BD35AE}" type="datetimeFigureOut">
              <a:rPr lang="lt-LT" smtClean="0"/>
              <a:t>2026-03-12</a:t>
            </a:fld>
            <a:endParaRPr lang="lt-LT"/>
          </a:p>
        </p:txBody>
      </p:sp>
      <p:sp>
        <p:nvSpPr>
          <p:cNvPr id="5" name="Poraštės vietos rezervavimo ženklas 4">
            <a:extLst>
              <a:ext uri="{FF2B5EF4-FFF2-40B4-BE49-F238E27FC236}">
                <a16:creationId xmlns:a16="http://schemas.microsoft.com/office/drawing/2014/main" id="{12DFB000-9ED4-8E2F-F272-6B47BB42E486}"/>
              </a:ext>
            </a:extLst>
          </p:cNvPr>
          <p:cNvSpPr>
            <a:spLocks noGrp="1"/>
          </p:cNvSpPr>
          <p:nvPr>
            <p:ph type="ftr" sz="quarter" idx="11"/>
          </p:nvPr>
        </p:nvSpPr>
        <p:spPr/>
        <p:txBody>
          <a:bodyPr/>
          <a:lstStyle/>
          <a:p>
            <a:endParaRPr lang="lt-LT"/>
          </a:p>
        </p:txBody>
      </p:sp>
      <p:sp>
        <p:nvSpPr>
          <p:cNvPr id="6" name="Skaidrės numerio vietos rezervavimo ženklas 5">
            <a:extLst>
              <a:ext uri="{FF2B5EF4-FFF2-40B4-BE49-F238E27FC236}">
                <a16:creationId xmlns:a16="http://schemas.microsoft.com/office/drawing/2014/main" id="{19D64B03-AFAE-9F53-2E4B-E61280842A7F}"/>
              </a:ext>
            </a:extLst>
          </p:cNvPr>
          <p:cNvSpPr>
            <a:spLocks noGrp="1"/>
          </p:cNvSpPr>
          <p:nvPr>
            <p:ph type="sldNum" sz="quarter" idx="12"/>
          </p:nvPr>
        </p:nvSpPr>
        <p:spPr/>
        <p:txBody>
          <a:bodyPr/>
          <a:lstStyle/>
          <a:p>
            <a:fld id="{18EF1DCD-C392-4C65-BB44-D22CA8F35346}" type="slidenum">
              <a:rPr lang="lt-LT" smtClean="0"/>
              <a:t>‹#›</a:t>
            </a:fld>
            <a:endParaRPr lang="lt-LT"/>
          </a:p>
        </p:txBody>
      </p:sp>
    </p:spTree>
    <p:extLst>
      <p:ext uri="{BB962C8B-B14F-4D97-AF65-F5344CB8AC3E}">
        <p14:creationId xmlns:p14="http://schemas.microsoft.com/office/powerpoint/2010/main" val="91939421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kalus pavadinimas ir tekstas">
    <p:spTree>
      <p:nvGrpSpPr>
        <p:cNvPr id="1" name=""/>
        <p:cNvGrpSpPr/>
        <p:nvPr/>
      </p:nvGrpSpPr>
      <p:grpSpPr>
        <a:xfrm>
          <a:off x="0" y="0"/>
          <a:ext cx="0" cy="0"/>
          <a:chOff x="0" y="0"/>
          <a:chExt cx="0" cy="0"/>
        </a:xfrm>
      </p:grpSpPr>
      <p:sp>
        <p:nvSpPr>
          <p:cNvPr id="2" name="Vertikalus pavadinimas 1">
            <a:extLst>
              <a:ext uri="{FF2B5EF4-FFF2-40B4-BE49-F238E27FC236}">
                <a16:creationId xmlns:a16="http://schemas.microsoft.com/office/drawing/2014/main" id="{EDB1386A-8741-442A-031B-74255946A3F7}"/>
              </a:ext>
            </a:extLst>
          </p:cNvPr>
          <p:cNvSpPr>
            <a:spLocks noGrp="1"/>
          </p:cNvSpPr>
          <p:nvPr>
            <p:ph type="title" orient="vert"/>
          </p:nvPr>
        </p:nvSpPr>
        <p:spPr>
          <a:xfrm>
            <a:off x="8724900" y="365125"/>
            <a:ext cx="2628900" cy="5811838"/>
          </a:xfrm>
        </p:spPr>
        <p:txBody>
          <a:bodyPr vert="eaVert"/>
          <a:lstStyle/>
          <a:p>
            <a:r>
              <a:rPr lang="lt-LT"/>
              <a:t>Spustelėję redaguokite stilių</a:t>
            </a:r>
          </a:p>
        </p:txBody>
      </p:sp>
      <p:sp>
        <p:nvSpPr>
          <p:cNvPr id="3" name="Vertikalaus teksto vietos rezervavimo ženklas 2">
            <a:extLst>
              <a:ext uri="{FF2B5EF4-FFF2-40B4-BE49-F238E27FC236}">
                <a16:creationId xmlns:a16="http://schemas.microsoft.com/office/drawing/2014/main" id="{770C33A8-A3BA-726D-14D3-7339AA42E972}"/>
              </a:ext>
            </a:extLst>
          </p:cNvPr>
          <p:cNvSpPr>
            <a:spLocks noGrp="1"/>
          </p:cNvSpPr>
          <p:nvPr>
            <p:ph type="body" orient="vert" idx="1"/>
          </p:nvPr>
        </p:nvSpPr>
        <p:spPr>
          <a:xfrm>
            <a:off x="838200" y="365125"/>
            <a:ext cx="7734300" cy="5811838"/>
          </a:xfrm>
        </p:spPr>
        <p:txBody>
          <a:bodyPr vert="eaVert"/>
          <a:lstStyle/>
          <a:p>
            <a:pPr lvl="0"/>
            <a:r>
              <a:rPr lang="lt-LT"/>
              <a:t>Spustelėkite, kad galėtumėte redaguoti šablono teksto stilius</a:t>
            </a:r>
          </a:p>
          <a:p>
            <a:pPr lvl="1"/>
            <a:r>
              <a:rPr lang="lt-LT"/>
              <a:t>Antras lygis</a:t>
            </a:r>
          </a:p>
          <a:p>
            <a:pPr lvl="2"/>
            <a:r>
              <a:rPr lang="lt-LT"/>
              <a:t>Trečias lygis</a:t>
            </a:r>
          </a:p>
          <a:p>
            <a:pPr lvl="3"/>
            <a:r>
              <a:rPr lang="lt-LT"/>
              <a:t>Ketvirtas lygis</a:t>
            </a:r>
          </a:p>
          <a:p>
            <a:pPr lvl="4"/>
            <a:r>
              <a:rPr lang="lt-LT"/>
              <a:t>Penktas lygis</a:t>
            </a:r>
          </a:p>
        </p:txBody>
      </p:sp>
      <p:sp>
        <p:nvSpPr>
          <p:cNvPr id="4" name="Datos vietos rezervavimo ženklas 3">
            <a:extLst>
              <a:ext uri="{FF2B5EF4-FFF2-40B4-BE49-F238E27FC236}">
                <a16:creationId xmlns:a16="http://schemas.microsoft.com/office/drawing/2014/main" id="{0742D7A4-A271-EF2F-17C4-820B384B4F3A}"/>
              </a:ext>
            </a:extLst>
          </p:cNvPr>
          <p:cNvSpPr>
            <a:spLocks noGrp="1"/>
          </p:cNvSpPr>
          <p:nvPr>
            <p:ph type="dt" sz="half" idx="10"/>
          </p:nvPr>
        </p:nvSpPr>
        <p:spPr/>
        <p:txBody>
          <a:bodyPr/>
          <a:lstStyle/>
          <a:p>
            <a:fld id="{3C34C509-4FC9-4EE0-9201-F9F538BD35AE}" type="datetimeFigureOut">
              <a:rPr lang="lt-LT" smtClean="0"/>
              <a:t>2026-03-12</a:t>
            </a:fld>
            <a:endParaRPr lang="lt-LT"/>
          </a:p>
        </p:txBody>
      </p:sp>
      <p:sp>
        <p:nvSpPr>
          <p:cNvPr id="5" name="Poraštės vietos rezervavimo ženklas 4">
            <a:extLst>
              <a:ext uri="{FF2B5EF4-FFF2-40B4-BE49-F238E27FC236}">
                <a16:creationId xmlns:a16="http://schemas.microsoft.com/office/drawing/2014/main" id="{4422E5F2-2DDF-CB74-27E4-DA2E9AE4004C}"/>
              </a:ext>
            </a:extLst>
          </p:cNvPr>
          <p:cNvSpPr>
            <a:spLocks noGrp="1"/>
          </p:cNvSpPr>
          <p:nvPr>
            <p:ph type="ftr" sz="quarter" idx="11"/>
          </p:nvPr>
        </p:nvSpPr>
        <p:spPr/>
        <p:txBody>
          <a:bodyPr/>
          <a:lstStyle/>
          <a:p>
            <a:endParaRPr lang="lt-LT"/>
          </a:p>
        </p:txBody>
      </p:sp>
      <p:sp>
        <p:nvSpPr>
          <p:cNvPr id="6" name="Skaidrės numerio vietos rezervavimo ženklas 5">
            <a:extLst>
              <a:ext uri="{FF2B5EF4-FFF2-40B4-BE49-F238E27FC236}">
                <a16:creationId xmlns:a16="http://schemas.microsoft.com/office/drawing/2014/main" id="{9189827F-6873-DC48-7EF2-7C2BD97C0E49}"/>
              </a:ext>
            </a:extLst>
          </p:cNvPr>
          <p:cNvSpPr>
            <a:spLocks noGrp="1"/>
          </p:cNvSpPr>
          <p:nvPr>
            <p:ph type="sldNum" sz="quarter" idx="12"/>
          </p:nvPr>
        </p:nvSpPr>
        <p:spPr/>
        <p:txBody>
          <a:bodyPr/>
          <a:lstStyle/>
          <a:p>
            <a:fld id="{18EF1DCD-C392-4C65-BB44-D22CA8F35346}" type="slidenum">
              <a:rPr lang="lt-LT" smtClean="0"/>
              <a:t>‹#›</a:t>
            </a:fld>
            <a:endParaRPr lang="lt-LT"/>
          </a:p>
        </p:txBody>
      </p:sp>
    </p:spTree>
    <p:extLst>
      <p:ext uri="{BB962C8B-B14F-4D97-AF65-F5344CB8AC3E}">
        <p14:creationId xmlns:p14="http://schemas.microsoft.com/office/powerpoint/2010/main" val="8931020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avadinimo vietos rezervavimo ženklas 1">
            <a:extLst>
              <a:ext uri="{FF2B5EF4-FFF2-40B4-BE49-F238E27FC236}">
                <a16:creationId xmlns:a16="http://schemas.microsoft.com/office/drawing/2014/main" id="{D89D0249-6CF1-2A6D-BA39-0553FEA1900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lt-LT"/>
              <a:t>Spustelėję redaguokite stilių</a:t>
            </a:r>
          </a:p>
        </p:txBody>
      </p:sp>
      <p:sp>
        <p:nvSpPr>
          <p:cNvPr id="3" name="Teksto vietos rezervavimo ženklas 2">
            <a:extLst>
              <a:ext uri="{FF2B5EF4-FFF2-40B4-BE49-F238E27FC236}">
                <a16:creationId xmlns:a16="http://schemas.microsoft.com/office/drawing/2014/main" id="{0F896552-3523-D00F-7F15-72231631E0D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lt-LT"/>
              <a:t>Spustelėkite, kad galėtumėte redaguoti šablono teksto stilius</a:t>
            </a:r>
          </a:p>
          <a:p>
            <a:pPr lvl="1"/>
            <a:r>
              <a:rPr lang="lt-LT"/>
              <a:t>Antras lygis</a:t>
            </a:r>
          </a:p>
          <a:p>
            <a:pPr lvl="2"/>
            <a:r>
              <a:rPr lang="lt-LT"/>
              <a:t>Trečias lygis</a:t>
            </a:r>
          </a:p>
          <a:p>
            <a:pPr lvl="3"/>
            <a:r>
              <a:rPr lang="lt-LT"/>
              <a:t>Ketvirtas lygis</a:t>
            </a:r>
          </a:p>
          <a:p>
            <a:pPr lvl="4"/>
            <a:r>
              <a:rPr lang="lt-LT"/>
              <a:t>Penktas lygis</a:t>
            </a:r>
          </a:p>
        </p:txBody>
      </p:sp>
      <p:sp>
        <p:nvSpPr>
          <p:cNvPr id="4" name="Datos vietos rezervavimo ženklas 3">
            <a:extLst>
              <a:ext uri="{FF2B5EF4-FFF2-40B4-BE49-F238E27FC236}">
                <a16:creationId xmlns:a16="http://schemas.microsoft.com/office/drawing/2014/main" id="{C61BC822-194C-CA54-855F-F64E5F6A9B9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3C34C509-4FC9-4EE0-9201-F9F538BD35AE}" type="datetimeFigureOut">
              <a:rPr lang="lt-LT" smtClean="0"/>
              <a:t>2026-03-12</a:t>
            </a:fld>
            <a:endParaRPr lang="lt-LT"/>
          </a:p>
        </p:txBody>
      </p:sp>
      <p:sp>
        <p:nvSpPr>
          <p:cNvPr id="5" name="Poraštės vietos rezervavimo ženklas 4">
            <a:extLst>
              <a:ext uri="{FF2B5EF4-FFF2-40B4-BE49-F238E27FC236}">
                <a16:creationId xmlns:a16="http://schemas.microsoft.com/office/drawing/2014/main" id="{15695E55-4479-8356-B78E-4D4ECCEC7F0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lt-LT"/>
          </a:p>
        </p:txBody>
      </p:sp>
      <p:sp>
        <p:nvSpPr>
          <p:cNvPr id="6" name="Skaidrės numerio vietos rezervavimo ženklas 5">
            <a:extLst>
              <a:ext uri="{FF2B5EF4-FFF2-40B4-BE49-F238E27FC236}">
                <a16:creationId xmlns:a16="http://schemas.microsoft.com/office/drawing/2014/main" id="{6B7341C4-1DFB-CC8D-FBF5-CBAE6FD0128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18EF1DCD-C392-4C65-BB44-D22CA8F35346}" type="slidenum">
              <a:rPr lang="lt-LT" smtClean="0"/>
              <a:t>‹#›</a:t>
            </a:fld>
            <a:endParaRPr lang="lt-LT"/>
          </a:p>
        </p:txBody>
      </p:sp>
    </p:spTree>
    <p:extLst>
      <p:ext uri="{BB962C8B-B14F-4D97-AF65-F5344CB8AC3E}">
        <p14:creationId xmlns:p14="http://schemas.microsoft.com/office/powerpoint/2010/main" val="84183044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lt-L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0.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6.xml"/></Relationships>
</file>

<file path=ppt/slides/_rels/slide41.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6.xml"/></Relationships>
</file>

<file path=ppt/slides/_rels/slide42.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6.xml"/></Relationships>
</file>

<file path=ppt/slides/_rels/slide43.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6.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avadinimas 1">
            <a:extLst>
              <a:ext uri="{FF2B5EF4-FFF2-40B4-BE49-F238E27FC236}">
                <a16:creationId xmlns:a16="http://schemas.microsoft.com/office/drawing/2014/main" id="{551DE627-F873-EE20-9A3B-D8D2E34FDCCE}"/>
              </a:ext>
            </a:extLst>
          </p:cNvPr>
          <p:cNvSpPr>
            <a:spLocks noGrp="1"/>
          </p:cNvSpPr>
          <p:nvPr>
            <p:ph type="ctrTitle"/>
          </p:nvPr>
        </p:nvSpPr>
        <p:spPr/>
        <p:txBody>
          <a:bodyPr>
            <a:normAutofit fontScale="90000"/>
          </a:bodyPr>
          <a:lstStyle/>
          <a:p>
            <a:br>
              <a:rPr lang="en-US" dirty="0"/>
            </a:br>
            <a:br>
              <a:rPr lang="en-US" dirty="0"/>
            </a:br>
            <a:r>
              <a:rPr lang="en-US" dirty="0"/>
              <a:t>Python Machine Learning:</a:t>
            </a:r>
            <a:br>
              <a:rPr lang="en-US" dirty="0"/>
            </a:br>
            <a:r>
              <a:rPr lang="en-US" dirty="0"/>
              <a:t>EDA</a:t>
            </a:r>
            <a:endParaRPr lang="lt-LT" dirty="0"/>
          </a:p>
        </p:txBody>
      </p:sp>
      <p:sp>
        <p:nvSpPr>
          <p:cNvPr id="3" name="Antrinis pavadinimas 2">
            <a:extLst>
              <a:ext uri="{FF2B5EF4-FFF2-40B4-BE49-F238E27FC236}">
                <a16:creationId xmlns:a16="http://schemas.microsoft.com/office/drawing/2014/main" id="{DF5DE917-4BE6-0DC6-27ED-48EBAD1754DC}"/>
              </a:ext>
            </a:extLst>
          </p:cNvPr>
          <p:cNvSpPr>
            <a:spLocks noGrp="1"/>
          </p:cNvSpPr>
          <p:nvPr>
            <p:ph type="subTitle" idx="1"/>
          </p:nvPr>
        </p:nvSpPr>
        <p:spPr/>
        <p:txBody>
          <a:bodyPr/>
          <a:lstStyle/>
          <a:p>
            <a:r>
              <a:rPr lang="lt-LT" dirty="0"/>
              <a:t>Žydrūnė Kelpšaitė</a:t>
            </a:r>
          </a:p>
          <a:p>
            <a:r>
              <a:rPr lang="lt-LT" dirty="0"/>
              <a:t>Data </a:t>
            </a:r>
            <a:r>
              <a:rPr lang="lt-LT" dirty="0" err="1"/>
              <a:t>Analyst</a:t>
            </a:r>
            <a:endParaRPr lang="lt-LT" dirty="0"/>
          </a:p>
        </p:txBody>
      </p:sp>
      <p:pic>
        <p:nvPicPr>
          <p:cNvPr id="7" name="Paveikslėlis 6">
            <a:extLst>
              <a:ext uri="{FF2B5EF4-FFF2-40B4-BE49-F238E27FC236}">
                <a16:creationId xmlns:a16="http://schemas.microsoft.com/office/drawing/2014/main" id="{9E79B567-32F2-69DD-9EA7-B800DE5C43BA}"/>
              </a:ext>
            </a:extLst>
          </p:cNvPr>
          <p:cNvPicPr>
            <a:picLocks noChangeAspect="1"/>
          </p:cNvPicPr>
          <p:nvPr/>
        </p:nvPicPr>
        <p:blipFill>
          <a:blip r:embed="rId2"/>
          <a:stretch>
            <a:fillRect/>
          </a:stretch>
        </p:blipFill>
        <p:spPr>
          <a:xfrm>
            <a:off x="569986" y="522204"/>
            <a:ext cx="10698068" cy="1200318"/>
          </a:xfrm>
          <a:prstGeom prst="rect">
            <a:avLst/>
          </a:prstGeom>
        </p:spPr>
      </p:pic>
    </p:spTree>
    <p:extLst>
      <p:ext uri="{BB962C8B-B14F-4D97-AF65-F5344CB8AC3E}">
        <p14:creationId xmlns:p14="http://schemas.microsoft.com/office/powerpoint/2010/main" val="418251972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avadinimas 1">
            <a:extLst>
              <a:ext uri="{FF2B5EF4-FFF2-40B4-BE49-F238E27FC236}">
                <a16:creationId xmlns:a16="http://schemas.microsoft.com/office/drawing/2014/main" id="{2236BC7F-33D0-0B12-7202-12ECC509D205}"/>
              </a:ext>
            </a:extLst>
          </p:cNvPr>
          <p:cNvSpPr>
            <a:spLocks noGrp="1"/>
          </p:cNvSpPr>
          <p:nvPr>
            <p:ph type="title"/>
          </p:nvPr>
        </p:nvSpPr>
        <p:spPr/>
        <p:txBody>
          <a:bodyPr/>
          <a:lstStyle/>
          <a:p>
            <a:r>
              <a:rPr lang="lt-LT" dirty="0"/>
              <a:t>WHAT IS DATA SCIENCE?</a:t>
            </a:r>
          </a:p>
        </p:txBody>
      </p:sp>
      <p:pic>
        <p:nvPicPr>
          <p:cNvPr id="4" name="Paveikslėlis 3" descr="Paveikslėlis, kuriame yra tekstas, ekrano kopija, Šriftas&#10;&#10;Dirbtinio intelekto sugeneruotas turinys gali būti neteisingas.">
            <a:extLst>
              <a:ext uri="{FF2B5EF4-FFF2-40B4-BE49-F238E27FC236}">
                <a16:creationId xmlns:a16="http://schemas.microsoft.com/office/drawing/2014/main" id="{8392A17A-B0D7-1D08-E520-1955E4FEE3F7}"/>
              </a:ext>
            </a:extLst>
          </p:cNvPr>
          <p:cNvPicPr>
            <a:picLocks noChangeAspect="1"/>
          </p:cNvPicPr>
          <p:nvPr/>
        </p:nvPicPr>
        <p:blipFill>
          <a:blip r:embed="rId2"/>
          <a:stretch>
            <a:fillRect/>
          </a:stretch>
        </p:blipFill>
        <p:spPr>
          <a:xfrm>
            <a:off x="1799303" y="1547241"/>
            <a:ext cx="8886025" cy="4876085"/>
          </a:xfrm>
          <a:prstGeom prst="rect">
            <a:avLst/>
          </a:prstGeom>
        </p:spPr>
      </p:pic>
    </p:spTree>
    <p:extLst>
      <p:ext uri="{BB962C8B-B14F-4D97-AF65-F5344CB8AC3E}">
        <p14:creationId xmlns:p14="http://schemas.microsoft.com/office/powerpoint/2010/main" val="5421638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avadinimas 1">
            <a:extLst>
              <a:ext uri="{FF2B5EF4-FFF2-40B4-BE49-F238E27FC236}">
                <a16:creationId xmlns:a16="http://schemas.microsoft.com/office/drawing/2014/main" id="{3DABA132-3969-2C1F-649A-A733DE7DDB0C}"/>
              </a:ext>
            </a:extLst>
          </p:cNvPr>
          <p:cNvSpPr>
            <a:spLocks noGrp="1"/>
          </p:cNvSpPr>
          <p:nvPr>
            <p:ph type="title"/>
          </p:nvPr>
        </p:nvSpPr>
        <p:spPr/>
        <p:txBody>
          <a:bodyPr/>
          <a:lstStyle/>
          <a:p>
            <a:r>
              <a:rPr lang="en-US" dirty="0"/>
              <a:t>C</a:t>
            </a:r>
            <a:r>
              <a:rPr lang="lt-LT" dirty="0" err="1"/>
              <a:t>ommon</a:t>
            </a:r>
            <a:r>
              <a:rPr lang="lt-LT" dirty="0"/>
              <a:t> </a:t>
            </a:r>
            <a:r>
              <a:rPr lang="lt-LT" dirty="0" err="1"/>
              <a:t>machine</a:t>
            </a:r>
            <a:r>
              <a:rPr lang="lt-LT" dirty="0"/>
              <a:t> </a:t>
            </a:r>
            <a:r>
              <a:rPr lang="lt-LT" dirty="0" err="1"/>
              <a:t>learning</a:t>
            </a:r>
            <a:r>
              <a:rPr lang="lt-LT" dirty="0"/>
              <a:t> </a:t>
            </a:r>
            <a:r>
              <a:rPr lang="lt-LT" dirty="0" err="1"/>
              <a:t>algorithms</a:t>
            </a:r>
            <a:endParaRPr lang="lt-LT" dirty="0"/>
          </a:p>
        </p:txBody>
      </p:sp>
      <p:pic>
        <p:nvPicPr>
          <p:cNvPr id="4" name="Paveikslėlis 3" descr="Paveikslėlis, kuriame yra tekstas, ekrano kopija, Šriftas, skaičius&#10;&#10;Dirbtinio intelekto sugeneruotas turinys gali būti neteisingas.">
            <a:extLst>
              <a:ext uri="{FF2B5EF4-FFF2-40B4-BE49-F238E27FC236}">
                <a16:creationId xmlns:a16="http://schemas.microsoft.com/office/drawing/2014/main" id="{5DD8A479-8FC6-C9BE-EF4C-F964D5FA4F16}"/>
              </a:ext>
            </a:extLst>
          </p:cNvPr>
          <p:cNvPicPr>
            <a:picLocks noChangeAspect="1"/>
          </p:cNvPicPr>
          <p:nvPr/>
        </p:nvPicPr>
        <p:blipFill>
          <a:blip r:embed="rId2"/>
          <a:stretch>
            <a:fillRect/>
          </a:stretch>
        </p:blipFill>
        <p:spPr>
          <a:xfrm>
            <a:off x="2243997" y="1503875"/>
            <a:ext cx="7487695" cy="4344006"/>
          </a:xfrm>
          <a:prstGeom prst="rect">
            <a:avLst/>
          </a:prstGeom>
        </p:spPr>
      </p:pic>
    </p:spTree>
    <p:extLst>
      <p:ext uri="{BB962C8B-B14F-4D97-AF65-F5344CB8AC3E}">
        <p14:creationId xmlns:p14="http://schemas.microsoft.com/office/powerpoint/2010/main" val="391106802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avadinimas 1">
            <a:extLst>
              <a:ext uri="{FF2B5EF4-FFF2-40B4-BE49-F238E27FC236}">
                <a16:creationId xmlns:a16="http://schemas.microsoft.com/office/drawing/2014/main" id="{E518DA7C-CE0F-B1DC-315B-638B26FC5E41}"/>
              </a:ext>
            </a:extLst>
          </p:cNvPr>
          <p:cNvSpPr>
            <a:spLocks noGrp="1"/>
          </p:cNvSpPr>
          <p:nvPr>
            <p:ph type="title"/>
          </p:nvPr>
        </p:nvSpPr>
        <p:spPr/>
        <p:txBody>
          <a:bodyPr/>
          <a:lstStyle/>
          <a:p>
            <a:r>
              <a:rPr lang="lt-LT" dirty="0"/>
              <a:t>UNSUPERVISED LEARNING 101</a:t>
            </a:r>
          </a:p>
        </p:txBody>
      </p:sp>
      <p:sp>
        <p:nvSpPr>
          <p:cNvPr id="6" name="TextBox 5">
            <a:extLst>
              <a:ext uri="{FF2B5EF4-FFF2-40B4-BE49-F238E27FC236}">
                <a16:creationId xmlns:a16="http://schemas.microsoft.com/office/drawing/2014/main" id="{8F7923C2-2411-204F-1F53-FB5A29B090DD}"/>
              </a:ext>
            </a:extLst>
          </p:cNvPr>
          <p:cNvSpPr txBox="1"/>
          <p:nvPr/>
        </p:nvSpPr>
        <p:spPr>
          <a:xfrm>
            <a:off x="914399" y="1571916"/>
            <a:ext cx="10176387" cy="923330"/>
          </a:xfrm>
          <a:prstGeom prst="rect">
            <a:avLst/>
          </a:prstGeom>
          <a:noFill/>
        </p:spPr>
        <p:txBody>
          <a:bodyPr wrap="square">
            <a:spAutoFit/>
          </a:bodyPr>
          <a:lstStyle/>
          <a:p>
            <a:r>
              <a:rPr lang="en-US" dirty="0"/>
              <a:t>Unsupervised learning is about </a:t>
            </a:r>
            <a:r>
              <a:rPr lang="en-US" b="1" dirty="0">
                <a:highlight>
                  <a:srgbClr val="FFFF00"/>
                </a:highlight>
              </a:rPr>
              <a:t>finding insights &amp; patterns </a:t>
            </a:r>
            <a:r>
              <a:rPr lang="en-US" dirty="0"/>
              <a:t>hidden in the data </a:t>
            </a:r>
          </a:p>
          <a:p>
            <a:r>
              <a:rPr lang="en-US" dirty="0"/>
              <a:t>• Unlike regression or classification, we don’t care about </a:t>
            </a:r>
            <a:r>
              <a:rPr lang="en-US" dirty="0">
                <a:highlight>
                  <a:srgbClr val="FFFF00"/>
                </a:highlight>
              </a:rPr>
              <a:t>splitting our data into train / test sets </a:t>
            </a:r>
            <a:r>
              <a:rPr lang="en-US" dirty="0"/>
              <a:t>and making predictions, we just care about understanding the relationships in our data </a:t>
            </a:r>
            <a:endParaRPr lang="lt-LT" dirty="0"/>
          </a:p>
        </p:txBody>
      </p:sp>
      <p:pic>
        <p:nvPicPr>
          <p:cNvPr id="8" name="Paveikslėlis 7" descr="Paveikslėlis, kuriame yra tekstas, ekrano kopija, Šriftas, linija&#10;&#10;Dirbtinio intelekto sugeneruotas turinys gali būti neteisingas.">
            <a:extLst>
              <a:ext uri="{FF2B5EF4-FFF2-40B4-BE49-F238E27FC236}">
                <a16:creationId xmlns:a16="http://schemas.microsoft.com/office/drawing/2014/main" id="{766FD9EF-DD8A-5B44-DA06-3B6CBBDD2CFE}"/>
              </a:ext>
            </a:extLst>
          </p:cNvPr>
          <p:cNvPicPr>
            <a:picLocks noChangeAspect="1"/>
          </p:cNvPicPr>
          <p:nvPr/>
        </p:nvPicPr>
        <p:blipFill>
          <a:blip r:embed="rId2"/>
          <a:stretch>
            <a:fillRect/>
          </a:stretch>
        </p:blipFill>
        <p:spPr>
          <a:xfrm>
            <a:off x="3628104" y="2897479"/>
            <a:ext cx="6239928" cy="3410600"/>
          </a:xfrm>
          <a:prstGeom prst="rect">
            <a:avLst/>
          </a:prstGeom>
        </p:spPr>
      </p:pic>
    </p:spTree>
    <p:extLst>
      <p:ext uri="{BB962C8B-B14F-4D97-AF65-F5344CB8AC3E}">
        <p14:creationId xmlns:p14="http://schemas.microsoft.com/office/powerpoint/2010/main" val="52566582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avadinimas 1">
            <a:extLst>
              <a:ext uri="{FF2B5EF4-FFF2-40B4-BE49-F238E27FC236}">
                <a16:creationId xmlns:a16="http://schemas.microsoft.com/office/drawing/2014/main" id="{20C4FA7B-ADA7-E38B-D92B-D508680E7E4B}"/>
              </a:ext>
            </a:extLst>
          </p:cNvPr>
          <p:cNvSpPr>
            <a:spLocks noGrp="1"/>
          </p:cNvSpPr>
          <p:nvPr>
            <p:ph type="title"/>
          </p:nvPr>
        </p:nvSpPr>
        <p:spPr/>
        <p:txBody>
          <a:bodyPr/>
          <a:lstStyle/>
          <a:p>
            <a:r>
              <a:rPr lang="lt-LT" dirty="0"/>
              <a:t>UNSUPERVISED LEARNING 101</a:t>
            </a:r>
          </a:p>
        </p:txBody>
      </p:sp>
      <p:pic>
        <p:nvPicPr>
          <p:cNvPr id="4" name="Paveikslėlis 3" descr="Paveikslėlis, kuriame yra tekstas, ekrano kopija, skaičius, programinė įranga&#10;&#10;Dirbtinio intelekto sugeneruotas turinys gali būti neteisingas.">
            <a:extLst>
              <a:ext uri="{FF2B5EF4-FFF2-40B4-BE49-F238E27FC236}">
                <a16:creationId xmlns:a16="http://schemas.microsoft.com/office/drawing/2014/main" id="{0614A7CB-D4B1-E61E-B522-5C389505D22E}"/>
              </a:ext>
            </a:extLst>
          </p:cNvPr>
          <p:cNvPicPr>
            <a:picLocks noChangeAspect="1"/>
          </p:cNvPicPr>
          <p:nvPr/>
        </p:nvPicPr>
        <p:blipFill>
          <a:blip r:embed="rId2"/>
          <a:stretch>
            <a:fillRect/>
          </a:stretch>
        </p:blipFill>
        <p:spPr>
          <a:xfrm>
            <a:off x="1641986" y="1985246"/>
            <a:ext cx="7766065" cy="3847796"/>
          </a:xfrm>
          <a:prstGeom prst="rect">
            <a:avLst/>
          </a:prstGeom>
        </p:spPr>
      </p:pic>
      <p:sp>
        <p:nvSpPr>
          <p:cNvPr id="6" name="TextBox 5">
            <a:extLst>
              <a:ext uri="{FF2B5EF4-FFF2-40B4-BE49-F238E27FC236}">
                <a16:creationId xmlns:a16="http://schemas.microsoft.com/office/drawing/2014/main" id="{0638E236-C509-54EE-57CD-1C286F7725AB}"/>
              </a:ext>
            </a:extLst>
          </p:cNvPr>
          <p:cNvSpPr txBox="1"/>
          <p:nvPr/>
        </p:nvSpPr>
        <p:spPr>
          <a:xfrm>
            <a:off x="2614670" y="1506022"/>
            <a:ext cx="6096000" cy="369332"/>
          </a:xfrm>
          <a:prstGeom prst="rect">
            <a:avLst/>
          </a:prstGeom>
          <a:noFill/>
        </p:spPr>
        <p:txBody>
          <a:bodyPr wrap="square">
            <a:spAutoFit/>
          </a:bodyPr>
          <a:lstStyle/>
          <a:p>
            <a:r>
              <a:rPr lang="en-US" dirty="0"/>
              <a:t>EXAMPLE Clustering customers based on listening behavior</a:t>
            </a:r>
            <a:endParaRPr lang="lt-LT" dirty="0"/>
          </a:p>
        </p:txBody>
      </p:sp>
    </p:spTree>
    <p:extLst>
      <p:ext uri="{BB962C8B-B14F-4D97-AF65-F5344CB8AC3E}">
        <p14:creationId xmlns:p14="http://schemas.microsoft.com/office/powerpoint/2010/main" val="420537500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1EC1CD-3D07-37D1-AB30-7EBBCEB3844E}"/>
            </a:ext>
          </a:extLst>
        </p:cNvPr>
        <p:cNvGrpSpPr/>
        <p:nvPr/>
      </p:nvGrpSpPr>
      <p:grpSpPr>
        <a:xfrm>
          <a:off x="0" y="0"/>
          <a:ext cx="0" cy="0"/>
          <a:chOff x="0" y="0"/>
          <a:chExt cx="0" cy="0"/>
        </a:xfrm>
      </p:grpSpPr>
      <p:sp>
        <p:nvSpPr>
          <p:cNvPr id="2" name="Pavadinimas 1">
            <a:extLst>
              <a:ext uri="{FF2B5EF4-FFF2-40B4-BE49-F238E27FC236}">
                <a16:creationId xmlns:a16="http://schemas.microsoft.com/office/drawing/2014/main" id="{9D8AF774-4424-5AC6-E1AC-BCBD41A85E02}"/>
              </a:ext>
            </a:extLst>
          </p:cNvPr>
          <p:cNvSpPr>
            <a:spLocks noGrp="1"/>
          </p:cNvSpPr>
          <p:nvPr>
            <p:ph type="title"/>
          </p:nvPr>
        </p:nvSpPr>
        <p:spPr/>
        <p:txBody>
          <a:bodyPr/>
          <a:lstStyle/>
          <a:p>
            <a:r>
              <a:rPr lang="lt-LT" dirty="0"/>
              <a:t>UNSUPERVISED LEARNING 101</a:t>
            </a:r>
          </a:p>
        </p:txBody>
      </p:sp>
      <p:sp>
        <p:nvSpPr>
          <p:cNvPr id="6" name="TextBox 5">
            <a:extLst>
              <a:ext uri="{FF2B5EF4-FFF2-40B4-BE49-F238E27FC236}">
                <a16:creationId xmlns:a16="http://schemas.microsoft.com/office/drawing/2014/main" id="{90636504-21A1-51D7-33BB-C17BC3C19520}"/>
              </a:ext>
            </a:extLst>
          </p:cNvPr>
          <p:cNvSpPr txBox="1"/>
          <p:nvPr/>
        </p:nvSpPr>
        <p:spPr>
          <a:xfrm>
            <a:off x="2614670" y="1506022"/>
            <a:ext cx="6096000" cy="369332"/>
          </a:xfrm>
          <a:prstGeom prst="rect">
            <a:avLst/>
          </a:prstGeom>
          <a:noFill/>
        </p:spPr>
        <p:txBody>
          <a:bodyPr wrap="square">
            <a:spAutoFit/>
          </a:bodyPr>
          <a:lstStyle/>
          <a:p>
            <a:r>
              <a:rPr lang="en-US" dirty="0"/>
              <a:t>EXAMPLE Clustering customers based on listening behavior</a:t>
            </a:r>
            <a:endParaRPr lang="lt-LT" dirty="0"/>
          </a:p>
        </p:txBody>
      </p:sp>
      <p:pic>
        <p:nvPicPr>
          <p:cNvPr id="5" name="Paveikslėlis 4" descr="Paveikslėlis, kuriame yra tekstas, ekrano kopija, skaičius, Šriftas&#10;&#10;Dirbtinio intelekto sugeneruotas turinys gali būti neteisingas.">
            <a:extLst>
              <a:ext uri="{FF2B5EF4-FFF2-40B4-BE49-F238E27FC236}">
                <a16:creationId xmlns:a16="http://schemas.microsoft.com/office/drawing/2014/main" id="{79977C12-10F5-5980-400B-CCB4EF35559F}"/>
              </a:ext>
            </a:extLst>
          </p:cNvPr>
          <p:cNvPicPr>
            <a:picLocks noChangeAspect="1"/>
          </p:cNvPicPr>
          <p:nvPr/>
        </p:nvPicPr>
        <p:blipFill>
          <a:blip r:embed="rId2"/>
          <a:stretch>
            <a:fillRect/>
          </a:stretch>
        </p:blipFill>
        <p:spPr>
          <a:xfrm>
            <a:off x="1071716" y="2317277"/>
            <a:ext cx="7126883" cy="4017104"/>
          </a:xfrm>
          <a:prstGeom prst="rect">
            <a:avLst/>
          </a:prstGeom>
        </p:spPr>
      </p:pic>
    </p:spTree>
    <p:extLst>
      <p:ext uri="{BB962C8B-B14F-4D97-AF65-F5344CB8AC3E}">
        <p14:creationId xmlns:p14="http://schemas.microsoft.com/office/powerpoint/2010/main" val="405868032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172E15-CBCC-0EB3-4780-719A93B1FEB3}"/>
            </a:ext>
          </a:extLst>
        </p:cNvPr>
        <p:cNvGrpSpPr/>
        <p:nvPr/>
      </p:nvGrpSpPr>
      <p:grpSpPr>
        <a:xfrm>
          <a:off x="0" y="0"/>
          <a:ext cx="0" cy="0"/>
          <a:chOff x="0" y="0"/>
          <a:chExt cx="0" cy="0"/>
        </a:xfrm>
      </p:grpSpPr>
      <p:sp>
        <p:nvSpPr>
          <p:cNvPr id="2" name="Pavadinimas 1">
            <a:extLst>
              <a:ext uri="{FF2B5EF4-FFF2-40B4-BE49-F238E27FC236}">
                <a16:creationId xmlns:a16="http://schemas.microsoft.com/office/drawing/2014/main" id="{C7AF3EEC-130D-2193-3200-02BE07B0EE0D}"/>
              </a:ext>
            </a:extLst>
          </p:cNvPr>
          <p:cNvSpPr>
            <a:spLocks noGrp="1"/>
          </p:cNvSpPr>
          <p:nvPr>
            <p:ph type="title"/>
          </p:nvPr>
        </p:nvSpPr>
        <p:spPr/>
        <p:txBody>
          <a:bodyPr/>
          <a:lstStyle/>
          <a:p>
            <a:r>
              <a:rPr lang="lt-LT" dirty="0"/>
              <a:t>UNSUPERVISED LEARNING 101</a:t>
            </a:r>
          </a:p>
        </p:txBody>
      </p:sp>
      <p:sp>
        <p:nvSpPr>
          <p:cNvPr id="6" name="TextBox 5">
            <a:extLst>
              <a:ext uri="{FF2B5EF4-FFF2-40B4-BE49-F238E27FC236}">
                <a16:creationId xmlns:a16="http://schemas.microsoft.com/office/drawing/2014/main" id="{961858E9-AB1F-82FE-B1CF-4D23A74A8ED8}"/>
              </a:ext>
            </a:extLst>
          </p:cNvPr>
          <p:cNvSpPr txBox="1"/>
          <p:nvPr/>
        </p:nvSpPr>
        <p:spPr>
          <a:xfrm>
            <a:off x="2614670" y="1506022"/>
            <a:ext cx="6096000" cy="369332"/>
          </a:xfrm>
          <a:prstGeom prst="rect">
            <a:avLst/>
          </a:prstGeom>
          <a:noFill/>
        </p:spPr>
        <p:txBody>
          <a:bodyPr wrap="square">
            <a:spAutoFit/>
          </a:bodyPr>
          <a:lstStyle/>
          <a:p>
            <a:r>
              <a:rPr lang="en-US" dirty="0"/>
              <a:t>EXAMPLE Clustering customers based on listening behavior</a:t>
            </a:r>
            <a:endParaRPr lang="lt-LT" dirty="0"/>
          </a:p>
        </p:txBody>
      </p:sp>
      <p:pic>
        <p:nvPicPr>
          <p:cNvPr id="4" name="Paveikslėlis 3" descr="Paveikslėlis, kuriame yra ekrano kopija, diagrama&#10;&#10;Dirbtinio intelekto sugeneruotas turinys gali būti neteisingas.">
            <a:extLst>
              <a:ext uri="{FF2B5EF4-FFF2-40B4-BE49-F238E27FC236}">
                <a16:creationId xmlns:a16="http://schemas.microsoft.com/office/drawing/2014/main" id="{2F476899-853F-113A-3081-8D224B420561}"/>
              </a:ext>
            </a:extLst>
          </p:cNvPr>
          <p:cNvPicPr>
            <a:picLocks noChangeAspect="1"/>
          </p:cNvPicPr>
          <p:nvPr/>
        </p:nvPicPr>
        <p:blipFill>
          <a:blip r:embed="rId2"/>
          <a:stretch>
            <a:fillRect/>
          </a:stretch>
        </p:blipFill>
        <p:spPr>
          <a:xfrm>
            <a:off x="712339" y="2389239"/>
            <a:ext cx="4594009" cy="3615716"/>
          </a:xfrm>
          <a:prstGeom prst="rect">
            <a:avLst/>
          </a:prstGeom>
        </p:spPr>
      </p:pic>
      <p:sp>
        <p:nvSpPr>
          <p:cNvPr id="8" name="TextBox 7">
            <a:extLst>
              <a:ext uri="{FF2B5EF4-FFF2-40B4-BE49-F238E27FC236}">
                <a16:creationId xmlns:a16="http://schemas.microsoft.com/office/drawing/2014/main" id="{7F43628D-5CDB-3D17-E36D-E28C1263F489}"/>
              </a:ext>
            </a:extLst>
          </p:cNvPr>
          <p:cNvSpPr txBox="1"/>
          <p:nvPr/>
        </p:nvSpPr>
        <p:spPr>
          <a:xfrm>
            <a:off x="5662670" y="2734667"/>
            <a:ext cx="4975123" cy="1477328"/>
          </a:xfrm>
          <a:prstGeom prst="rect">
            <a:avLst/>
          </a:prstGeom>
          <a:noFill/>
        </p:spPr>
        <p:txBody>
          <a:bodyPr wrap="square">
            <a:spAutoFit/>
          </a:bodyPr>
          <a:lstStyle/>
          <a:p>
            <a:r>
              <a:rPr lang="en-US" dirty="0"/>
              <a:t>We can clearly segment our customers into three clusters: </a:t>
            </a:r>
          </a:p>
          <a:p>
            <a:r>
              <a:rPr lang="en-US" dirty="0">
                <a:highlight>
                  <a:srgbClr val="FFFF00"/>
                </a:highlight>
              </a:rPr>
              <a:t>• Music lovers </a:t>
            </a:r>
          </a:p>
          <a:p>
            <a:r>
              <a:rPr lang="en-US" dirty="0">
                <a:solidFill>
                  <a:schemeClr val="bg1">
                    <a:lumMod val="95000"/>
                  </a:schemeClr>
                </a:solidFill>
                <a:highlight>
                  <a:srgbClr val="800080"/>
                </a:highlight>
              </a:rPr>
              <a:t>• Podcast enthusiasts </a:t>
            </a:r>
          </a:p>
          <a:p>
            <a:r>
              <a:rPr lang="en-US" dirty="0">
                <a:highlight>
                  <a:srgbClr val="00FFFF"/>
                </a:highlight>
              </a:rPr>
              <a:t>• Casual listeners </a:t>
            </a:r>
            <a:endParaRPr lang="lt-LT" dirty="0">
              <a:highlight>
                <a:srgbClr val="00FFFF"/>
              </a:highlight>
            </a:endParaRPr>
          </a:p>
        </p:txBody>
      </p:sp>
    </p:spTree>
    <p:extLst>
      <p:ext uri="{BB962C8B-B14F-4D97-AF65-F5344CB8AC3E}">
        <p14:creationId xmlns:p14="http://schemas.microsoft.com/office/powerpoint/2010/main" val="152187892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avadinimas 1">
            <a:extLst>
              <a:ext uri="{FF2B5EF4-FFF2-40B4-BE49-F238E27FC236}">
                <a16:creationId xmlns:a16="http://schemas.microsoft.com/office/drawing/2014/main" id="{2EC0CCCE-AC17-715B-53EA-29447C1E7164}"/>
              </a:ext>
            </a:extLst>
          </p:cNvPr>
          <p:cNvSpPr>
            <a:spLocks noGrp="1"/>
          </p:cNvSpPr>
          <p:nvPr>
            <p:ph type="title"/>
          </p:nvPr>
        </p:nvSpPr>
        <p:spPr/>
        <p:txBody>
          <a:bodyPr/>
          <a:lstStyle/>
          <a:p>
            <a:r>
              <a:rPr lang="lt-LT" dirty="0"/>
              <a:t>UNSUPERVISED LEARNING TECHNIQUES</a:t>
            </a:r>
          </a:p>
        </p:txBody>
      </p:sp>
      <p:sp>
        <p:nvSpPr>
          <p:cNvPr id="4" name="TextBox 3">
            <a:extLst>
              <a:ext uri="{FF2B5EF4-FFF2-40B4-BE49-F238E27FC236}">
                <a16:creationId xmlns:a16="http://schemas.microsoft.com/office/drawing/2014/main" id="{F4F161AD-193D-73A6-2EB8-74FD6EAC3FCC}"/>
              </a:ext>
            </a:extLst>
          </p:cNvPr>
          <p:cNvSpPr txBox="1"/>
          <p:nvPr/>
        </p:nvSpPr>
        <p:spPr>
          <a:xfrm>
            <a:off x="953728" y="1515468"/>
            <a:ext cx="9753601" cy="369332"/>
          </a:xfrm>
          <a:prstGeom prst="rect">
            <a:avLst/>
          </a:prstGeom>
          <a:noFill/>
        </p:spPr>
        <p:txBody>
          <a:bodyPr wrap="square">
            <a:spAutoFit/>
          </a:bodyPr>
          <a:lstStyle/>
          <a:p>
            <a:r>
              <a:rPr lang="en-US" dirty="0"/>
              <a:t>There are two popular categories of unsupervised learning techniques:</a:t>
            </a:r>
            <a:endParaRPr lang="lt-LT" dirty="0"/>
          </a:p>
        </p:txBody>
      </p:sp>
      <p:pic>
        <p:nvPicPr>
          <p:cNvPr id="6" name="Paveikslėlis 5" descr="Paveikslėlis, kuriame yra tekstas, elektronika, ekrano kopija, Šriftas&#10;&#10;Dirbtinio intelekto sugeneruotas turinys gali būti neteisingas.">
            <a:extLst>
              <a:ext uri="{FF2B5EF4-FFF2-40B4-BE49-F238E27FC236}">
                <a16:creationId xmlns:a16="http://schemas.microsoft.com/office/drawing/2014/main" id="{CEABAF16-E812-06F6-5264-9284262A9730}"/>
              </a:ext>
            </a:extLst>
          </p:cNvPr>
          <p:cNvPicPr>
            <a:picLocks noChangeAspect="1"/>
          </p:cNvPicPr>
          <p:nvPr/>
        </p:nvPicPr>
        <p:blipFill>
          <a:blip r:embed="rId2"/>
          <a:stretch>
            <a:fillRect/>
          </a:stretch>
        </p:blipFill>
        <p:spPr>
          <a:xfrm>
            <a:off x="1789471" y="2170922"/>
            <a:ext cx="7777996" cy="4321953"/>
          </a:xfrm>
          <a:prstGeom prst="rect">
            <a:avLst/>
          </a:prstGeom>
        </p:spPr>
      </p:pic>
    </p:spTree>
    <p:extLst>
      <p:ext uri="{BB962C8B-B14F-4D97-AF65-F5344CB8AC3E}">
        <p14:creationId xmlns:p14="http://schemas.microsoft.com/office/powerpoint/2010/main" val="237227821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avadinimas 1">
            <a:extLst>
              <a:ext uri="{FF2B5EF4-FFF2-40B4-BE49-F238E27FC236}">
                <a16:creationId xmlns:a16="http://schemas.microsoft.com/office/drawing/2014/main" id="{A4A05502-CB11-0184-5FA5-91DD4F393988}"/>
              </a:ext>
            </a:extLst>
          </p:cNvPr>
          <p:cNvSpPr>
            <a:spLocks noGrp="1"/>
          </p:cNvSpPr>
          <p:nvPr>
            <p:ph type="title"/>
          </p:nvPr>
        </p:nvSpPr>
        <p:spPr/>
        <p:txBody>
          <a:bodyPr/>
          <a:lstStyle/>
          <a:p>
            <a:r>
              <a:rPr lang="lt-LT" dirty="0"/>
              <a:t>UNSUPERVISED LEARNING APPLICATIONS</a:t>
            </a:r>
          </a:p>
        </p:txBody>
      </p:sp>
      <p:sp>
        <p:nvSpPr>
          <p:cNvPr id="4" name="TextBox 3">
            <a:extLst>
              <a:ext uri="{FF2B5EF4-FFF2-40B4-BE49-F238E27FC236}">
                <a16:creationId xmlns:a16="http://schemas.microsoft.com/office/drawing/2014/main" id="{EC25FC7C-F9B7-1AB8-ACEC-81A509489299}"/>
              </a:ext>
            </a:extLst>
          </p:cNvPr>
          <p:cNvSpPr txBox="1"/>
          <p:nvPr/>
        </p:nvSpPr>
        <p:spPr>
          <a:xfrm>
            <a:off x="1366684" y="1436809"/>
            <a:ext cx="6096000" cy="646331"/>
          </a:xfrm>
          <a:prstGeom prst="rect">
            <a:avLst/>
          </a:prstGeom>
          <a:noFill/>
        </p:spPr>
        <p:txBody>
          <a:bodyPr wrap="square">
            <a:spAutoFit/>
          </a:bodyPr>
          <a:lstStyle/>
          <a:p>
            <a:r>
              <a:rPr lang="en-US" dirty="0"/>
              <a:t>These are two common applications of unsupervised learning techniques:</a:t>
            </a:r>
            <a:endParaRPr lang="lt-LT" dirty="0"/>
          </a:p>
        </p:txBody>
      </p:sp>
      <p:pic>
        <p:nvPicPr>
          <p:cNvPr id="6" name="Paveikslėlis 5" descr="Paveikslėlis, kuriame yra tekstas, ekrano kopija, Šriftas&#10;&#10;Dirbtinio intelekto sugeneruotas turinys gali būti neteisingas.">
            <a:extLst>
              <a:ext uri="{FF2B5EF4-FFF2-40B4-BE49-F238E27FC236}">
                <a16:creationId xmlns:a16="http://schemas.microsoft.com/office/drawing/2014/main" id="{14E1DD77-591D-414C-8D73-320047D4E7C3}"/>
              </a:ext>
            </a:extLst>
          </p:cNvPr>
          <p:cNvPicPr>
            <a:picLocks noChangeAspect="1"/>
          </p:cNvPicPr>
          <p:nvPr/>
        </p:nvPicPr>
        <p:blipFill>
          <a:blip r:embed="rId2"/>
          <a:stretch>
            <a:fillRect/>
          </a:stretch>
        </p:blipFill>
        <p:spPr>
          <a:xfrm>
            <a:off x="1897626" y="2219783"/>
            <a:ext cx="7931947" cy="3859810"/>
          </a:xfrm>
          <a:prstGeom prst="rect">
            <a:avLst/>
          </a:prstGeom>
        </p:spPr>
      </p:pic>
    </p:spTree>
    <p:extLst>
      <p:ext uri="{BB962C8B-B14F-4D97-AF65-F5344CB8AC3E}">
        <p14:creationId xmlns:p14="http://schemas.microsoft.com/office/powerpoint/2010/main" val="383202675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avadinimas 1">
            <a:extLst>
              <a:ext uri="{FF2B5EF4-FFF2-40B4-BE49-F238E27FC236}">
                <a16:creationId xmlns:a16="http://schemas.microsoft.com/office/drawing/2014/main" id="{8FCB2FE0-94D9-EEDF-B8FA-E25EC4FE5E3E}"/>
              </a:ext>
            </a:extLst>
          </p:cNvPr>
          <p:cNvSpPr>
            <a:spLocks noGrp="1"/>
          </p:cNvSpPr>
          <p:nvPr>
            <p:ph type="title"/>
          </p:nvPr>
        </p:nvSpPr>
        <p:spPr/>
        <p:txBody>
          <a:bodyPr/>
          <a:lstStyle/>
          <a:p>
            <a:r>
              <a:rPr lang="en-US" dirty="0"/>
              <a:t>U</a:t>
            </a:r>
            <a:r>
              <a:rPr lang="lt-LT" dirty="0" err="1"/>
              <a:t>nsupervised</a:t>
            </a:r>
            <a:r>
              <a:rPr lang="lt-LT" dirty="0"/>
              <a:t> </a:t>
            </a:r>
            <a:r>
              <a:rPr lang="lt-LT" dirty="0" err="1"/>
              <a:t>learning</a:t>
            </a:r>
            <a:r>
              <a:rPr lang="lt-LT" dirty="0"/>
              <a:t> </a:t>
            </a:r>
            <a:r>
              <a:rPr lang="lt-LT" dirty="0" err="1"/>
              <a:t>techniques</a:t>
            </a:r>
            <a:r>
              <a:rPr lang="lt-LT" dirty="0"/>
              <a:t> &amp; </a:t>
            </a:r>
            <a:r>
              <a:rPr lang="lt-LT" dirty="0" err="1"/>
              <a:t>applications</a:t>
            </a:r>
            <a:endParaRPr lang="lt-LT" dirty="0"/>
          </a:p>
        </p:txBody>
      </p:sp>
      <p:pic>
        <p:nvPicPr>
          <p:cNvPr id="4" name="Paveikslėlis 3" descr="Paveikslėlis, kuriame yra tekstas, ekrano kopija, Šriftas, skaičius&#10;&#10;Dirbtinio intelekto sugeneruotas turinys gali būti neteisingas.">
            <a:extLst>
              <a:ext uri="{FF2B5EF4-FFF2-40B4-BE49-F238E27FC236}">
                <a16:creationId xmlns:a16="http://schemas.microsoft.com/office/drawing/2014/main" id="{4268AE77-9982-846A-B106-68DC4CD156F9}"/>
              </a:ext>
            </a:extLst>
          </p:cNvPr>
          <p:cNvPicPr>
            <a:picLocks noChangeAspect="1"/>
          </p:cNvPicPr>
          <p:nvPr/>
        </p:nvPicPr>
        <p:blipFill>
          <a:blip r:embed="rId2"/>
          <a:stretch>
            <a:fillRect/>
          </a:stretch>
        </p:blipFill>
        <p:spPr>
          <a:xfrm>
            <a:off x="1406012" y="2052649"/>
            <a:ext cx="8665696" cy="4081786"/>
          </a:xfrm>
          <a:prstGeom prst="rect">
            <a:avLst/>
          </a:prstGeom>
        </p:spPr>
      </p:pic>
    </p:spTree>
    <p:extLst>
      <p:ext uri="{BB962C8B-B14F-4D97-AF65-F5344CB8AC3E}">
        <p14:creationId xmlns:p14="http://schemas.microsoft.com/office/powerpoint/2010/main" val="244523839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avadinimas 1">
            <a:extLst>
              <a:ext uri="{FF2B5EF4-FFF2-40B4-BE49-F238E27FC236}">
                <a16:creationId xmlns:a16="http://schemas.microsoft.com/office/drawing/2014/main" id="{6E9C9781-6A90-6572-7901-CF9885411151}"/>
              </a:ext>
            </a:extLst>
          </p:cNvPr>
          <p:cNvSpPr>
            <a:spLocks noGrp="1"/>
          </p:cNvSpPr>
          <p:nvPr>
            <p:ph type="title"/>
          </p:nvPr>
        </p:nvSpPr>
        <p:spPr/>
        <p:txBody>
          <a:bodyPr/>
          <a:lstStyle/>
          <a:p>
            <a:r>
              <a:rPr lang="lt-LT" dirty="0"/>
              <a:t>UNSUPERVISED LEARNING WORKFLOW</a:t>
            </a:r>
          </a:p>
        </p:txBody>
      </p:sp>
      <p:pic>
        <p:nvPicPr>
          <p:cNvPr id="4" name="Paveikslėlis 3" descr="Paveikslėlis, kuriame yra tekstas, ekrano kopija, Šriftas, programinė įranga&#10;&#10;Dirbtinio intelekto sugeneruotas turinys gali būti neteisingas.">
            <a:extLst>
              <a:ext uri="{FF2B5EF4-FFF2-40B4-BE49-F238E27FC236}">
                <a16:creationId xmlns:a16="http://schemas.microsoft.com/office/drawing/2014/main" id="{A8549B38-1AF0-7D3C-F0F5-DEDE61FE708E}"/>
              </a:ext>
            </a:extLst>
          </p:cNvPr>
          <p:cNvPicPr>
            <a:picLocks noChangeAspect="1"/>
          </p:cNvPicPr>
          <p:nvPr/>
        </p:nvPicPr>
        <p:blipFill>
          <a:blip r:embed="rId2"/>
          <a:stretch>
            <a:fillRect/>
          </a:stretch>
        </p:blipFill>
        <p:spPr>
          <a:xfrm>
            <a:off x="1268362" y="1477267"/>
            <a:ext cx="8845034" cy="4280351"/>
          </a:xfrm>
          <a:prstGeom prst="rect">
            <a:avLst/>
          </a:prstGeom>
        </p:spPr>
      </p:pic>
      <p:sp>
        <p:nvSpPr>
          <p:cNvPr id="6" name="TextBox 5">
            <a:extLst>
              <a:ext uri="{FF2B5EF4-FFF2-40B4-BE49-F238E27FC236}">
                <a16:creationId xmlns:a16="http://schemas.microsoft.com/office/drawing/2014/main" id="{57AF4A9C-CA41-A0DB-9AA4-7CDBEF1F4B27}"/>
              </a:ext>
            </a:extLst>
          </p:cNvPr>
          <p:cNvSpPr txBox="1"/>
          <p:nvPr/>
        </p:nvSpPr>
        <p:spPr>
          <a:xfrm>
            <a:off x="1160207" y="5931340"/>
            <a:ext cx="9527458" cy="646331"/>
          </a:xfrm>
          <a:prstGeom prst="rect">
            <a:avLst/>
          </a:prstGeom>
          <a:noFill/>
        </p:spPr>
        <p:txBody>
          <a:bodyPr wrap="square">
            <a:spAutoFit/>
          </a:bodyPr>
          <a:lstStyle/>
          <a:p>
            <a:r>
              <a:rPr lang="en-US" dirty="0"/>
              <a:t>The main differences compared to supervised learning are the </a:t>
            </a:r>
            <a:r>
              <a:rPr lang="en-US" dirty="0">
                <a:highlight>
                  <a:srgbClr val="FFFF00"/>
                </a:highlight>
              </a:rPr>
              <a:t>lack of data splitting </a:t>
            </a:r>
            <a:r>
              <a:rPr lang="en-US" dirty="0"/>
              <a:t>(having training and test sets) and the focus on </a:t>
            </a:r>
            <a:r>
              <a:rPr lang="en-US" dirty="0">
                <a:highlight>
                  <a:srgbClr val="FFFF00"/>
                </a:highlight>
              </a:rPr>
              <a:t>evaluation based on intuition </a:t>
            </a:r>
            <a:r>
              <a:rPr lang="en-US" dirty="0"/>
              <a:t>(versus mainly metrics)</a:t>
            </a:r>
            <a:endParaRPr lang="lt-LT" dirty="0"/>
          </a:p>
        </p:txBody>
      </p:sp>
    </p:spTree>
    <p:extLst>
      <p:ext uri="{BB962C8B-B14F-4D97-AF65-F5344CB8AC3E}">
        <p14:creationId xmlns:p14="http://schemas.microsoft.com/office/powerpoint/2010/main" val="306847957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avadinimas 1">
            <a:extLst>
              <a:ext uri="{FF2B5EF4-FFF2-40B4-BE49-F238E27FC236}">
                <a16:creationId xmlns:a16="http://schemas.microsoft.com/office/drawing/2014/main" id="{2C9E437D-FE1C-8037-1B2D-B784D7E20823}"/>
              </a:ext>
            </a:extLst>
          </p:cNvPr>
          <p:cNvSpPr>
            <a:spLocks noGrp="1"/>
          </p:cNvSpPr>
          <p:nvPr>
            <p:ph type="title"/>
          </p:nvPr>
        </p:nvSpPr>
        <p:spPr/>
        <p:txBody>
          <a:bodyPr/>
          <a:lstStyle/>
          <a:p>
            <a:r>
              <a:rPr lang="lt-LT" dirty="0"/>
              <a:t>UNSUPERVISED LEARNING WORKFLOW</a:t>
            </a:r>
          </a:p>
        </p:txBody>
      </p:sp>
      <p:pic>
        <p:nvPicPr>
          <p:cNvPr id="4" name="Paveikslėlis 3" descr="Paveikslėlis, kuriame yra tekstas, ekrano kopija, Šriftas, dizainas&#10;&#10;Dirbtinio intelekto sugeneruotas turinys gali būti neteisingas.">
            <a:extLst>
              <a:ext uri="{FF2B5EF4-FFF2-40B4-BE49-F238E27FC236}">
                <a16:creationId xmlns:a16="http://schemas.microsoft.com/office/drawing/2014/main" id="{21D89675-DEAF-6379-AF1E-ECD5159241BB}"/>
              </a:ext>
            </a:extLst>
          </p:cNvPr>
          <p:cNvPicPr>
            <a:picLocks noChangeAspect="1"/>
          </p:cNvPicPr>
          <p:nvPr/>
        </p:nvPicPr>
        <p:blipFill>
          <a:blip r:embed="rId2"/>
          <a:stretch>
            <a:fillRect/>
          </a:stretch>
        </p:blipFill>
        <p:spPr>
          <a:xfrm>
            <a:off x="1455174" y="1824858"/>
            <a:ext cx="8861597" cy="4835054"/>
          </a:xfrm>
          <a:prstGeom prst="rect">
            <a:avLst/>
          </a:prstGeom>
        </p:spPr>
      </p:pic>
    </p:spTree>
    <p:extLst>
      <p:ext uri="{BB962C8B-B14F-4D97-AF65-F5344CB8AC3E}">
        <p14:creationId xmlns:p14="http://schemas.microsoft.com/office/powerpoint/2010/main" val="253816603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avadinimas 1">
            <a:extLst>
              <a:ext uri="{FF2B5EF4-FFF2-40B4-BE49-F238E27FC236}">
                <a16:creationId xmlns:a16="http://schemas.microsoft.com/office/drawing/2014/main" id="{9F24BCA8-2135-4172-A83F-5A084F1A54E6}"/>
              </a:ext>
            </a:extLst>
          </p:cNvPr>
          <p:cNvSpPr>
            <a:spLocks noGrp="1"/>
          </p:cNvSpPr>
          <p:nvPr>
            <p:ph type="title"/>
          </p:nvPr>
        </p:nvSpPr>
        <p:spPr/>
        <p:txBody>
          <a:bodyPr/>
          <a:lstStyle/>
          <a:p>
            <a:r>
              <a:rPr lang="lt-LT" dirty="0"/>
              <a:t>KEY TAKEAWAYS</a:t>
            </a:r>
          </a:p>
        </p:txBody>
      </p:sp>
      <p:sp>
        <p:nvSpPr>
          <p:cNvPr id="4" name="TextBox 3">
            <a:extLst>
              <a:ext uri="{FF2B5EF4-FFF2-40B4-BE49-F238E27FC236}">
                <a16:creationId xmlns:a16="http://schemas.microsoft.com/office/drawing/2014/main" id="{6E86E98A-176E-399F-794D-5B796B4B1D7E}"/>
              </a:ext>
            </a:extLst>
          </p:cNvPr>
          <p:cNvSpPr txBox="1"/>
          <p:nvPr/>
        </p:nvSpPr>
        <p:spPr>
          <a:xfrm>
            <a:off x="1317523" y="1612490"/>
            <a:ext cx="7826477" cy="4801314"/>
          </a:xfrm>
          <a:prstGeom prst="rect">
            <a:avLst/>
          </a:prstGeom>
          <a:noFill/>
        </p:spPr>
        <p:txBody>
          <a:bodyPr wrap="square">
            <a:spAutoFit/>
          </a:bodyPr>
          <a:lstStyle/>
          <a:p>
            <a:r>
              <a:rPr lang="en-US" b="1" dirty="0"/>
              <a:t>Unsupervised learning is used to find patterns &amp; relationships in data </a:t>
            </a:r>
          </a:p>
          <a:p>
            <a:r>
              <a:rPr lang="en-US" dirty="0"/>
              <a:t>	• There are </a:t>
            </a:r>
            <a:r>
              <a:rPr lang="en-US" i="1" dirty="0"/>
              <a:t>no predictions or labels </a:t>
            </a:r>
            <a:r>
              <a:rPr lang="en-US" dirty="0"/>
              <a:t>with unsupervised learning – we are just trying to better understand the data’s non-obvious structure, organization, and relationships between data points</a:t>
            </a:r>
            <a:endParaRPr lang="en-US" b="1" dirty="0"/>
          </a:p>
          <a:p>
            <a:r>
              <a:rPr lang="en-US" b="1" dirty="0"/>
              <a:t>Unsupervised learning </a:t>
            </a:r>
            <a:r>
              <a:rPr lang="en-US" b="1" dirty="0">
                <a:highlight>
                  <a:srgbClr val="FFFF00"/>
                </a:highlight>
              </a:rPr>
              <a:t>has a different mindset than supervised learning </a:t>
            </a:r>
          </a:p>
          <a:p>
            <a:r>
              <a:rPr lang="en-US" dirty="0"/>
              <a:t>	• Unlike supervised learning, unsupervised learning does not require splitting the data into a training and test set, and the evaluation is based on a </a:t>
            </a:r>
            <a:r>
              <a:rPr lang="en-US" dirty="0">
                <a:highlight>
                  <a:srgbClr val="FFFF00"/>
                </a:highlight>
              </a:rPr>
              <a:t>heavy-dose of domain expertise in addition to metrics</a:t>
            </a:r>
            <a:endParaRPr lang="en-US" b="1" dirty="0">
              <a:highlight>
                <a:srgbClr val="FFFF00"/>
              </a:highlight>
            </a:endParaRPr>
          </a:p>
          <a:p>
            <a:r>
              <a:rPr lang="en-US" b="1" dirty="0"/>
              <a:t>There are multiple applications for unsupervised learning techniques </a:t>
            </a:r>
          </a:p>
          <a:p>
            <a:r>
              <a:rPr lang="en-US" dirty="0"/>
              <a:t>	• While the two main categories of unsupervised learning techniques fall under clustering and dimensionality reduction, these techniques can be applied to segmentation, anomaly detection, recommenders, and more</a:t>
            </a:r>
          </a:p>
          <a:p>
            <a:r>
              <a:rPr lang="en-US" b="1" dirty="0"/>
              <a:t>The techniques can be used at multiple steps of the data science workflow </a:t>
            </a:r>
          </a:p>
          <a:p>
            <a:r>
              <a:rPr lang="en-US" dirty="0"/>
              <a:t>	• In addition to using unsupervised learning techniques during the modeling step of the data science workflow, select techniques can also be used during the data cleaning, exploration, and feature engineering phases</a:t>
            </a:r>
            <a:endParaRPr lang="lt-LT" dirty="0"/>
          </a:p>
        </p:txBody>
      </p:sp>
    </p:spTree>
    <p:extLst>
      <p:ext uri="{BB962C8B-B14F-4D97-AF65-F5344CB8AC3E}">
        <p14:creationId xmlns:p14="http://schemas.microsoft.com/office/powerpoint/2010/main" val="83902567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avadinimas 1">
            <a:extLst>
              <a:ext uri="{FF2B5EF4-FFF2-40B4-BE49-F238E27FC236}">
                <a16:creationId xmlns:a16="http://schemas.microsoft.com/office/drawing/2014/main" id="{C8AC6517-FAB9-1BF1-D268-89DD750877DA}"/>
              </a:ext>
            </a:extLst>
          </p:cNvPr>
          <p:cNvSpPr>
            <a:spLocks noGrp="1"/>
          </p:cNvSpPr>
          <p:nvPr>
            <p:ph type="title"/>
          </p:nvPr>
        </p:nvSpPr>
        <p:spPr/>
        <p:txBody>
          <a:bodyPr/>
          <a:lstStyle/>
          <a:p>
            <a:r>
              <a:rPr lang="lt-LT" dirty="0"/>
              <a:t>PRE-MODELING DATA PREP</a:t>
            </a:r>
          </a:p>
        </p:txBody>
      </p:sp>
      <p:pic>
        <p:nvPicPr>
          <p:cNvPr id="4" name="Paveikslėlis 3" descr="Paveikslėlis, kuriame yra tekstas, ekrano kopija, Šriftas, vizitinė kortelė&#10;&#10;Dirbtinio intelekto sugeneruotas turinys gali būti neteisingas.">
            <a:extLst>
              <a:ext uri="{FF2B5EF4-FFF2-40B4-BE49-F238E27FC236}">
                <a16:creationId xmlns:a16="http://schemas.microsoft.com/office/drawing/2014/main" id="{6749CD6E-B6FD-3178-3784-E8101DD5FDFC}"/>
              </a:ext>
            </a:extLst>
          </p:cNvPr>
          <p:cNvPicPr>
            <a:picLocks noChangeAspect="1"/>
          </p:cNvPicPr>
          <p:nvPr/>
        </p:nvPicPr>
        <p:blipFill>
          <a:blip r:embed="rId2"/>
          <a:stretch>
            <a:fillRect/>
          </a:stretch>
        </p:blipFill>
        <p:spPr>
          <a:xfrm>
            <a:off x="2914206" y="1914313"/>
            <a:ext cx="6363588" cy="3029373"/>
          </a:xfrm>
          <a:prstGeom prst="rect">
            <a:avLst/>
          </a:prstGeom>
        </p:spPr>
      </p:pic>
    </p:spTree>
    <p:extLst>
      <p:ext uri="{BB962C8B-B14F-4D97-AF65-F5344CB8AC3E}">
        <p14:creationId xmlns:p14="http://schemas.microsoft.com/office/powerpoint/2010/main" val="103966301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B2523E-1361-E393-5689-98C0C3AEB0A8}"/>
            </a:ext>
          </a:extLst>
        </p:cNvPr>
        <p:cNvGrpSpPr/>
        <p:nvPr/>
      </p:nvGrpSpPr>
      <p:grpSpPr>
        <a:xfrm>
          <a:off x="0" y="0"/>
          <a:ext cx="0" cy="0"/>
          <a:chOff x="0" y="0"/>
          <a:chExt cx="0" cy="0"/>
        </a:xfrm>
      </p:grpSpPr>
      <p:sp>
        <p:nvSpPr>
          <p:cNvPr id="2" name="Pavadinimas 1">
            <a:extLst>
              <a:ext uri="{FF2B5EF4-FFF2-40B4-BE49-F238E27FC236}">
                <a16:creationId xmlns:a16="http://schemas.microsoft.com/office/drawing/2014/main" id="{B664F5A0-AA64-8E41-625A-7ABBE6593E72}"/>
              </a:ext>
            </a:extLst>
          </p:cNvPr>
          <p:cNvSpPr>
            <a:spLocks noGrp="1"/>
          </p:cNvSpPr>
          <p:nvPr>
            <p:ph type="title"/>
          </p:nvPr>
        </p:nvSpPr>
        <p:spPr/>
        <p:txBody>
          <a:bodyPr/>
          <a:lstStyle/>
          <a:p>
            <a:r>
              <a:rPr lang="lt-LT" dirty="0"/>
              <a:t>PRE-MODELING DATA PREP</a:t>
            </a:r>
          </a:p>
        </p:txBody>
      </p:sp>
      <p:sp>
        <p:nvSpPr>
          <p:cNvPr id="5" name="TextBox 4">
            <a:extLst>
              <a:ext uri="{FF2B5EF4-FFF2-40B4-BE49-F238E27FC236}">
                <a16:creationId xmlns:a16="http://schemas.microsoft.com/office/drawing/2014/main" id="{90FEC0A4-928A-4476-FCA6-AA43C721A1FE}"/>
              </a:ext>
            </a:extLst>
          </p:cNvPr>
          <p:cNvSpPr txBox="1"/>
          <p:nvPr/>
        </p:nvSpPr>
        <p:spPr>
          <a:xfrm>
            <a:off x="1248698" y="1680395"/>
            <a:ext cx="8868696" cy="646331"/>
          </a:xfrm>
          <a:prstGeom prst="rect">
            <a:avLst/>
          </a:prstGeom>
          <a:noFill/>
        </p:spPr>
        <p:txBody>
          <a:bodyPr wrap="square">
            <a:spAutoFit/>
          </a:bodyPr>
          <a:lstStyle/>
          <a:p>
            <a:r>
              <a:rPr lang="en-US" dirty="0"/>
              <a:t>Common </a:t>
            </a:r>
            <a:r>
              <a:rPr lang="en-US" b="1" dirty="0"/>
              <a:t>data prep </a:t>
            </a:r>
            <a:r>
              <a:rPr lang="en-US" dirty="0"/>
              <a:t>steps required to transform source data into a format that can be directly input into an unsupervised learning model: </a:t>
            </a:r>
            <a:endParaRPr lang="lt-LT" dirty="0"/>
          </a:p>
        </p:txBody>
      </p:sp>
      <p:sp>
        <p:nvSpPr>
          <p:cNvPr id="7" name="TextBox 6">
            <a:extLst>
              <a:ext uri="{FF2B5EF4-FFF2-40B4-BE49-F238E27FC236}">
                <a16:creationId xmlns:a16="http://schemas.microsoft.com/office/drawing/2014/main" id="{06022516-46FF-93DA-57D4-FB73DFB1FF0B}"/>
              </a:ext>
            </a:extLst>
          </p:cNvPr>
          <p:cNvSpPr txBox="1"/>
          <p:nvPr/>
        </p:nvSpPr>
        <p:spPr>
          <a:xfrm>
            <a:off x="3048000" y="2496149"/>
            <a:ext cx="6096000" cy="2862322"/>
          </a:xfrm>
          <a:prstGeom prst="rect">
            <a:avLst/>
          </a:prstGeom>
          <a:noFill/>
        </p:spPr>
        <p:txBody>
          <a:bodyPr wrap="square">
            <a:spAutoFit/>
          </a:bodyPr>
          <a:lstStyle/>
          <a:p>
            <a:pPr marL="342900" indent="-342900">
              <a:buFont typeface="+mj-lt"/>
              <a:buAutoNum type="arabicPeriod"/>
            </a:pPr>
            <a:r>
              <a:rPr lang="en-US" dirty="0"/>
              <a:t>Setting the correct </a:t>
            </a:r>
            <a:r>
              <a:rPr lang="en-US" b="1" dirty="0"/>
              <a:t>row granularity </a:t>
            </a:r>
          </a:p>
          <a:p>
            <a:pPr marL="342900" indent="-342900">
              <a:buFont typeface="+mj-lt"/>
              <a:buAutoNum type="arabicPeriod"/>
            </a:pPr>
            <a:endParaRPr lang="en-US" dirty="0"/>
          </a:p>
          <a:p>
            <a:pPr marL="342900" indent="-342900">
              <a:buFont typeface="+mj-lt"/>
              <a:buAutoNum type="arabicPeriod"/>
            </a:pPr>
            <a:r>
              <a:rPr lang="en-US" dirty="0"/>
              <a:t>Ensuring each column is</a:t>
            </a:r>
            <a:r>
              <a:rPr lang="en-US" b="1" dirty="0"/>
              <a:t> non-null </a:t>
            </a:r>
            <a:r>
              <a:rPr lang="en-US" dirty="0"/>
              <a:t>and </a:t>
            </a:r>
            <a:r>
              <a:rPr lang="en-US" b="1" dirty="0"/>
              <a:t>numeric</a:t>
            </a:r>
            <a:r>
              <a:rPr lang="en-US" dirty="0"/>
              <a:t> </a:t>
            </a:r>
          </a:p>
          <a:p>
            <a:pPr marL="342900" indent="-342900">
              <a:buFont typeface="+mj-lt"/>
              <a:buAutoNum type="arabicPeriod"/>
            </a:pPr>
            <a:endParaRPr lang="en-US" dirty="0"/>
          </a:p>
          <a:p>
            <a:pPr marL="342900" indent="-342900">
              <a:buFont typeface="+mj-lt"/>
              <a:buAutoNum type="arabicPeriod"/>
            </a:pPr>
            <a:r>
              <a:rPr lang="en-US" b="1" dirty="0"/>
              <a:t>Engineering features </a:t>
            </a:r>
            <a:r>
              <a:rPr lang="en-US" dirty="0"/>
              <a:t>for modeling </a:t>
            </a:r>
          </a:p>
          <a:p>
            <a:pPr marL="342900" indent="-342900">
              <a:buFont typeface="+mj-lt"/>
              <a:buAutoNum type="arabicPeriod"/>
            </a:pPr>
            <a:endParaRPr lang="en-US" dirty="0"/>
          </a:p>
          <a:p>
            <a:pPr marL="342900" indent="-342900">
              <a:buFont typeface="+mj-lt"/>
              <a:buAutoNum type="arabicPeriod"/>
            </a:pPr>
            <a:r>
              <a:rPr lang="en-US" b="1" dirty="0"/>
              <a:t>Selecting features </a:t>
            </a:r>
            <a:r>
              <a:rPr lang="en-US" dirty="0"/>
              <a:t>and excluding </a:t>
            </a:r>
            <a:r>
              <a:rPr lang="en-US" b="1" dirty="0"/>
              <a:t>identifier columns </a:t>
            </a:r>
          </a:p>
          <a:p>
            <a:pPr marL="342900" indent="-342900">
              <a:buFont typeface="+mj-lt"/>
              <a:buAutoNum type="arabicPeriod"/>
            </a:pPr>
            <a:endParaRPr lang="en-US" dirty="0"/>
          </a:p>
          <a:p>
            <a:pPr marL="342900" indent="-342900">
              <a:buFont typeface="+mj-lt"/>
              <a:buAutoNum type="arabicPeriod"/>
            </a:pPr>
            <a:r>
              <a:rPr lang="en-US" b="1" dirty="0"/>
              <a:t>Scaling features </a:t>
            </a:r>
            <a:r>
              <a:rPr lang="en-US" dirty="0"/>
              <a:t>for distance-based unsupervised learning algorithms </a:t>
            </a:r>
            <a:endParaRPr lang="lt-LT" dirty="0"/>
          </a:p>
        </p:txBody>
      </p:sp>
    </p:spTree>
    <p:extLst>
      <p:ext uri="{BB962C8B-B14F-4D97-AF65-F5344CB8AC3E}">
        <p14:creationId xmlns:p14="http://schemas.microsoft.com/office/powerpoint/2010/main" val="201588863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avadinimas 1">
            <a:extLst>
              <a:ext uri="{FF2B5EF4-FFF2-40B4-BE49-F238E27FC236}">
                <a16:creationId xmlns:a16="http://schemas.microsoft.com/office/drawing/2014/main" id="{DA52B9E1-0FA3-3C01-F9CB-4568FA7DCB8C}"/>
              </a:ext>
            </a:extLst>
          </p:cNvPr>
          <p:cNvSpPr>
            <a:spLocks noGrp="1"/>
          </p:cNvSpPr>
          <p:nvPr>
            <p:ph type="title"/>
          </p:nvPr>
        </p:nvSpPr>
        <p:spPr/>
        <p:txBody>
          <a:bodyPr/>
          <a:lstStyle/>
          <a:p>
            <a:r>
              <a:rPr lang="en-US" dirty="0"/>
              <a:t>SETTING THE CORRECT ROW GRANULARITY</a:t>
            </a:r>
            <a:endParaRPr lang="lt-LT" dirty="0"/>
          </a:p>
        </p:txBody>
      </p:sp>
      <p:sp>
        <p:nvSpPr>
          <p:cNvPr id="4" name="TextBox 3">
            <a:extLst>
              <a:ext uri="{FF2B5EF4-FFF2-40B4-BE49-F238E27FC236}">
                <a16:creationId xmlns:a16="http://schemas.microsoft.com/office/drawing/2014/main" id="{119371A6-1097-8E9E-B59D-BBBE34D57132}"/>
              </a:ext>
            </a:extLst>
          </p:cNvPr>
          <p:cNvSpPr txBox="1"/>
          <p:nvPr/>
        </p:nvSpPr>
        <p:spPr>
          <a:xfrm>
            <a:off x="914400" y="1789922"/>
            <a:ext cx="10815484" cy="646331"/>
          </a:xfrm>
          <a:prstGeom prst="rect">
            <a:avLst/>
          </a:prstGeom>
          <a:noFill/>
        </p:spPr>
        <p:txBody>
          <a:bodyPr wrap="square">
            <a:spAutoFit/>
          </a:bodyPr>
          <a:lstStyle/>
          <a:p>
            <a:r>
              <a:rPr lang="en-US" dirty="0"/>
              <a:t>To set the correct row granularity, think about the question you’re trying to answer and determine what one row (observation)of your table will look like</a:t>
            </a:r>
            <a:endParaRPr lang="lt-LT" dirty="0"/>
          </a:p>
        </p:txBody>
      </p:sp>
      <p:pic>
        <p:nvPicPr>
          <p:cNvPr id="6" name="Paveikslėlis 5" descr="Paveikslėlis, kuriame yra tekstas, ekrano kopija, skaičius, Šriftas&#10;&#10;Dirbtinio intelekto sugeneruotas turinys gali būti neteisingas.">
            <a:extLst>
              <a:ext uri="{FF2B5EF4-FFF2-40B4-BE49-F238E27FC236}">
                <a16:creationId xmlns:a16="http://schemas.microsoft.com/office/drawing/2014/main" id="{B4749BE9-9808-33F7-4016-C2883BB816D9}"/>
              </a:ext>
            </a:extLst>
          </p:cNvPr>
          <p:cNvPicPr>
            <a:picLocks noChangeAspect="1"/>
          </p:cNvPicPr>
          <p:nvPr/>
        </p:nvPicPr>
        <p:blipFill>
          <a:blip r:embed="rId2"/>
          <a:stretch>
            <a:fillRect/>
          </a:stretch>
        </p:blipFill>
        <p:spPr>
          <a:xfrm>
            <a:off x="1386348" y="2735111"/>
            <a:ext cx="8045214" cy="3910163"/>
          </a:xfrm>
          <a:prstGeom prst="rect">
            <a:avLst/>
          </a:prstGeom>
        </p:spPr>
      </p:pic>
    </p:spTree>
    <p:extLst>
      <p:ext uri="{BB962C8B-B14F-4D97-AF65-F5344CB8AC3E}">
        <p14:creationId xmlns:p14="http://schemas.microsoft.com/office/powerpoint/2010/main" val="143483226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avadinimas 1">
            <a:extLst>
              <a:ext uri="{FF2B5EF4-FFF2-40B4-BE49-F238E27FC236}">
                <a16:creationId xmlns:a16="http://schemas.microsoft.com/office/drawing/2014/main" id="{63B9C630-78B2-6F2B-D656-778BA9170949}"/>
              </a:ext>
            </a:extLst>
          </p:cNvPr>
          <p:cNvSpPr>
            <a:spLocks noGrp="1"/>
          </p:cNvSpPr>
          <p:nvPr>
            <p:ph type="title"/>
          </p:nvPr>
        </p:nvSpPr>
        <p:spPr/>
        <p:txBody>
          <a:bodyPr/>
          <a:lstStyle/>
          <a:p>
            <a:r>
              <a:rPr lang="lt-LT" dirty="0"/>
              <a:t>RESHAPING DATA</a:t>
            </a:r>
          </a:p>
        </p:txBody>
      </p:sp>
      <p:sp>
        <p:nvSpPr>
          <p:cNvPr id="4" name="TextBox 3">
            <a:extLst>
              <a:ext uri="{FF2B5EF4-FFF2-40B4-BE49-F238E27FC236}">
                <a16:creationId xmlns:a16="http://schemas.microsoft.com/office/drawing/2014/main" id="{B5B4D719-E329-157B-252A-B3283798219E}"/>
              </a:ext>
            </a:extLst>
          </p:cNvPr>
          <p:cNvSpPr txBox="1"/>
          <p:nvPr/>
        </p:nvSpPr>
        <p:spPr>
          <a:xfrm>
            <a:off x="914399" y="1406464"/>
            <a:ext cx="10097729" cy="646331"/>
          </a:xfrm>
          <a:prstGeom prst="rect">
            <a:avLst/>
          </a:prstGeom>
          <a:noFill/>
        </p:spPr>
        <p:txBody>
          <a:bodyPr wrap="square">
            <a:spAutoFit/>
          </a:bodyPr>
          <a:lstStyle/>
          <a:p>
            <a:r>
              <a:rPr lang="en-US" dirty="0"/>
              <a:t>Common ways to reshape data to the correct row granularity are: </a:t>
            </a:r>
          </a:p>
          <a:p>
            <a:r>
              <a:rPr lang="en-US" dirty="0"/>
              <a:t>	• Using </a:t>
            </a:r>
            <a:r>
              <a:rPr lang="en-US" b="1" dirty="0"/>
              <a:t>.</a:t>
            </a:r>
            <a:r>
              <a:rPr lang="en-US" b="1" dirty="0" err="1"/>
              <a:t>groupby</a:t>
            </a:r>
            <a:r>
              <a:rPr lang="en-US" b="1" dirty="0"/>
              <a:t>() </a:t>
            </a:r>
            <a:r>
              <a:rPr lang="en-US" dirty="0"/>
              <a:t>to combine all records with the same ID column into a single row</a:t>
            </a:r>
            <a:endParaRPr lang="lt-LT" dirty="0"/>
          </a:p>
        </p:txBody>
      </p:sp>
      <p:pic>
        <p:nvPicPr>
          <p:cNvPr id="6" name="Paveikslėlis 5" descr="Paveikslėlis, kuriame yra tekstas, ekrano kopija, skaičius, Šriftas&#10;&#10;Dirbtinio intelekto sugeneruotas turinys gali būti neteisingas.">
            <a:extLst>
              <a:ext uri="{FF2B5EF4-FFF2-40B4-BE49-F238E27FC236}">
                <a16:creationId xmlns:a16="http://schemas.microsoft.com/office/drawing/2014/main" id="{1360D973-1CB5-2063-6366-5D0334FB10BE}"/>
              </a:ext>
            </a:extLst>
          </p:cNvPr>
          <p:cNvPicPr>
            <a:picLocks noChangeAspect="1"/>
          </p:cNvPicPr>
          <p:nvPr/>
        </p:nvPicPr>
        <p:blipFill>
          <a:blip r:embed="rId2"/>
          <a:stretch>
            <a:fillRect/>
          </a:stretch>
        </p:blipFill>
        <p:spPr>
          <a:xfrm>
            <a:off x="988095" y="2246208"/>
            <a:ext cx="9488224" cy="4410691"/>
          </a:xfrm>
          <a:prstGeom prst="rect">
            <a:avLst/>
          </a:prstGeom>
        </p:spPr>
      </p:pic>
    </p:spTree>
    <p:extLst>
      <p:ext uri="{BB962C8B-B14F-4D97-AF65-F5344CB8AC3E}">
        <p14:creationId xmlns:p14="http://schemas.microsoft.com/office/powerpoint/2010/main" val="217101623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19AF57-F690-6461-90AC-4B86229D6754}"/>
            </a:ext>
          </a:extLst>
        </p:cNvPr>
        <p:cNvGrpSpPr/>
        <p:nvPr/>
      </p:nvGrpSpPr>
      <p:grpSpPr>
        <a:xfrm>
          <a:off x="0" y="0"/>
          <a:ext cx="0" cy="0"/>
          <a:chOff x="0" y="0"/>
          <a:chExt cx="0" cy="0"/>
        </a:xfrm>
      </p:grpSpPr>
      <p:sp>
        <p:nvSpPr>
          <p:cNvPr id="2" name="Pavadinimas 1">
            <a:extLst>
              <a:ext uri="{FF2B5EF4-FFF2-40B4-BE49-F238E27FC236}">
                <a16:creationId xmlns:a16="http://schemas.microsoft.com/office/drawing/2014/main" id="{62DF09C7-CF8E-B60D-11D0-0849CDF968C6}"/>
              </a:ext>
            </a:extLst>
          </p:cNvPr>
          <p:cNvSpPr>
            <a:spLocks noGrp="1"/>
          </p:cNvSpPr>
          <p:nvPr>
            <p:ph type="title"/>
          </p:nvPr>
        </p:nvSpPr>
        <p:spPr/>
        <p:txBody>
          <a:bodyPr/>
          <a:lstStyle/>
          <a:p>
            <a:r>
              <a:rPr lang="lt-LT" dirty="0"/>
              <a:t>RESHAPING DATA</a:t>
            </a:r>
          </a:p>
        </p:txBody>
      </p:sp>
      <p:sp>
        <p:nvSpPr>
          <p:cNvPr id="4" name="TextBox 3">
            <a:extLst>
              <a:ext uri="{FF2B5EF4-FFF2-40B4-BE49-F238E27FC236}">
                <a16:creationId xmlns:a16="http://schemas.microsoft.com/office/drawing/2014/main" id="{124FD264-624B-3682-71A6-F7DB6BAE098B}"/>
              </a:ext>
            </a:extLst>
          </p:cNvPr>
          <p:cNvSpPr txBox="1"/>
          <p:nvPr/>
        </p:nvSpPr>
        <p:spPr>
          <a:xfrm>
            <a:off x="914399" y="1406464"/>
            <a:ext cx="10097729" cy="923330"/>
          </a:xfrm>
          <a:prstGeom prst="rect">
            <a:avLst/>
          </a:prstGeom>
          <a:noFill/>
        </p:spPr>
        <p:txBody>
          <a:bodyPr wrap="square">
            <a:spAutoFit/>
          </a:bodyPr>
          <a:lstStyle/>
          <a:p>
            <a:r>
              <a:rPr lang="en-US" dirty="0"/>
              <a:t>Common ways to reshape data to the correct row granularity are: </a:t>
            </a:r>
          </a:p>
          <a:p>
            <a:r>
              <a:rPr lang="en-US" dirty="0"/>
              <a:t>	• Using .</a:t>
            </a:r>
            <a:r>
              <a:rPr lang="en-US" dirty="0" err="1"/>
              <a:t>groupby</a:t>
            </a:r>
            <a:r>
              <a:rPr lang="en-US" dirty="0"/>
              <a:t>() to combine all records with the same ID column into a single row</a:t>
            </a:r>
          </a:p>
          <a:p>
            <a:r>
              <a:rPr lang="en-US" dirty="0"/>
              <a:t>	• Using </a:t>
            </a:r>
            <a:r>
              <a:rPr lang="en-US" b="1" dirty="0"/>
              <a:t>.pivot() </a:t>
            </a:r>
            <a:r>
              <a:rPr lang="en-US" dirty="0"/>
              <a:t>to transform data from a “long” format to a “wide” format </a:t>
            </a:r>
            <a:endParaRPr lang="lt-LT" dirty="0"/>
          </a:p>
        </p:txBody>
      </p:sp>
      <p:pic>
        <p:nvPicPr>
          <p:cNvPr id="5" name="Paveikslėlis 4" descr="Paveikslėlis, kuriame yra tekstas, ekrano kopija, Šriftas, skaičius&#10;&#10;Dirbtinio intelekto sugeneruotas turinys gali būti neteisingas.">
            <a:extLst>
              <a:ext uri="{FF2B5EF4-FFF2-40B4-BE49-F238E27FC236}">
                <a16:creationId xmlns:a16="http://schemas.microsoft.com/office/drawing/2014/main" id="{1ABB8F03-CE98-6E38-8312-77CFAFE2BFBA}"/>
              </a:ext>
            </a:extLst>
          </p:cNvPr>
          <p:cNvPicPr>
            <a:picLocks noChangeAspect="1"/>
          </p:cNvPicPr>
          <p:nvPr/>
        </p:nvPicPr>
        <p:blipFill>
          <a:blip r:embed="rId3"/>
          <a:stretch>
            <a:fillRect/>
          </a:stretch>
        </p:blipFill>
        <p:spPr>
          <a:xfrm>
            <a:off x="1765424" y="2562951"/>
            <a:ext cx="8395678" cy="3505412"/>
          </a:xfrm>
          <a:prstGeom prst="rect">
            <a:avLst/>
          </a:prstGeom>
        </p:spPr>
      </p:pic>
    </p:spTree>
    <p:extLst>
      <p:ext uri="{BB962C8B-B14F-4D97-AF65-F5344CB8AC3E}">
        <p14:creationId xmlns:p14="http://schemas.microsoft.com/office/powerpoint/2010/main" val="79917098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avadinimas 1">
            <a:extLst>
              <a:ext uri="{FF2B5EF4-FFF2-40B4-BE49-F238E27FC236}">
                <a16:creationId xmlns:a16="http://schemas.microsoft.com/office/drawing/2014/main" id="{1E5F0B13-7827-DFB3-B618-E63988ED3C0B}"/>
              </a:ext>
            </a:extLst>
          </p:cNvPr>
          <p:cNvSpPr>
            <a:spLocks noGrp="1"/>
          </p:cNvSpPr>
          <p:nvPr>
            <p:ph type="title"/>
          </p:nvPr>
        </p:nvSpPr>
        <p:spPr/>
        <p:txBody>
          <a:bodyPr/>
          <a:lstStyle/>
          <a:p>
            <a:r>
              <a:rPr lang="lt-LT" dirty="0"/>
              <a:t>PREPARING COLUMNS FOR MODELING</a:t>
            </a:r>
          </a:p>
        </p:txBody>
      </p:sp>
      <p:sp>
        <p:nvSpPr>
          <p:cNvPr id="4" name="TextBox 3">
            <a:extLst>
              <a:ext uri="{FF2B5EF4-FFF2-40B4-BE49-F238E27FC236}">
                <a16:creationId xmlns:a16="http://schemas.microsoft.com/office/drawing/2014/main" id="{D90AC8C3-5D04-3FD0-3F37-0B9260D07430}"/>
              </a:ext>
            </a:extLst>
          </p:cNvPr>
          <p:cNvSpPr txBox="1"/>
          <p:nvPr/>
        </p:nvSpPr>
        <p:spPr>
          <a:xfrm>
            <a:off x="1140542" y="1525300"/>
            <a:ext cx="9537290" cy="369332"/>
          </a:xfrm>
          <a:prstGeom prst="rect">
            <a:avLst/>
          </a:prstGeom>
          <a:noFill/>
        </p:spPr>
        <p:txBody>
          <a:bodyPr wrap="square">
            <a:spAutoFit/>
          </a:bodyPr>
          <a:lstStyle/>
          <a:p>
            <a:r>
              <a:rPr lang="en-US" dirty="0"/>
              <a:t>After setting the row granularity, you need to prepare your columns for modeling:</a:t>
            </a:r>
            <a:endParaRPr lang="lt-LT" dirty="0"/>
          </a:p>
        </p:txBody>
      </p:sp>
      <p:sp>
        <p:nvSpPr>
          <p:cNvPr id="6" name="TextBox 5">
            <a:extLst>
              <a:ext uri="{FF2B5EF4-FFF2-40B4-BE49-F238E27FC236}">
                <a16:creationId xmlns:a16="http://schemas.microsoft.com/office/drawing/2014/main" id="{9836FD8F-F742-A1BB-8C1D-8620C7028296}"/>
              </a:ext>
            </a:extLst>
          </p:cNvPr>
          <p:cNvSpPr txBox="1"/>
          <p:nvPr/>
        </p:nvSpPr>
        <p:spPr>
          <a:xfrm>
            <a:off x="1858295" y="2274838"/>
            <a:ext cx="9212827" cy="2031325"/>
          </a:xfrm>
          <a:prstGeom prst="rect">
            <a:avLst/>
          </a:prstGeom>
          <a:noFill/>
        </p:spPr>
        <p:txBody>
          <a:bodyPr wrap="square">
            <a:spAutoFit/>
          </a:bodyPr>
          <a:lstStyle/>
          <a:p>
            <a:r>
              <a:rPr lang="en-US" b="1" dirty="0"/>
              <a:t>All values should be </a:t>
            </a:r>
            <a:r>
              <a:rPr lang="en-US" b="1" dirty="0">
                <a:highlight>
                  <a:srgbClr val="FFFF00"/>
                </a:highlight>
              </a:rPr>
              <a:t>non-null </a:t>
            </a:r>
          </a:p>
          <a:p>
            <a:r>
              <a:rPr lang="en-US" dirty="0"/>
              <a:t>	• Identify missing (or null) values using </a:t>
            </a:r>
            <a:r>
              <a:rPr lang="en-US" b="1" dirty="0"/>
              <a:t>df.info() </a:t>
            </a:r>
            <a:r>
              <a:rPr lang="en-US" dirty="0"/>
              <a:t>or </a:t>
            </a:r>
            <a:r>
              <a:rPr lang="en-US" b="1" dirty="0" err="1"/>
              <a:t>df.isna</a:t>
            </a:r>
            <a:r>
              <a:rPr lang="en-US" b="1" dirty="0"/>
              <a:t>() </a:t>
            </a:r>
          </a:p>
          <a:p>
            <a:r>
              <a:rPr lang="en-US" dirty="0"/>
              <a:t>	• Resolve them by either removing them or imputing the values </a:t>
            </a:r>
          </a:p>
          <a:p>
            <a:r>
              <a:rPr lang="en-US" dirty="0"/>
              <a:t> </a:t>
            </a:r>
            <a:r>
              <a:rPr lang="en-US" b="1" dirty="0"/>
              <a:t>All values should be </a:t>
            </a:r>
            <a:r>
              <a:rPr lang="en-US" b="1" dirty="0">
                <a:highlight>
                  <a:srgbClr val="FFFF00"/>
                </a:highlight>
              </a:rPr>
              <a:t>numeric</a:t>
            </a:r>
            <a:r>
              <a:rPr lang="en-US" b="1" dirty="0"/>
              <a:t> </a:t>
            </a:r>
          </a:p>
          <a:p>
            <a:r>
              <a:rPr lang="en-US" dirty="0"/>
              <a:t>	• Convert fields from text data types to numeric data types </a:t>
            </a:r>
          </a:p>
          <a:p>
            <a:r>
              <a:rPr lang="en-US" dirty="0"/>
              <a:t>	• Turn fields into numeric fields using conditional logic with </a:t>
            </a:r>
            <a:r>
              <a:rPr lang="en-US" b="1" dirty="0" err="1"/>
              <a:t>np.where</a:t>
            </a:r>
            <a:r>
              <a:rPr lang="en-US" b="1" dirty="0"/>
              <a:t>() </a:t>
            </a:r>
            <a:r>
              <a:rPr lang="en-US" dirty="0"/>
              <a:t>	</a:t>
            </a:r>
          </a:p>
          <a:p>
            <a:r>
              <a:rPr lang="en-US" dirty="0"/>
              <a:t>	• Turn categorical fields into numeric fields using</a:t>
            </a:r>
            <a:r>
              <a:rPr lang="en-US" b="1" dirty="0"/>
              <a:t> dummy variables</a:t>
            </a:r>
            <a:endParaRPr lang="lt-LT" b="1" dirty="0"/>
          </a:p>
        </p:txBody>
      </p:sp>
      <p:sp>
        <p:nvSpPr>
          <p:cNvPr id="8" name="TextBox 7">
            <a:extLst>
              <a:ext uri="{FF2B5EF4-FFF2-40B4-BE49-F238E27FC236}">
                <a16:creationId xmlns:a16="http://schemas.microsoft.com/office/drawing/2014/main" id="{7B8236F0-593F-FF8D-B6E4-A6EFFED9355D}"/>
              </a:ext>
            </a:extLst>
          </p:cNvPr>
          <p:cNvSpPr txBox="1"/>
          <p:nvPr/>
        </p:nvSpPr>
        <p:spPr>
          <a:xfrm>
            <a:off x="2045109" y="5014055"/>
            <a:ext cx="9212826" cy="923330"/>
          </a:xfrm>
          <a:prstGeom prst="rect">
            <a:avLst/>
          </a:prstGeom>
          <a:noFill/>
        </p:spPr>
        <p:txBody>
          <a:bodyPr wrap="square">
            <a:spAutoFit/>
          </a:bodyPr>
          <a:lstStyle/>
          <a:p>
            <a:r>
              <a:rPr lang="en-US" dirty="0"/>
              <a:t>PRO TIP: There are some algorithms that can handle null and non-numeric values, including </a:t>
            </a:r>
            <a:r>
              <a:rPr lang="en-US" dirty="0" err="1"/>
              <a:t>treebased</a:t>
            </a:r>
            <a:r>
              <a:rPr lang="en-US" dirty="0"/>
              <a:t> models and some classification models, but it’s still best practice to prepare the data this way </a:t>
            </a:r>
            <a:endParaRPr lang="lt-LT" dirty="0"/>
          </a:p>
        </p:txBody>
      </p:sp>
    </p:spTree>
    <p:extLst>
      <p:ext uri="{BB962C8B-B14F-4D97-AF65-F5344CB8AC3E}">
        <p14:creationId xmlns:p14="http://schemas.microsoft.com/office/powerpoint/2010/main" val="197150554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avadinimas 1">
            <a:extLst>
              <a:ext uri="{FF2B5EF4-FFF2-40B4-BE49-F238E27FC236}">
                <a16:creationId xmlns:a16="http://schemas.microsoft.com/office/drawing/2014/main" id="{6F3FF8DE-8761-9685-955B-51ABCB299018}"/>
              </a:ext>
            </a:extLst>
          </p:cNvPr>
          <p:cNvSpPr>
            <a:spLocks noGrp="1"/>
          </p:cNvSpPr>
          <p:nvPr>
            <p:ph type="title"/>
          </p:nvPr>
        </p:nvSpPr>
        <p:spPr/>
        <p:txBody>
          <a:bodyPr/>
          <a:lstStyle/>
          <a:p>
            <a:r>
              <a:rPr lang="lt-LT" dirty="0"/>
              <a:t>IDENTIFYING MISSING DATA</a:t>
            </a:r>
          </a:p>
        </p:txBody>
      </p:sp>
      <p:sp>
        <p:nvSpPr>
          <p:cNvPr id="4" name="TextBox 3">
            <a:extLst>
              <a:ext uri="{FF2B5EF4-FFF2-40B4-BE49-F238E27FC236}">
                <a16:creationId xmlns:a16="http://schemas.microsoft.com/office/drawing/2014/main" id="{534DD09B-0E29-4F5B-B5A1-796228D60E1C}"/>
              </a:ext>
            </a:extLst>
          </p:cNvPr>
          <p:cNvSpPr txBox="1"/>
          <p:nvPr/>
        </p:nvSpPr>
        <p:spPr>
          <a:xfrm>
            <a:off x="953728" y="1515468"/>
            <a:ext cx="8878529" cy="369332"/>
          </a:xfrm>
          <a:prstGeom prst="rect">
            <a:avLst/>
          </a:prstGeom>
          <a:noFill/>
        </p:spPr>
        <p:txBody>
          <a:bodyPr wrap="square">
            <a:spAutoFit/>
          </a:bodyPr>
          <a:lstStyle/>
          <a:p>
            <a:r>
              <a:rPr lang="en-US" dirty="0"/>
              <a:t>You can identify missing data with the </a:t>
            </a:r>
            <a:r>
              <a:rPr lang="en-US" b="1" dirty="0"/>
              <a:t>.info() </a:t>
            </a:r>
            <a:r>
              <a:rPr lang="en-US" dirty="0"/>
              <a:t>or </a:t>
            </a:r>
            <a:r>
              <a:rPr lang="en-US" b="1" dirty="0"/>
              <a:t>.</a:t>
            </a:r>
            <a:r>
              <a:rPr lang="en-US" b="1" dirty="0" err="1"/>
              <a:t>isna</a:t>
            </a:r>
            <a:r>
              <a:rPr lang="en-US" b="1" dirty="0"/>
              <a:t>() </a:t>
            </a:r>
            <a:r>
              <a:rPr lang="en-US" dirty="0"/>
              <a:t>methods</a:t>
            </a:r>
            <a:endParaRPr lang="lt-LT" dirty="0"/>
          </a:p>
        </p:txBody>
      </p:sp>
      <p:pic>
        <p:nvPicPr>
          <p:cNvPr id="6" name="Paveikslėlis 5" descr="Paveikslėlis, kuriame yra tekstas, ekrano kopija, skaičius, Šriftas&#10;&#10;Dirbtinio intelekto sugeneruotas turinys gali būti neteisingas.">
            <a:extLst>
              <a:ext uri="{FF2B5EF4-FFF2-40B4-BE49-F238E27FC236}">
                <a16:creationId xmlns:a16="http://schemas.microsoft.com/office/drawing/2014/main" id="{F33B82DA-85DD-935C-33B3-DA2F0A7BBD64}"/>
              </a:ext>
            </a:extLst>
          </p:cNvPr>
          <p:cNvPicPr>
            <a:picLocks noChangeAspect="1"/>
          </p:cNvPicPr>
          <p:nvPr/>
        </p:nvPicPr>
        <p:blipFill>
          <a:blip r:embed="rId2"/>
          <a:stretch>
            <a:fillRect/>
          </a:stretch>
        </p:blipFill>
        <p:spPr>
          <a:xfrm>
            <a:off x="1336527" y="2064773"/>
            <a:ext cx="8120556" cy="3963690"/>
          </a:xfrm>
          <a:prstGeom prst="rect">
            <a:avLst/>
          </a:prstGeom>
        </p:spPr>
      </p:pic>
    </p:spTree>
    <p:extLst>
      <p:ext uri="{BB962C8B-B14F-4D97-AF65-F5344CB8AC3E}">
        <p14:creationId xmlns:p14="http://schemas.microsoft.com/office/powerpoint/2010/main" val="239277777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avadinimas 1">
            <a:extLst>
              <a:ext uri="{FF2B5EF4-FFF2-40B4-BE49-F238E27FC236}">
                <a16:creationId xmlns:a16="http://schemas.microsoft.com/office/drawing/2014/main" id="{53F3D576-E81B-273A-2DD9-F2C39AFCE6A8}"/>
              </a:ext>
            </a:extLst>
          </p:cNvPr>
          <p:cNvSpPr>
            <a:spLocks noGrp="1"/>
          </p:cNvSpPr>
          <p:nvPr>
            <p:ph type="title"/>
          </p:nvPr>
        </p:nvSpPr>
        <p:spPr/>
        <p:txBody>
          <a:bodyPr/>
          <a:lstStyle/>
          <a:p>
            <a:r>
              <a:rPr lang="lt-LT" dirty="0"/>
              <a:t>HANDLING MISSING DATA</a:t>
            </a:r>
          </a:p>
        </p:txBody>
      </p:sp>
      <p:sp>
        <p:nvSpPr>
          <p:cNvPr id="4" name="TextBox 3">
            <a:extLst>
              <a:ext uri="{FF2B5EF4-FFF2-40B4-BE49-F238E27FC236}">
                <a16:creationId xmlns:a16="http://schemas.microsoft.com/office/drawing/2014/main" id="{68BADE4B-A7C3-23E4-DDE8-32CE973FB187}"/>
              </a:ext>
            </a:extLst>
          </p:cNvPr>
          <p:cNvSpPr txBox="1"/>
          <p:nvPr/>
        </p:nvSpPr>
        <p:spPr>
          <a:xfrm>
            <a:off x="1258529" y="1690688"/>
            <a:ext cx="9832258" cy="646331"/>
          </a:xfrm>
          <a:prstGeom prst="rect">
            <a:avLst/>
          </a:prstGeom>
          <a:noFill/>
        </p:spPr>
        <p:txBody>
          <a:bodyPr wrap="square">
            <a:spAutoFit/>
          </a:bodyPr>
          <a:lstStyle/>
          <a:p>
            <a:r>
              <a:rPr lang="en-US" dirty="0"/>
              <a:t>There are multiple ways to </a:t>
            </a:r>
            <a:r>
              <a:rPr lang="en-US" b="1" dirty="0"/>
              <a:t>handle missing data </a:t>
            </a:r>
            <a:r>
              <a:rPr lang="en-US" dirty="0"/>
              <a:t>in a </a:t>
            </a:r>
            <a:r>
              <a:rPr lang="en-US" dirty="0" err="1"/>
              <a:t>DataFrame</a:t>
            </a:r>
            <a:r>
              <a:rPr lang="en-US" dirty="0"/>
              <a:t>: </a:t>
            </a:r>
          </a:p>
          <a:p>
            <a:r>
              <a:rPr lang="en-US" dirty="0"/>
              <a:t>	• The .</a:t>
            </a:r>
            <a:r>
              <a:rPr lang="en-US" b="1" dirty="0" err="1"/>
              <a:t>dropna</a:t>
            </a:r>
            <a:r>
              <a:rPr lang="en-US" b="1" dirty="0"/>
              <a:t>() </a:t>
            </a:r>
            <a:r>
              <a:rPr lang="en-US" dirty="0"/>
              <a:t>method </a:t>
            </a:r>
            <a:r>
              <a:rPr lang="en-US" b="1" dirty="0"/>
              <a:t>removes</a:t>
            </a:r>
            <a:r>
              <a:rPr lang="en-US" dirty="0"/>
              <a:t> rows or columns with missing data</a:t>
            </a:r>
            <a:endParaRPr lang="lt-LT" dirty="0"/>
          </a:p>
        </p:txBody>
      </p:sp>
      <p:sp>
        <p:nvSpPr>
          <p:cNvPr id="6" name="TextBox 5">
            <a:extLst>
              <a:ext uri="{FF2B5EF4-FFF2-40B4-BE49-F238E27FC236}">
                <a16:creationId xmlns:a16="http://schemas.microsoft.com/office/drawing/2014/main" id="{C0E939A4-0C79-8394-4B5C-6B43A22C80F6}"/>
              </a:ext>
            </a:extLst>
          </p:cNvPr>
          <p:cNvSpPr txBox="1"/>
          <p:nvPr/>
        </p:nvSpPr>
        <p:spPr>
          <a:xfrm>
            <a:off x="1120877" y="5846544"/>
            <a:ext cx="8150942" cy="646331"/>
          </a:xfrm>
          <a:prstGeom prst="rect">
            <a:avLst/>
          </a:prstGeom>
          <a:noFill/>
        </p:spPr>
        <p:txBody>
          <a:bodyPr wrap="square">
            <a:spAutoFit/>
          </a:bodyPr>
          <a:lstStyle/>
          <a:p>
            <a:r>
              <a:rPr lang="en-US" b="1" dirty="0"/>
              <a:t>PRO TIP: </a:t>
            </a:r>
            <a:r>
              <a:rPr lang="en-US" dirty="0"/>
              <a:t>The </a:t>
            </a:r>
            <a:r>
              <a:rPr lang="en-US" b="1" dirty="0"/>
              <a:t>.</a:t>
            </a:r>
            <a:r>
              <a:rPr lang="en-US" b="1" dirty="0" err="1"/>
              <a:t>dropna</a:t>
            </a:r>
            <a:r>
              <a:rPr lang="en-US" b="1" dirty="0"/>
              <a:t>() </a:t>
            </a:r>
            <a:r>
              <a:rPr lang="en-US" dirty="0"/>
              <a:t>method defaults to dropping rows, but you can drop columns instead by specifying </a:t>
            </a:r>
            <a:r>
              <a:rPr lang="en-US" b="1" dirty="0"/>
              <a:t>.</a:t>
            </a:r>
            <a:r>
              <a:rPr lang="en-US" b="1" dirty="0" err="1"/>
              <a:t>dropna</a:t>
            </a:r>
            <a:r>
              <a:rPr lang="en-US" b="1" dirty="0"/>
              <a:t>(axis=1)</a:t>
            </a:r>
            <a:endParaRPr lang="lt-LT" b="1" dirty="0"/>
          </a:p>
        </p:txBody>
      </p:sp>
      <p:pic>
        <p:nvPicPr>
          <p:cNvPr id="8" name="Paveikslėlis 7" descr="Paveikslėlis, kuriame yra tekstas, Šriftas, skaičius, linija&#10;&#10;Dirbtinio intelekto sugeneruotas turinys gali būti neteisingas.">
            <a:extLst>
              <a:ext uri="{FF2B5EF4-FFF2-40B4-BE49-F238E27FC236}">
                <a16:creationId xmlns:a16="http://schemas.microsoft.com/office/drawing/2014/main" id="{178D02B4-6B93-6F75-382A-ADC1694D8A28}"/>
              </a:ext>
            </a:extLst>
          </p:cNvPr>
          <p:cNvPicPr>
            <a:picLocks noChangeAspect="1"/>
          </p:cNvPicPr>
          <p:nvPr/>
        </p:nvPicPr>
        <p:blipFill>
          <a:blip r:embed="rId2"/>
          <a:stretch>
            <a:fillRect/>
          </a:stretch>
        </p:blipFill>
        <p:spPr>
          <a:xfrm>
            <a:off x="1120877" y="2545859"/>
            <a:ext cx="9708395" cy="3091845"/>
          </a:xfrm>
          <a:prstGeom prst="rect">
            <a:avLst/>
          </a:prstGeom>
        </p:spPr>
      </p:pic>
    </p:spTree>
    <p:extLst>
      <p:ext uri="{BB962C8B-B14F-4D97-AF65-F5344CB8AC3E}">
        <p14:creationId xmlns:p14="http://schemas.microsoft.com/office/powerpoint/2010/main" val="15717306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B757F9-A9FC-E952-A83E-2DEC70593755}"/>
            </a:ext>
          </a:extLst>
        </p:cNvPr>
        <p:cNvGrpSpPr/>
        <p:nvPr/>
      </p:nvGrpSpPr>
      <p:grpSpPr>
        <a:xfrm>
          <a:off x="0" y="0"/>
          <a:ext cx="0" cy="0"/>
          <a:chOff x="0" y="0"/>
          <a:chExt cx="0" cy="0"/>
        </a:xfrm>
      </p:grpSpPr>
      <p:sp>
        <p:nvSpPr>
          <p:cNvPr id="2" name="Pavadinimas 1">
            <a:extLst>
              <a:ext uri="{FF2B5EF4-FFF2-40B4-BE49-F238E27FC236}">
                <a16:creationId xmlns:a16="http://schemas.microsoft.com/office/drawing/2014/main" id="{19961F78-B7EA-8469-5D07-D3C3281820D7}"/>
              </a:ext>
            </a:extLst>
          </p:cNvPr>
          <p:cNvSpPr>
            <a:spLocks noGrp="1"/>
          </p:cNvSpPr>
          <p:nvPr>
            <p:ph type="title"/>
          </p:nvPr>
        </p:nvSpPr>
        <p:spPr/>
        <p:txBody>
          <a:bodyPr/>
          <a:lstStyle/>
          <a:p>
            <a:r>
              <a:rPr lang="lt-LT" dirty="0"/>
              <a:t>HANDLING MISSING DATA</a:t>
            </a:r>
          </a:p>
        </p:txBody>
      </p:sp>
      <p:sp>
        <p:nvSpPr>
          <p:cNvPr id="4" name="TextBox 3">
            <a:extLst>
              <a:ext uri="{FF2B5EF4-FFF2-40B4-BE49-F238E27FC236}">
                <a16:creationId xmlns:a16="http://schemas.microsoft.com/office/drawing/2014/main" id="{DFBF5E7F-1A7A-99DA-4D01-32A44EEC8553}"/>
              </a:ext>
            </a:extLst>
          </p:cNvPr>
          <p:cNvSpPr txBox="1"/>
          <p:nvPr/>
        </p:nvSpPr>
        <p:spPr>
          <a:xfrm>
            <a:off x="1258529" y="1690688"/>
            <a:ext cx="9832258" cy="923330"/>
          </a:xfrm>
          <a:prstGeom prst="rect">
            <a:avLst/>
          </a:prstGeom>
          <a:noFill/>
        </p:spPr>
        <p:txBody>
          <a:bodyPr wrap="square">
            <a:spAutoFit/>
          </a:bodyPr>
          <a:lstStyle/>
          <a:p>
            <a:r>
              <a:rPr lang="en-US" dirty="0"/>
              <a:t>There are multiple ways to </a:t>
            </a:r>
            <a:r>
              <a:rPr lang="en-US" b="1" dirty="0"/>
              <a:t>handle missing data </a:t>
            </a:r>
            <a:r>
              <a:rPr lang="en-US" dirty="0"/>
              <a:t>in a </a:t>
            </a:r>
            <a:r>
              <a:rPr lang="en-US" dirty="0" err="1"/>
              <a:t>DataFrame</a:t>
            </a:r>
            <a:r>
              <a:rPr lang="en-US" dirty="0"/>
              <a:t>: </a:t>
            </a:r>
          </a:p>
          <a:p>
            <a:r>
              <a:rPr lang="en-US" dirty="0"/>
              <a:t>	• The .</a:t>
            </a:r>
            <a:r>
              <a:rPr lang="en-US" b="1" dirty="0" err="1"/>
              <a:t>dropna</a:t>
            </a:r>
            <a:r>
              <a:rPr lang="en-US" b="1" dirty="0"/>
              <a:t>() </a:t>
            </a:r>
            <a:r>
              <a:rPr lang="en-US" dirty="0"/>
              <a:t>method </a:t>
            </a:r>
            <a:r>
              <a:rPr lang="en-US" b="1" dirty="0"/>
              <a:t>removes</a:t>
            </a:r>
            <a:r>
              <a:rPr lang="en-US" dirty="0"/>
              <a:t> rows or columns with missing data</a:t>
            </a:r>
          </a:p>
          <a:p>
            <a:r>
              <a:rPr lang="en-US" dirty="0"/>
              <a:t>	 • The </a:t>
            </a:r>
            <a:r>
              <a:rPr lang="en-US" b="1" dirty="0"/>
              <a:t>.</a:t>
            </a:r>
            <a:r>
              <a:rPr lang="en-US" b="1" dirty="0" err="1"/>
              <a:t>fillna</a:t>
            </a:r>
            <a:r>
              <a:rPr lang="en-US" b="1" dirty="0"/>
              <a:t>() </a:t>
            </a:r>
            <a:r>
              <a:rPr lang="en-US" dirty="0"/>
              <a:t>method imputes missing data with an appropriate value</a:t>
            </a:r>
            <a:endParaRPr lang="lt-LT" dirty="0"/>
          </a:p>
        </p:txBody>
      </p:sp>
      <p:pic>
        <p:nvPicPr>
          <p:cNvPr id="5" name="Paveikslėlis 4" descr="Paveikslėlis, kuriame yra tekstas, Šriftas, skaičius, ekrano kopija&#10;&#10;Dirbtinio intelekto sugeneruotas turinys gali būti neteisingas.">
            <a:extLst>
              <a:ext uri="{FF2B5EF4-FFF2-40B4-BE49-F238E27FC236}">
                <a16:creationId xmlns:a16="http://schemas.microsoft.com/office/drawing/2014/main" id="{DA18C516-8C01-05C3-B229-F15C6D9993BE}"/>
              </a:ext>
            </a:extLst>
          </p:cNvPr>
          <p:cNvPicPr>
            <a:picLocks noChangeAspect="1"/>
          </p:cNvPicPr>
          <p:nvPr/>
        </p:nvPicPr>
        <p:blipFill>
          <a:blip r:embed="rId2"/>
          <a:stretch>
            <a:fillRect/>
          </a:stretch>
        </p:blipFill>
        <p:spPr>
          <a:xfrm>
            <a:off x="1101213" y="2614018"/>
            <a:ext cx="9592155" cy="3742885"/>
          </a:xfrm>
          <a:prstGeom prst="rect">
            <a:avLst/>
          </a:prstGeom>
        </p:spPr>
      </p:pic>
    </p:spTree>
    <p:extLst>
      <p:ext uri="{BB962C8B-B14F-4D97-AF65-F5344CB8AC3E}">
        <p14:creationId xmlns:p14="http://schemas.microsoft.com/office/powerpoint/2010/main" val="317247351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avadinimas 1">
            <a:extLst>
              <a:ext uri="{FF2B5EF4-FFF2-40B4-BE49-F238E27FC236}">
                <a16:creationId xmlns:a16="http://schemas.microsoft.com/office/drawing/2014/main" id="{477BCE88-37C4-AF8F-CE80-1F890B01D70B}"/>
              </a:ext>
            </a:extLst>
          </p:cNvPr>
          <p:cNvSpPr>
            <a:spLocks noGrp="1"/>
          </p:cNvSpPr>
          <p:nvPr>
            <p:ph type="title"/>
          </p:nvPr>
        </p:nvSpPr>
        <p:spPr/>
        <p:txBody>
          <a:bodyPr/>
          <a:lstStyle/>
          <a:p>
            <a:r>
              <a:rPr lang="lt-LT" dirty="0"/>
              <a:t>CONVERTING TO NUMERIC</a:t>
            </a:r>
          </a:p>
        </p:txBody>
      </p:sp>
      <p:sp>
        <p:nvSpPr>
          <p:cNvPr id="4" name="TextBox 3">
            <a:extLst>
              <a:ext uri="{FF2B5EF4-FFF2-40B4-BE49-F238E27FC236}">
                <a16:creationId xmlns:a16="http://schemas.microsoft.com/office/drawing/2014/main" id="{5FF811D7-15ED-428C-5981-C2BEFBF228BF}"/>
              </a:ext>
            </a:extLst>
          </p:cNvPr>
          <p:cNvSpPr txBox="1"/>
          <p:nvPr/>
        </p:nvSpPr>
        <p:spPr>
          <a:xfrm>
            <a:off x="1081548" y="1514619"/>
            <a:ext cx="9065342" cy="646331"/>
          </a:xfrm>
          <a:prstGeom prst="rect">
            <a:avLst/>
          </a:prstGeom>
          <a:noFill/>
        </p:spPr>
        <p:txBody>
          <a:bodyPr wrap="square">
            <a:spAutoFit/>
          </a:bodyPr>
          <a:lstStyle/>
          <a:p>
            <a:r>
              <a:rPr lang="en-US" dirty="0"/>
              <a:t>Pandas will often read in numeric fields as text (object) data types </a:t>
            </a:r>
          </a:p>
          <a:p>
            <a:r>
              <a:rPr lang="en-US" dirty="0"/>
              <a:t>Use </a:t>
            </a:r>
            <a:r>
              <a:rPr lang="en-US" b="1" dirty="0" err="1"/>
              <a:t>pd.to_numeric</a:t>
            </a:r>
            <a:r>
              <a:rPr lang="en-US" b="1" dirty="0"/>
              <a:t>() </a:t>
            </a:r>
            <a:r>
              <a:rPr lang="en-US" dirty="0"/>
              <a:t>to </a:t>
            </a:r>
            <a:r>
              <a:rPr lang="en-US" b="1" dirty="0"/>
              <a:t>convert them to numeric fields</a:t>
            </a:r>
            <a:endParaRPr lang="lt-LT" b="1" dirty="0"/>
          </a:p>
        </p:txBody>
      </p:sp>
      <p:pic>
        <p:nvPicPr>
          <p:cNvPr id="6" name="Paveikslėlis 5" descr="Paveikslėlis, kuriame yra tekstas, ekrano kopija, skaičius, Šriftas&#10;&#10;Dirbtinio intelekto sugeneruotas turinys gali būti neteisingas.">
            <a:extLst>
              <a:ext uri="{FF2B5EF4-FFF2-40B4-BE49-F238E27FC236}">
                <a16:creationId xmlns:a16="http://schemas.microsoft.com/office/drawing/2014/main" id="{6A47C2A1-BB9D-AAE1-28FA-6032234AE3EB}"/>
              </a:ext>
            </a:extLst>
          </p:cNvPr>
          <p:cNvPicPr>
            <a:picLocks noChangeAspect="1"/>
          </p:cNvPicPr>
          <p:nvPr/>
        </p:nvPicPr>
        <p:blipFill>
          <a:blip r:embed="rId2"/>
          <a:stretch>
            <a:fillRect/>
          </a:stretch>
        </p:blipFill>
        <p:spPr>
          <a:xfrm>
            <a:off x="1455195" y="2598816"/>
            <a:ext cx="8691695" cy="3677553"/>
          </a:xfrm>
          <a:prstGeom prst="rect">
            <a:avLst/>
          </a:prstGeom>
        </p:spPr>
      </p:pic>
    </p:spTree>
    <p:extLst>
      <p:ext uri="{BB962C8B-B14F-4D97-AF65-F5344CB8AC3E}">
        <p14:creationId xmlns:p14="http://schemas.microsoft.com/office/powerpoint/2010/main" val="243073350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B54375-B2AF-F534-1B75-578B5B51D822}"/>
            </a:ext>
          </a:extLst>
        </p:cNvPr>
        <p:cNvGrpSpPr/>
        <p:nvPr/>
      </p:nvGrpSpPr>
      <p:grpSpPr>
        <a:xfrm>
          <a:off x="0" y="0"/>
          <a:ext cx="0" cy="0"/>
          <a:chOff x="0" y="0"/>
          <a:chExt cx="0" cy="0"/>
        </a:xfrm>
      </p:grpSpPr>
      <p:sp>
        <p:nvSpPr>
          <p:cNvPr id="2" name="Pavadinimas 1">
            <a:extLst>
              <a:ext uri="{FF2B5EF4-FFF2-40B4-BE49-F238E27FC236}">
                <a16:creationId xmlns:a16="http://schemas.microsoft.com/office/drawing/2014/main" id="{EBC2B1A4-EDB9-29BF-6F2B-28B34718AA33}"/>
              </a:ext>
            </a:extLst>
          </p:cNvPr>
          <p:cNvSpPr>
            <a:spLocks noGrp="1"/>
          </p:cNvSpPr>
          <p:nvPr>
            <p:ph type="title"/>
          </p:nvPr>
        </p:nvSpPr>
        <p:spPr/>
        <p:txBody>
          <a:bodyPr/>
          <a:lstStyle/>
          <a:p>
            <a:r>
              <a:rPr lang="lt-LT" dirty="0"/>
              <a:t>CONVERTING TO NUMERIC</a:t>
            </a:r>
          </a:p>
        </p:txBody>
      </p:sp>
      <p:sp>
        <p:nvSpPr>
          <p:cNvPr id="4" name="TextBox 3">
            <a:extLst>
              <a:ext uri="{FF2B5EF4-FFF2-40B4-BE49-F238E27FC236}">
                <a16:creationId xmlns:a16="http://schemas.microsoft.com/office/drawing/2014/main" id="{958BD7BC-6193-D3B6-E7AC-9A365B4E4977}"/>
              </a:ext>
            </a:extLst>
          </p:cNvPr>
          <p:cNvSpPr txBox="1"/>
          <p:nvPr/>
        </p:nvSpPr>
        <p:spPr>
          <a:xfrm>
            <a:off x="1081548" y="1514619"/>
            <a:ext cx="9065342" cy="646331"/>
          </a:xfrm>
          <a:prstGeom prst="rect">
            <a:avLst/>
          </a:prstGeom>
          <a:noFill/>
        </p:spPr>
        <p:txBody>
          <a:bodyPr wrap="square">
            <a:spAutoFit/>
          </a:bodyPr>
          <a:lstStyle/>
          <a:p>
            <a:r>
              <a:rPr lang="en-US" dirty="0"/>
              <a:t>Pandas will often read in numeric fields as text (object) data types </a:t>
            </a:r>
          </a:p>
          <a:p>
            <a:r>
              <a:rPr lang="en-US" dirty="0"/>
              <a:t>Use </a:t>
            </a:r>
            <a:r>
              <a:rPr lang="en-US" b="1" dirty="0" err="1"/>
              <a:t>pd.to_numeric</a:t>
            </a:r>
            <a:r>
              <a:rPr lang="en-US" b="1" dirty="0"/>
              <a:t>() </a:t>
            </a:r>
            <a:r>
              <a:rPr lang="en-US" dirty="0"/>
              <a:t>to </a:t>
            </a:r>
            <a:r>
              <a:rPr lang="en-US" b="1" dirty="0"/>
              <a:t>convert them to numeric fields</a:t>
            </a:r>
            <a:endParaRPr lang="lt-LT" b="1" dirty="0"/>
          </a:p>
        </p:txBody>
      </p:sp>
      <p:pic>
        <p:nvPicPr>
          <p:cNvPr id="8" name="Paveikslėlis 7" descr="Paveikslėlis, kuriame yra tekstas, Šriftas, skaičius, ekrano kopija&#10;&#10;Dirbtinio intelekto sugeneruotas turinys gali būti neteisingas.">
            <a:extLst>
              <a:ext uri="{FF2B5EF4-FFF2-40B4-BE49-F238E27FC236}">
                <a16:creationId xmlns:a16="http://schemas.microsoft.com/office/drawing/2014/main" id="{48432204-F39F-EAE2-6AFF-CFB4614149B2}"/>
              </a:ext>
            </a:extLst>
          </p:cNvPr>
          <p:cNvPicPr>
            <a:picLocks noChangeAspect="1"/>
          </p:cNvPicPr>
          <p:nvPr/>
        </p:nvPicPr>
        <p:blipFill>
          <a:blip r:embed="rId2"/>
          <a:stretch>
            <a:fillRect/>
          </a:stretch>
        </p:blipFill>
        <p:spPr>
          <a:xfrm>
            <a:off x="838200" y="2160950"/>
            <a:ext cx="10926700" cy="3934374"/>
          </a:xfrm>
          <a:prstGeom prst="rect">
            <a:avLst/>
          </a:prstGeom>
        </p:spPr>
      </p:pic>
    </p:spTree>
    <p:extLst>
      <p:ext uri="{BB962C8B-B14F-4D97-AF65-F5344CB8AC3E}">
        <p14:creationId xmlns:p14="http://schemas.microsoft.com/office/powerpoint/2010/main" val="113852407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avadinimas 1">
            <a:extLst>
              <a:ext uri="{FF2B5EF4-FFF2-40B4-BE49-F238E27FC236}">
                <a16:creationId xmlns:a16="http://schemas.microsoft.com/office/drawing/2014/main" id="{AAFF8DDD-9DDF-41E7-B670-EDB83807120E}"/>
              </a:ext>
            </a:extLst>
          </p:cNvPr>
          <p:cNvSpPr>
            <a:spLocks noGrp="1"/>
          </p:cNvSpPr>
          <p:nvPr>
            <p:ph type="title"/>
          </p:nvPr>
        </p:nvSpPr>
        <p:spPr/>
        <p:txBody>
          <a:bodyPr/>
          <a:lstStyle/>
          <a:p>
            <a:r>
              <a:rPr lang="lt-LT" dirty="0"/>
              <a:t>CONVERTING TO DATETIME</a:t>
            </a:r>
          </a:p>
        </p:txBody>
      </p:sp>
      <p:sp>
        <p:nvSpPr>
          <p:cNvPr id="4" name="TextBox 3">
            <a:extLst>
              <a:ext uri="{FF2B5EF4-FFF2-40B4-BE49-F238E27FC236}">
                <a16:creationId xmlns:a16="http://schemas.microsoft.com/office/drawing/2014/main" id="{40913FAF-5BBD-965E-450B-EF790F0682AD}"/>
              </a:ext>
            </a:extLst>
          </p:cNvPr>
          <p:cNvSpPr txBox="1"/>
          <p:nvPr/>
        </p:nvSpPr>
        <p:spPr>
          <a:xfrm>
            <a:off x="934063" y="1690688"/>
            <a:ext cx="10225549" cy="646331"/>
          </a:xfrm>
          <a:prstGeom prst="rect">
            <a:avLst/>
          </a:prstGeom>
          <a:noFill/>
        </p:spPr>
        <p:txBody>
          <a:bodyPr wrap="square">
            <a:spAutoFit/>
          </a:bodyPr>
          <a:lstStyle/>
          <a:p>
            <a:r>
              <a:rPr lang="en-US" dirty="0"/>
              <a:t>Pandas will often read in date fields as text (object) data types as well </a:t>
            </a:r>
          </a:p>
          <a:p>
            <a:r>
              <a:rPr lang="en-US" dirty="0"/>
              <a:t>Use </a:t>
            </a:r>
            <a:r>
              <a:rPr lang="en-US" b="1" dirty="0" err="1"/>
              <a:t>pd.to_datetime</a:t>
            </a:r>
            <a:r>
              <a:rPr lang="en-US" b="1" dirty="0"/>
              <a:t>() </a:t>
            </a:r>
            <a:r>
              <a:rPr lang="en-US" dirty="0"/>
              <a:t>to </a:t>
            </a:r>
            <a:r>
              <a:rPr lang="en-US" b="1" dirty="0"/>
              <a:t>convert them to datetime fields </a:t>
            </a:r>
            <a:endParaRPr lang="lt-LT" b="1" dirty="0"/>
          </a:p>
        </p:txBody>
      </p:sp>
      <p:pic>
        <p:nvPicPr>
          <p:cNvPr id="6" name="Paveikslėlis 5" descr="Paveikslėlis, kuriame yra tekstas, ekrano kopija, skaičius, Šriftas&#10;&#10;Dirbtinio intelekto sugeneruotas turinys gali būti neteisingas.">
            <a:extLst>
              <a:ext uri="{FF2B5EF4-FFF2-40B4-BE49-F238E27FC236}">
                <a16:creationId xmlns:a16="http://schemas.microsoft.com/office/drawing/2014/main" id="{FF28CE99-0EB6-811C-E6C9-9D77DB4C96F7}"/>
              </a:ext>
            </a:extLst>
          </p:cNvPr>
          <p:cNvPicPr>
            <a:picLocks noChangeAspect="1"/>
          </p:cNvPicPr>
          <p:nvPr/>
        </p:nvPicPr>
        <p:blipFill>
          <a:blip r:embed="rId2"/>
          <a:stretch>
            <a:fillRect/>
          </a:stretch>
        </p:blipFill>
        <p:spPr>
          <a:xfrm>
            <a:off x="1042218" y="2927814"/>
            <a:ext cx="9215427" cy="3637668"/>
          </a:xfrm>
          <a:prstGeom prst="rect">
            <a:avLst/>
          </a:prstGeom>
        </p:spPr>
      </p:pic>
    </p:spTree>
    <p:extLst>
      <p:ext uri="{BB962C8B-B14F-4D97-AF65-F5344CB8AC3E}">
        <p14:creationId xmlns:p14="http://schemas.microsoft.com/office/powerpoint/2010/main" val="393110481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5EF78E-1C5D-9BF1-7FB4-91806042D19C}"/>
            </a:ext>
          </a:extLst>
        </p:cNvPr>
        <p:cNvGrpSpPr/>
        <p:nvPr/>
      </p:nvGrpSpPr>
      <p:grpSpPr>
        <a:xfrm>
          <a:off x="0" y="0"/>
          <a:ext cx="0" cy="0"/>
          <a:chOff x="0" y="0"/>
          <a:chExt cx="0" cy="0"/>
        </a:xfrm>
      </p:grpSpPr>
      <p:sp>
        <p:nvSpPr>
          <p:cNvPr id="2" name="Pavadinimas 1">
            <a:extLst>
              <a:ext uri="{FF2B5EF4-FFF2-40B4-BE49-F238E27FC236}">
                <a16:creationId xmlns:a16="http://schemas.microsoft.com/office/drawing/2014/main" id="{C7A3CF3F-542A-1F71-5C46-CDCA1AC53C7E}"/>
              </a:ext>
            </a:extLst>
          </p:cNvPr>
          <p:cNvSpPr>
            <a:spLocks noGrp="1"/>
          </p:cNvSpPr>
          <p:nvPr>
            <p:ph type="title"/>
          </p:nvPr>
        </p:nvSpPr>
        <p:spPr/>
        <p:txBody>
          <a:bodyPr/>
          <a:lstStyle/>
          <a:p>
            <a:r>
              <a:rPr lang="lt-LT" dirty="0"/>
              <a:t>CONVERTING TO DATETIME</a:t>
            </a:r>
          </a:p>
        </p:txBody>
      </p:sp>
      <p:sp>
        <p:nvSpPr>
          <p:cNvPr id="4" name="TextBox 3">
            <a:extLst>
              <a:ext uri="{FF2B5EF4-FFF2-40B4-BE49-F238E27FC236}">
                <a16:creationId xmlns:a16="http://schemas.microsoft.com/office/drawing/2014/main" id="{89297C49-7D62-C3DC-400A-17B7DBC35B4F}"/>
              </a:ext>
            </a:extLst>
          </p:cNvPr>
          <p:cNvSpPr txBox="1"/>
          <p:nvPr/>
        </p:nvSpPr>
        <p:spPr>
          <a:xfrm>
            <a:off x="934063" y="1690688"/>
            <a:ext cx="10225549" cy="646331"/>
          </a:xfrm>
          <a:prstGeom prst="rect">
            <a:avLst/>
          </a:prstGeom>
          <a:noFill/>
        </p:spPr>
        <p:txBody>
          <a:bodyPr wrap="square">
            <a:spAutoFit/>
          </a:bodyPr>
          <a:lstStyle/>
          <a:p>
            <a:r>
              <a:rPr lang="en-US" dirty="0"/>
              <a:t>Pandas will often read in date fields as text (object) data types as well </a:t>
            </a:r>
          </a:p>
          <a:p>
            <a:r>
              <a:rPr lang="en-US" dirty="0"/>
              <a:t>Use </a:t>
            </a:r>
            <a:r>
              <a:rPr lang="en-US" b="1" dirty="0" err="1"/>
              <a:t>pd.to_datetime</a:t>
            </a:r>
            <a:r>
              <a:rPr lang="en-US" b="1" dirty="0"/>
              <a:t>() </a:t>
            </a:r>
            <a:r>
              <a:rPr lang="en-US" dirty="0"/>
              <a:t>to </a:t>
            </a:r>
            <a:r>
              <a:rPr lang="en-US" b="1" dirty="0"/>
              <a:t>convert them to datetime fields </a:t>
            </a:r>
            <a:endParaRPr lang="lt-LT" b="1" dirty="0"/>
          </a:p>
        </p:txBody>
      </p:sp>
      <p:pic>
        <p:nvPicPr>
          <p:cNvPr id="5" name="Paveikslėlis 4" descr="Paveikslėlis, kuriame yra tekstas, ekrano kopija, Šriftas, skaičius&#10;&#10;Dirbtinio intelekto sugeneruotas turinys gali būti neteisingas.">
            <a:extLst>
              <a:ext uri="{FF2B5EF4-FFF2-40B4-BE49-F238E27FC236}">
                <a16:creationId xmlns:a16="http://schemas.microsoft.com/office/drawing/2014/main" id="{B552939B-364C-FEA0-D37A-FAC47F424A0C}"/>
              </a:ext>
            </a:extLst>
          </p:cNvPr>
          <p:cNvPicPr>
            <a:picLocks noChangeAspect="1"/>
          </p:cNvPicPr>
          <p:nvPr/>
        </p:nvPicPr>
        <p:blipFill>
          <a:blip r:embed="rId2"/>
          <a:stretch>
            <a:fillRect/>
          </a:stretch>
        </p:blipFill>
        <p:spPr>
          <a:xfrm>
            <a:off x="1032388" y="2337019"/>
            <a:ext cx="9586451" cy="3448057"/>
          </a:xfrm>
          <a:prstGeom prst="rect">
            <a:avLst/>
          </a:prstGeom>
        </p:spPr>
      </p:pic>
      <p:sp>
        <p:nvSpPr>
          <p:cNvPr id="8" name="TextBox 7">
            <a:extLst>
              <a:ext uri="{FF2B5EF4-FFF2-40B4-BE49-F238E27FC236}">
                <a16:creationId xmlns:a16="http://schemas.microsoft.com/office/drawing/2014/main" id="{868AF701-B480-EAB3-B28B-CCE71B245BF6}"/>
              </a:ext>
            </a:extLst>
          </p:cNvPr>
          <p:cNvSpPr txBox="1"/>
          <p:nvPr/>
        </p:nvSpPr>
        <p:spPr>
          <a:xfrm>
            <a:off x="1209367" y="5785076"/>
            <a:ext cx="9202993" cy="646331"/>
          </a:xfrm>
          <a:prstGeom prst="rect">
            <a:avLst/>
          </a:prstGeom>
          <a:noFill/>
        </p:spPr>
        <p:txBody>
          <a:bodyPr wrap="square">
            <a:spAutoFit/>
          </a:bodyPr>
          <a:lstStyle/>
          <a:p>
            <a:r>
              <a:rPr lang="en-US" dirty="0"/>
              <a:t>While a datetime field can’t be input into a model, </a:t>
            </a:r>
            <a:r>
              <a:rPr lang="en-US" dirty="0">
                <a:highlight>
                  <a:srgbClr val="FFFF00"/>
                </a:highlight>
              </a:rPr>
              <a:t>its components can be extracted as numeric values</a:t>
            </a:r>
            <a:r>
              <a:rPr lang="en-US" dirty="0"/>
              <a:t> and saved as new fields for modeling</a:t>
            </a:r>
            <a:endParaRPr lang="lt-LT" dirty="0"/>
          </a:p>
        </p:txBody>
      </p:sp>
    </p:spTree>
    <p:extLst>
      <p:ext uri="{BB962C8B-B14F-4D97-AF65-F5344CB8AC3E}">
        <p14:creationId xmlns:p14="http://schemas.microsoft.com/office/powerpoint/2010/main" val="18981607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avadinimas 1">
            <a:extLst>
              <a:ext uri="{FF2B5EF4-FFF2-40B4-BE49-F238E27FC236}">
                <a16:creationId xmlns:a16="http://schemas.microsoft.com/office/drawing/2014/main" id="{5959A72D-E42F-15BA-9647-1CE5CE968310}"/>
              </a:ext>
            </a:extLst>
          </p:cNvPr>
          <p:cNvSpPr>
            <a:spLocks noGrp="1"/>
          </p:cNvSpPr>
          <p:nvPr>
            <p:ph type="title"/>
          </p:nvPr>
        </p:nvSpPr>
        <p:spPr/>
        <p:txBody>
          <a:bodyPr/>
          <a:lstStyle/>
          <a:p>
            <a:r>
              <a:rPr lang="lt-LT" dirty="0"/>
              <a:t>EXTRACTING DATETIME COMPONENTS</a:t>
            </a:r>
          </a:p>
        </p:txBody>
      </p:sp>
      <p:sp>
        <p:nvSpPr>
          <p:cNvPr id="4" name="TextBox 3">
            <a:extLst>
              <a:ext uri="{FF2B5EF4-FFF2-40B4-BE49-F238E27FC236}">
                <a16:creationId xmlns:a16="http://schemas.microsoft.com/office/drawing/2014/main" id="{15FDCCA3-AE30-5B32-2C9B-01E8EDA0DCD0}"/>
              </a:ext>
            </a:extLst>
          </p:cNvPr>
          <p:cNvSpPr txBox="1"/>
          <p:nvPr/>
        </p:nvSpPr>
        <p:spPr>
          <a:xfrm>
            <a:off x="1435508" y="1367522"/>
            <a:ext cx="8917859" cy="369332"/>
          </a:xfrm>
          <a:prstGeom prst="rect">
            <a:avLst/>
          </a:prstGeom>
          <a:noFill/>
        </p:spPr>
        <p:txBody>
          <a:bodyPr wrap="square">
            <a:spAutoFit/>
          </a:bodyPr>
          <a:lstStyle/>
          <a:p>
            <a:r>
              <a:rPr lang="en-US" dirty="0"/>
              <a:t>Use datetime methods to </a:t>
            </a:r>
            <a:r>
              <a:rPr lang="en-US" b="1" dirty="0"/>
              <a:t>extract components </a:t>
            </a:r>
            <a:r>
              <a:rPr lang="en-US" dirty="0"/>
              <a:t>from datetime fields </a:t>
            </a:r>
            <a:endParaRPr lang="lt-LT" dirty="0"/>
          </a:p>
        </p:txBody>
      </p:sp>
      <p:pic>
        <p:nvPicPr>
          <p:cNvPr id="6" name="Paveikslėlis 5" descr="Paveikslėlis, kuriame yra tekstas, ekrano kopija, skaičius, Šriftas&#10;&#10;Dirbtinio intelekto sugeneruotas turinys gali būti neteisingas.">
            <a:extLst>
              <a:ext uri="{FF2B5EF4-FFF2-40B4-BE49-F238E27FC236}">
                <a16:creationId xmlns:a16="http://schemas.microsoft.com/office/drawing/2014/main" id="{1116F00F-89A0-9833-EA36-DD299F4FD34B}"/>
              </a:ext>
            </a:extLst>
          </p:cNvPr>
          <p:cNvPicPr>
            <a:picLocks noChangeAspect="1"/>
          </p:cNvPicPr>
          <p:nvPr/>
        </p:nvPicPr>
        <p:blipFill>
          <a:blip r:embed="rId2"/>
          <a:stretch>
            <a:fillRect/>
          </a:stretch>
        </p:blipFill>
        <p:spPr>
          <a:xfrm>
            <a:off x="1032387" y="2004053"/>
            <a:ext cx="5831694" cy="3260960"/>
          </a:xfrm>
          <a:prstGeom prst="rect">
            <a:avLst/>
          </a:prstGeom>
        </p:spPr>
      </p:pic>
      <p:sp>
        <p:nvSpPr>
          <p:cNvPr id="8" name="TextBox 7">
            <a:extLst>
              <a:ext uri="{FF2B5EF4-FFF2-40B4-BE49-F238E27FC236}">
                <a16:creationId xmlns:a16="http://schemas.microsoft.com/office/drawing/2014/main" id="{D0733618-35DD-F622-B658-4B92605AE6EE}"/>
              </a:ext>
            </a:extLst>
          </p:cNvPr>
          <p:cNvSpPr txBox="1"/>
          <p:nvPr/>
        </p:nvSpPr>
        <p:spPr>
          <a:xfrm>
            <a:off x="1573161" y="5363336"/>
            <a:ext cx="8111613" cy="923330"/>
          </a:xfrm>
          <a:prstGeom prst="rect">
            <a:avLst/>
          </a:prstGeom>
          <a:noFill/>
        </p:spPr>
        <p:txBody>
          <a:bodyPr wrap="square">
            <a:spAutoFit/>
          </a:bodyPr>
          <a:lstStyle/>
          <a:p>
            <a:r>
              <a:rPr lang="en-US" dirty="0"/>
              <a:t>Even though month and day of week look like numeric values, </a:t>
            </a:r>
            <a:r>
              <a:rPr lang="en-US" dirty="0">
                <a:highlight>
                  <a:srgbClr val="FFFF00"/>
                </a:highlight>
              </a:rPr>
              <a:t>it’s inaccurate to say that 8&gt;5 (August is better than May). </a:t>
            </a:r>
            <a:r>
              <a:rPr lang="en-US" dirty="0"/>
              <a:t>These values often go through an additional process called </a:t>
            </a:r>
            <a:r>
              <a:rPr lang="en-US" dirty="0">
                <a:highlight>
                  <a:srgbClr val="FFFF00"/>
                </a:highlight>
              </a:rPr>
              <a:t>binning</a:t>
            </a:r>
            <a:r>
              <a:rPr lang="en-US" dirty="0"/>
              <a:t>, in the </a:t>
            </a:r>
            <a:r>
              <a:rPr lang="en-US" dirty="0">
                <a:solidFill>
                  <a:srgbClr val="FF0000"/>
                </a:solidFill>
              </a:rPr>
              <a:t>feature engineering workflow section</a:t>
            </a:r>
            <a:r>
              <a:rPr lang="en-US" dirty="0"/>
              <a:t>.</a:t>
            </a:r>
            <a:endParaRPr lang="lt-LT" dirty="0"/>
          </a:p>
        </p:txBody>
      </p:sp>
    </p:spTree>
    <p:extLst>
      <p:ext uri="{BB962C8B-B14F-4D97-AF65-F5344CB8AC3E}">
        <p14:creationId xmlns:p14="http://schemas.microsoft.com/office/powerpoint/2010/main" val="99730791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avadinimas 1">
            <a:extLst>
              <a:ext uri="{FF2B5EF4-FFF2-40B4-BE49-F238E27FC236}">
                <a16:creationId xmlns:a16="http://schemas.microsoft.com/office/drawing/2014/main" id="{40D53057-DB2A-2829-BDCF-CAE0962DAE31}"/>
              </a:ext>
            </a:extLst>
          </p:cNvPr>
          <p:cNvSpPr>
            <a:spLocks noGrp="1"/>
          </p:cNvSpPr>
          <p:nvPr>
            <p:ph type="title"/>
          </p:nvPr>
        </p:nvSpPr>
        <p:spPr/>
        <p:txBody>
          <a:bodyPr/>
          <a:lstStyle/>
          <a:p>
            <a:r>
              <a:rPr lang="en-US" dirty="0"/>
              <a:t>CALCULATING BASED ON A CONDITION</a:t>
            </a:r>
            <a:endParaRPr lang="lt-LT" dirty="0"/>
          </a:p>
        </p:txBody>
      </p:sp>
      <p:sp>
        <p:nvSpPr>
          <p:cNvPr id="4" name="TextBox 3">
            <a:extLst>
              <a:ext uri="{FF2B5EF4-FFF2-40B4-BE49-F238E27FC236}">
                <a16:creationId xmlns:a16="http://schemas.microsoft.com/office/drawing/2014/main" id="{49D38DB2-45FF-B237-67D2-E840C9C31C31}"/>
              </a:ext>
            </a:extLst>
          </p:cNvPr>
          <p:cNvSpPr txBox="1"/>
          <p:nvPr/>
        </p:nvSpPr>
        <p:spPr>
          <a:xfrm>
            <a:off x="983226" y="1574461"/>
            <a:ext cx="9625780" cy="369332"/>
          </a:xfrm>
          <a:prstGeom prst="rect">
            <a:avLst/>
          </a:prstGeom>
          <a:noFill/>
        </p:spPr>
        <p:txBody>
          <a:bodyPr wrap="square">
            <a:spAutoFit/>
          </a:bodyPr>
          <a:lstStyle/>
          <a:p>
            <a:r>
              <a:rPr lang="en-US" dirty="0"/>
              <a:t>Use </a:t>
            </a:r>
            <a:r>
              <a:rPr lang="en-US" b="1" dirty="0" err="1"/>
              <a:t>np.where</a:t>
            </a:r>
            <a:r>
              <a:rPr lang="en-US" b="1" dirty="0"/>
              <a:t>() </a:t>
            </a:r>
            <a:r>
              <a:rPr lang="en-US" dirty="0"/>
              <a:t>to create a numeric column </a:t>
            </a:r>
            <a:r>
              <a:rPr lang="en-US" b="1" dirty="0"/>
              <a:t>based on a logical condition</a:t>
            </a:r>
            <a:endParaRPr lang="lt-LT" b="1" dirty="0"/>
          </a:p>
        </p:txBody>
      </p:sp>
      <p:pic>
        <p:nvPicPr>
          <p:cNvPr id="6" name="Paveikslėlis 5" descr="Paveikslėlis, kuriame yra tekstas, skaičius, Šriftas, programinė įranga&#10;&#10;Dirbtinio intelekto sugeneruotas turinys gali būti neteisingas.">
            <a:extLst>
              <a:ext uri="{FF2B5EF4-FFF2-40B4-BE49-F238E27FC236}">
                <a16:creationId xmlns:a16="http://schemas.microsoft.com/office/drawing/2014/main" id="{D12C2CE1-8CD6-EE85-3A9C-1036E181B007}"/>
              </a:ext>
            </a:extLst>
          </p:cNvPr>
          <p:cNvPicPr>
            <a:picLocks noChangeAspect="1"/>
          </p:cNvPicPr>
          <p:nvPr/>
        </p:nvPicPr>
        <p:blipFill>
          <a:blip r:embed="rId2"/>
          <a:stretch>
            <a:fillRect/>
          </a:stretch>
        </p:blipFill>
        <p:spPr>
          <a:xfrm>
            <a:off x="838200" y="1943793"/>
            <a:ext cx="9918238" cy="4079647"/>
          </a:xfrm>
          <a:prstGeom prst="rect">
            <a:avLst/>
          </a:prstGeom>
        </p:spPr>
      </p:pic>
      <p:sp>
        <p:nvSpPr>
          <p:cNvPr id="8" name="TextBox 7">
            <a:extLst>
              <a:ext uri="{FF2B5EF4-FFF2-40B4-BE49-F238E27FC236}">
                <a16:creationId xmlns:a16="http://schemas.microsoft.com/office/drawing/2014/main" id="{5812EF01-C660-D071-9F22-66AB44B76752}"/>
              </a:ext>
            </a:extLst>
          </p:cNvPr>
          <p:cNvSpPr txBox="1"/>
          <p:nvPr/>
        </p:nvSpPr>
        <p:spPr>
          <a:xfrm>
            <a:off x="526025" y="6169709"/>
            <a:ext cx="11139949" cy="646331"/>
          </a:xfrm>
          <a:prstGeom prst="rect">
            <a:avLst/>
          </a:prstGeom>
          <a:noFill/>
        </p:spPr>
        <p:txBody>
          <a:bodyPr wrap="square">
            <a:spAutoFit/>
          </a:bodyPr>
          <a:lstStyle/>
          <a:p>
            <a:r>
              <a:rPr lang="en-US" dirty="0"/>
              <a:t>PRO TIP: </a:t>
            </a:r>
            <a:r>
              <a:rPr lang="en-US" b="1" dirty="0" err="1"/>
              <a:t>np.where</a:t>
            </a:r>
            <a:r>
              <a:rPr lang="en-US" b="1" dirty="0"/>
              <a:t>() </a:t>
            </a:r>
            <a:r>
              <a:rPr lang="en-US" dirty="0"/>
              <a:t>is quite versatile and can also be used to set values other than 1/0 (other numeric values, text values, etc.), set more than two values, set values for another column, and more</a:t>
            </a:r>
            <a:endParaRPr lang="lt-LT" dirty="0"/>
          </a:p>
        </p:txBody>
      </p:sp>
    </p:spTree>
    <p:extLst>
      <p:ext uri="{BB962C8B-B14F-4D97-AF65-F5344CB8AC3E}">
        <p14:creationId xmlns:p14="http://schemas.microsoft.com/office/powerpoint/2010/main" val="194378600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avadinimas 1">
            <a:extLst>
              <a:ext uri="{FF2B5EF4-FFF2-40B4-BE49-F238E27FC236}">
                <a16:creationId xmlns:a16="http://schemas.microsoft.com/office/drawing/2014/main" id="{79C78B08-58DB-B5B4-6421-DBB199F646FA}"/>
              </a:ext>
            </a:extLst>
          </p:cNvPr>
          <p:cNvSpPr>
            <a:spLocks noGrp="1"/>
          </p:cNvSpPr>
          <p:nvPr>
            <p:ph type="title"/>
          </p:nvPr>
        </p:nvSpPr>
        <p:spPr/>
        <p:txBody>
          <a:bodyPr/>
          <a:lstStyle/>
          <a:p>
            <a:r>
              <a:rPr lang="lt-LT" dirty="0"/>
              <a:t>DUMMY VARIABLES</a:t>
            </a:r>
          </a:p>
        </p:txBody>
      </p:sp>
      <p:sp>
        <p:nvSpPr>
          <p:cNvPr id="4" name="TextBox 3">
            <a:extLst>
              <a:ext uri="{FF2B5EF4-FFF2-40B4-BE49-F238E27FC236}">
                <a16:creationId xmlns:a16="http://schemas.microsoft.com/office/drawing/2014/main" id="{40B4D20B-3C23-3089-59D1-0B4CB0D9EBF9}"/>
              </a:ext>
            </a:extLst>
          </p:cNvPr>
          <p:cNvSpPr txBox="1"/>
          <p:nvPr/>
        </p:nvSpPr>
        <p:spPr>
          <a:xfrm>
            <a:off x="838200" y="1366288"/>
            <a:ext cx="10075606" cy="923330"/>
          </a:xfrm>
          <a:prstGeom prst="rect">
            <a:avLst/>
          </a:prstGeom>
          <a:noFill/>
        </p:spPr>
        <p:txBody>
          <a:bodyPr wrap="square">
            <a:spAutoFit/>
          </a:bodyPr>
          <a:lstStyle/>
          <a:p>
            <a:r>
              <a:rPr lang="en-US" dirty="0"/>
              <a:t>A </a:t>
            </a:r>
            <a:r>
              <a:rPr lang="en-US" b="1" dirty="0"/>
              <a:t>dummy variable </a:t>
            </a:r>
            <a:r>
              <a:rPr lang="en-US" dirty="0"/>
              <a:t>is a field that only contains ones and zeros to represent the presence (1) or absence (0) of a value, also known as one-hot encoding </a:t>
            </a:r>
          </a:p>
          <a:p>
            <a:r>
              <a:rPr lang="en-US" dirty="0"/>
              <a:t>	• They are used to transform categorical fields into multiple numeric fields</a:t>
            </a:r>
            <a:endParaRPr lang="lt-LT" dirty="0"/>
          </a:p>
        </p:txBody>
      </p:sp>
      <p:pic>
        <p:nvPicPr>
          <p:cNvPr id="6" name="Paveikslėlis 5" descr="Paveikslėlis, kuriame yra tekstas, ekrano kopija, skaičius, Šriftas&#10;&#10;Dirbtinio intelekto sugeneruotas turinys gali būti neteisingas.">
            <a:extLst>
              <a:ext uri="{FF2B5EF4-FFF2-40B4-BE49-F238E27FC236}">
                <a16:creationId xmlns:a16="http://schemas.microsoft.com/office/drawing/2014/main" id="{2ACD4878-9D59-1EBE-B2A1-6EAE5446BC0D}"/>
              </a:ext>
            </a:extLst>
          </p:cNvPr>
          <p:cNvPicPr>
            <a:picLocks noChangeAspect="1"/>
          </p:cNvPicPr>
          <p:nvPr/>
        </p:nvPicPr>
        <p:blipFill>
          <a:blip r:embed="rId2"/>
          <a:stretch>
            <a:fillRect/>
          </a:stretch>
        </p:blipFill>
        <p:spPr>
          <a:xfrm>
            <a:off x="838200" y="2691851"/>
            <a:ext cx="10926700" cy="3515216"/>
          </a:xfrm>
          <a:prstGeom prst="rect">
            <a:avLst/>
          </a:prstGeom>
        </p:spPr>
      </p:pic>
    </p:spTree>
    <p:extLst>
      <p:ext uri="{BB962C8B-B14F-4D97-AF65-F5344CB8AC3E}">
        <p14:creationId xmlns:p14="http://schemas.microsoft.com/office/powerpoint/2010/main" val="362139084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avadinimas 1">
            <a:extLst>
              <a:ext uri="{FF2B5EF4-FFF2-40B4-BE49-F238E27FC236}">
                <a16:creationId xmlns:a16="http://schemas.microsoft.com/office/drawing/2014/main" id="{79390748-BE93-661C-89FA-7705B03FD57B}"/>
              </a:ext>
            </a:extLst>
          </p:cNvPr>
          <p:cNvSpPr>
            <a:spLocks noGrp="1"/>
          </p:cNvSpPr>
          <p:nvPr>
            <p:ph type="title"/>
          </p:nvPr>
        </p:nvSpPr>
        <p:spPr/>
        <p:txBody>
          <a:bodyPr/>
          <a:lstStyle/>
          <a:p>
            <a:r>
              <a:rPr lang="lt-LT" dirty="0"/>
              <a:t>DUMMY VARIABLES</a:t>
            </a:r>
          </a:p>
        </p:txBody>
      </p:sp>
      <p:sp>
        <p:nvSpPr>
          <p:cNvPr id="4" name="TextBox 3">
            <a:extLst>
              <a:ext uri="{FF2B5EF4-FFF2-40B4-BE49-F238E27FC236}">
                <a16:creationId xmlns:a16="http://schemas.microsoft.com/office/drawing/2014/main" id="{7916F29C-F893-1B6D-A1DA-4ED02B1F1550}"/>
              </a:ext>
            </a:extLst>
          </p:cNvPr>
          <p:cNvSpPr txBox="1"/>
          <p:nvPr/>
        </p:nvSpPr>
        <p:spPr>
          <a:xfrm>
            <a:off x="1071715" y="1506022"/>
            <a:ext cx="7747819" cy="369332"/>
          </a:xfrm>
          <a:prstGeom prst="rect">
            <a:avLst/>
          </a:prstGeom>
          <a:noFill/>
        </p:spPr>
        <p:txBody>
          <a:bodyPr wrap="square">
            <a:spAutoFit/>
          </a:bodyPr>
          <a:lstStyle/>
          <a:p>
            <a:r>
              <a:rPr lang="en-US" dirty="0"/>
              <a:t>Use </a:t>
            </a:r>
            <a:r>
              <a:rPr lang="en-US" b="1" dirty="0" err="1"/>
              <a:t>pd.get_dummies</a:t>
            </a:r>
            <a:r>
              <a:rPr lang="en-US" b="1" dirty="0"/>
              <a:t>() </a:t>
            </a:r>
            <a:r>
              <a:rPr lang="en-US" dirty="0"/>
              <a:t>to create dummy variables in Python</a:t>
            </a:r>
            <a:endParaRPr lang="lt-LT" dirty="0"/>
          </a:p>
        </p:txBody>
      </p:sp>
      <p:pic>
        <p:nvPicPr>
          <p:cNvPr id="6" name="Paveikslėlis 5" descr="Paveikslėlis, kuriame yra tekstas, ekrano kopija, skaičius, Šriftas&#10;&#10;Dirbtinio intelekto sugeneruotas turinys gali būti neteisingas.">
            <a:extLst>
              <a:ext uri="{FF2B5EF4-FFF2-40B4-BE49-F238E27FC236}">
                <a16:creationId xmlns:a16="http://schemas.microsoft.com/office/drawing/2014/main" id="{640E1B45-7038-6E91-ED09-DAB5F2BBAC79}"/>
              </a:ext>
            </a:extLst>
          </p:cNvPr>
          <p:cNvPicPr>
            <a:picLocks noChangeAspect="1"/>
          </p:cNvPicPr>
          <p:nvPr/>
        </p:nvPicPr>
        <p:blipFill>
          <a:blip r:embed="rId2"/>
          <a:stretch>
            <a:fillRect/>
          </a:stretch>
        </p:blipFill>
        <p:spPr>
          <a:xfrm>
            <a:off x="1071716" y="2206027"/>
            <a:ext cx="8688012" cy="4286848"/>
          </a:xfrm>
          <a:prstGeom prst="rect">
            <a:avLst/>
          </a:prstGeom>
        </p:spPr>
      </p:pic>
    </p:spTree>
    <p:extLst>
      <p:ext uri="{BB962C8B-B14F-4D97-AF65-F5344CB8AC3E}">
        <p14:creationId xmlns:p14="http://schemas.microsoft.com/office/powerpoint/2010/main" val="174934457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67B624-88C0-5665-EF5F-39F5F3AE684A}"/>
            </a:ext>
          </a:extLst>
        </p:cNvPr>
        <p:cNvGrpSpPr/>
        <p:nvPr/>
      </p:nvGrpSpPr>
      <p:grpSpPr>
        <a:xfrm>
          <a:off x="0" y="0"/>
          <a:ext cx="0" cy="0"/>
          <a:chOff x="0" y="0"/>
          <a:chExt cx="0" cy="0"/>
        </a:xfrm>
      </p:grpSpPr>
      <p:sp>
        <p:nvSpPr>
          <p:cNvPr id="2" name="Pavadinimas 1">
            <a:extLst>
              <a:ext uri="{FF2B5EF4-FFF2-40B4-BE49-F238E27FC236}">
                <a16:creationId xmlns:a16="http://schemas.microsoft.com/office/drawing/2014/main" id="{F0590A27-D7DD-4D18-D83F-9F29F0E8BEB9}"/>
              </a:ext>
            </a:extLst>
          </p:cNvPr>
          <p:cNvSpPr>
            <a:spLocks noGrp="1"/>
          </p:cNvSpPr>
          <p:nvPr>
            <p:ph type="title"/>
          </p:nvPr>
        </p:nvSpPr>
        <p:spPr/>
        <p:txBody>
          <a:bodyPr/>
          <a:lstStyle/>
          <a:p>
            <a:r>
              <a:rPr lang="lt-LT" dirty="0"/>
              <a:t>DUMMY VARIABLES</a:t>
            </a:r>
          </a:p>
        </p:txBody>
      </p:sp>
      <p:sp>
        <p:nvSpPr>
          <p:cNvPr id="4" name="TextBox 3">
            <a:extLst>
              <a:ext uri="{FF2B5EF4-FFF2-40B4-BE49-F238E27FC236}">
                <a16:creationId xmlns:a16="http://schemas.microsoft.com/office/drawing/2014/main" id="{51B0C6CB-183F-83A9-BD30-689A5807C75B}"/>
              </a:ext>
            </a:extLst>
          </p:cNvPr>
          <p:cNvSpPr txBox="1"/>
          <p:nvPr/>
        </p:nvSpPr>
        <p:spPr>
          <a:xfrm>
            <a:off x="1071715" y="1506022"/>
            <a:ext cx="7747819" cy="369332"/>
          </a:xfrm>
          <a:prstGeom prst="rect">
            <a:avLst/>
          </a:prstGeom>
          <a:noFill/>
        </p:spPr>
        <p:txBody>
          <a:bodyPr wrap="square">
            <a:spAutoFit/>
          </a:bodyPr>
          <a:lstStyle/>
          <a:p>
            <a:r>
              <a:rPr lang="en-US" dirty="0"/>
              <a:t>Use </a:t>
            </a:r>
            <a:r>
              <a:rPr lang="en-US" b="1" dirty="0" err="1"/>
              <a:t>pd.get_dummies</a:t>
            </a:r>
            <a:r>
              <a:rPr lang="en-US" b="1" dirty="0"/>
              <a:t>() </a:t>
            </a:r>
            <a:r>
              <a:rPr lang="en-US" dirty="0"/>
              <a:t>to create dummy variables in Python</a:t>
            </a:r>
            <a:endParaRPr lang="lt-LT" dirty="0"/>
          </a:p>
        </p:txBody>
      </p:sp>
      <p:pic>
        <p:nvPicPr>
          <p:cNvPr id="5" name="Paveikslėlis 4" descr="Paveikslėlis, kuriame yra tekstas, skaičius, programinė įranga, Šriftas&#10;&#10;Dirbtinio intelekto sugeneruotas turinys gali būti neteisingas.">
            <a:extLst>
              <a:ext uri="{FF2B5EF4-FFF2-40B4-BE49-F238E27FC236}">
                <a16:creationId xmlns:a16="http://schemas.microsoft.com/office/drawing/2014/main" id="{6B3D1D54-3290-4B41-203A-0D0C1705EB31}"/>
              </a:ext>
            </a:extLst>
          </p:cNvPr>
          <p:cNvPicPr>
            <a:picLocks noChangeAspect="1"/>
          </p:cNvPicPr>
          <p:nvPr/>
        </p:nvPicPr>
        <p:blipFill>
          <a:blip r:embed="rId2"/>
          <a:stretch>
            <a:fillRect/>
          </a:stretch>
        </p:blipFill>
        <p:spPr>
          <a:xfrm>
            <a:off x="694703" y="2186974"/>
            <a:ext cx="11117226" cy="4305901"/>
          </a:xfrm>
          <a:prstGeom prst="rect">
            <a:avLst/>
          </a:prstGeom>
        </p:spPr>
      </p:pic>
    </p:spTree>
    <p:extLst>
      <p:ext uri="{BB962C8B-B14F-4D97-AF65-F5344CB8AC3E}">
        <p14:creationId xmlns:p14="http://schemas.microsoft.com/office/powerpoint/2010/main" val="217988648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avadinimas 1">
            <a:extLst>
              <a:ext uri="{FF2B5EF4-FFF2-40B4-BE49-F238E27FC236}">
                <a16:creationId xmlns:a16="http://schemas.microsoft.com/office/drawing/2014/main" id="{5CF53E46-3091-21A7-420F-1FDCC225FB22}"/>
              </a:ext>
            </a:extLst>
          </p:cNvPr>
          <p:cNvSpPr>
            <a:spLocks noGrp="1"/>
          </p:cNvSpPr>
          <p:nvPr>
            <p:ph type="title"/>
          </p:nvPr>
        </p:nvSpPr>
        <p:spPr/>
        <p:txBody>
          <a:bodyPr/>
          <a:lstStyle/>
          <a:p>
            <a:r>
              <a:rPr lang="lt-LT" dirty="0"/>
              <a:t>FEATURE ENGINEERING</a:t>
            </a:r>
          </a:p>
        </p:txBody>
      </p:sp>
      <p:sp>
        <p:nvSpPr>
          <p:cNvPr id="4" name="TextBox 3">
            <a:extLst>
              <a:ext uri="{FF2B5EF4-FFF2-40B4-BE49-F238E27FC236}">
                <a16:creationId xmlns:a16="http://schemas.microsoft.com/office/drawing/2014/main" id="{30201EC6-B1C3-7F77-1C8F-90DD0B82345D}"/>
              </a:ext>
            </a:extLst>
          </p:cNvPr>
          <p:cNvSpPr txBox="1"/>
          <p:nvPr/>
        </p:nvSpPr>
        <p:spPr>
          <a:xfrm>
            <a:off x="838199" y="1690688"/>
            <a:ext cx="11078497" cy="646331"/>
          </a:xfrm>
          <a:prstGeom prst="rect">
            <a:avLst/>
          </a:prstGeom>
          <a:noFill/>
        </p:spPr>
        <p:txBody>
          <a:bodyPr wrap="square">
            <a:spAutoFit/>
          </a:bodyPr>
          <a:lstStyle/>
          <a:p>
            <a:r>
              <a:rPr lang="en-US" dirty="0"/>
              <a:t>Feature engineering is the process of creating columns that you think will be helpful inputs for improving a model (help segment, recommend, etc.)</a:t>
            </a:r>
            <a:endParaRPr lang="lt-LT" dirty="0"/>
          </a:p>
        </p:txBody>
      </p:sp>
      <p:pic>
        <p:nvPicPr>
          <p:cNvPr id="6" name="Paveikslėlis 5" descr="Paveikslėlis, kuriame yra tekstas, ekrano kopija, Šriftas, skaičius&#10;&#10;Dirbtinio intelekto sugeneruotas turinys gali būti neteisingas.">
            <a:extLst>
              <a:ext uri="{FF2B5EF4-FFF2-40B4-BE49-F238E27FC236}">
                <a16:creationId xmlns:a16="http://schemas.microsoft.com/office/drawing/2014/main" id="{4F41DE16-D43B-D76B-1706-5924ECE2A8BD}"/>
              </a:ext>
            </a:extLst>
          </p:cNvPr>
          <p:cNvPicPr>
            <a:picLocks noChangeAspect="1"/>
          </p:cNvPicPr>
          <p:nvPr/>
        </p:nvPicPr>
        <p:blipFill>
          <a:blip r:embed="rId2"/>
          <a:stretch>
            <a:fillRect/>
          </a:stretch>
        </p:blipFill>
        <p:spPr>
          <a:xfrm>
            <a:off x="838199" y="2337019"/>
            <a:ext cx="6573167" cy="2657846"/>
          </a:xfrm>
          <a:prstGeom prst="rect">
            <a:avLst/>
          </a:prstGeom>
        </p:spPr>
      </p:pic>
      <p:sp>
        <p:nvSpPr>
          <p:cNvPr id="8" name="TextBox 7">
            <a:extLst>
              <a:ext uri="{FF2B5EF4-FFF2-40B4-BE49-F238E27FC236}">
                <a16:creationId xmlns:a16="http://schemas.microsoft.com/office/drawing/2014/main" id="{C744073E-013D-5345-410B-EDCF42685DFD}"/>
              </a:ext>
            </a:extLst>
          </p:cNvPr>
          <p:cNvSpPr txBox="1"/>
          <p:nvPr/>
        </p:nvSpPr>
        <p:spPr>
          <a:xfrm>
            <a:off x="7964128" y="2231421"/>
            <a:ext cx="3389671" cy="2031325"/>
          </a:xfrm>
          <a:prstGeom prst="rect">
            <a:avLst/>
          </a:prstGeom>
          <a:noFill/>
        </p:spPr>
        <p:txBody>
          <a:bodyPr wrap="square">
            <a:spAutoFit/>
          </a:bodyPr>
          <a:lstStyle/>
          <a:p>
            <a:r>
              <a:rPr lang="en-US" dirty="0"/>
              <a:t>This </a:t>
            </a:r>
            <a:r>
              <a:rPr lang="en-US" dirty="0" err="1"/>
              <a:t>DataFrame</a:t>
            </a:r>
            <a:r>
              <a:rPr lang="en-US" dirty="0"/>
              <a:t>: </a:t>
            </a:r>
          </a:p>
          <a:p>
            <a:r>
              <a:rPr lang="en-US" dirty="0"/>
              <a:t>• Is at the correct row granularity </a:t>
            </a:r>
          </a:p>
          <a:p>
            <a:r>
              <a:rPr lang="en-US" dirty="0"/>
              <a:t>• Contains non-null and numeric values </a:t>
            </a:r>
          </a:p>
          <a:p>
            <a:r>
              <a:rPr lang="en-US" dirty="0"/>
              <a:t>• Includes newly engineered features </a:t>
            </a:r>
          </a:p>
          <a:p>
            <a:r>
              <a:rPr lang="en-US" dirty="0"/>
              <a:t>• Is ready for modeling</a:t>
            </a:r>
            <a:endParaRPr lang="lt-LT" dirty="0"/>
          </a:p>
        </p:txBody>
      </p:sp>
      <p:sp>
        <p:nvSpPr>
          <p:cNvPr id="10" name="TextBox 9">
            <a:extLst>
              <a:ext uri="{FF2B5EF4-FFF2-40B4-BE49-F238E27FC236}">
                <a16:creationId xmlns:a16="http://schemas.microsoft.com/office/drawing/2014/main" id="{DED080AE-0DEA-0747-8A0C-994A3C1837FA}"/>
              </a:ext>
            </a:extLst>
          </p:cNvPr>
          <p:cNvSpPr txBox="1"/>
          <p:nvPr/>
        </p:nvSpPr>
        <p:spPr>
          <a:xfrm>
            <a:off x="1170039" y="5260710"/>
            <a:ext cx="3293806" cy="1384995"/>
          </a:xfrm>
          <a:prstGeom prst="rect">
            <a:avLst/>
          </a:prstGeom>
          <a:noFill/>
        </p:spPr>
        <p:txBody>
          <a:bodyPr wrap="square">
            <a:spAutoFit/>
          </a:bodyPr>
          <a:lstStyle/>
          <a:p>
            <a:r>
              <a:rPr lang="en-US" sz="1400" b="1" dirty="0"/>
              <a:t>Common feature engineering techniques: </a:t>
            </a:r>
          </a:p>
          <a:p>
            <a:r>
              <a:rPr lang="en-US" sz="1400" dirty="0"/>
              <a:t>• All the data prep steps so far </a:t>
            </a:r>
          </a:p>
          <a:p>
            <a:r>
              <a:rPr lang="en-US" sz="1400" dirty="0"/>
              <a:t>• Applying calculations </a:t>
            </a:r>
          </a:p>
          <a:p>
            <a:r>
              <a:rPr lang="en-US" sz="1400" dirty="0"/>
              <a:t>• Binning values </a:t>
            </a:r>
          </a:p>
          <a:p>
            <a:r>
              <a:rPr lang="en-US" sz="1400" dirty="0"/>
              <a:t>• Identifying proxy variables</a:t>
            </a:r>
            <a:endParaRPr lang="lt-LT" sz="1400" dirty="0"/>
          </a:p>
        </p:txBody>
      </p:sp>
      <p:sp>
        <p:nvSpPr>
          <p:cNvPr id="12" name="TextBox 11">
            <a:extLst>
              <a:ext uri="{FF2B5EF4-FFF2-40B4-BE49-F238E27FC236}">
                <a16:creationId xmlns:a16="http://schemas.microsoft.com/office/drawing/2014/main" id="{C57136E9-57CA-BA1E-713D-06C07D72FB5F}"/>
              </a:ext>
            </a:extLst>
          </p:cNvPr>
          <p:cNvSpPr txBox="1"/>
          <p:nvPr/>
        </p:nvSpPr>
        <p:spPr>
          <a:xfrm>
            <a:off x="5525729" y="5167312"/>
            <a:ext cx="6096000" cy="1200329"/>
          </a:xfrm>
          <a:prstGeom prst="rect">
            <a:avLst/>
          </a:prstGeom>
          <a:noFill/>
        </p:spPr>
        <p:txBody>
          <a:bodyPr wrap="square">
            <a:spAutoFit/>
          </a:bodyPr>
          <a:lstStyle/>
          <a:p>
            <a:r>
              <a:rPr lang="en-US" dirty="0"/>
              <a:t>Once you have prepared the rows &amp; columns, the data is technically ready for modeling </a:t>
            </a:r>
          </a:p>
          <a:p>
            <a:r>
              <a:rPr lang="en-US" dirty="0"/>
              <a:t>However, being deliberate about </a:t>
            </a:r>
            <a:r>
              <a:rPr lang="en-US" dirty="0">
                <a:highlight>
                  <a:srgbClr val="FFFF00"/>
                </a:highlight>
              </a:rPr>
              <a:t>engineering new features </a:t>
            </a:r>
            <a:r>
              <a:rPr lang="en-US" dirty="0"/>
              <a:t>can be the difference between a good model and a great one</a:t>
            </a:r>
            <a:endParaRPr lang="lt-LT" dirty="0"/>
          </a:p>
        </p:txBody>
      </p:sp>
    </p:spTree>
    <p:extLst>
      <p:ext uri="{BB962C8B-B14F-4D97-AF65-F5344CB8AC3E}">
        <p14:creationId xmlns:p14="http://schemas.microsoft.com/office/powerpoint/2010/main" val="349901839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avadinimas 1">
            <a:extLst>
              <a:ext uri="{FF2B5EF4-FFF2-40B4-BE49-F238E27FC236}">
                <a16:creationId xmlns:a16="http://schemas.microsoft.com/office/drawing/2014/main" id="{FB285608-CFB4-AB24-FA19-6DCF9818CB45}"/>
              </a:ext>
            </a:extLst>
          </p:cNvPr>
          <p:cNvSpPr>
            <a:spLocks noGrp="1"/>
          </p:cNvSpPr>
          <p:nvPr>
            <p:ph type="title"/>
          </p:nvPr>
        </p:nvSpPr>
        <p:spPr/>
        <p:txBody>
          <a:bodyPr/>
          <a:lstStyle/>
          <a:p>
            <a:r>
              <a:rPr lang="en-US" dirty="0"/>
              <a:t>FEATURE ENGINEERING DURING DATA PREP</a:t>
            </a:r>
            <a:endParaRPr lang="lt-LT" dirty="0"/>
          </a:p>
        </p:txBody>
      </p:sp>
      <p:sp>
        <p:nvSpPr>
          <p:cNvPr id="4" name="TextBox 3">
            <a:extLst>
              <a:ext uri="{FF2B5EF4-FFF2-40B4-BE49-F238E27FC236}">
                <a16:creationId xmlns:a16="http://schemas.microsoft.com/office/drawing/2014/main" id="{88FE84C1-C77C-F5D7-7E6C-35CA23EA4F10}"/>
              </a:ext>
            </a:extLst>
          </p:cNvPr>
          <p:cNvSpPr txBox="1"/>
          <p:nvPr/>
        </p:nvSpPr>
        <p:spPr>
          <a:xfrm>
            <a:off x="1425676" y="2104554"/>
            <a:ext cx="9006349" cy="646331"/>
          </a:xfrm>
          <a:prstGeom prst="rect">
            <a:avLst/>
          </a:prstGeom>
          <a:noFill/>
        </p:spPr>
        <p:txBody>
          <a:bodyPr wrap="square">
            <a:spAutoFit/>
          </a:bodyPr>
          <a:lstStyle/>
          <a:p>
            <a:r>
              <a:rPr lang="en-US" dirty="0"/>
              <a:t>Everything we’ve done so far is technically a feature engineering technique, since we’ve created new columns, or features, along the way </a:t>
            </a:r>
            <a:endParaRPr lang="lt-LT" dirty="0"/>
          </a:p>
        </p:txBody>
      </p:sp>
      <p:sp>
        <p:nvSpPr>
          <p:cNvPr id="6" name="TextBox 5">
            <a:extLst>
              <a:ext uri="{FF2B5EF4-FFF2-40B4-BE49-F238E27FC236}">
                <a16:creationId xmlns:a16="http://schemas.microsoft.com/office/drawing/2014/main" id="{FD857F5D-E7DE-762C-5103-2F8652CB63EE}"/>
              </a:ext>
            </a:extLst>
          </p:cNvPr>
          <p:cNvSpPr txBox="1"/>
          <p:nvPr/>
        </p:nvSpPr>
        <p:spPr>
          <a:xfrm>
            <a:off x="1052052" y="2911648"/>
            <a:ext cx="8091948" cy="646331"/>
          </a:xfrm>
          <a:prstGeom prst="rect">
            <a:avLst/>
          </a:prstGeom>
          <a:noFill/>
        </p:spPr>
        <p:txBody>
          <a:bodyPr wrap="square">
            <a:spAutoFit/>
          </a:bodyPr>
          <a:lstStyle/>
          <a:p>
            <a:pPr marL="342900" indent="-342900">
              <a:buAutoNum type="arabicPeriod"/>
            </a:pPr>
            <a:r>
              <a:rPr lang="en-US" b="1" dirty="0"/>
              <a:t>Setting the correct row granularity </a:t>
            </a:r>
          </a:p>
          <a:p>
            <a:r>
              <a:rPr lang="en-US" dirty="0"/>
              <a:t>	• Feature aggregation: aggregating multiple rows into a single row</a:t>
            </a:r>
            <a:endParaRPr lang="lt-LT" dirty="0"/>
          </a:p>
        </p:txBody>
      </p:sp>
      <p:sp>
        <p:nvSpPr>
          <p:cNvPr id="8" name="TextBox 7">
            <a:extLst>
              <a:ext uri="{FF2B5EF4-FFF2-40B4-BE49-F238E27FC236}">
                <a16:creationId xmlns:a16="http://schemas.microsoft.com/office/drawing/2014/main" id="{433AD0AB-6252-45D7-E221-5CC079E3D526}"/>
              </a:ext>
            </a:extLst>
          </p:cNvPr>
          <p:cNvSpPr txBox="1"/>
          <p:nvPr/>
        </p:nvSpPr>
        <p:spPr>
          <a:xfrm>
            <a:off x="838200" y="4395470"/>
            <a:ext cx="8374626" cy="923330"/>
          </a:xfrm>
          <a:prstGeom prst="rect">
            <a:avLst/>
          </a:prstGeom>
          <a:noFill/>
        </p:spPr>
        <p:txBody>
          <a:bodyPr wrap="square">
            <a:spAutoFit/>
          </a:bodyPr>
          <a:lstStyle/>
          <a:p>
            <a:r>
              <a:rPr lang="en-US" b="1" dirty="0"/>
              <a:t>2. Ensuring each column is non-null and numeric </a:t>
            </a:r>
          </a:p>
          <a:p>
            <a:r>
              <a:rPr lang="en-US" dirty="0"/>
              <a:t>	• Handling missing data: imputing missing values </a:t>
            </a:r>
          </a:p>
          <a:p>
            <a:r>
              <a:rPr lang="en-US" dirty="0"/>
              <a:t>	• Categorical encoding: turning categorical values into numeric values </a:t>
            </a:r>
            <a:endParaRPr lang="lt-LT" dirty="0"/>
          </a:p>
        </p:txBody>
      </p:sp>
    </p:spTree>
    <p:extLst>
      <p:ext uri="{BB962C8B-B14F-4D97-AF65-F5344CB8AC3E}">
        <p14:creationId xmlns:p14="http://schemas.microsoft.com/office/powerpoint/2010/main" val="139554217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avadinimas 1">
            <a:extLst>
              <a:ext uri="{FF2B5EF4-FFF2-40B4-BE49-F238E27FC236}">
                <a16:creationId xmlns:a16="http://schemas.microsoft.com/office/drawing/2014/main" id="{64634B60-2F56-CD2D-D7B2-A5081CDC4727}"/>
              </a:ext>
            </a:extLst>
          </p:cNvPr>
          <p:cNvSpPr>
            <a:spLocks noGrp="1"/>
          </p:cNvSpPr>
          <p:nvPr>
            <p:ph type="title"/>
          </p:nvPr>
        </p:nvSpPr>
        <p:spPr/>
        <p:txBody>
          <a:bodyPr/>
          <a:lstStyle/>
          <a:p>
            <a:r>
              <a:rPr lang="lt-LT" dirty="0"/>
              <a:t>APPLYING CALCULATIONS</a:t>
            </a:r>
          </a:p>
        </p:txBody>
      </p:sp>
      <p:sp>
        <p:nvSpPr>
          <p:cNvPr id="4" name="TextBox 3">
            <a:extLst>
              <a:ext uri="{FF2B5EF4-FFF2-40B4-BE49-F238E27FC236}">
                <a16:creationId xmlns:a16="http://schemas.microsoft.com/office/drawing/2014/main" id="{4F26781A-8283-0BFE-756D-01560C9AE7AA}"/>
              </a:ext>
            </a:extLst>
          </p:cNvPr>
          <p:cNvSpPr txBox="1"/>
          <p:nvPr/>
        </p:nvSpPr>
        <p:spPr>
          <a:xfrm>
            <a:off x="1199535" y="1811283"/>
            <a:ext cx="6096000" cy="369332"/>
          </a:xfrm>
          <a:prstGeom prst="rect">
            <a:avLst/>
          </a:prstGeom>
          <a:noFill/>
        </p:spPr>
        <p:txBody>
          <a:bodyPr wrap="square">
            <a:spAutoFit/>
          </a:bodyPr>
          <a:lstStyle/>
          <a:p>
            <a:r>
              <a:rPr lang="en-US" dirty="0"/>
              <a:t>Combine columns using calculations to create new features</a:t>
            </a:r>
            <a:endParaRPr lang="lt-LT" dirty="0"/>
          </a:p>
        </p:txBody>
      </p:sp>
      <p:pic>
        <p:nvPicPr>
          <p:cNvPr id="6" name="Paveikslėlis 5" descr="Paveikslėlis, kuriame yra tekstas, ekrano kopija, skaičius, Šriftas&#10;&#10;Dirbtinio intelekto sugeneruotas turinys gali būti neteisingas.">
            <a:extLst>
              <a:ext uri="{FF2B5EF4-FFF2-40B4-BE49-F238E27FC236}">
                <a16:creationId xmlns:a16="http://schemas.microsoft.com/office/drawing/2014/main" id="{08D27ECD-295D-48EB-F3DC-1C8AA94301A5}"/>
              </a:ext>
            </a:extLst>
          </p:cNvPr>
          <p:cNvPicPr>
            <a:picLocks noChangeAspect="1"/>
          </p:cNvPicPr>
          <p:nvPr/>
        </p:nvPicPr>
        <p:blipFill>
          <a:blip r:embed="rId2"/>
          <a:stretch>
            <a:fillRect/>
          </a:stretch>
        </p:blipFill>
        <p:spPr>
          <a:xfrm>
            <a:off x="838200" y="2406080"/>
            <a:ext cx="10679015" cy="4086795"/>
          </a:xfrm>
          <a:prstGeom prst="rect">
            <a:avLst/>
          </a:prstGeom>
        </p:spPr>
      </p:pic>
    </p:spTree>
    <p:extLst>
      <p:ext uri="{BB962C8B-B14F-4D97-AF65-F5344CB8AC3E}">
        <p14:creationId xmlns:p14="http://schemas.microsoft.com/office/powerpoint/2010/main" val="353479051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avadinimas 1">
            <a:extLst>
              <a:ext uri="{FF2B5EF4-FFF2-40B4-BE49-F238E27FC236}">
                <a16:creationId xmlns:a16="http://schemas.microsoft.com/office/drawing/2014/main" id="{B872527A-8B49-46AC-1A1B-08A98BA7EC6F}"/>
              </a:ext>
            </a:extLst>
          </p:cNvPr>
          <p:cNvSpPr>
            <a:spLocks noGrp="1"/>
          </p:cNvSpPr>
          <p:nvPr>
            <p:ph type="title"/>
          </p:nvPr>
        </p:nvSpPr>
        <p:spPr/>
        <p:txBody>
          <a:bodyPr/>
          <a:lstStyle/>
          <a:p>
            <a:r>
              <a:rPr lang="lt-LT" dirty="0"/>
              <a:t>BINNING VALUES</a:t>
            </a:r>
          </a:p>
        </p:txBody>
      </p:sp>
      <p:sp>
        <p:nvSpPr>
          <p:cNvPr id="4" name="TextBox 3">
            <a:extLst>
              <a:ext uri="{FF2B5EF4-FFF2-40B4-BE49-F238E27FC236}">
                <a16:creationId xmlns:a16="http://schemas.microsoft.com/office/drawing/2014/main" id="{FC45B15B-4194-FEF4-42DD-2177E29534C5}"/>
              </a:ext>
            </a:extLst>
          </p:cNvPr>
          <p:cNvSpPr txBox="1"/>
          <p:nvPr/>
        </p:nvSpPr>
        <p:spPr>
          <a:xfrm>
            <a:off x="838200" y="1584293"/>
            <a:ext cx="9741310" cy="369332"/>
          </a:xfrm>
          <a:prstGeom prst="rect">
            <a:avLst/>
          </a:prstGeom>
          <a:noFill/>
        </p:spPr>
        <p:txBody>
          <a:bodyPr wrap="square">
            <a:spAutoFit/>
          </a:bodyPr>
          <a:lstStyle/>
          <a:p>
            <a:r>
              <a:rPr lang="en-US" dirty="0"/>
              <a:t>Group numerical features into </a:t>
            </a:r>
            <a:r>
              <a:rPr lang="en-US" b="1" dirty="0"/>
              <a:t>bins</a:t>
            </a:r>
            <a:r>
              <a:rPr lang="en-US" dirty="0"/>
              <a:t> or discrete categories if it makes more sense for your analysis</a:t>
            </a:r>
            <a:endParaRPr lang="lt-LT" dirty="0"/>
          </a:p>
        </p:txBody>
      </p:sp>
      <p:pic>
        <p:nvPicPr>
          <p:cNvPr id="6" name="Paveikslėlis 5" descr="Paveikslėlis, kuriame yra tekstas, skaičius, Šriftas, programinė įranga&#10;&#10;Dirbtinio intelekto sugeneruotas turinys gali būti neteisingas.">
            <a:extLst>
              <a:ext uri="{FF2B5EF4-FFF2-40B4-BE49-F238E27FC236}">
                <a16:creationId xmlns:a16="http://schemas.microsoft.com/office/drawing/2014/main" id="{9163071F-4960-B5D4-2156-70DE2157F940}"/>
              </a:ext>
            </a:extLst>
          </p:cNvPr>
          <p:cNvPicPr>
            <a:picLocks noChangeAspect="1"/>
          </p:cNvPicPr>
          <p:nvPr/>
        </p:nvPicPr>
        <p:blipFill>
          <a:blip r:embed="rId2"/>
          <a:stretch>
            <a:fillRect/>
          </a:stretch>
        </p:blipFill>
        <p:spPr>
          <a:xfrm>
            <a:off x="698549" y="2502502"/>
            <a:ext cx="11050542" cy="3839111"/>
          </a:xfrm>
          <a:prstGeom prst="rect">
            <a:avLst/>
          </a:prstGeom>
        </p:spPr>
      </p:pic>
    </p:spTree>
    <p:extLst>
      <p:ext uri="{BB962C8B-B14F-4D97-AF65-F5344CB8AC3E}">
        <p14:creationId xmlns:p14="http://schemas.microsoft.com/office/powerpoint/2010/main" val="411546686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avadinimas 1">
            <a:extLst>
              <a:ext uri="{FF2B5EF4-FFF2-40B4-BE49-F238E27FC236}">
                <a16:creationId xmlns:a16="http://schemas.microsoft.com/office/drawing/2014/main" id="{54FE3FF1-63E5-A45A-2D3C-99F52400D41D}"/>
              </a:ext>
            </a:extLst>
          </p:cNvPr>
          <p:cNvSpPr>
            <a:spLocks noGrp="1"/>
          </p:cNvSpPr>
          <p:nvPr>
            <p:ph type="title"/>
          </p:nvPr>
        </p:nvSpPr>
        <p:spPr/>
        <p:txBody>
          <a:bodyPr/>
          <a:lstStyle/>
          <a:p>
            <a:r>
              <a:rPr lang="lt-LT" dirty="0"/>
              <a:t>PROXY VARIABLES</a:t>
            </a:r>
          </a:p>
        </p:txBody>
      </p:sp>
      <p:sp>
        <p:nvSpPr>
          <p:cNvPr id="4" name="TextBox 3">
            <a:extLst>
              <a:ext uri="{FF2B5EF4-FFF2-40B4-BE49-F238E27FC236}">
                <a16:creationId xmlns:a16="http://schemas.microsoft.com/office/drawing/2014/main" id="{F1EB3A43-2F5F-B5BA-A099-08EEB5A463B8}"/>
              </a:ext>
            </a:extLst>
          </p:cNvPr>
          <p:cNvSpPr txBox="1"/>
          <p:nvPr/>
        </p:nvSpPr>
        <p:spPr>
          <a:xfrm>
            <a:off x="838199" y="1690688"/>
            <a:ext cx="10665543" cy="646331"/>
          </a:xfrm>
          <a:prstGeom prst="rect">
            <a:avLst/>
          </a:prstGeom>
          <a:noFill/>
        </p:spPr>
        <p:txBody>
          <a:bodyPr wrap="square">
            <a:spAutoFit/>
          </a:bodyPr>
          <a:lstStyle/>
          <a:p>
            <a:r>
              <a:rPr lang="en-US" dirty="0"/>
              <a:t>A </a:t>
            </a:r>
            <a:r>
              <a:rPr lang="en-US" b="1" dirty="0"/>
              <a:t>proxy variable </a:t>
            </a:r>
            <a:r>
              <a:rPr lang="en-US" dirty="0"/>
              <a:t>is a feature meant to approximately represent another variable </a:t>
            </a:r>
          </a:p>
          <a:p>
            <a:r>
              <a:rPr lang="en-US" dirty="0"/>
              <a:t>	• They are used when a feature is either difficult to gather or engineer into a new feature</a:t>
            </a:r>
            <a:endParaRPr lang="lt-LT" dirty="0"/>
          </a:p>
        </p:txBody>
      </p:sp>
      <p:pic>
        <p:nvPicPr>
          <p:cNvPr id="6" name="Paveikslėlis 5" descr="Paveikslėlis, kuriame yra tekstas, ekrano kopija, skaičius, Šriftas&#10;&#10;Dirbtinio intelekto sugeneruotas turinys gali būti neteisingas.">
            <a:extLst>
              <a:ext uri="{FF2B5EF4-FFF2-40B4-BE49-F238E27FC236}">
                <a16:creationId xmlns:a16="http://schemas.microsoft.com/office/drawing/2014/main" id="{F27BDE50-FED7-963D-AA64-061B668975A9}"/>
              </a:ext>
            </a:extLst>
          </p:cNvPr>
          <p:cNvPicPr>
            <a:picLocks noChangeAspect="1"/>
          </p:cNvPicPr>
          <p:nvPr/>
        </p:nvPicPr>
        <p:blipFill>
          <a:blip r:embed="rId2"/>
          <a:stretch>
            <a:fillRect/>
          </a:stretch>
        </p:blipFill>
        <p:spPr>
          <a:xfrm>
            <a:off x="1474838" y="2520238"/>
            <a:ext cx="8404586" cy="3972637"/>
          </a:xfrm>
          <a:prstGeom prst="rect">
            <a:avLst/>
          </a:prstGeom>
        </p:spPr>
      </p:pic>
    </p:spTree>
    <p:extLst>
      <p:ext uri="{BB962C8B-B14F-4D97-AF65-F5344CB8AC3E}">
        <p14:creationId xmlns:p14="http://schemas.microsoft.com/office/powerpoint/2010/main" val="334295548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avadinimas 1">
            <a:extLst>
              <a:ext uri="{FF2B5EF4-FFF2-40B4-BE49-F238E27FC236}">
                <a16:creationId xmlns:a16="http://schemas.microsoft.com/office/drawing/2014/main" id="{F20E4F69-E727-57BE-6263-547821694C51}"/>
              </a:ext>
            </a:extLst>
          </p:cNvPr>
          <p:cNvSpPr>
            <a:spLocks noGrp="1"/>
          </p:cNvSpPr>
          <p:nvPr>
            <p:ph type="title"/>
          </p:nvPr>
        </p:nvSpPr>
        <p:spPr/>
        <p:txBody>
          <a:bodyPr/>
          <a:lstStyle/>
          <a:p>
            <a:r>
              <a:rPr lang="lt-LT" dirty="0"/>
              <a:t>FEATURE ENGINEERING TIPS</a:t>
            </a:r>
          </a:p>
        </p:txBody>
      </p:sp>
      <p:sp>
        <p:nvSpPr>
          <p:cNvPr id="4" name="TextBox 3">
            <a:extLst>
              <a:ext uri="{FF2B5EF4-FFF2-40B4-BE49-F238E27FC236}">
                <a16:creationId xmlns:a16="http://schemas.microsoft.com/office/drawing/2014/main" id="{486126EA-01D3-CC84-EFF4-0E8213A94F40}"/>
              </a:ext>
            </a:extLst>
          </p:cNvPr>
          <p:cNvSpPr txBox="1"/>
          <p:nvPr/>
        </p:nvSpPr>
        <p:spPr>
          <a:xfrm>
            <a:off x="838200" y="1942152"/>
            <a:ext cx="9505335" cy="2585323"/>
          </a:xfrm>
          <a:prstGeom prst="rect">
            <a:avLst/>
          </a:prstGeom>
          <a:noFill/>
        </p:spPr>
        <p:txBody>
          <a:bodyPr wrap="square">
            <a:spAutoFit/>
          </a:bodyPr>
          <a:lstStyle/>
          <a:p>
            <a:pPr marL="342900" indent="-342900">
              <a:buAutoNum type="arabicPeriod"/>
            </a:pPr>
            <a:r>
              <a:rPr lang="en-US" dirty="0"/>
              <a:t>Anyone can apply an algorithm, but only someone with </a:t>
            </a:r>
            <a:r>
              <a:rPr lang="en-US" b="1" dirty="0"/>
              <a:t>domain expertise </a:t>
            </a:r>
            <a:r>
              <a:rPr lang="en-US" dirty="0"/>
              <a:t>can engineer relevant features, which is what makes a great model </a:t>
            </a:r>
          </a:p>
          <a:p>
            <a:endParaRPr lang="en-US" dirty="0"/>
          </a:p>
          <a:p>
            <a:r>
              <a:rPr lang="en-US" dirty="0"/>
              <a:t>2. You want your data to be long, not wide (</a:t>
            </a:r>
            <a:r>
              <a:rPr lang="en-US" b="1" dirty="0"/>
              <a:t>many rows, few columns</a:t>
            </a:r>
            <a:r>
              <a:rPr lang="en-US" dirty="0"/>
              <a:t>), so remember to: </a:t>
            </a:r>
          </a:p>
          <a:p>
            <a:r>
              <a:rPr lang="en-US" dirty="0"/>
              <a:t>	• Try to collect as many observations (rows) of data as you can </a:t>
            </a:r>
          </a:p>
          <a:p>
            <a:r>
              <a:rPr lang="en-US" dirty="0"/>
              <a:t>	• Only select the </a:t>
            </a:r>
            <a:r>
              <a:rPr lang="en-US" dirty="0">
                <a:highlight>
                  <a:srgbClr val="FFFF00"/>
                </a:highlight>
              </a:rPr>
              <a:t>most meaningful features for modeling </a:t>
            </a:r>
          </a:p>
          <a:p>
            <a:endParaRPr lang="en-US" dirty="0"/>
          </a:p>
          <a:p>
            <a:r>
              <a:rPr lang="en-US" dirty="0"/>
              <a:t>3. Once you start modeling, you’re bound to find things you missed during data prep and will continue to </a:t>
            </a:r>
            <a:r>
              <a:rPr lang="en-US" b="1" dirty="0"/>
              <a:t>engineer features </a:t>
            </a:r>
            <a:endParaRPr lang="lt-LT" b="1" dirty="0"/>
          </a:p>
        </p:txBody>
      </p:sp>
    </p:spTree>
    <p:extLst>
      <p:ext uri="{BB962C8B-B14F-4D97-AF65-F5344CB8AC3E}">
        <p14:creationId xmlns:p14="http://schemas.microsoft.com/office/powerpoint/2010/main" val="254119506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avadinimas 1">
            <a:extLst>
              <a:ext uri="{FF2B5EF4-FFF2-40B4-BE49-F238E27FC236}">
                <a16:creationId xmlns:a16="http://schemas.microsoft.com/office/drawing/2014/main" id="{D430340A-ABFB-89B8-39A5-86CF61497735}"/>
              </a:ext>
            </a:extLst>
          </p:cNvPr>
          <p:cNvSpPr>
            <a:spLocks noGrp="1"/>
          </p:cNvSpPr>
          <p:nvPr>
            <p:ph type="title"/>
          </p:nvPr>
        </p:nvSpPr>
        <p:spPr/>
        <p:txBody>
          <a:bodyPr/>
          <a:lstStyle/>
          <a:p>
            <a:r>
              <a:rPr lang="lt-LT" dirty="0"/>
              <a:t>EXCLUDING IDENTIFIERS</a:t>
            </a:r>
          </a:p>
        </p:txBody>
      </p:sp>
      <p:sp>
        <p:nvSpPr>
          <p:cNvPr id="4" name="TextBox 3">
            <a:extLst>
              <a:ext uri="{FF2B5EF4-FFF2-40B4-BE49-F238E27FC236}">
                <a16:creationId xmlns:a16="http://schemas.microsoft.com/office/drawing/2014/main" id="{0D94B9EA-359B-08A9-95F3-66DDE8E8C5EB}"/>
              </a:ext>
            </a:extLst>
          </p:cNvPr>
          <p:cNvSpPr txBox="1"/>
          <p:nvPr/>
        </p:nvSpPr>
        <p:spPr>
          <a:xfrm>
            <a:off x="838199" y="1690688"/>
            <a:ext cx="9928123" cy="646331"/>
          </a:xfrm>
          <a:prstGeom prst="rect">
            <a:avLst/>
          </a:prstGeom>
          <a:noFill/>
        </p:spPr>
        <p:txBody>
          <a:bodyPr wrap="square">
            <a:spAutoFit/>
          </a:bodyPr>
          <a:lstStyle/>
          <a:p>
            <a:r>
              <a:rPr lang="en-US" dirty="0"/>
              <a:t>Columns containing names or IDs should be excluded from modeling, but remembered for interpretation down the line </a:t>
            </a:r>
            <a:endParaRPr lang="lt-LT" dirty="0"/>
          </a:p>
        </p:txBody>
      </p:sp>
      <p:pic>
        <p:nvPicPr>
          <p:cNvPr id="6" name="Paveikslėlis 5" descr="Paveikslėlis, kuriame yra tekstas, ekrano kopija, skaičius, Šriftas&#10;&#10;Dirbtinio intelekto sugeneruotas turinys gali būti neteisingas.">
            <a:extLst>
              <a:ext uri="{FF2B5EF4-FFF2-40B4-BE49-F238E27FC236}">
                <a16:creationId xmlns:a16="http://schemas.microsoft.com/office/drawing/2014/main" id="{EBD6BC57-B9E4-03F0-B361-FD6A1546839F}"/>
              </a:ext>
            </a:extLst>
          </p:cNvPr>
          <p:cNvPicPr>
            <a:picLocks noChangeAspect="1"/>
          </p:cNvPicPr>
          <p:nvPr/>
        </p:nvPicPr>
        <p:blipFill>
          <a:blip r:embed="rId2"/>
          <a:stretch>
            <a:fillRect/>
          </a:stretch>
        </p:blipFill>
        <p:spPr>
          <a:xfrm>
            <a:off x="1170272" y="2337019"/>
            <a:ext cx="9263976" cy="3903179"/>
          </a:xfrm>
          <a:prstGeom prst="rect">
            <a:avLst/>
          </a:prstGeom>
        </p:spPr>
      </p:pic>
    </p:spTree>
    <p:extLst>
      <p:ext uri="{BB962C8B-B14F-4D97-AF65-F5344CB8AC3E}">
        <p14:creationId xmlns:p14="http://schemas.microsoft.com/office/powerpoint/2010/main" val="158457772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avadinimas 1">
            <a:extLst>
              <a:ext uri="{FF2B5EF4-FFF2-40B4-BE49-F238E27FC236}">
                <a16:creationId xmlns:a16="http://schemas.microsoft.com/office/drawing/2014/main" id="{AD2F1D70-B84C-651A-149F-C564E105551D}"/>
              </a:ext>
            </a:extLst>
          </p:cNvPr>
          <p:cNvSpPr>
            <a:spLocks noGrp="1"/>
          </p:cNvSpPr>
          <p:nvPr>
            <p:ph type="title"/>
          </p:nvPr>
        </p:nvSpPr>
        <p:spPr/>
        <p:txBody>
          <a:bodyPr/>
          <a:lstStyle/>
          <a:p>
            <a:r>
              <a:rPr lang="lt-LT" dirty="0"/>
              <a:t>FEATURE SELECTION</a:t>
            </a:r>
          </a:p>
        </p:txBody>
      </p:sp>
      <p:sp>
        <p:nvSpPr>
          <p:cNvPr id="4" name="TextBox 3">
            <a:extLst>
              <a:ext uri="{FF2B5EF4-FFF2-40B4-BE49-F238E27FC236}">
                <a16:creationId xmlns:a16="http://schemas.microsoft.com/office/drawing/2014/main" id="{C62F764E-C15E-7178-1A1F-73CC909816BC}"/>
              </a:ext>
            </a:extLst>
          </p:cNvPr>
          <p:cNvSpPr txBox="1"/>
          <p:nvPr/>
        </p:nvSpPr>
        <p:spPr>
          <a:xfrm>
            <a:off x="924231" y="1690688"/>
            <a:ext cx="8898195" cy="669054"/>
          </a:xfrm>
          <a:prstGeom prst="rect">
            <a:avLst/>
          </a:prstGeom>
          <a:noFill/>
        </p:spPr>
        <p:txBody>
          <a:bodyPr wrap="square">
            <a:spAutoFit/>
          </a:bodyPr>
          <a:lstStyle/>
          <a:p>
            <a:r>
              <a:rPr lang="en-US" dirty="0"/>
              <a:t>More features does not always mean a better model, so it’s important to select a </a:t>
            </a:r>
            <a:r>
              <a:rPr lang="en-US" b="1" dirty="0"/>
              <a:t>subset of the features </a:t>
            </a:r>
            <a:r>
              <a:rPr lang="en-US" dirty="0"/>
              <a:t>for modeling</a:t>
            </a:r>
            <a:endParaRPr lang="lt-LT" dirty="0"/>
          </a:p>
        </p:txBody>
      </p:sp>
      <p:sp>
        <p:nvSpPr>
          <p:cNvPr id="6" name="TextBox 5">
            <a:extLst>
              <a:ext uri="{FF2B5EF4-FFF2-40B4-BE49-F238E27FC236}">
                <a16:creationId xmlns:a16="http://schemas.microsoft.com/office/drawing/2014/main" id="{80CEB433-DAAD-BF25-0952-2B54061A7698}"/>
              </a:ext>
            </a:extLst>
          </p:cNvPr>
          <p:cNvSpPr txBox="1"/>
          <p:nvPr/>
        </p:nvSpPr>
        <p:spPr>
          <a:xfrm>
            <a:off x="1573161" y="2611592"/>
            <a:ext cx="9370142" cy="2585323"/>
          </a:xfrm>
          <a:prstGeom prst="rect">
            <a:avLst/>
          </a:prstGeom>
          <a:noFill/>
        </p:spPr>
        <p:txBody>
          <a:bodyPr wrap="square">
            <a:spAutoFit/>
          </a:bodyPr>
          <a:lstStyle/>
          <a:p>
            <a:r>
              <a:rPr lang="en-US" dirty="0"/>
              <a:t>How do we select the “right” number of features? </a:t>
            </a:r>
            <a:endParaRPr lang="lt-LT" dirty="0"/>
          </a:p>
          <a:p>
            <a:endParaRPr lang="en-US" dirty="0"/>
          </a:p>
          <a:p>
            <a:r>
              <a:rPr lang="en-US" b="1" dirty="0"/>
              <a:t>• Use your intuition </a:t>
            </a:r>
            <a:r>
              <a:rPr lang="en-US" dirty="0"/>
              <a:t>and think about the goal for your analysis – which features would do the best job predicting / segmenting / etc.? </a:t>
            </a:r>
            <a:endParaRPr lang="lt-LT" dirty="0"/>
          </a:p>
          <a:p>
            <a:endParaRPr lang="en-US" dirty="0"/>
          </a:p>
          <a:p>
            <a:r>
              <a:rPr lang="en-US" b="1" dirty="0">
                <a:highlight>
                  <a:srgbClr val="FFFF00"/>
                </a:highlight>
              </a:rPr>
              <a:t>• Start simple </a:t>
            </a:r>
            <a:r>
              <a:rPr lang="en-US" dirty="0">
                <a:highlight>
                  <a:srgbClr val="FFFF00"/>
                </a:highlight>
              </a:rPr>
              <a:t>with perhaps two or three features for your model</a:t>
            </a:r>
            <a:r>
              <a:rPr lang="en-US" dirty="0"/>
              <a:t>, then assess the results, and continue to make the model more complex and assess </a:t>
            </a:r>
            <a:endParaRPr lang="lt-LT" dirty="0"/>
          </a:p>
          <a:p>
            <a:endParaRPr lang="en-US" dirty="0"/>
          </a:p>
          <a:p>
            <a:r>
              <a:rPr lang="en-US" b="1" dirty="0"/>
              <a:t>• Don’t worry </a:t>
            </a:r>
            <a:r>
              <a:rPr lang="en-US" dirty="0"/>
              <a:t>about getting this right the first time – modeling is a lot of trial and error! </a:t>
            </a:r>
            <a:endParaRPr lang="lt-LT" dirty="0"/>
          </a:p>
        </p:txBody>
      </p:sp>
    </p:spTree>
    <p:extLst>
      <p:ext uri="{BB962C8B-B14F-4D97-AF65-F5344CB8AC3E}">
        <p14:creationId xmlns:p14="http://schemas.microsoft.com/office/powerpoint/2010/main" val="234868751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avadinimas 1">
            <a:extLst>
              <a:ext uri="{FF2B5EF4-FFF2-40B4-BE49-F238E27FC236}">
                <a16:creationId xmlns:a16="http://schemas.microsoft.com/office/drawing/2014/main" id="{5082F47E-1DA4-FC07-F3F5-F25F75A5A930}"/>
              </a:ext>
            </a:extLst>
          </p:cNvPr>
          <p:cNvSpPr>
            <a:spLocks noGrp="1"/>
          </p:cNvSpPr>
          <p:nvPr>
            <p:ph type="title"/>
          </p:nvPr>
        </p:nvSpPr>
        <p:spPr/>
        <p:txBody>
          <a:bodyPr/>
          <a:lstStyle/>
          <a:p>
            <a:r>
              <a:rPr lang="lt-LT" dirty="0"/>
              <a:t>FEATURE SELECTION</a:t>
            </a:r>
          </a:p>
        </p:txBody>
      </p:sp>
      <p:sp>
        <p:nvSpPr>
          <p:cNvPr id="4" name="TextBox 3">
            <a:extLst>
              <a:ext uri="{FF2B5EF4-FFF2-40B4-BE49-F238E27FC236}">
                <a16:creationId xmlns:a16="http://schemas.microsoft.com/office/drawing/2014/main" id="{CEE11416-36F0-0311-599B-49A20ECCFCFE}"/>
              </a:ext>
            </a:extLst>
          </p:cNvPr>
          <p:cNvSpPr txBox="1"/>
          <p:nvPr/>
        </p:nvSpPr>
        <p:spPr>
          <a:xfrm>
            <a:off x="1042219" y="1690688"/>
            <a:ext cx="10515599" cy="646331"/>
          </a:xfrm>
          <a:prstGeom prst="rect">
            <a:avLst/>
          </a:prstGeom>
          <a:noFill/>
        </p:spPr>
        <p:txBody>
          <a:bodyPr wrap="square">
            <a:spAutoFit/>
          </a:bodyPr>
          <a:lstStyle/>
          <a:p>
            <a:r>
              <a:rPr lang="en-US" dirty="0"/>
              <a:t>More features does not always mean a better model, so it’s important to select a subset of the features for modeling </a:t>
            </a:r>
            <a:endParaRPr lang="lt-LT" dirty="0"/>
          </a:p>
        </p:txBody>
      </p:sp>
      <p:pic>
        <p:nvPicPr>
          <p:cNvPr id="6" name="Paveikslėlis 5" descr="Paveikslėlis, kuriame yra tekstas, ekrano kopija, skaičius, Šriftas&#10;&#10;Dirbtinio intelekto sugeneruotas turinys gali būti neteisingas.">
            <a:extLst>
              <a:ext uri="{FF2B5EF4-FFF2-40B4-BE49-F238E27FC236}">
                <a16:creationId xmlns:a16="http://schemas.microsoft.com/office/drawing/2014/main" id="{E6DE8C07-FEFB-49FC-8157-5D9A8C538230}"/>
              </a:ext>
            </a:extLst>
          </p:cNvPr>
          <p:cNvPicPr>
            <a:picLocks noChangeAspect="1"/>
          </p:cNvPicPr>
          <p:nvPr/>
        </p:nvPicPr>
        <p:blipFill>
          <a:blip r:embed="rId2"/>
          <a:stretch>
            <a:fillRect/>
          </a:stretch>
        </p:blipFill>
        <p:spPr>
          <a:xfrm>
            <a:off x="750942" y="2438789"/>
            <a:ext cx="10945753" cy="3238952"/>
          </a:xfrm>
          <a:prstGeom prst="rect">
            <a:avLst/>
          </a:prstGeom>
        </p:spPr>
      </p:pic>
      <p:sp>
        <p:nvSpPr>
          <p:cNvPr id="8" name="TextBox 7">
            <a:extLst>
              <a:ext uri="{FF2B5EF4-FFF2-40B4-BE49-F238E27FC236}">
                <a16:creationId xmlns:a16="http://schemas.microsoft.com/office/drawing/2014/main" id="{E14DE540-77CF-EB80-846D-1C211EC18F09}"/>
              </a:ext>
            </a:extLst>
          </p:cNvPr>
          <p:cNvSpPr txBox="1"/>
          <p:nvPr/>
        </p:nvSpPr>
        <p:spPr>
          <a:xfrm>
            <a:off x="1042219" y="5677741"/>
            <a:ext cx="10016613" cy="1200329"/>
          </a:xfrm>
          <a:prstGeom prst="rect">
            <a:avLst/>
          </a:prstGeom>
          <a:noFill/>
        </p:spPr>
        <p:txBody>
          <a:bodyPr wrap="square">
            <a:spAutoFit/>
          </a:bodyPr>
          <a:lstStyle/>
          <a:p>
            <a:r>
              <a:rPr lang="en-US" dirty="0"/>
              <a:t>My domain expertise &amp; gut feel is telling me that the best way to differentiate customers is by their age, the total number of songs they listen to and the types of songs they listen to</a:t>
            </a:r>
            <a:r>
              <a:rPr lang="lt-LT" dirty="0"/>
              <a:t>.</a:t>
            </a:r>
          </a:p>
          <a:p>
            <a:endParaRPr lang="lt-LT" dirty="0"/>
          </a:p>
          <a:p>
            <a:r>
              <a:rPr lang="en-US" dirty="0">
                <a:highlight>
                  <a:srgbClr val="FFFF00"/>
                </a:highlight>
              </a:rPr>
              <a:t>These three features are what I’ll include in my first round of modeling </a:t>
            </a:r>
            <a:endParaRPr lang="lt-LT" dirty="0">
              <a:highlight>
                <a:srgbClr val="FFFF00"/>
              </a:highlight>
            </a:endParaRPr>
          </a:p>
        </p:txBody>
      </p:sp>
    </p:spTree>
    <p:extLst>
      <p:ext uri="{BB962C8B-B14F-4D97-AF65-F5344CB8AC3E}">
        <p14:creationId xmlns:p14="http://schemas.microsoft.com/office/powerpoint/2010/main" val="323150794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avadinimas 1">
            <a:extLst>
              <a:ext uri="{FF2B5EF4-FFF2-40B4-BE49-F238E27FC236}">
                <a16:creationId xmlns:a16="http://schemas.microsoft.com/office/drawing/2014/main" id="{55ED0816-B000-D60B-D59E-D8623367D126}"/>
              </a:ext>
            </a:extLst>
          </p:cNvPr>
          <p:cNvSpPr>
            <a:spLocks noGrp="1"/>
          </p:cNvSpPr>
          <p:nvPr>
            <p:ph type="title"/>
          </p:nvPr>
        </p:nvSpPr>
        <p:spPr/>
        <p:txBody>
          <a:bodyPr/>
          <a:lstStyle/>
          <a:p>
            <a:r>
              <a:rPr lang="lt-LT" dirty="0"/>
              <a:t>SCALING FEATURES</a:t>
            </a:r>
          </a:p>
        </p:txBody>
      </p:sp>
      <p:sp>
        <p:nvSpPr>
          <p:cNvPr id="4" name="TextBox 3">
            <a:extLst>
              <a:ext uri="{FF2B5EF4-FFF2-40B4-BE49-F238E27FC236}">
                <a16:creationId xmlns:a16="http://schemas.microsoft.com/office/drawing/2014/main" id="{2B123533-32C6-59B3-4EA6-9A737930F4F1}"/>
              </a:ext>
            </a:extLst>
          </p:cNvPr>
          <p:cNvSpPr txBox="1"/>
          <p:nvPr/>
        </p:nvSpPr>
        <p:spPr>
          <a:xfrm>
            <a:off x="1052052" y="1552252"/>
            <a:ext cx="9832258" cy="923330"/>
          </a:xfrm>
          <a:prstGeom prst="rect">
            <a:avLst/>
          </a:prstGeom>
          <a:noFill/>
        </p:spPr>
        <p:txBody>
          <a:bodyPr wrap="square">
            <a:spAutoFit/>
          </a:bodyPr>
          <a:lstStyle/>
          <a:p>
            <a:r>
              <a:rPr lang="en-US" b="1" dirty="0">
                <a:highlight>
                  <a:srgbClr val="FFFF00"/>
                </a:highlight>
              </a:rPr>
              <a:t>Scaling</a:t>
            </a:r>
            <a:r>
              <a:rPr lang="en-US" b="1" dirty="0"/>
              <a:t> requires setting all input features on a similar scale </a:t>
            </a:r>
          </a:p>
          <a:p>
            <a:r>
              <a:rPr lang="en-US" dirty="0"/>
              <a:t>	• Scaling is an optional feature engineering step which depends on the ML algorithm</a:t>
            </a:r>
          </a:p>
          <a:p>
            <a:r>
              <a:rPr lang="en-US" dirty="0"/>
              <a:t>	• Common techniques for scaling include </a:t>
            </a:r>
            <a:r>
              <a:rPr lang="en-US" b="1" dirty="0"/>
              <a:t>normalization</a:t>
            </a:r>
            <a:r>
              <a:rPr lang="en-US" dirty="0"/>
              <a:t> and </a:t>
            </a:r>
            <a:r>
              <a:rPr lang="en-US" b="1" dirty="0"/>
              <a:t>standardization</a:t>
            </a:r>
            <a:endParaRPr lang="lt-LT" b="1" dirty="0"/>
          </a:p>
        </p:txBody>
      </p:sp>
      <p:pic>
        <p:nvPicPr>
          <p:cNvPr id="6" name="Paveikslėlis 5" descr="Paveikslėlis, kuriame yra diagrama, ekrano kopija, linija, tekstas&#10;&#10;Dirbtinio intelekto sugeneruotas turinys gali būti neteisingas.">
            <a:extLst>
              <a:ext uri="{FF2B5EF4-FFF2-40B4-BE49-F238E27FC236}">
                <a16:creationId xmlns:a16="http://schemas.microsoft.com/office/drawing/2014/main" id="{A16DCE6C-B596-1366-E12A-37A2AD867100}"/>
              </a:ext>
            </a:extLst>
          </p:cNvPr>
          <p:cNvPicPr>
            <a:picLocks noChangeAspect="1"/>
          </p:cNvPicPr>
          <p:nvPr/>
        </p:nvPicPr>
        <p:blipFill>
          <a:blip r:embed="rId2"/>
          <a:stretch>
            <a:fillRect/>
          </a:stretch>
        </p:blipFill>
        <p:spPr>
          <a:xfrm>
            <a:off x="1455174" y="2877815"/>
            <a:ext cx="6563389" cy="2731189"/>
          </a:xfrm>
          <a:prstGeom prst="rect">
            <a:avLst/>
          </a:prstGeom>
        </p:spPr>
      </p:pic>
      <p:sp>
        <p:nvSpPr>
          <p:cNvPr id="8" name="TextBox 7">
            <a:extLst>
              <a:ext uri="{FF2B5EF4-FFF2-40B4-BE49-F238E27FC236}">
                <a16:creationId xmlns:a16="http://schemas.microsoft.com/office/drawing/2014/main" id="{52E158ED-EB41-BC9D-C76E-6B7E9D095789}"/>
              </a:ext>
            </a:extLst>
          </p:cNvPr>
          <p:cNvSpPr txBox="1"/>
          <p:nvPr/>
        </p:nvSpPr>
        <p:spPr>
          <a:xfrm>
            <a:off x="1455174" y="5569545"/>
            <a:ext cx="9576620" cy="646331"/>
          </a:xfrm>
          <a:prstGeom prst="rect">
            <a:avLst/>
          </a:prstGeom>
          <a:noFill/>
        </p:spPr>
        <p:txBody>
          <a:bodyPr wrap="square">
            <a:spAutoFit/>
          </a:bodyPr>
          <a:lstStyle/>
          <a:p>
            <a:r>
              <a:rPr lang="en-US" dirty="0"/>
              <a:t>PRO TIP: Many unsupervised learning techniques use distance-based calculations, which makes scaling a required data prep step before modeling</a:t>
            </a:r>
            <a:endParaRPr lang="lt-LT" dirty="0"/>
          </a:p>
        </p:txBody>
      </p:sp>
    </p:spTree>
    <p:extLst>
      <p:ext uri="{BB962C8B-B14F-4D97-AF65-F5344CB8AC3E}">
        <p14:creationId xmlns:p14="http://schemas.microsoft.com/office/powerpoint/2010/main" val="110019349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avadinimas 1">
            <a:extLst>
              <a:ext uri="{FF2B5EF4-FFF2-40B4-BE49-F238E27FC236}">
                <a16:creationId xmlns:a16="http://schemas.microsoft.com/office/drawing/2014/main" id="{22865FFE-CBF5-41AE-8E19-BEAC6D1C834B}"/>
              </a:ext>
            </a:extLst>
          </p:cNvPr>
          <p:cNvSpPr>
            <a:spLocks noGrp="1"/>
          </p:cNvSpPr>
          <p:nvPr>
            <p:ph type="title"/>
          </p:nvPr>
        </p:nvSpPr>
        <p:spPr/>
        <p:txBody>
          <a:bodyPr/>
          <a:lstStyle/>
          <a:p>
            <a:r>
              <a:rPr lang="lt-LT" dirty="0"/>
              <a:t>NORMALIZATION</a:t>
            </a:r>
          </a:p>
        </p:txBody>
      </p:sp>
      <p:sp>
        <p:nvSpPr>
          <p:cNvPr id="4" name="TextBox 3">
            <a:extLst>
              <a:ext uri="{FF2B5EF4-FFF2-40B4-BE49-F238E27FC236}">
                <a16:creationId xmlns:a16="http://schemas.microsoft.com/office/drawing/2014/main" id="{0FD1D7A8-C43F-BE3A-8B39-5788369F1269}"/>
              </a:ext>
            </a:extLst>
          </p:cNvPr>
          <p:cNvSpPr txBox="1"/>
          <p:nvPr/>
        </p:nvSpPr>
        <p:spPr>
          <a:xfrm>
            <a:off x="838199" y="1396632"/>
            <a:ext cx="10173929" cy="646331"/>
          </a:xfrm>
          <a:prstGeom prst="rect">
            <a:avLst/>
          </a:prstGeom>
          <a:noFill/>
        </p:spPr>
        <p:txBody>
          <a:bodyPr wrap="square">
            <a:spAutoFit/>
          </a:bodyPr>
          <a:lstStyle/>
          <a:p>
            <a:r>
              <a:rPr lang="en-US" b="1" dirty="0"/>
              <a:t>Normalization</a:t>
            </a:r>
            <a:r>
              <a:rPr lang="en-US" dirty="0"/>
              <a:t> transforms all columns to be between 0 and 1 (or between -1 and 1) </a:t>
            </a:r>
          </a:p>
          <a:p>
            <a:r>
              <a:rPr lang="en-US" dirty="0"/>
              <a:t>	• This is typically used when the column distributions are unknown or mixed </a:t>
            </a:r>
            <a:endParaRPr lang="lt-LT" dirty="0"/>
          </a:p>
        </p:txBody>
      </p:sp>
      <p:pic>
        <p:nvPicPr>
          <p:cNvPr id="6" name="Paveikslėlis 5" descr="Paveikslėlis, kuriame yra tekstas, ekrano kopija, Šriftas, skaičius&#10;&#10;Dirbtinio intelekto sugeneruotas turinys gali būti neteisingas.">
            <a:extLst>
              <a:ext uri="{FF2B5EF4-FFF2-40B4-BE49-F238E27FC236}">
                <a16:creationId xmlns:a16="http://schemas.microsoft.com/office/drawing/2014/main" id="{A0EC51B4-C6F0-2B0D-8368-22E5A47D7E5E}"/>
              </a:ext>
            </a:extLst>
          </p:cNvPr>
          <p:cNvPicPr>
            <a:picLocks noChangeAspect="1"/>
          </p:cNvPicPr>
          <p:nvPr/>
        </p:nvPicPr>
        <p:blipFill>
          <a:blip r:embed="rId2"/>
          <a:stretch>
            <a:fillRect/>
          </a:stretch>
        </p:blipFill>
        <p:spPr>
          <a:xfrm>
            <a:off x="1170039" y="2241448"/>
            <a:ext cx="9412492" cy="4466798"/>
          </a:xfrm>
          <a:prstGeom prst="rect">
            <a:avLst/>
          </a:prstGeom>
        </p:spPr>
      </p:pic>
    </p:spTree>
    <p:extLst>
      <p:ext uri="{BB962C8B-B14F-4D97-AF65-F5344CB8AC3E}">
        <p14:creationId xmlns:p14="http://schemas.microsoft.com/office/powerpoint/2010/main" val="11334117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avadinimas 1">
            <a:extLst>
              <a:ext uri="{FF2B5EF4-FFF2-40B4-BE49-F238E27FC236}">
                <a16:creationId xmlns:a16="http://schemas.microsoft.com/office/drawing/2014/main" id="{AA67F443-D9F0-8790-1DD4-543154D54F92}"/>
              </a:ext>
            </a:extLst>
          </p:cNvPr>
          <p:cNvSpPr>
            <a:spLocks noGrp="1"/>
          </p:cNvSpPr>
          <p:nvPr>
            <p:ph type="title"/>
          </p:nvPr>
        </p:nvSpPr>
        <p:spPr/>
        <p:txBody>
          <a:bodyPr/>
          <a:lstStyle/>
          <a:p>
            <a:r>
              <a:rPr lang="lt-LT" dirty="0"/>
              <a:t>STANDARDIZATION</a:t>
            </a:r>
          </a:p>
        </p:txBody>
      </p:sp>
      <p:sp>
        <p:nvSpPr>
          <p:cNvPr id="4" name="TextBox 3">
            <a:extLst>
              <a:ext uri="{FF2B5EF4-FFF2-40B4-BE49-F238E27FC236}">
                <a16:creationId xmlns:a16="http://schemas.microsoft.com/office/drawing/2014/main" id="{EF42D9AC-E4EC-6823-6AF3-029185A3C868}"/>
              </a:ext>
            </a:extLst>
          </p:cNvPr>
          <p:cNvSpPr txBox="1"/>
          <p:nvPr/>
        </p:nvSpPr>
        <p:spPr>
          <a:xfrm>
            <a:off x="914399" y="1603109"/>
            <a:ext cx="9704439" cy="646331"/>
          </a:xfrm>
          <a:prstGeom prst="rect">
            <a:avLst/>
          </a:prstGeom>
          <a:noFill/>
        </p:spPr>
        <p:txBody>
          <a:bodyPr wrap="square">
            <a:spAutoFit/>
          </a:bodyPr>
          <a:lstStyle/>
          <a:p>
            <a:r>
              <a:rPr lang="en-US" b="1" dirty="0"/>
              <a:t>Standardization</a:t>
            </a:r>
            <a:r>
              <a:rPr lang="en-US" dirty="0"/>
              <a:t> transforms all columns to have a mean of 0 and standard deviation of 1 </a:t>
            </a:r>
          </a:p>
          <a:p>
            <a:r>
              <a:rPr lang="en-US" dirty="0"/>
              <a:t>	• This is typically used when the column distributions are normal (bell curve)</a:t>
            </a:r>
            <a:endParaRPr lang="lt-LT" dirty="0"/>
          </a:p>
        </p:txBody>
      </p:sp>
      <p:pic>
        <p:nvPicPr>
          <p:cNvPr id="6" name="Paveikslėlis 5" descr="Paveikslėlis, kuriame yra tekstas, ekrano kopija, Šriftas, skaičius&#10;&#10;Dirbtinio intelekto sugeneruotas turinys gali būti neteisingas.">
            <a:extLst>
              <a:ext uri="{FF2B5EF4-FFF2-40B4-BE49-F238E27FC236}">
                <a16:creationId xmlns:a16="http://schemas.microsoft.com/office/drawing/2014/main" id="{4EFBCCC4-D860-2D3E-6705-0145F378637B}"/>
              </a:ext>
            </a:extLst>
          </p:cNvPr>
          <p:cNvPicPr>
            <a:picLocks noChangeAspect="1"/>
          </p:cNvPicPr>
          <p:nvPr/>
        </p:nvPicPr>
        <p:blipFill>
          <a:blip r:embed="rId2"/>
          <a:stretch>
            <a:fillRect/>
          </a:stretch>
        </p:blipFill>
        <p:spPr>
          <a:xfrm>
            <a:off x="1243658" y="2360237"/>
            <a:ext cx="9045920" cy="4305140"/>
          </a:xfrm>
          <a:prstGeom prst="rect">
            <a:avLst/>
          </a:prstGeom>
        </p:spPr>
      </p:pic>
    </p:spTree>
    <p:extLst>
      <p:ext uri="{BB962C8B-B14F-4D97-AF65-F5344CB8AC3E}">
        <p14:creationId xmlns:p14="http://schemas.microsoft.com/office/powerpoint/2010/main" val="210319670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avadinimas 1">
            <a:extLst>
              <a:ext uri="{FF2B5EF4-FFF2-40B4-BE49-F238E27FC236}">
                <a16:creationId xmlns:a16="http://schemas.microsoft.com/office/drawing/2014/main" id="{D91A8A51-F58C-91E3-1175-F9A05D90DB17}"/>
              </a:ext>
            </a:extLst>
          </p:cNvPr>
          <p:cNvSpPr>
            <a:spLocks noGrp="1"/>
          </p:cNvSpPr>
          <p:nvPr>
            <p:ph type="title"/>
          </p:nvPr>
        </p:nvSpPr>
        <p:spPr/>
        <p:txBody>
          <a:bodyPr/>
          <a:lstStyle/>
          <a:p>
            <a:r>
              <a:rPr lang="lt-LT" dirty="0"/>
              <a:t>KEY TAKEAWAYS</a:t>
            </a:r>
          </a:p>
        </p:txBody>
      </p:sp>
      <p:sp>
        <p:nvSpPr>
          <p:cNvPr id="4" name="TextBox 3">
            <a:extLst>
              <a:ext uri="{FF2B5EF4-FFF2-40B4-BE49-F238E27FC236}">
                <a16:creationId xmlns:a16="http://schemas.microsoft.com/office/drawing/2014/main" id="{D040514A-1F30-5CA9-7CEC-6848989CF0EB}"/>
              </a:ext>
            </a:extLst>
          </p:cNvPr>
          <p:cNvSpPr txBox="1"/>
          <p:nvPr/>
        </p:nvSpPr>
        <p:spPr>
          <a:xfrm>
            <a:off x="1012722" y="1690688"/>
            <a:ext cx="10707330" cy="4801314"/>
          </a:xfrm>
          <a:prstGeom prst="rect">
            <a:avLst/>
          </a:prstGeom>
          <a:noFill/>
        </p:spPr>
        <p:txBody>
          <a:bodyPr wrap="square">
            <a:spAutoFit/>
          </a:bodyPr>
          <a:lstStyle/>
          <a:p>
            <a:r>
              <a:rPr lang="en-US" b="1" dirty="0"/>
              <a:t>Data prep is required before applying unsupervised learning techniques </a:t>
            </a:r>
          </a:p>
          <a:p>
            <a:r>
              <a:rPr lang="en-US" dirty="0"/>
              <a:t>	• This includes setting the correct row granularity, making sure all columns are non-null and numeric, engineering useful features, selecting the best ones, and scaling them</a:t>
            </a:r>
          </a:p>
          <a:p>
            <a:endParaRPr lang="en-US" dirty="0"/>
          </a:p>
          <a:p>
            <a:r>
              <a:rPr lang="en-US" b="1" dirty="0"/>
              <a:t>Both the rows &amp; columns of a </a:t>
            </a:r>
            <a:r>
              <a:rPr lang="en-US" b="1" dirty="0" err="1"/>
              <a:t>DataFrame</a:t>
            </a:r>
            <a:r>
              <a:rPr lang="en-US" b="1" dirty="0"/>
              <a:t> must be prepared for modeling</a:t>
            </a:r>
          </a:p>
          <a:p>
            <a:r>
              <a:rPr lang="en-US" dirty="0"/>
              <a:t> 	• There are several techniques that are commonly used to prepare rows and columns for modeling, including using </a:t>
            </a:r>
            <a:r>
              <a:rPr lang="en-US" b="1" dirty="0"/>
              <a:t>.</a:t>
            </a:r>
            <a:r>
              <a:rPr lang="en-US" b="1" dirty="0" err="1"/>
              <a:t>groupby</a:t>
            </a:r>
            <a:r>
              <a:rPr lang="en-US" b="1" dirty="0"/>
              <a:t>(), .pivot(), .</a:t>
            </a:r>
            <a:r>
              <a:rPr lang="en-US" b="1" dirty="0" err="1"/>
              <a:t>fillna</a:t>
            </a:r>
            <a:r>
              <a:rPr lang="en-US" b="1" dirty="0"/>
              <a:t>(), </a:t>
            </a:r>
            <a:r>
              <a:rPr lang="en-US" b="1" dirty="0" err="1"/>
              <a:t>np.where</a:t>
            </a:r>
            <a:r>
              <a:rPr lang="en-US" b="1" dirty="0"/>
              <a:t>() and </a:t>
            </a:r>
            <a:r>
              <a:rPr lang="en-US" b="1" dirty="0" err="1"/>
              <a:t>pd.get_dummies</a:t>
            </a:r>
            <a:r>
              <a:rPr lang="en-US" b="1" dirty="0"/>
              <a:t>()</a:t>
            </a:r>
          </a:p>
          <a:p>
            <a:endParaRPr lang="en-US" dirty="0"/>
          </a:p>
          <a:p>
            <a:r>
              <a:rPr lang="en-US" b="1" dirty="0"/>
              <a:t>Feature engineering can be the difference between a good and a great model</a:t>
            </a:r>
          </a:p>
          <a:p>
            <a:r>
              <a:rPr lang="en-US" dirty="0"/>
              <a:t>	• There are many techniques for feature engineering, including aggregating values, handling missing data, categorical encoding, applying calculations, binning data, using proxy variables – and then selecting features</a:t>
            </a:r>
          </a:p>
          <a:p>
            <a:endParaRPr lang="en-US" dirty="0"/>
          </a:p>
          <a:p>
            <a:r>
              <a:rPr lang="en-US" b="1" dirty="0"/>
              <a:t>Feature scaling is required for models that use distance-based calculations </a:t>
            </a:r>
          </a:p>
          <a:p>
            <a:r>
              <a:rPr lang="en-US" dirty="0"/>
              <a:t>	• Many unsupervised learning techniques use distance-based calculations, and it’s a good idea to try multiple scaling techniques, including normalization and standardization, to see which one performs best</a:t>
            </a:r>
            <a:endParaRPr lang="lt-LT" dirty="0"/>
          </a:p>
        </p:txBody>
      </p:sp>
    </p:spTree>
    <p:extLst>
      <p:ext uri="{BB962C8B-B14F-4D97-AF65-F5344CB8AC3E}">
        <p14:creationId xmlns:p14="http://schemas.microsoft.com/office/powerpoint/2010/main" val="1717331344"/>
      </p:ext>
    </p:extLst>
  </p:cSld>
  <p:clrMapOvr>
    <a:masterClrMapping/>
  </p:clrMapOvr>
</p:sld>
</file>

<file path=ppt/theme/theme1.xml><?xml version="1.0" encoding="utf-8"?>
<a:theme xmlns:a="http://schemas.openxmlformats.org/drawingml/2006/main" name="„Office“ tema">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ema">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kumentas" ma:contentTypeID="0x010100753C69E30CD2E346B0231A1827D4E953" ma:contentTypeVersion="32" ma:contentTypeDescription="Kurkite naują dokumentą." ma:contentTypeScope="" ma:versionID="809ac949904d02c312bdad0800d9e5ec">
  <xsd:schema xmlns:xsd="http://www.w3.org/2001/XMLSchema" xmlns:xs="http://www.w3.org/2001/XMLSchema" xmlns:p="http://schemas.microsoft.com/office/2006/metadata/properties" xmlns:ns2="662e3587-765d-4918-9d92-5b93275042d2" xmlns:ns3="eb74e56a-683e-4ac4-9917-2810b22b5cab" targetNamespace="http://schemas.microsoft.com/office/2006/metadata/properties" ma:root="true" ma:fieldsID="7810e61893e78777e4b537f36b79e890" ns2:_="" ns3:_="">
    <xsd:import namespace="662e3587-765d-4918-9d92-5b93275042d2"/>
    <xsd:import namespace="eb74e56a-683e-4ac4-9917-2810b22b5cab"/>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OCR" minOccurs="0"/>
                <xsd:element ref="ns2:NotebookType" minOccurs="0"/>
                <xsd:element ref="ns2:FolderType" minOccurs="0"/>
                <xsd:element ref="ns2:CultureName" minOccurs="0"/>
                <xsd:element ref="ns2:AppVersion" minOccurs="0"/>
                <xsd:element ref="ns2:TeamsChannelId" minOccurs="0"/>
                <xsd:element ref="ns2:Owner" minOccurs="0"/>
                <xsd:element ref="ns2:Math_Settings" minOccurs="0"/>
                <xsd:element ref="ns2:DefaultSectionNames" minOccurs="0"/>
                <xsd:element ref="ns2:Templates" minOccurs="0"/>
                <xsd:element ref="ns2:Teachers" minOccurs="0"/>
                <xsd:element ref="ns2:Students" minOccurs="0"/>
                <xsd:element ref="ns2:Student_Groups" minOccurs="0"/>
                <xsd:element ref="ns2:Distribution_Groups" minOccurs="0"/>
                <xsd:element ref="ns2:LMS_Mappings" minOccurs="0"/>
                <xsd:element ref="ns2:Invited_Teachers" minOccurs="0"/>
                <xsd:element ref="ns2:Invited_Students" minOccurs="0"/>
                <xsd:element ref="ns2:Self_Registration_Enabled" minOccurs="0"/>
                <xsd:element ref="ns2:Has_Teacher_Only_SectionGroup" minOccurs="0"/>
                <xsd:element ref="ns2:Is_Collaboration_Space_Locked" minOccurs="0"/>
                <xsd:element ref="ns2:IsNotebookLocked" minOccurs="0"/>
                <xsd:element ref="ns2:Teams_Channel_Section_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62e3587-765d-4918-9d92-5b93275042d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element name="lcf76f155ced4ddcb4097134ff3c332f" ma:index="16" nillable="true" ma:taxonomy="true" ma:internalName="lcf76f155ced4ddcb4097134ff3c332f" ma:taxonomyFieldName="MediaServiceImageTags" ma:displayName="Vaizdų žymės" ma:readOnly="false" ma:fieldId="{5cf76f15-5ced-4ddc-b409-7134ff3c332f}" ma:taxonomyMulti="true" ma:sspId="170f77d6-0e01-4d43-ba48-7d2f3bc0a531" ma:termSetId="09814cd3-568e-fe90-9814-8d621ff8fb84" ma:anchorId="fba54fb3-c3e1-fe81-a776-ca4b69148c4d" ma:open="true" ma:isKeyword="false">
      <xsd:complexType>
        <xsd:sequence>
          <xsd:element ref="pc:Terms" minOccurs="0" maxOccurs="1"/>
        </xsd:sequence>
      </xsd:complexType>
    </xsd:element>
    <xsd:element name="MediaServiceOCR" ma:index="18" nillable="true" ma:displayName="Extracted Text" ma:internalName="MediaServiceOCR" ma:readOnly="true">
      <xsd:simpleType>
        <xsd:restriction base="dms:Note">
          <xsd:maxLength value="255"/>
        </xsd:restriction>
      </xsd:simpleType>
    </xsd:element>
    <xsd:element name="NotebookType" ma:index="19" nillable="true" ma:displayName="Notebook Type" ma:internalName="NotebookType">
      <xsd:simpleType>
        <xsd:restriction base="dms:Text"/>
      </xsd:simpleType>
    </xsd:element>
    <xsd:element name="FolderType" ma:index="20" nillable="true" ma:displayName="Folder Type" ma:internalName="FolderType">
      <xsd:simpleType>
        <xsd:restriction base="dms:Text"/>
      </xsd:simpleType>
    </xsd:element>
    <xsd:element name="CultureName" ma:index="21" nillable="true" ma:displayName="Culture Name" ma:internalName="CultureName">
      <xsd:simpleType>
        <xsd:restriction base="dms:Text"/>
      </xsd:simpleType>
    </xsd:element>
    <xsd:element name="AppVersion" ma:index="22" nillable="true" ma:displayName="App Version" ma:internalName="AppVersion">
      <xsd:simpleType>
        <xsd:restriction base="dms:Text"/>
      </xsd:simpleType>
    </xsd:element>
    <xsd:element name="TeamsChannelId" ma:index="23" nillable="true" ma:displayName="Teams Channel Id" ma:internalName="TeamsChannelId">
      <xsd:simpleType>
        <xsd:restriction base="dms:Text"/>
      </xsd:simpleType>
    </xsd:element>
    <xsd:element name="Owner" ma:index="24" nillable="true" ma:displayName="Owner" ma:internalName="Owner">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Math_Settings" ma:index="25" nillable="true" ma:displayName="Math Settings" ma:internalName="Math_Settings">
      <xsd:simpleType>
        <xsd:restriction base="dms:Text"/>
      </xsd:simpleType>
    </xsd:element>
    <xsd:element name="DefaultSectionNames" ma:index="26" nillable="true" ma:displayName="Default Section Names" ma:internalName="DefaultSectionNames">
      <xsd:simpleType>
        <xsd:restriction base="dms:Note">
          <xsd:maxLength value="255"/>
        </xsd:restriction>
      </xsd:simpleType>
    </xsd:element>
    <xsd:element name="Templates" ma:index="27" nillable="true" ma:displayName="Templates" ma:internalName="Templates">
      <xsd:simpleType>
        <xsd:restriction base="dms:Note">
          <xsd:maxLength value="255"/>
        </xsd:restriction>
      </xsd:simpleType>
    </xsd:element>
    <xsd:element name="Teachers" ma:index="28" nillable="true" ma:displayName="Teachers" ma:internalName="Teachers">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tudents" ma:index="29" nillable="true" ma:displayName="Students" ma:internalName="Students">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tudent_Groups" ma:index="30" nillable="true" ma:displayName="Student Groups" ma:internalName="Student_Groups">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Distribution_Groups" ma:index="31" nillable="true" ma:displayName="Distribution Groups" ma:internalName="Distribution_Groups">
      <xsd:simpleType>
        <xsd:restriction base="dms:Note">
          <xsd:maxLength value="255"/>
        </xsd:restriction>
      </xsd:simpleType>
    </xsd:element>
    <xsd:element name="LMS_Mappings" ma:index="32" nillable="true" ma:displayName="LMS Mappings" ma:internalName="LMS_Mappings">
      <xsd:simpleType>
        <xsd:restriction base="dms:Note">
          <xsd:maxLength value="255"/>
        </xsd:restriction>
      </xsd:simpleType>
    </xsd:element>
    <xsd:element name="Invited_Teachers" ma:index="33" nillable="true" ma:displayName="Invited Teachers" ma:internalName="Invited_Teachers">
      <xsd:simpleType>
        <xsd:restriction base="dms:Note">
          <xsd:maxLength value="255"/>
        </xsd:restriction>
      </xsd:simpleType>
    </xsd:element>
    <xsd:element name="Invited_Students" ma:index="34" nillable="true" ma:displayName="Invited Students" ma:internalName="Invited_Students">
      <xsd:simpleType>
        <xsd:restriction base="dms:Note">
          <xsd:maxLength value="255"/>
        </xsd:restriction>
      </xsd:simpleType>
    </xsd:element>
    <xsd:element name="Self_Registration_Enabled" ma:index="35" nillable="true" ma:displayName="Self Registration Enabled" ma:internalName="Self_Registration_Enabled">
      <xsd:simpleType>
        <xsd:restriction base="dms:Boolean"/>
      </xsd:simpleType>
    </xsd:element>
    <xsd:element name="Has_Teacher_Only_SectionGroup" ma:index="36" nillable="true" ma:displayName="Has Teacher Only SectionGroup" ma:internalName="Has_Teacher_Only_SectionGroup">
      <xsd:simpleType>
        <xsd:restriction base="dms:Boolean"/>
      </xsd:simpleType>
    </xsd:element>
    <xsd:element name="Is_Collaboration_Space_Locked" ma:index="37" nillable="true" ma:displayName="Is Collaboration Space Locked" ma:internalName="Is_Collaboration_Space_Locked">
      <xsd:simpleType>
        <xsd:restriction base="dms:Boolean"/>
      </xsd:simpleType>
    </xsd:element>
    <xsd:element name="IsNotebookLocked" ma:index="38" nillable="true" ma:displayName="Is Notebook Locked" ma:internalName="IsNotebookLocked">
      <xsd:simpleType>
        <xsd:restriction base="dms:Boolean"/>
      </xsd:simpleType>
    </xsd:element>
    <xsd:element name="Teams_Channel_Section_Location" ma:index="39" nillable="true" ma:displayName="Teams Channel Section Location" ma:internalName="Teams_Channel_Section_Loca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eb74e56a-683e-4ac4-9917-2810b22b5cab" elementFormDefault="qualified">
    <xsd:import namespace="http://schemas.microsoft.com/office/2006/documentManagement/types"/>
    <xsd:import namespace="http://schemas.microsoft.com/office/infopath/2007/PartnerControls"/>
    <xsd:element name="TaxCatchAll" ma:index="17" nillable="true" ma:displayName="Taxonomy Catch All Column" ma:hidden="true" ma:list="{7668e2cc-9ecf-45c3-8926-07f8ce6bf3d7}" ma:internalName="TaxCatchAll" ma:showField="CatchAllData" ma:web="eb74e56a-683e-4ac4-9917-2810b22b5cab">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urinio tipas"/>
        <xsd:element ref="dc:title" minOccurs="0" maxOccurs="1" ma:index="4" ma:displayName="Antraštė"/>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Invited_Teachers xmlns="662e3587-765d-4918-9d92-5b93275042d2" xsi:nil="true"/>
    <DefaultSectionNames xmlns="662e3587-765d-4918-9d92-5b93275042d2" xsi:nil="true"/>
    <Teams_Channel_Section_Location xmlns="662e3587-765d-4918-9d92-5b93275042d2" xsi:nil="true"/>
    <Templates xmlns="662e3587-765d-4918-9d92-5b93275042d2" xsi:nil="true"/>
    <NotebookType xmlns="662e3587-765d-4918-9d92-5b93275042d2" xsi:nil="true"/>
    <Distribution_Groups xmlns="662e3587-765d-4918-9d92-5b93275042d2" xsi:nil="true"/>
    <TeamsChannelId xmlns="662e3587-765d-4918-9d92-5b93275042d2" xsi:nil="true"/>
    <Is_Collaboration_Space_Locked xmlns="662e3587-765d-4918-9d92-5b93275042d2" xsi:nil="true"/>
    <Owner xmlns="662e3587-765d-4918-9d92-5b93275042d2">
      <UserInfo>
        <DisplayName/>
        <AccountId xsi:nil="true"/>
        <AccountType/>
      </UserInfo>
    </Owner>
    <LMS_Mappings xmlns="662e3587-765d-4918-9d92-5b93275042d2" xsi:nil="true"/>
    <Invited_Students xmlns="662e3587-765d-4918-9d92-5b93275042d2" xsi:nil="true"/>
    <FolderType xmlns="662e3587-765d-4918-9d92-5b93275042d2" xsi:nil="true"/>
    <CultureName xmlns="662e3587-765d-4918-9d92-5b93275042d2" xsi:nil="true"/>
    <IsNotebookLocked xmlns="662e3587-765d-4918-9d92-5b93275042d2" xsi:nil="true"/>
    <Math_Settings xmlns="662e3587-765d-4918-9d92-5b93275042d2" xsi:nil="true"/>
    <Teachers xmlns="662e3587-765d-4918-9d92-5b93275042d2">
      <UserInfo>
        <DisplayName/>
        <AccountId xsi:nil="true"/>
        <AccountType/>
      </UserInfo>
    </Teachers>
    <Student_Groups xmlns="662e3587-765d-4918-9d92-5b93275042d2">
      <UserInfo>
        <DisplayName/>
        <AccountId xsi:nil="true"/>
        <AccountType/>
      </UserInfo>
    </Student_Groups>
    <TaxCatchAll xmlns="eb74e56a-683e-4ac4-9917-2810b22b5cab" xsi:nil="true"/>
    <AppVersion xmlns="662e3587-765d-4918-9d92-5b93275042d2" xsi:nil="true"/>
    <Self_Registration_Enabled xmlns="662e3587-765d-4918-9d92-5b93275042d2" xsi:nil="true"/>
    <Has_Teacher_Only_SectionGroup xmlns="662e3587-765d-4918-9d92-5b93275042d2" xsi:nil="true"/>
    <lcf76f155ced4ddcb4097134ff3c332f xmlns="662e3587-765d-4918-9d92-5b93275042d2">
      <Terms xmlns="http://schemas.microsoft.com/office/infopath/2007/PartnerControls"/>
    </lcf76f155ced4ddcb4097134ff3c332f>
    <Students xmlns="662e3587-765d-4918-9d92-5b93275042d2">
      <UserInfo>
        <DisplayName/>
        <AccountId xsi:nil="true"/>
        <AccountType/>
      </UserInfo>
    </Students>
  </documentManagement>
</p:properties>
</file>

<file path=customXml/itemProps1.xml><?xml version="1.0" encoding="utf-8"?>
<ds:datastoreItem xmlns:ds="http://schemas.openxmlformats.org/officeDocument/2006/customXml" ds:itemID="{ED98760B-90BC-4746-9309-97600C273B68}"/>
</file>

<file path=customXml/itemProps2.xml><?xml version="1.0" encoding="utf-8"?>
<ds:datastoreItem xmlns:ds="http://schemas.openxmlformats.org/officeDocument/2006/customXml" ds:itemID="{48881D15-B822-4C18-BB8F-261BF1CECAC0}"/>
</file>

<file path=customXml/itemProps3.xml><?xml version="1.0" encoding="utf-8"?>
<ds:datastoreItem xmlns:ds="http://schemas.openxmlformats.org/officeDocument/2006/customXml" ds:itemID="{4CFF30A6-4D05-4791-8FCD-5F9D7A75453C}"/>
</file>

<file path=docProps/app.xml><?xml version="1.0" encoding="utf-8"?>
<Properties xmlns="http://schemas.openxmlformats.org/officeDocument/2006/extended-properties" xmlns:vt="http://schemas.openxmlformats.org/officeDocument/2006/docPropsVTypes">
  <TotalTime>844</TotalTime>
  <Words>2050</Words>
  <Application>Microsoft Office PowerPoint</Application>
  <PresentationFormat>Plačiaekranė</PresentationFormat>
  <Paragraphs>183</Paragraphs>
  <Slides>44</Slides>
  <Notes>1</Notes>
  <HiddenSlides>0</HiddenSlides>
  <MMClips>0</MMClips>
  <ScaleCrop>false</ScaleCrop>
  <HeadingPairs>
    <vt:vector size="6" baseType="variant">
      <vt:variant>
        <vt:lpstr>Naudojami šriftai</vt:lpstr>
      </vt:variant>
      <vt:variant>
        <vt:i4>3</vt:i4>
      </vt:variant>
      <vt:variant>
        <vt:lpstr>Tema</vt:lpstr>
      </vt:variant>
      <vt:variant>
        <vt:i4>1</vt:i4>
      </vt:variant>
      <vt:variant>
        <vt:lpstr>Skaidrių pavadinimai</vt:lpstr>
      </vt:variant>
      <vt:variant>
        <vt:i4>44</vt:i4>
      </vt:variant>
    </vt:vector>
  </HeadingPairs>
  <TitlesOfParts>
    <vt:vector size="48" baseType="lpstr">
      <vt:lpstr>Aptos</vt:lpstr>
      <vt:lpstr>Aptos Display</vt:lpstr>
      <vt:lpstr>Arial</vt:lpstr>
      <vt:lpstr>„Office“ tema</vt:lpstr>
      <vt:lpstr>  Python Machine Learning: EDA</vt:lpstr>
      <vt:lpstr>WHAT IS DATA SCIENCE?</vt:lpstr>
      <vt:lpstr>Common machine learning algorithms</vt:lpstr>
      <vt:lpstr>UNSUPERVISED LEARNING 101</vt:lpstr>
      <vt:lpstr>UNSUPERVISED LEARNING 101</vt:lpstr>
      <vt:lpstr>UNSUPERVISED LEARNING 101</vt:lpstr>
      <vt:lpstr>UNSUPERVISED LEARNING 101</vt:lpstr>
      <vt:lpstr>UNSUPERVISED LEARNING TECHNIQUES</vt:lpstr>
      <vt:lpstr>UNSUPERVISED LEARNING APPLICATIONS</vt:lpstr>
      <vt:lpstr>Unsupervised learning techniques &amp; applications</vt:lpstr>
      <vt:lpstr>UNSUPERVISED LEARNING WORKFLOW</vt:lpstr>
      <vt:lpstr>UNSUPERVISED LEARNING WORKFLOW</vt:lpstr>
      <vt:lpstr>KEY TAKEAWAYS</vt:lpstr>
      <vt:lpstr>PRE-MODELING DATA PREP</vt:lpstr>
      <vt:lpstr>PRE-MODELING DATA PREP</vt:lpstr>
      <vt:lpstr>SETTING THE CORRECT ROW GRANULARITY</vt:lpstr>
      <vt:lpstr>RESHAPING DATA</vt:lpstr>
      <vt:lpstr>RESHAPING DATA</vt:lpstr>
      <vt:lpstr>PREPARING COLUMNS FOR MODELING</vt:lpstr>
      <vt:lpstr>IDENTIFYING MISSING DATA</vt:lpstr>
      <vt:lpstr>HANDLING MISSING DATA</vt:lpstr>
      <vt:lpstr>HANDLING MISSING DATA</vt:lpstr>
      <vt:lpstr>CONVERTING TO NUMERIC</vt:lpstr>
      <vt:lpstr>CONVERTING TO NUMERIC</vt:lpstr>
      <vt:lpstr>CONVERTING TO DATETIME</vt:lpstr>
      <vt:lpstr>CONVERTING TO DATETIME</vt:lpstr>
      <vt:lpstr>EXTRACTING DATETIME COMPONENTS</vt:lpstr>
      <vt:lpstr>CALCULATING BASED ON A CONDITION</vt:lpstr>
      <vt:lpstr>DUMMY VARIABLES</vt:lpstr>
      <vt:lpstr>DUMMY VARIABLES</vt:lpstr>
      <vt:lpstr>DUMMY VARIABLES</vt:lpstr>
      <vt:lpstr>FEATURE ENGINEERING</vt:lpstr>
      <vt:lpstr>FEATURE ENGINEERING DURING DATA PREP</vt:lpstr>
      <vt:lpstr>APPLYING CALCULATIONS</vt:lpstr>
      <vt:lpstr>BINNING VALUES</vt:lpstr>
      <vt:lpstr>PROXY VARIABLES</vt:lpstr>
      <vt:lpstr>FEATURE ENGINEERING TIPS</vt:lpstr>
      <vt:lpstr>EXCLUDING IDENTIFIERS</vt:lpstr>
      <vt:lpstr>FEATURE SELECTION</vt:lpstr>
      <vt:lpstr>FEATURE SELECTION</vt:lpstr>
      <vt:lpstr>SCALING FEATURES</vt:lpstr>
      <vt:lpstr>NORMALIZATION</vt:lpstr>
      <vt:lpstr>STANDARDIZATION</vt:lpstr>
      <vt:lpstr>KEY TAKEAWAYS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Žydrūnė Kelpšaitė</dc:creator>
  <cp:lastModifiedBy>Žydrūnė Kelpšaitė</cp:lastModifiedBy>
  <cp:revision>3</cp:revision>
  <dcterms:created xsi:type="dcterms:W3CDTF">2026-02-13T17:06:51Z</dcterms:created>
  <dcterms:modified xsi:type="dcterms:W3CDTF">2026-03-12T13:03:08Z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0x010100753C69E30CD2E346B0231A1827D4E953</vt:lpwstr>
  </property>
</Properties>
</file>